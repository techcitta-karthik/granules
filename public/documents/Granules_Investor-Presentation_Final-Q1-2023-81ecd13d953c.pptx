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17.xml" ContentType="application/vnd.openxmlformats-officedocument.presentationml.tag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ags/tag18.xml" ContentType="application/vnd.openxmlformats-officedocument.presentationml.tags+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tags/tag19.xml" ContentType="application/vnd.openxmlformats-officedocument.presentationml.tags+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tags/tag2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7" r:id="rId2"/>
    <p:sldId id="2147472742" r:id="rId3"/>
    <p:sldId id="2147474078" r:id="rId4"/>
    <p:sldId id="262" r:id="rId5"/>
    <p:sldId id="275" r:id="rId6"/>
    <p:sldId id="276" r:id="rId7"/>
    <p:sldId id="2147474073" r:id="rId8"/>
    <p:sldId id="2147474062" r:id="rId9"/>
    <p:sldId id="2147474049" r:id="rId10"/>
    <p:sldId id="279" r:id="rId11"/>
    <p:sldId id="2147472747" r:id="rId12"/>
    <p:sldId id="258" r:id="rId13"/>
    <p:sldId id="2147472739" r:id="rId14"/>
    <p:sldId id="2147472744" r:id="rId15"/>
    <p:sldId id="2147472745" r:id="rId16"/>
    <p:sldId id="2147472746" r:id="rId17"/>
    <p:sldId id="2147472741" r:id="rId18"/>
    <p:sldId id="2147474079" r:id="rId19"/>
    <p:sldId id="3213" r:id="rId20"/>
    <p:sldId id="3224" r:id="rId21"/>
    <p:sldId id="3217" r:id="rId22"/>
    <p:sldId id="3219" r:id="rId23"/>
    <p:sldId id="3221" r:id="rId24"/>
    <p:sldId id="3198" r:id="rId25"/>
    <p:sldId id="320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34F"/>
    <a:srgbClr val="658DC2"/>
    <a:srgbClr val="F58233"/>
    <a:srgbClr val="FFFFFF"/>
    <a:srgbClr val="1755A6"/>
    <a:srgbClr val="035E20"/>
    <a:srgbClr val="00AE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4" d="100"/>
          <a:sy n="64" d="100"/>
        </p:scale>
        <p:origin x="97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D:\Work\2.%20IR\2.%20Earnings\Earnings%20Presentation\FY23\Q4%20FY23\Earnings%20Presentation%20Q4FY23%20-%20Backup.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Work\2.%20IR\2.%20Earnings\Earnings%20Presentation\FY23\Q4%20FY23\Earnings%20Presentation%20Q4FY23%20-%20Backup.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Work\2.%20IR\2.%20Earnings\Earnings%20Presentation\FY23\Q4%20FY23\Earnings%20Presentation%20Q4FY23%20-%20Backup.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granulesind-my.sharepoint.com/personal/nukesh_dondapati_granulesindia_com/Documents/Desktop/Finance/IR/Mar-23/Earnings%20Presentation%20Q4FY23%20-%20Backup.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granulesind-my.sharepoint.com/personal/nukesh_dondapati_granulesindia_com/Documents/Desktop/Finance/IR/Mar-23/Earnings%20Presentation%20Q4FY23%20-%20Backup.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granulesind-my.sharepoint.com/personal/nukesh_dondapati_granulesindia_com/Documents/Desktop/Finance/IR/Mar-23/Earnings%20Presentation%20Q4FY23%20-%20Backup.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D:\Work\2.%20IR\2.%20Earnings\Earnings%20Presentation\FY23\Q4%20FY23\Earnings%20Presentation%20Q4FY23%20-%20Backup.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granulesind-my.sharepoint.com/personal/nukesh_dondapati_granulesindia_com/Documents/Desktop/Finance/IR/Mar-23/Earnings%20Presentation%20Q4FY23%20-%20Backup.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https://granulesind-my.sharepoint.com/personal/nukesh_dondapati_granulesindia_com/Documents/Desktop/Finance/IR/Mar-23/Earnings%20Presentation%20Q4FY23%20-%20Backup.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https://granulesind-my.sharepoint.com/personal/nukesh_dondapati_granulesindia_com/Documents/Desktop/Finance/IR/Mar-23/Earnings%20Presentation%20Q4FY23%20-%20Backup.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https://granulesind-my.sharepoint.com/personal/nukesh_dondapati_granulesindia_com/Documents/Desktop/Earnings%20Presentation%20Q4FY23_v2-PV.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https://granulesind-my.sharepoint.com/personal/nukesh_dondapati_granulesindia_com/Documents/Desktop/Earnings%20Presentation%20Q4FY23_v2-PV.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https://granulesind-my.sharepoint.com/personal/nukesh_dondapati_granulesindia_com/Documents/Desktop/Finance/Investors%20data/Q1FY24/Earnings%20Presentation%20Q1FY24.xlsx" TargetMode="External"/><Relationship Id="rId2" Type="http://schemas.microsoft.com/office/2011/relationships/chartColorStyle" Target="colors13.xml"/><Relationship Id="rId1" Type="http://schemas.microsoft.com/office/2011/relationships/chartStyle" Target="style1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'Annual Sales'!$C$2</c:f>
              <c:strCache>
                <c:ptCount val="1"/>
                <c:pt idx="0">
                  <c:v>FY23 %</c:v>
                </c:pt>
              </c:strCache>
            </c:strRef>
          </c:tx>
          <c:spPr>
            <a:solidFill>
              <a:srgbClr val="002060"/>
            </a:solidFill>
            <a:ln>
              <a:noFill/>
            </a:ln>
            <a:effectLst/>
          </c:spPr>
          <c:invertIfNegative val="0"/>
          <c:dLbls>
            <c:dLbl>
              <c:idx val="0"/>
              <c:layout>
                <c:manualLayout>
                  <c:x val="0"/>
                  <c:y val="-2.77777777777778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C37-4A8B-9161-43459741FE52}"/>
                </c:ext>
              </c:extLst>
            </c:dLbl>
            <c:dLbl>
              <c:idx val="2"/>
              <c:layout>
                <c:manualLayout>
                  <c:x val="0"/>
                  <c:y val="-5.55555555555556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C37-4A8B-9161-43459741FE52}"/>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'Annual Sales'!$B$3:$B$8</c:f>
              <c:strCache>
                <c:ptCount val="6"/>
                <c:pt idx="0">
                  <c:v>USA</c:v>
                </c:pt>
                <c:pt idx="1">
                  <c:v>Canada</c:v>
                </c:pt>
                <c:pt idx="2">
                  <c:v>Europe</c:v>
                </c:pt>
                <c:pt idx="3">
                  <c:v>LATAM</c:v>
                </c:pt>
                <c:pt idx="4">
                  <c:v>India</c:v>
                </c:pt>
                <c:pt idx="5">
                  <c:v>ROW</c:v>
                </c:pt>
              </c:strCache>
            </c:strRef>
          </c:cat>
          <c:val>
            <c:numRef>
              <c:f>'Annual Sales'!$C$3:$C$8</c:f>
              <c:numCache>
                <c:formatCode>0%</c:formatCode>
                <c:ptCount val="6"/>
                <c:pt idx="0">
                  <c:v>0.52778980088467076</c:v>
                </c:pt>
                <c:pt idx="1">
                  <c:v>4.6530379761856158E-2</c:v>
                </c:pt>
                <c:pt idx="2">
                  <c:v>0.22559605887980408</c:v>
                </c:pt>
                <c:pt idx="3">
                  <c:v>7.631566427482224E-2</c:v>
                </c:pt>
                <c:pt idx="4">
                  <c:v>6.4171331491693517E-2</c:v>
                </c:pt>
                <c:pt idx="5">
                  <c:v>5.9596764707153124E-2</c:v>
                </c:pt>
              </c:numCache>
            </c:numRef>
          </c:val>
          <c:extLst>
            <c:ext xmlns:c16="http://schemas.microsoft.com/office/drawing/2014/chart" uri="{C3380CC4-5D6E-409C-BE32-E72D297353CC}">
              <c16:uniqueId val="{00000002-BC37-4A8B-9161-43459741FE52}"/>
            </c:ext>
          </c:extLst>
        </c:ser>
        <c:ser>
          <c:idx val="1"/>
          <c:order val="1"/>
          <c:tx>
            <c:strRef>
              <c:f>'Annual Sales'!$D$2</c:f>
              <c:strCache>
                <c:ptCount val="1"/>
                <c:pt idx="0">
                  <c:v>FY22 %</c:v>
                </c:pt>
              </c:strCache>
            </c:strRef>
          </c:tx>
          <c:spPr>
            <a:solidFill>
              <a:srgbClr val="0070C0"/>
            </a:solidFill>
            <a:ln>
              <a:noFill/>
            </a:ln>
            <a:effectLst/>
          </c:spPr>
          <c:invertIfNegative val="0"/>
          <c:dLbls>
            <c:dLbl>
              <c:idx val="0"/>
              <c:layout>
                <c:manualLayout>
                  <c:x val="1.3888888888888888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C37-4A8B-9161-43459741FE52}"/>
                </c:ext>
              </c:extLst>
            </c:dLbl>
            <c:dLbl>
              <c:idx val="3"/>
              <c:layout>
                <c:manualLayout>
                  <c:x val="0"/>
                  <c:y val="-5.555555555555555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C37-4A8B-9161-43459741FE52}"/>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'Annual Sales'!$B$3:$B$8</c:f>
              <c:strCache>
                <c:ptCount val="6"/>
                <c:pt idx="0">
                  <c:v>USA</c:v>
                </c:pt>
                <c:pt idx="1">
                  <c:v>Canada</c:v>
                </c:pt>
                <c:pt idx="2">
                  <c:v>Europe</c:v>
                </c:pt>
                <c:pt idx="3">
                  <c:v>LATAM</c:v>
                </c:pt>
                <c:pt idx="4">
                  <c:v>India</c:v>
                </c:pt>
                <c:pt idx="5">
                  <c:v>ROW</c:v>
                </c:pt>
              </c:strCache>
            </c:strRef>
          </c:cat>
          <c:val>
            <c:numRef>
              <c:f>'Annual Sales'!$D$3:$D$8</c:f>
              <c:numCache>
                <c:formatCode>0%</c:formatCode>
                <c:ptCount val="6"/>
                <c:pt idx="0">
                  <c:v>0.48477736842532837</c:v>
                </c:pt>
                <c:pt idx="1">
                  <c:v>3.4274036683346769E-2</c:v>
                </c:pt>
                <c:pt idx="2">
                  <c:v>0.20988911626687065</c:v>
                </c:pt>
                <c:pt idx="3">
                  <c:v>0.10122108840161988</c:v>
                </c:pt>
                <c:pt idx="4">
                  <c:v>0.11727326182994166</c:v>
                </c:pt>
                <c:pt idx="5">
                  <c:v>5.2565128392892506E-2</c:v>
                </c:pt>
              </c:numCache>
            </c:numRef>
          </c:val>
          <c:extLst>
            <c:ext xmlns:c16="http://schemas.microsoft.com/office/drawing/2014/chart" uri="{C3380CC4-5D6E-409C-BE32-E72D297353CC}">
              <c16:uniqueId val="{00000004-BC37-4A8B-9161-43459741FE52}"/>
            </c:ext>
          </c:extLst>
        </c:ser>
        <c:dLbls>
          <c:showLegendKey val="0"/>
          <c:showVal val="0"/>
          <c:showCatName val="0"/>
          <c:showSerName val="0"/>
          <c:showPercent val="0"/>
          <c:showBubbleSize val="0"/>
        </c:dLbls>
        <c:gapWidth val="100"/>
        <c:axId val="641974976"/>
        <c:axId val="361091664"/>
      </c:barChart>
      <c:catAx>
        <c:axId val="6419749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361091664"/>
        <c:crosses val="autoZero"/>
        <c:auto val="1"/>
        <c:lblAlgn val="ctr"/>
        <c:lblOffset val="100"/>
        <c:noMultiLvlLbl val="0"/>
      </c:catAx>
      <c:valAx>
        <c:axId val="361091664"/>
        <c:scaling>
          <c:orientation val="minMax"/>
        </c:scaling>
        <c:delete val="1"/>
        <c:axPos val="l"/>
        <c:numFmt formatCode="0%" sourceLinked="1"/>
        <c:majorTickMark val="none"/>
        <c:minorTickMark val="none"/>
        <c:tickLblPos val="nextTo"/>
        <c:crossAx val="6419749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ysClr val="windowText" lastClr="000000"/>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'Annual Sales'!$C$18</c:f>
              <c:strCache>
                <c:ptCount val="1"/>
                <c:pt idx="0">
                  <c:v>FY23 %</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'Annual Sales'!$B$19:$B$21</c:f>
              <c:strCache>
                <c:ptCount val="3"/>
                <c:pt idx="0">
                  <c:v>API</c:v>
                </c:pt>
                <c:pt idx="1">
                  <c:v>PFI</c:v>
                </c:pt>
                <c:pt idx="2">
                  <c:v>FD</c:v>
                </c:pt>
              </c:strCache>
            </c:strRef>
          </c:cat>
          <c:val>
            <c:numRef>
              <c:f>'Annual Sales'!$C$19:$C$21</c:f>
              <c:numCache>
                <c:formatCode>0%</c:formatCode>
                <c:ptCount val="3"/>
                <c:pt idx="0">
                  <c:v>0.29734546629898356</c:v>
                </c:pt>
                <c:pt idx="1">
                  <c:v>0.19990175322115597</c:v>
                </c:pt>
                <c:pt idx="2">
                  <c:v>0.50275278047986038</c:v>
                </c:pt>
              </c:numCache>
            </c:numRef>
          </c:val>
          <c:extLst>
            <c:ext xmlns:c16="http://schemas.microsoft.com/office/drawing/2014/chart" uri="{C3380CC4-5D6E-409C-BE32-E72D297353CC}">
              <c16:uniqueId val="{00000000-784A-497B-B99A-09114D225CE7}"/>
            </c:ext>
          </c:extLst>
        </c:ser>
        <c:ser>
          <c:idx val="1"/>
          <c:order val="1"/>
          <c:tx>
            <c:strRef>
              <c:f>'Annual Sales'!$D$18</c:f>
              <c:strCache>
                <c:ptCount val="1"/>
                <c:pt idx="0">
                  <c:v>FY22 %</c:v>
                </c:pt>
              </c:strCache>
            </c:strRef>
          </c:tx>
          <c:spPr>
            <a:solidFill>
              <a:srgbClr val="0070C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'Annual Sales'!$B$19:$B$21</c:f>
              <c:strCache>
                <c:ptCount val="3"/>
                <c:pt idx="0">
                  <c:v>API</c:v>
                </c:pt>
                <c:pt idx="1">
                  <c:v>PFI</c:v>
                </c:pt>
                <c:pt idx="2">
                  <c:v>FD</c:v>
                </c:pt>
              </c:strCache>
            </c:strRef>
          </c:cat>
          <c:val>
            <c:numRef>
              <c:f>'Annual Sales'!$D$19:$D$21</c:f>
              <c:numCache>
                <c:formatCode>0%</c:formatCode>
                <c:ptCount val="3"/>
                <c:pt idx="0">
                  <c:v>0.25900507801187722</c:v>
                </c:pt>
                <c:pt idx="1">
                  <c:v>0.22458826619917047</c:v>
                </c:pt>
                <c:pt idx="2">
                  <c:v>0.5164066557889524</c:v>
                </c:pt>
              </c:numCache>
            </c:numRef>
          </c:val>
          <c:extLst>
            <c:ext xmlns:c16="http://schemas.microsoft.com/office/drawing/2014/chart" uri="{C3380CC4-5D6E-409C-BE32-E72D297353CC}">
              <c16:uniqueId val="{00000001-784A-497B-B99A-09114D225CE7}"/>
            </c:ext>
          </c:extLst>
        </c:ser>
        <c:dLbls>
          <c:showLegendKey val="0"/>
          <c:showVal val="0"/>
          <c:showCatName val="0"/>
          <c:showSerName val="0"/>
          <c:showPercent val="0"/>
          <c:showBubbleSize val="0"/>
        </c:dLbls>
        <c:gapWidth val="100"/>
        <c:axId val="641974976"/>
        <c:axId val="361091664"/>
      </c:barChart>
      <c:catAx>
        <c:axId val="6419749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361091664"/>
        <c:crosses val="autoZero"/>
        <c:auto val="1"/>
        <c:lblAlgn val="ctr"/>
        <c:lblOffset val="100"/>
        <c:noMultiLvlLbl val="0"/>
      </c:catAx>
      <c:valAx>
        <c:axId val="361091664"/>
        <c:scaling>
          <c:orientation val="minMax"/>
        </c:scaling>
        <c:delete val="1"/>
        <c:axPos val="l"/>
        <c:numFmt formatCode="0%" sourceLinked="1"/>
        <c:majorTickMark val="none"/>
        <c:minorTickMark val="none"/>
        <c:tickLblPos val="nextTo"/>
        <c:crossAx val="6419749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ysClr val="windowText" lastClr="000000"/>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'Annual Historical'!$C$2</c:f>
              <c:strCache>
                <c:ptCount val="1"/>
                <c:pt idx="0">
                  <c:v>Sales</c:v>
                </c:pt>
              </c:strCache>
            </c:strRef>
          </c:tx>
          <c:spPr>
            <a:solidFill>
              <a:srgbClr val="0070C0"/>
            </a:solidFill>
            <a:ln>
              <a:noFill/>
            </a:ln>
            <a:effectLst/>
          </c:spPr>
          <c:invertIfNegative val="0"/>
          <c:dPt>
            <c:idx val="5"/>
            <c:invertIfNegative val="0"/>
            <c:bubble3D val="0"/>
            <c:spPr>
              <a:solidFill>
                <a:srgbClr val="002060"/>
              </a:solidFill>
              <a:ln>
                <a:noFill/>
              </a:ln>
              <a:effectLst/>
            </c:spPr>
            <c:extLst>
              <c:ext xmlns:c16="http://schemas.microsoft.com/office/drawing/2014/chart" uri="{C3380CC4-5D6E-409C-BE32-E72D297353CC}">
                <c16:uniqueId val="{00000001-91D2-4E20-8BC6-0FBFED397440}"/>
              </c:ext>
            </c:extLst>
          </c:dPt>
          <c:dLbls>
            <c:spPr>
              <a:noFill/>
              <a:ln>
                <a:no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'Annual Historical'!$B$3:$B$8</c:f>
              <c:strCache>
                <c:ptCount val="6"/>
                <c:pt idx="0">
                  <c:v>FY18</c:v>
                </c:pt>
                <c:pt idx="1">
                  <c:v>FY19</c:v>
                </c:pt>
                <c:pt idx="2">
                  <c:v>FY20</c:v>
                </c:pt>
                <c:pt idx="3">
                  <c:v>FY21</c:v>
                </c:pt>
                <c:pt idx="4">
                  <c:v>FY22</c:v>
                </c:pt>
                <c:pt idx="5">
                  <c:v>FY23</c:v>
                </c:pt>
              </c:strCache>
            </c:strRef>
          </c:cat>
          <c:val>
            <c:numRef>
              <c:f>'Annual Historical'!$C$3:$C$8</c:f>
              <c:numCache>
                <c:formatCode>#,##0</c:formatCode>
                <c:ptCount val="6"/>
                <c:pt idx="0">
                  <c:v>16918.483243978495</c:v>
                </c:pt>
                <c:pt idx="1">
                  <c:v>22791.976816200113</c:v>
                </c:pt>
                <c:pt idx="2">
                  <c:v>25986.46559992979</c:v>
                </c:pt>
                <c:pt idx="3">
                  <c:v>32375.426159535888</c:v>
                </c:pt>
                <c:pt idx="4">
                  <c:v>37649.209891040795</c:v>
                </c:pt>
                <c:pt idx="5">
                  <c:v>45119</c:v>
                </c:pt>
              </c:numCache>
            </c:numRef>
          </c:val>
          <c:extLst>
            <c:ext xmlns:c16="http://schemas.microsoft.com/office/drawing/2014/chart" uri="{C3380CC4-5D6E-409C-BE32-E72D297353CC}">
              <c16:uniqueId val="{00000002-91D2-4E20-8BC6-0FBFED397440}"/>
            </c:ext>
          </c:extLst>
        </c:ser>
        <c:dLbls>
          <c:showLegendKey val="0"/>
          <c:showVal val="0"/>
          <c:showCatName val="0"/>
          <c:showSerName val="0"/>
          <c:showPercent val="0"/>
          <c:showBubbleSize val="0"/>
        </c:dLbls>
        <c:gapWidth val="100"/>
        <c:axId val="2026262256"/>
        <c:axId val="1981031440"/>
      </c:barChart>
      <c:catAx>
        <c:axId val="20262622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crossAx val="1981031440"/>
        <c:crosses val="autoZero"/>
        <c:auto val="1"/>
        <c:lblAlgn val="ctr"/>
        <c:lblOffset val="100"/>
        <c:noMultiLvlLbl val="0"/>
      </c:catAx>
      <c:valAx>
        <c:axId val="1981031440"/>
        <c:scaling>
          <c:orientation val="minMax"/>
        </c:scaling>
        <c:delete val="1"/>
        <c:axPos val="l"/>
        <c:numFmt formatCode="#,##0" sourceLinked="1"/>
        <c:majorTickMark val="none"/>
        <c:minorTickMark val="none"/>
        <c:tickLblPos val="nextTo"/>
        <c:crossAx val="202626225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ysClr val="windowText" lastClr="000000"/>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'Annual Historical'!$O$2</c:f>
              <c:strCache>
                <c:ptCount val="1"/>
                <c:pt idx="0">
                  <c:v>VA</c:v>
                </c:pt>
              </c:strCache>
            </c:strRef>
          </c:tx>
          <c:spPr>
            <a:solidFill>
              <a:schemeClr val="accent1"/>
            </a:solidFill>
            <a:ln>
              <a:noFill/>
            </a:ln>
            <a:effectLst/>
          </c:spPr>
          <c:invertIfNegative val="0"/>
          <c:dPt>
            <c:idx val="5"/>
            <c:invertIfNegative val="0"/>
            <c:bubble3D val="0"/>
            <c:spPr>
              <a:solidFill>
                <a:srgbClr val="002060"/>
              </a:solidFill>
              <a:ln>
                <a:noFill/>
              </a:ln>
              <a:effectLst/>
            </c:spPr>
            <c:extLst>
              <c:ext xmlns:c16="http://schemas.microsoft.com/office/drawing/2014/chart" uri="{C3380CC4-5D6E-409C-BE32-E72D297353CC}">
                <c16:uniqueId val="{00000001-5E66-4AC4-B050-E1646766BBB9}"/>
              </c:ext>
            </c:extLst>
          </c:dPt>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'Annual Historical'!$N$3:$N$8</c:f>
              <c:strCache>
                <c:ptCount val="6"/>
                <c:pt idx="0">
                  <c:v>FY18</c:v>
                </c:pt>
                <c:pt idx="1">
                  <c:v>FY19</c:v>
                </c:pt>
                <c:pt idx="2">
                  <c:v>FY20</c:v>
                </c:pt>
                <c:pt idx="3">
                  <c:v>FY21</c:v>
                </c:pt>
                <c:pt idx="4">
                  <c:v>FY22</c:v>
                </c:pt>
                <c:pt idx="5">
                  <c:v>FY23</c:v>
                </c:pt>
              </c:strCache>
            </c:strRef>
          </c:cat>
          <c:val>
            <c:numRef>
              <c:f>'Annual Historical'!$O$3:$O$8</c:f>
              <c:numCache>
                <c:formatCode>#,##0</c:formatCode>
                <c:ptCount val="6"/>
                <c:pt idx="0">
                  <c:v>7955.2697588527562</c:v>
                </c:pt>
                <c:pt idx="1">
                  <c:v>10236.355229161112</c:v>
                </c:pt>
                <c:pt idx="2">
                  <c:v>13177.188953977584</c:v>
                </c:pt>
                <c:pt idx="3">
                  <c:v>18462.68915953589</c:v>
                </c:pt>
                <c:pt idx="4">
                  <c:v>18812.80413299453</c:v>
                </c:pt>
                <c:pt idx="5">
                  <c:v>22046.314316584794</c:v>
                </c:pt>
              </c:numCache>
            </c:numRef>
          </c:val>
          <c:extLst>
            <c:ext xmlns:c16="http://schemas.microsoft.com/office/drawing/2014/chart" uri="{C3380CC4-5D6E-409C-BE32-E72D297353CC}">
              <c16:uniqueId val="{00000002-5E66-4AC4-B050-E1646766BBB9}"/>
            </c:ext>
          </c:extLst>
        </c:ser>
        <c:dLbls>
          <c:showLegendKey val="0"/>
          <c:showVal val="0"/>
          <c:showCatName val="0"/>
          <c:showSerName val="0"/>
          <c:showPercent val="0"/>
          <c:showBubbleSize val="0"/>
        </c:dLbls>
        <c:gapWidth val="100"/>
        <c:axId val="2026262256"/>
        <c:axId val="1981031440"/>
      </c:barChart>
      <c:lineChart>
        <c:grouping val="standard"/>
        <c:varyColors val="0"/>
        <c:ser>
          <c:idx val="1"/>
          <c:order val="1"/>
          <c:tx>
            <c:strRef>
              <c:f>'Annual Historical'!$P$2</c:f>
              <c:strCache>
                <c:ptCount val="1"/>
                <c:pt idx="0">
                  <c:v>VA%</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dLbl>
              <c:idx val="0"/>
              <c:layout>
                <c:manualLayout>
                  <c:x val="-5.265288713910761E-2"/>
                  <c:y val="-7.395714285714290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E66-4AC4-B050-E1646766BBB9}"/>
                </c:ext>
              </c:extLst>
            </c:dLbl>
            <c:dLbl>
              <c:idx val="1"/>
              <c:layout>
                <c:manualLayout>
                  <c:x val="-5.2652887139107638E-2"/>
                  <c:y val="-6.891746031746032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E66-4AC4-B050-E1646766BBB9}"/>
                </c:ext>
              </c:extLst>
            </c:dLbl>
            <c:dLbl>
              <c:idx val="2"/>
              <c:layout>
                <c:manualLayout>
                  <c:x val="-5.265288713910761E-2"/>
                  <c:y val="-8.403650793650793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E66-4AC4-B050-E1646766BBB9}"/>
                </c:ext>
              </c:extLst>
            </c:dLbl>
            <c:dLbl>
              <c:idx val="5"/>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mn-lt"/>
                      <a:ea typeface="+mn-ea"/>
                      <a:cs typeface="+mn-cs"/>
                    </a:defRPr>
                  </a:pPr>
                  <a:endParaRPr lang="en-US"/>
                </a:p>
              </c:txPr>
              <c:dLblPos val="b"/>
              <c:showLegendKey val="0"/>
              <c:showVal val="1"/>
              <c:showCatName val="0"/>
              <c:showSerName val="0"/>
              <c:showPercent val="0"/>
              <c:showBubbleSize val="0"/>
              <c:extLst>
                <c:ext xmlns:c16="http://schemas.microsoft.com/office/drawing/2014/chart" uri="{C3380CC4-5D6E-409C-BE32-E72D297353CC}">
                  <c16:uniqueId val="{00000006-5E66-4AC4-B050-E1646766BBB9}"/>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ysClr val="windowText" lastClr="000000"/>
                    </a:solidFill>
                    <a:latin typeface="+mn-lt"/>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'Annual Historical'!$N$3:$N$8</c:f>
              <c:strCache>
                <c:ptCount val="6"/>
                <c:pt idx="0">
                  <c:v>FY18</c:v>
                </c:pt>
                <c:pt idx="1">
                  <c:v>FY19</c:v>
                </c:pt>
                <c:pt idx="2">
                  <c:v>FY20</c:v>
                </c:pt>
                <c:pt idx="3">
                  <c:v>FY21</c:v>
                </c:pt>
                <c:pt idx="4">
                  <c:v>FY22</c:v>
                </c:pt>
                <c:pt idx="5">
                  <c:v>FY23</c:v>
                </c:pt>
              </c:strCache>
            </c:strRef>
          </c:cat>
          <c:val>
            <c:numRef>
              <c:f>'Annual Historical'!$P$3:$P$8</c:f>
              <c:numCache>
                <c:formatCode>0%</c:formatCode>
                <c:ptCount val="6"/>
                <c:pt idx="0">
                  <c:v>0.4702117585915474</c:v>
                </c:pt>
                <c:pt idx="1">
                  <c:v>0.44912099164146663</c:v>
                </c:pt>
                <c:pt idx="2">
                  <c:v>0.50707892165270774</c:v>
                </c:pt>
                <c:pt idx="3">
                  <c:v>0.57026860645965194</c:v>
                </c:pt>
                <c:pt idx="4">
                  <c:v>0.49968655882659901</c:v>
                </c:pt>
                <c:pt idx="5">
                  <c:v>0.48862381799989446</c:v>
                </c:pt>
              </c:numCache>
            </c:numRef>
          </c:val>
          <c:smooth val="0"/>
          <c:extLst>
            <c:ext xmlns:c16="http://schemas.microsoft.com/office/drawing/2014/chart" uri="{C3380CC4-5D6E-409C-BE32-E72D297353CC}">
              <c16:uniqueId val="{00000007-5E66-4AC4-B050-E1646766BBB9}"/>
            </c:ext>
          </c:extLst>
        </c:ser>
        <c:dLbls>
          <c:showLegendKey val="0"/>
          <c:showVal val="0"/>
          <c:showCatName val="0"/>
          <c:showSerName val="0"/>
          <c:showPercent val="0"/>
          <c:showBubbleSize val="0"/>
        </c:dLbls>
        <c:marker val="1"/>
        <c:smooth val="0"/>
        <c:axId val="308644304"/>
        <c:axId val="1981110160"/>
      </c:lineChart>
      <c:catAx>
        <c:axId val="20262622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crossAx val="1981031440"/>
        <c:crosses val="autoZero"/>
        <c:auto val="1"/>
        <c:lblAlgn val="ctr"/>
        <c:lblOffset val="100"/>
        <c:noMultiLvlLbl val="0"/>
      </c:catAx>
      <c:valAx>
        <c:axId val="1981031440"/>
        <c:scaling>
          <c:orientation val="minMax"/>
        </c:scaling>
        <c:delete val="0"/>
        <c:axPos val="l"/>
        <c:numFmt formatCode="#,##0" sourceLinked="1"/>
        <c:majorTickMark val="none"/>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2026262256"/>
        <c:crosses val="autoZero"/>
        <c:crossBetween val="between"/>
      </c:valAx>
      <c:valAx>
        <c:axId val="1981110160"/>
        <c:scaling>
          <c:orientation val="minMax"/>
          <c:max val="0.8"/>
        </c:scaling>
        <c:delete val="0"/>
        <c:axPos val="r"/>
        <c:numFmt formatCode="0%" sourceLinked="1"/>
        <c:majorTickMark val="none"/>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308644304"/>
        <c:crosses val="max"/>
        <c:crossBetween val="between"/>
      </c:valAx>
      <c:catAx>
        <c:axId val="308644304"/>
        <c:scaling>
          <c:orientation val="minMax"/>
        </c:scaling>
        <c:delete val="1"/>
        <c:axPos val="b"/>
        <c:numFmt formatCode="General" sourceLinked="1"/>
        <c:majorTickMark val="out"/>
        <c:minorTickMark val="none"/>
        <c:tickLblPos val="nextTo"/>
        <c:crossAx val="1981110160"/>
        <c:crosses val="autoZero"/>
        <c:auto val="1"/>
        <c:lblAlgn val="ctr"/>
        <c:lblOffset val="100"/>
        <c:noMultiLvlLbl val="0"/>
      </c:cat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ysClr val="windowText" lastClr="000000"/>
          </a:solidFill>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'Annual Historical'!$C$19</c:f>
              <c:strCache>
                <c:ptCount val="1"/>
                <c:pt idx="0">
                  <c:v>EBITDA</c:v>
                </c:pt>
              </c:strCache>
            </c:strRef>
          </c:tx>
          <c:spPr>
            <a:solidFill>
              <a:srgbClr val="0070C0"/>
            </a:solidFill>
            <a:ln>
              <a:noFill/>
            </a:ln>
            <a:effectLst/>
          </c:spPr>
          <c:invertIfNegative val="0"/>
          <c:dPt>
            <c:idx val="5"/>
            <c:invertIfNegative val="0"/>
            <c:bubble3D val="0"/>
            <c:spPr>
              <a:solidFill>
                <a:srgbClr val="002060"/>
              </a:solidFill>
              <a:ln>
                <a:noFill/>
              </a:ln>
              <a:effectLst/>
            </c:spPr>
            <c:extLst>
              <c:ext xmlns:c16="http://schemas.microsoft.com/office/drawing/2014/chart" uri="{C3380CC4-5D6E-409C-BE32-E72D297353CC}">
                <c16:uniqueId val="{00000001-3BC3-4FBE-98B9-1EA27B76B8A1}"/>
              </c:ext>
            </c:extLst>
          </c:dPt>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'Annual Historical'!$B$20:$B$25</c:f>
              <c:strCache>
                <c:ptCount val="6"/>
                <c:pt idx="0">
                  <c:v>FY18</c:v>
                </c:pt>
                <c:pt idx="1">
                  <c:v>FY19</c:v>
                </c:pt>
                <c:pt idx="2">
                  <c:v>FY20</c:v>
                </c:pt>
                <c:pt idx="3">
                  <c:v>FY21</c:v>
                </c:pt>
                <c:pt idx="4">
                  <c:v>FY22</c:v>
                </c:pt>
                <c:pt idx="5">
                  <c:v>FY23</c:v>
                </c:pt>
              </c:strCache>
            </c:strRef>
          </c:cat>
          <c:val>
            <c:numRef>
              <c:f>'Annual Historical'!$C$20:$C$25</c:f>
              <c:numCache>
                <c:formatCode>#,##0</c:formatCode>
                <c:ptCount val="6"/>
                <c:pt idx="0">
                  <c:v>2784.2090317491648</c:v>
                </c:pt>
                <c:pt idx="1">
                  <c:v>3840.3777256792955</c:v>
                </c:pt>
                <c:pt idx="2">
                  <c:v>5253.2248308986073</c:v>
                </c:pt>
                <c:pt idx="3">
                  <c:v>8552.2661595358877</c:v>
                </c:pt>
                <c:pt idx="4">
                  <c:v>7190.4222473293066</c:v>
                </c:pt>
                <c:pt idx="5">
                  <c:v>9138.2073290188091</c:v>
                </c:pt>
              </c:numCache>
            </c:numRef>
          </c:val>
          <c:extLst>
            <c:ext xmlns:c16="http://schemas.microsoft.com/office/drawing/2014/chart" uri="{C3380CC4-5D6E-409C-BE32-E72D297353CC}">
              <c16:uniqueId val="{00000002-3BC3-4FBE-98B9-1EA27B76B8A1}"/>
            </c:ext>
          </c:extLst>
        </c:ser>
        <c:dLbls>
          <c:showLegendKey val="0"/>
          <c:showVal val="0"/>
          <c:showCatName val="0"/>
          <c:showSerName val="0"/>
          <c:showPercent val="0"/>
          <c:showBubbleSize val="0"/>
        </c:dLbls>
        <c:gapWidth val="100"/>
        <c:axId val="2026262256"/>
        <c:axId val="1981031440"/>
      </c:barChart>
      <c:lineChart>
        <c:grouping val="standard"/>
        <c:varyColors val="0"/>
        <c:ser>
          <c:idx val="1"/>
          <c:order val="1"/>
          <c:tx>
            <c:strRef>
              <c:f>'Annual Historical'!$D$19</c:f>
              <c:strCache>
                <c:ptCount val="1"/>
                <c:pt idx="0">
                  <c:v>EBITDA%</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dLbl>
              <c:idx val="1"/>
              <c:layout>
                <c:manualLayout>
                  <c:x val="-5.2652887139107638E-2"/>
                  <c:y val="-7.899682539682539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BC3-4FBE-98B9-1EA27B76B8A1}"/>
                </c:ext>
              </c:extLst>
            </c:dLbl>
            <c:dLbl>
              <c:idx val="2"/>
              <c:layout>
                <c:manualLayout>
                  <c:x val="-5.265288713910761E-2"/>
                  <c:y val="-7.395714285714287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BC3-4FBE-98B9-1EA27B76B8A1}"/>
                </c:ext>
              </c:extLst>
            </c:dLbl>
            <c:dLbl>
              <c:idx val="5"/>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mn-lt"/>
                      <a:ea typeface="+mn-ea"/>
                      <a:cs typeface="+mn-cs"/>
                    </a:defRPr>
                  </a:pPr>
                  <a:endParaRPr lang="en-US"/>
                </a:p>
              </c:txPr>
              <c:dLblPos val="b"/>
              <c:showLegendKey val="0"/>
              <c:showVal val="1"/>
              <c:showCatName val="0"/>
              <c:showSerName val="0"/>
              <c:showPercent val="0"/>
              <c:showBubbleSize val="0"/>
              <c:extLst>
                <c:ext xmlns:c16="http://schemas.microsoft.com/office/drawing/2014/chart" uri="{C3380CC4-5D6E-409C-BE32-E72D297353CC}">
                  <c16:uniqueId val="{00000005-3BC3-4FBE-98B9-1EA27B76B8A1}"/>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ysClr val="windowText" lastClr="000000"/>
                    </a:solidFill>
                    <a:latin typeface="+mn-lt"/>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'Annual Historical'!$B$20:$B$25</c:f>
              <c:strCache>
                <c:ptCount val="6"/>
                <c:pt idx="0">
                  <c:v>FY18</c:v>
                </c:pt>
                <c:pt idx="1">
                  <c:v>FY19</c:v>
                </c:pt>
                <c:pt idx="2">
                  <c:v>FY20</c:v>
                </c:pt>
                <c:pt idx="3">
                  <c:v>FY21</c:v>
                </c:pt>
                <c:pt idx="4">
                  <c:v>FY22</c:v>
                </c:pt>
                <c:pt idx="5">
                  <c:v>FY23</c:v>
                </c:pt>
              </c:strCache>
            </c:strRef>
          </c:cat>
          <c:val>
            <c:numRef>
              <c:f>'Annual Historical'!$D$20:$D$25</c:f>
              <c:numCache>
                <c:formatCode>0%</c:formatCode>
                <c:ptCount val="6"/>
                <c:pt idx="0">
                  <c:v>0.16456611338017552</c:v>
                </c:pt>
                <c:pt idx="1">
                  <c:v>0.1684969126043348</c:v>
                </c:pt>
                <c:pt idx="2">
                  <c:v>0.20215234005938845</c:v>
                </c:pt>
                <c:pt idx="3">
                  <c:v>0.26415918411059724</c:v>
                </c:pt>
                <c:pt idx="4">
                  <c:v>0.19098467851354239</c:v>
                </c:pt>
                <c:pt idx="5">
                  <c:v>0.20253479518890785</c:v>
                </c:pt>
              </c:numCache>
            </c:numRef>
          </c:val>
          <c:smooth val="0"/>
          <c:extLst>
            <c:ext xmlns:c16="http://schemas.microsoft.com/office/drawing/2014/chart" uri="{C3380CC4-5D6E-409C-BE32-E72D297353CC}">
              <c16:uniqueId val="{00000006-3BC3-4FBE-98B9-1EA27B76B8A1}"/>
            </c:ext>
          </c:extLst>
        </c:ser>
        <c:dLbls>
          <c:showLegendKey val="0"/>
          <c:showVal val="0"/>
          <c:showCatName val="0"/>
          <c:showSerName val="0"/>
          <c:showPercent val="0"/>
          <c:showBubbleSize val="0"/>
        </c:dLbls>
        <c:marker val="1"/>
        <c:smooth val="0"/>
        <c:axId val="308644304"/>
        <c:axId val="1981110160"/>
      </c:lineChart>
      <c:catAx>
        <c:axId val="20262622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crossAx val="1981031440"/>
        <c:crosses val="autoZero"/>
        <c:auto val="1"/>
        <c:lblAlgn val="ctr"/>
        <c:lblOffset val="100"/>
        <c:noMultiLvlLbl val="0"/>
      </c:catAx>
      <c:valAx>
        <c:axId val="1981031440"/>
        <c:scaling>
          <c:orientation val="minMax"/>
        </c:scaling>
        <c:delete val="0"/>
        <c:axPos val="l"/>
        <c:numFmt formatCode="#,##0" sourceLinked="1"/>
        <c:majorTickMark val="none"/>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2026262256"/>
        <c:crosses val="autoZero"/>
        <c:crossBetween val="between"/>
      </c:valAx>
      <c:valAx>
        <c:axId val="1981110160"/>
        <c:scaling>
          <c:orientation val="minMax"/>
          <c:max val="0.30000000000000004"/>
        </c:scaling>
        <c:delete val="0"/>
        <c:axPos val="r"/>
        <c:numFmt formatCode="0%" sourceLinked="1"/>
        <c:majorTickMark val="none"/>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308644304"/>
        <c:crosses val="max"/>
        <c:crossBetween val="between"/>
      </c:valAx>
      <c:catAx>
        <c:axId val="308644304"/>
        <c:scaling>
          <c:orientation val="minMax"/>
        </c:scaling>
        <c:delete val="1"/>
        <c:axPos val="b"/>
        <c:numFmt formatCode="General" sourceLinked="1"/>
        <c:majorTickMark val="out"/>
        <c:minorTickMark val="none"/>
        <c:tickLblPos val="nextTo"/>
        <c:crossAx val="1981110160"/>
        <c:crosses val="autoZero"/>
        <c:auto val="1"/>
        <c:lblAlgn val="ctr"/>
        <c:lblOffset val="100"/>
        <c:noMultiLvlLbl val="0"/>
      </c:cat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ysClr val="windowText" lastClr="000000"/>
          </a:solidFill>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'Annual Historical'!$O$19</c:f>
              <c:strCache>
                <c:ptCount val="1"/>
                <c:pt idx="0">
                  <c:v>PAT</c:v>
                </c:pt>
              </c:strCache>
            </c:strRef>
          </c:tx>
          <c:spPr>
            <a:solidFill>
              <a:srgbClr val="0070C0"/>
            </a:solidFill>
            <a:ln>
              <a:noFill/>
            </a:ln>
            <a:effectLst/>
          </c:spPr>
          <c:invertIfNegative val="0"/>
          <c:dPt>
            <c:idx val="5"/>
            <c:invertIfNegative val="0"/>
            <c:bubble3D val="0"/>
            <c:spPr>
              <a:solidFill>
                <a:srgbClr val="002060"/>
              </a:solidFill>
              <a:ln>
                <a:noFill/>
              </a:ln>
              <a:effectLst/>
            </c:spPr>
            <c:extLst>
              <c:ext xmlns:c16="http://schemas.microsoft.com/office/drawing/2014/chart" uri="{C3380CC4-5D6E-409C-BE32-E72D297353CC}">
                <c16:uniqueId val="{00000001-649C-477D-B9DD-08A8FD188132}"/>
              </c:ext>
            </c:extLst>
          </c:dPt>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'Annual Historical'!$N$20:$N$25</c:f>
              <c:strCache>
                <c:ptCount val="6"/>
                <c:pt idx="0">
                  <c:v>FY18</c:v>
                </c:pt>
                <c:pt idx="1">
                  <c:v>FY19</c:v>
                </c:pt>
                <c:pt idx="2">
                  <c:v>FY20</c:v>
                </c:pt>
                <c:pt idx="3">
                  <c:v>FY21</c:v>
                </c:pt>
                <c:pt idx="4">
                  <c:v>FY22</c:v>
                </c:pt>
                <c:pt idx="5">
                  <c:v>FY23</c:v>
                </c:pt>
              </c:strCache>
            </c:strRef>
          </c:cat>
          <c:val>
            <c:numRef>
              <c:f>'Annual Historical'!$O$20:$O$25</c:f>
              <c:numCache>
                <c:formatCode>#,##0</c:formatCode>
                <c:ptCount val="6"/>
                <c:pt idx="0">
                  <c:v>1325.9165257338195</c:v>
                </c:pt>
                <c:pt idx="1">
                  <c:v>2364.0740355096445</c:v>
                </c:pt>
                <c:pt idx="2">
                  <c:v>3353.9333426913213</c:v>
                </c:pt>
                <c:pt idx="3">
                  <c:v>5494.5920681592224</c:v>
                </c:pt>
                <c:pt idx="4">
                  <c:v>4127.4710591673002</c:v>
                </c:pt>
                <c:pt idx="5">
                  <c:v>5165.9558353442699</c:v>
                </c:pt>
              </c:numCache>
            </c:numRef>
          </c:val>
          <c:extLst>
            <c:ext xmlns:c16="http://schemas.microsoft.com/office/drawing/2014/chart" uri="{C3380CC4-5D6E-409C-BE32-E72D297353CC}">
              <c16:uniqueId val="{00000002-649C-477D-B9DD-08A8FD188132}"/>
            </c:ext>
          </c:extLst>
        </c:ser>
        <c:dLbls>
          <c:showLegendKey val="0"/>
          <c:showVal val="0"/>
          <c:showCatName val="0"/>
          <c:showSerName val="0"/>
          <c:showPercent val="0"/>
          <c:showBubbleSize val="0"/>
        </c:dLbls>
        <c:gapWidth val="100"/>
        <c:axId val="2026262256"/>
        <c:axId val="1981031440"/>
      </c:barChart>
      <c:lineChart>
        <c:grouping val="standard"/>
        <c:varyColors val="0"/>
        <c:ser>
          <c:idx val="1"/>
          <c:order val="1"/>
          <c:tx>
            <c:strRef>
              <c:f>'Annual Historical'!$P$19</c:f>
              <c:strCache>
                <c:ptCount val="1"/>
                <c:pt idx="0">
                  <c:v>PAT%</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dLbl>
              <c:idx val="0"/>
              <c:layout>
                <c:manualLayout>
                  <c:x val="-4.4208442694663168E-2"/>
                  <c:y val="-8.403650793650793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49C-477D-B9DD-08A8FD188132}"/>
                </c:ext>
              </c:extLst>
            </c:dLbl>
            <c:dLbl>
              <c:idx val="1"/>
              <c:layout>
                <c:manualLayout>
                  <c:x val="-5.2652887139107638E-2"/>
                  <c:y val="-7.89968253968254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49C-477D-B9DD-08A8FD188132}"/>
                </c:ext>
              </c:extLst>
            </c:dLbl>
            <c:dLbl>
              <c:idx val="2"/>
              <c:layout>
                <c:manualLayout>
                  <c:x val="-5.265288713910761E-2"/>
                  <c:y val="-0.114274603174603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49C-477D-B9DD-08A8FD188132}"/>
                </c:ext>
              </c:extLst>
            </c:dLbl>
            <c:dLbl>
              <c:idx val="5"/>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mn-lt"/>
                      <a:ea typeface="+mn-ea"/>
                      <a:cs typeface="+mn-cs"/>
                    </a:defRPr>
                  </a:pPr>
                  <a:endParaRPr lang="en-US"/>
                </a:p>
              </c:txPr>
              <c:dLblPos val="b"/>
              <c:showLegendKey val="0"/>
              <c:showVal val="1"/>
              <c:showCatName val="0"/>
              <c:showSerName val="0"/>
              <c:showPercent val="0"/>
              <c:showBubbleSize val="0"/>
              <c:extLst>
                <c:ext xmlns:c16="http://schemas.microsoft.com/office/drawing/2014/chart" uri="{C3380CC4-5D6E-409C-BE32-E72D297353CC}">
                  <c16:uniqueId val="{00000006-649C-477D-B9DD-08A8FD188132}"/>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ysClr val="windowText" lastClr="000000"/>
                    </a:solidFill>
                    <a:latin typeface="+mn-lt"/>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'Annual Historical'!$N$20:$N$25</c:f>
              <c:strCache>
                <c:ptCount val="6"/>
                <c:pt idx="0">
                  <c:v>FY18</c:v>
                </c:pt>
                <c:pt idx="1">
                  <c:v>FY19</c:v>
                </c:pt>
                <c:pt idx="2">
                  <c:v>FY20</c:v>
                </c:pt>
                <c:pt idx="3">
                  <c:v>FY21</c:v>
                </c:pt>
                <c:pt idx="4">
                  <c:v>FY22</c:v>
                </c:pt>
                <c:pt idx="5">
                  <c:v>FY23</c:v>
                </c:pt>
              </c:strCache>
            </c:strRef>
          </c:cat>
          <c:val>
            <c:numRef>
              <c:f>'Annual Historical'!$P$20:$P$25</c:f>
              <c:numCache>
                <c:formatCode>0%</c:formatCode>
                <c:ptCount val="6"/>
                <c:pt idx="0">
                  <c:v>7.8370886243938578E-2</c:v>
                </c:pt>
                <c:pt idx="1">
                  <c:v>0.10372395753883466</c:v>
                </c:pt>
                <c:pt idx="2">
                  <c:v>0.1290646213427494</c:v>
                </c:pt>
                <c:pt idx="3">
                  <c:v>0.16971489552241276</c:v>
                </c:pt>
                <c:pt idx="4">
                  <c:v>0.10962968601764721</c:v>
                </c:pt>
                <c:pt idx="5">
                  <c:v>0.11449573963416929</c:v>
                </c:pt>
              </c:numCache>
            </c:numRef>
          </c:val>
          <c:smooth val="0"/>
          <c:extLst>
            <c:ext xmlns:c16="http://schemas.microsoft.com/office/drawing/2014/chart" uri="{C3380CC4-5D6E-409C-BE32-E72D297353CC}">
              <c16:uniqueId val="{00000007-649C-477D-B9DD-08A8FD188132}"/>
            </c:ext>
          </c:extLst>
        </c:ser>
        <c:dLbls>
          <c:showLegendKey val="0"/>
          <c:showVal val="0"/>
          <c:showCatName val="0"/>
          <c:showSerName val="0"/>
          <c:showPercent val="0"/>
          <c:showBubbleSize val="0"/>
        </c:dLbls>
        <c:marker val="1"/>
        <c:smooth val="0"/>
        <c:axId val="308644304"/>
        <c:axId val="1981110160"/>
      </c:lineChart>
      <c:catAx>
        <c:axId val="20262622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crossAx val="1981031440"/>
        <c:crosses val="autoZero"/>
        <c:auto val="1"/>
        <c:lblAlgn val="ctr"/>
        <c:lblOffset val="100"/>
        <c:noMultiLvlLbl val="0"/>
      </c:catAx>
      <c:valAx>
        <c:axId val="1981031440"/>
        <c:scaling>
          <c:orientation val="minMax"/>
        </c:scaling>
        <c:delete val="0"/>
        <c:axPos val="l"/>
        <c:numFmt formatCode="#,##0" sourceLinked="1"/>
        <c:majorTickMark val="none"/>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2026262256"/>
        <c:crosses val="autoZero"/>
        <c:crossBetween val="between"/>
      </c:valAx>
      <c:valAx>
        <c:axId val="1981110160"/>
        <c:scaling>
          <c:orientation val="minMax"/>
          <c:max val="0.2"/>
        </c:scaling>
        <c:delete val="0"/>
        <c:axPos val="r"/>
        <c:numFmt formatCode="0%" sourceLinked="1"/>
        <c:majorTickMark val="none"/>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308644304"/>
        <c:crosses val="max"/>
        <c:crossBetween val="between"/>
      </c:valAx>
      <c:catAx>
        <c:axId val="308644304"/>
        <c:scaling>
          <c:orientation val="minMax"/>
        </c:scaling>
        <c:delete val="1"/>
        <c:axPos val="b"/>
        <c:numFmt formatCode="General" sourceLinked="1"/>
        <c:majorTickMark val="out"/>
        <c:minorTickMark val="none"/>
        <c:tickLblPos val="nextTo"/>
        <c:crossAx val="1981110160"/>
        <c:crosses val="autoZero"/>
        <c:auto val="1"/>
        <c:lblAlgn val="ctr"/>
        <c:lblOffset val="100"/>
        <c:noMultiLvlLbl val="0"/>
      </c:cat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ysClr val="windowText" lastClr="000000"/>
          </a:solidFill>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'Yearly Ratios'!$C$16</c:f>
              <c:strCache>
                <c:ptCount val="1"/>
                <c:pt idx="0">
                  <c:v>Cash to Cash Cycle</c:v>
                </c:pt>
              </c:strCache>
            </c:strRef>
          </c:tx>
          <c:spPr>
            <a:solidFill>
              <a:srgbClr val="0070C0"/>
            </a:solidFill>
            <a:ln>
              <a:noFill/>
            </a:ln>
            <a:effectLst/>
          </c:spPr>
          <c:invertIfNegative val="0"/>
          <c:dPt>
            <c:idx val="5"/>
            <c:invertIfNegative val="0"/>
            <c:bubble3D val="0"/>
            <c:spPr>
              <a:solidFill>
                <a:srgbClr val="002060"/>
              </a:solidFill>
              <a:ln>
                <a:noFill/>
              </a:ln>
              <a:effectLst/>
            </c:spPr>
            <c:extLst>
              <c:ext xmlns:c16="http://schemas.microsoft.com/office/drawing/2014/chart" uri="{C3380CC4-5D6E-409C-BE32-E72D297353CC}">
                <c16:uniqueId val="{00000001-ABDC-499F-8BA9-A768214A2E3B}"/>
              </c:ext>
            </c:extLst>
          </c:dPt>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'Yearly Ratios'!$B$17:$B$22</c:f>
              <c:strCache>
                <c:ptCount val="6"/>
                <c:pt idx="0">
                  <c:v>FY18</c:v>
                </c:pt>
                <c:pt idx="1">
                  <c:v>FY19</c:v>
                </c:pt>
                <c:pt idx="2">
                  <c:v>FY20</c:v>
                </c:pt>
                <c:pt idx="3">
                  <c:v>FY21</c:v>
                </c:pt>
                <c:pt idx="4">
                  <c:v>FY22</c:v>
                </c:pt>
                <c:pt idx="5">
                  <c:v>FY23</c:v>
                </c:pt>
              </c:strCache>
            </c:strRef>
          </c:cat>
          <c:val>
            <c:numRef>
              <c:f>'Yearly Ratios'!$C$17:$C$22</c:f>
              <c:numCache>
                <c:formatCode>#,##0</c:formatCode>
                <c:ptCount val="6"/>
                <c:pt idx="0">
                  <c:v>125</c:v>
                </c:pt>
                <c:pt idx="1">
                  <c:v>114</c:v>
                </c:pt>
                <c:pt idx="2">
                  <c:v>109</c:v>
                </c:pt>
                <c:pt idx="3">
                  <c:v>117</c:v>
                </c:pt>
                <c:pt idx="4">
                  <c:v>138</c:v>
                </c:pt>
                <c:pt idx="5">
                  <c:v>132.15641006584974</c:v>
                </c:pt>
              </c:numCache>
            </c:numRef>
          </c:val>
          <c:extLst>
            <c:ext xmlns:c16="http://schemas.microsoft.com/office/drawing/2014/chart" uri="{C3380CC4-5D6E-409C-BE32-E72D297353CC}">
              <c16:uniqueId val="{00000002-ABDC-499F-8BA9-A768214A2E3B}"/>
            </c:ext>
          </c:extLst>
        </c:ser>
        <c:dLbls>
          <c:showLegendKey val="0"/>
          <c:showVal val="0"/>
          <c:showCatName val="0"/>
          <c:showSerName val="0"/>
          <c:showPercent val="0"/>
          <c:showBubbleSize val="0"/>
        </c:dLbls>
        <c:gapWidth val="100"/>
        <c:axId val="322539312"/>
        <c:axId val="1981096720"/>
      </c:barChart>
      <c:catAx>
        <c:axId val="322539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200" b="0" i="0" u="none" strike="noStrike" kern="1200" baseline="0">
                <a:solidFill>
                  <a:sysClr val="windowText" lastClr="000000"/>
                </a:solidFill>
                <a:latin typeface="+mn-lt"/>
                <a:ea typeface="+mn-ea"/>
                <a:cs typeface="+mn-cs"/>
              </a:defRPr>
            </a:pPr>
            <a:endParaRPr lang="en-US"/>
          </a:p>
        </c:txPr>
        <c:crossAx val="1981096720"/>
        <c:crosses val="autoZero"/>
        <c:auto val="1"/>
        <c:lblAlgn val="ctr"/>
        <c:lblOffset val="100"/>
        <c:noMultiLvlLbl val="0"/>
      </c:catAx>
      <c:valAx>
        <c:axId val="1981096720"/>
        <c:scaling>
          <c:orientation val="minMax"/>
          <c:max val="180"/>
          <c:min val="0"/>
        </c:scaling>
        <c:delete val="1"/>
        <c:axPos val="l"/>
        <c:numFmt formatCode="#,##0" sourceLinked="1"/>
        <c:majorTickMark val="out"/>
        <c:minorTickMark val="none"/>
        <c:tickLblPos val="nextTo"/>
        <c:crossAx val="32253931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ysClr val="windowText" lastClr="000000"/>
          </a:solidFill>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'Yearly Ratios'!$C$2</c:f>
              <c:strCache>
                <c:ptCount val="1"/>
                <c:pt idx="0">
                  <c:v>ROCE</c:v>
                </c:pt>
              </c:strCache>
            </c:strRef>
          </c:tx>
          <c:spPr>
            <a:solidFill>
              <a:srgbClr val="0070C0"/>
            </a:solidFill>
            <a:ln>
              <a:noFill/>
            </a:ln>
            <a:effectLst/>
          </c:spPr>
          <c:invertIfNegative val="0"/>
          <c:dPt>
            <c:idx val="5"/>
            <c:invertIfNegative val="0"/>
            <c:bubble3D val="0"/>
            <c:spPr>
              <a:solidFill>
                <a:srgbClr val="002060"/>
              </a:solidFill>
              <a:ln>
                <a:noFill/>
              </a:ln>
              <a:effectLst/>
            </c:spPr>
            <c:extLst>
              <c:ext xmlns:c16="http://schemas.microsoft.com/office/drawing/2014/chart" uri="{C3380CC4-5D6E-409C-BE32-E72D297353CC}">
                <c16:uniqueId val="{00000001-1CDC-49DD-9BDE-EDABB755D869}"/>
              </c:ext>
            </c:extLst>
          </c:dPt>
          <c:dLbls>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'Yearly Ratios'!$B$3:$B$8</c:f>
              <c:strCache>
                <c:ptCount val="6"/>
                <c:pt idx="0">
                  <c:v>FY18</c:v>
                </c:pt>
                <c:pt idx="1">
                  <c:v>FY19</c:v>
                </c:pt>
                <c:pt idx="2">
                  <c:v>FY20</c:v>
                </c:pt>
                <c:pt idx="3">
                  <c:v>FY21</c:v>
                </c:pt>
                <c:pt idx="4">
                  <c:v>FY22</c:v>
                </c:pt>
                <c:pt idx="5">
                  <c:v>FY23</c:v>
                </c:pt>
              </c:strCache>
            </c:strRef>
          </c:cat>
          <c:val>
            <c:numRef>
              <c:f>'Yearly Ratios'!$C$3:$C$8</c:f>
              <c:numCache>
                <c:formatCode>0.0%</c:formatCode>
                <c:ptCount val="6"/>
                <c:pt idx="0">
                  <c:v>0.11395411590052963</c:v>
                </c:pt>
                <c:pt idx="1">
                  <c:v>0.1306135447598856</c:v>
                </c:pt>
                <c:pt idx="2">
                  <c:v>0.17392468854505674</c:v>
                </c:pt>
                <c:pt idx="3">
                  <c:v>0.28568034437172901</c:v>
                </c:pt>
                <c:pt idx="4">
                  <c:v>0.19306972653948012</c:v>
                </c:pt>
                <c:pt idx="5">
                  <c:v>0.21099926448043219</c:v>
                </c:pt>
              </c:numCache>
            </c:numRef>
          </c:val>
          <c:extLst>
            <c:ext xmlns:c16="http://schemas.microsoft.com/office/drawing/2014/chart" uri="{C3380CC4-5D6E-409C-BE32-E72D297353CC}">
              <c16:uniqueId val="{00000002-1CDC-49DD-9BDE-EDABB755D869}"/>
            </c:ext>
          </c:extLst>
        </c:ser>
        <c:dLbls>
          <c:showLegendKey val="0"/>
          <c:showVal val="0"/>
          <c:showCatName val="0"/>
          <c:showSerName val="0"/>
          <c:showPercent val="0"/>
          <c:showBubbleSize val="0"/>
        </c:dLbls>
        <c:gapWidth val="100"/>
        <c:axId val="322539312"/>
        <c:axId val="1981096720"/>
      </c:barChart>
      <c:catAx>
        <c:axId val="322539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200" b="0" i="0" u="none" strike="noStrike" kern="1200" baseline="0">
                <a:solidFill>
                  <a:sysClr val="windowText" lastClr="000000"/>
                </a:solidFill>
                <a:latin typeface="+mn-lt"/>
                <a:ea typeface="+mn-ea"/>
                <a:cs typeface="+mn-cs"/>
              </a:defRPr>
            </a:pPr>
            <a:endParaRPr lang="en-US"/>
          </a:p>
        </c:txPr>
        <c:crossAx val="1981096720"/>
        <c:crosses val="autoZero"/>
        <c:auto val="1"/>
        <c:lblAlgn val="ctr"/>
        <c:lblOffset val="100"/>
        <c:noMultiLvlLbl val="0"/>
      </c:catAx>
      <c:valAx>
        <c:axId val="1981096720"/>
        <c:scaling>
          <c:orientation val="minMax"/>
        </c:scaling>
        <c:delete val="1"/>
        <c:axPos val="l"/>
        <c:numFmt formatCode="0.0%" sourceLinked="1"/>
        <c:majorTickMark val="none"/>
        <c:minorTickMark val="none"/>
        <c:tickLblPos val="nextTo"/>
        <c:crossAx val="32253931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'Yearly Ratios'!$L$2</c:f>
              <c:strCache>
                <c:ptCount val="1"/>
                <c:pt idx="0">
                  <c:v>Asset turns</c:v>
                </c:pt>
              </c:strCache>
            </c:strRef>
          </c:tx>
          <c:spPr>
            <a:solidFill>
              <a:srgbClr val="0070C0"/>
            </a:solidFill>
            <a:ln>
              <a:noFill/>
            </a:ln>
            <a:effectLst/>
          </c:spPr>
          <c:invertIfNegative val="0"/>
          <c:dPt>
            <c:idx val="5"/>
            <c:invertIfNegative val="0"/>
            <c:bubble3D val="0"/>
            <c:spPr>
              <a:solidFill>
                <a:srgbClr val="002060"/>
              </a:solidFill>
              <a:ln>
                <a:noFill/>
              </a:ln>
              <a:effectLst/>
            </c:spPr>
            <c:extLst>
              <c:ext xmlns:c16="http://schemas.microsoft.com/office/drawing/2014/chart" uri="{C3380CC4-5D6E-409C-BE32-E72D297353CC}">
                <c16:uniqueId val="{00000001-7604-42FF-8AB7-A776EF699B80}"/>
              </c:ext>
            </c:extLst>
          </c:dPt>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'Yearly Ratios'!$K$3:$K$8</c:f>
              <c:strCache>
                <c:ptCount val="6"/>
                <c:pt idx="0">
                  <c:v>FY18</c:v>
                </c:pt>
                <c:pt idx="1">
                  <c:v>FY19</c:v>
                </c:pt>
                <c:pt idx="2">
                  <c:v>FY20</c:v>
                </c:pt>
                <c:pt idx="3">
                  <c:v>FY21</c:v>
                </c:pt>
                <c:pt idx="4">
                  <c:v>FY22</c:v>
                </c:pt>
                <c:pt idx="5">
                  <c:v>FY23</c:v>
                </c:pt>
              </c:strCache>
            </c:strRef>
          </c:cat>
          <c:val>
            <c:numRef>
              <c:f>'Yearly Ratios'!$L$3:$L$8</c:f>
              <c:numCache>
                <c:formatCode>#,##0.00</c:formatCode>
                <c:ptCount val="6"/>
                <c:pt idx="0">
                  <c:v>1.7464313694408582</c:v>
                </c:pt>
                <c:pt idx="1">
                  <c:v>2.0025910049803555</c:v>
                </c:pt>
                <c:pt idx="2">
                  <c:v>1.8919816910697254</c:v>
                </c:pt>
                <c:pt idx="3">
                  <c:v>1.9771189847510451</c:v>
                </c:pt>
                <c:pt idx="4">
                  <c:v>2.0224385893633055</c:v>
                </c:pt>
                <c:pt idx="5">
                  <c:v>2.0564368889362998</c:v>
                </c:pt>
              </c:numCache>
            </c:numRef>
          </c:val>
          <c:extLst>
            <c:ext xmlns:c16="http://schemas.microsoft.com/office/drawing/2014/chart" uri="{C3380CC4-5D6E-409C-BE32-E72D297353CC}">
              <c16:uniqueId val="{00000002-7604-42FF-8AB7-A776EF699B80}"/>
            </c:ext>
          </c:extLst>
        </c:ser>
        <c:dLbls>
          <c:showLegendKey val="0"/>
          <c:showVal val="0"/>
          <c:showCatName val="0"/>
          <c:showSerName val="0"/>
          <c:showPercent val="0"/>
          <c:showBubbleSize val="0"/>
        </c:dLbls>
        <c:gapWidth val="100"/>
        <c:axId val="322539312"/>
        <c:axId val="1981096720"/>
      </c:barChart>
      <c:catAx>
        <c:axId val="322539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200" b="0" i="0" u="none" strike="noStrike" kern="1200" baseline="0">
                <a:solidFill>
                  <a:sysClr val="windowText" lastClr="000000"/>
                </a:solidFill>
                <a:latin typeface="+mn-lt"/>
                <a:ea typeface="+mn-ea"/>
                <a:cs typeface="+mn-cs"/>
              </a:defRPr>
            </a:pPr>
            <a:endParaRPr lang="en-US"/>
          </a:p>
        </c:txPr>
        <c:crossAx val="1981096720"/>
        <c:crosses val="autoZero"/>
        <c:auto val="1"/>
        <c:lblAlgn val="ctr"/>
        <c:lblOffset val="100"/>
        <c:noMultiLvlLbl val="0"/>
      </c:catAx>
      <c:valAx>
        <c:axId val="1981096720"/>
        <c:scaling>
          <c:orientation val="minMax"/>
          <c:min val="0"/>
        </c:scaling>
        <c:delete val="1"/>
        <c:axPos val="l"/>
        <c:numFmt formatCode="#,##0.00" sourceLinked="1"/>
        <c:majorTickMark val="out"/>
        <c:minorTickMark val="none"/>
        <c:tickLblPos val="nextTo"/>
        <c:crossAx val="32253931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ysClr val="windowText" lastClr="000000"/>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'Yearly Ratios'!$U$2</c:f>
              <c:strCache>
                <c:ptCount val="1"/>
                <c:pt idx="0">
                  <c:v>Net Debt</c:v>
                </c:pt>
              </c:strCache>
            </c:strRef>
          </c:tx>
          <c:spPr>
            <a:solidFill>
              <a:schemeClr val="accent1"/>
            </a:solidFill>
            <a:ln>
              <a:noFill/>
            </a:ln>
            <a:effectLst/>
          </c:spPr>
          <c:invertIfNegative val="0"/>
          <c:dPt>
            <c:idx val="5"/>
            <c:invertIfNegative val="0"/>
            <c:bubble3D val="0"/>
            <c:spPr>
              <a:solidFill>
                <a:srgbClr val="002060"/>
              </a:solidFill>
              <a:ln>
                <a:noFill/>
              </a:ln>
              <a:effectLst/>
            </c:spPr>
            <c:extLst>
              <c:ext xmlns:c16="http://schemas.microsoft.com/office/drawing/2014/chart" uri="{C3380CC4-5D6E-409C-BE32-E72D297353CC}">
                <c16:uniqueId val="{00000001-4960-4E26-A480-F4E88E9973B2}"/>
              </c:ext>
            </c:extLst>
          </c:dPt>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'Yearly Ratios'!$T$3:$T$8</c:f>
              <c:strCache>
                <c:ptCount val="6"/>
                <c:pt idx="0">
                  <c:v>FY18</c:v>
                </c:pt>
                <c:pt idx="1">
                  <c:v>FY19</c:v>
                </c:pt>
                <c:pt idx="2">
                  <c:v>FY20</c:v>
                </c:pt>
                <c:pt idx="3">
                  <c:v>FY21</c:v>
                </c:pt>
                <c:pt idx="4">
                  <c:v>FY22</c:v>
                </c:pt>
                <c:pt idx="5">
                  <c:v>FY23</c:v>
                </c:pt>
              </c:strCache>
            </c:strRef>
          </c:cat>
          <c:val>
            <c:numRef>
              <c:f>'Yearly Ratios'!$U$3:$U$8</c:f>
              <c:numCache>
                <c:formatCode>#,##0</c:formatCode>
                <c:ptCount val="6"/>
                <c:pt idx="0">
                  <c:v>8704.0850939360007</c:v>
                </c:pt>
                <c:pt idx="1">
                  <c:v>9081.5509999999995</c:v>
                </c:pt>
                <c:pt idx="2">
                  <c:v>6057.9490000000005</c:v>
                </c:pt>
                <c:pt idx="3">
                  <c:v>5751.9120000000003</c:v>
                </c:pt>
                <c:pt idx="4">
                  <c:v>6966.0590000000002</c:v>
                </c:pt>
                <c:pt idx="5">
                  <c:v>7670.6381822000003</c:v>
                </c:pt>
              </c:numCache>
            </c:numRef>
          </c:val>
          <c:extLst>
            <c:ext xmlns:c16="http://schemas.microsoft.com/office/drawing/2014/chart" uri="{C3380CC4-5D6E-409C-BE32-E72D297353CC}">
              <c16:uniqueId val="{00000002-4960-4E26-A480-F4E88E9973B2}"/>
            </c:ext>
          </c:extLst>
        </c:ser>
        <c:dLbls>
          <c:showLegendKey val="0"/>
          <c:showVal val="0"/>
          <c:showCatName val="0"/>
          <c:showSerName val="0"/>
          <c:showPercent val="0"/>
          <c:showBubbleSize val="0"/>
        </c:dLbls>
        <c:gapWidth val="75"/>
        <c:axId val="1542418592"/>
        <c:axId val="2088120880"/>
      </c:barChart>
      <c:lineChart>
        <c:grouping val="standard"/>
        <c:varyColors val="0"/>
        <c:ser>
          <c:idx val="1"/>
          <c:order val="1"/>
          <c:tx>
            <c:strRef>
              <c:f>'Yearly Ratios'!$V$2</c:f>
              <c:strCache>
                <c:ptCount val="1"/>
                <c:pt idx="0">
                  <c:v>Net Debt/EBITDA</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dLbl>
              <c:idx val="0"/>
              <c:layout>
                <c:manualLayout>
                  <c:x val="-6.8772222222222221E-2"/>
                  <c:y val="6.635169724660909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960-4E26-A480-F4E88E9973B2}"/>
                </c:ext>
              </c:extLst>
            </c:dLbl>
            <c:dLbl>
              <c:idx val="5"/>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t"/>
              <c:showLegendKey val="0"/>
              <c:showVal val="1"/>
              <c:showCatName val="0"/>
              <c:showSerName val="0"/>
              <c:showPercent val="0"/>
              <c:showBubbleSize val="0"/>
              <c:extLst>
                <c:ext xmlns:c16="http://schemas.microsoft.com/office/drawing/2014/chart" uri="{C3380CC4-5D6E-409C-BE32-E72D297353CC}">
                  <c16:uniqueId val="{00000004-4960-4E26-A480-F4E88E9973B2}"/>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ysClr val="windowText" lastClr="000000"/>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'Yearly Ratios'!$T$3:$T$8</c:f>
              <c:strCache>
                <c:ptCount val="6"/>
                <c:pt idx="0">
                  <c:v>FY18</c:v>
                </c:pt>
                <c:pt idx="1">
                  <c:v>FY19</c:v>
                </c:pt>
                <c:pt idx="2">
                  <c:v>FY20</c:v>
                </c:pt>
                <c:pt idx="3">
                  <c:v>FY21</c:v>
                </c:pt>
                <c:pt idx="4">
                  <c:v>FY22</c:v>
                </c:pt>
                <c:pt idx="5">
                  <c:v>FY23</c:v>
                </c:pt>
              </c:strCache>
            </c:strRef>
          </c:cat>
          <c:val>
            <c:numRef>
              <c:f>'Yearly Ratios'!$V$3:$V$8</c:f>
              <c:numCache>
                <c:formatCode>#,##0.00</c:formatCode>
                <c:ptCount val="6"/>
                <c:pt idx="0">
                  <c:v>3.1262326192756098</c:v>
                </c:pt>
                <c:pt idx="1">
                  <c:v>2.3647546279822338</c:v>
                </c:pt>
                <c:pt idx="2">
                  <c:v>1.1531866986480643</c:v>
                </c:pt>
                <c:pt idx="3">
                  <c:v>0.67255998500310266</c:v>
                </c:pt>
                <c:pt idx="4">
                  <c:v>0.96879693019243196</c:v>
                </c:pt>
                <c:pt idx="5">
                  <c:v>0.83940294918036384</c:v>
                </c:pt>
              </c:numCache>
            </c:numRef>
          </c:val>
          <c:smooth val="0"/>
          <c:extLst>
            <c:ext xmlns:c16="http://schemas.microsoft.com/office/drawing/2014/chart" uri="{C3380CC4-5D6E-409C-BE32-E72D297353CC}">
              <c16:uniqueId val="{00000005-4960-4E26-A480-F4E88E9973B2}"/>
            </c:ext>
          </c:extLst>
        </c:ser>
        <c:dLbls>
          <c:showLegendKey val="0"/>
          <c:showVal val="0"/>
          <c:showCatName val="0"/>
          <c:showSerName val="0"/>
          <c:showPercent val="0"/>
          <c:showBubbleSize val="0"/>
        </c:dLbls>
        <c:marker val="1"/>
        <c:smooth val="0"/>
        <c:axId val="2022977440"/>
        <c:axId val="1692831328"/>
      </c:lineChart>
      <c:catAx>
        <c:axId val="1542418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200" b="0" i="0" u="none" strike="noStrike" kern="1200" baseline="0">
                <a:solidFill>
                  <a:sysClr val="windowText" lastClr="000000"/>
                </a:solidFill>
                <a:latin typeface="+mn-lt"/>
                <a:ea typeface="+mn-ea"/>
                <a:cs typeface="+mn-cs"/>
              </a:defRPr>
            </a:pPr>
            <a:endParaRPr lang="en-US"/>
          </a:p>
        </c:txPr>
        <c:crossAx val="2088120880"/>
        <c:crosses val="autoZero"/>
        <c:auto val="1"/>
        <c:lblAlgn val="ctr"/>
        <c:lblOffset val="100"/>
        <c:noMultiLvlLbl val="0"/>
      </c:catAx>
      <c:valAx>
        <c:axId val="2088120880"/>
        <c:scaling>
          <c:orientation val="minMax"/>
        </c:scaling>
        <c:delete val="0"/>
        <c:axPos val="l"/>
        <c:numFmt formatCode="#,##0" sourceLinked="1"/>
        <c:majorTickMark val="none"/>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1542418592"/>
        <c:crosses val="autoZero"/>
        <c:crossBetween val="between"/>
      </c:valAx>
      <c:valAx>
        <c:axId val="1692831328"/>
        <c:scaling>
          <c:orientation val="minMax"/>
          <c:max val="4"/>
          <c:min val="0"/>
        </c:scaling>
        <c:delete val="0"/>
        <c:axPos val="r"/>
        <c:numFmt formatCode="#,##0.00" sourceLinked="1"/>
        <c:majorTickMark val="none"/>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2022977440"/>
        <c:crosses val="max"/>
        <c:crossBetween val="between"/>
      </c:valAx>
      <c:catAx>
        <c:axId val="2022977440"/>
        <c:scaling>
          <c:orientation val="minMax"/>
        </c:scaling>
        <c:delete val="1"/>
        <c:axPos val="b"/>
        <c:numFmt formatCode="General" sourceLinked="1"/>
        <c:majorTickMark val="out"/>
        <c:minorTickMark val="none"/>
        <c:tickLblPos val="nextTo"/>
        <c:crossAx val="1692831328"/>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ysClr val="windowText" lastClr="000000"/>
          </a:solidFill>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'Yearly Ratios'!$L$16</c:f>
              <c:strCache>
                <c:ptCount val="1"/>
                <c:pt idx="0">
                  <c:v>Operating Cash flow</c:v>
                </c:pt>
              </c:strCache>
            </c:strRef>
          </c:tx>
          <c:spPr>
            <a:solidFill>
              <a:srgbClr val="0070C0"/>
            </a:solidFill>
            <a:ln>
              <a:noFill/>
            </a:ln>
            <a:effectLst/>
          </c:spPr>
          <c:invertIfNegative val="0"/>
          <c:dPt>
            <c:idx val="5"/>
            <c:invertIfNegative val="0"/>
            <c:bubble3D val="0"/>
            <c:spPr>
              <a:solidFill>
                <a:srgbClr val="002060"/>
              </a:solidFill>
              <a:ln>
                <a:noFill/>
              </a:ln>
              <a:effectLst/>
            </c:spPr>
            <c:extLst>
              <c:ext xmlns:c16="http://schemas.microsoft.com/office/drawing/2014/chart" uri="{C3380CC4-5D6E-409C-BE32-E72D297353CC}">
                <c16:uniqueId val="{00000001-67F3-4B01-A388-7366BDF93EC4}"/>
              </c:ext>
            </c:extLst>
          </c:dPt>
          <c:dLbls>
            <c:dLbl>
              <c:idx val="0"/>
              <c:layout>
                <c:manualLayout>
                  <c:x val="0"/>
                  <c:y val="0.2116666666666667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7F3-4B01-A388-7366BDF93EC4}"/>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'Yearly Ratios'!$K$17:$K$22</c:f>
              <c:strCache>
                <c:ptCount val="6"/>
                <c:pt idx="0">
                  <c:v>FY18</c:v>
                </c:pt>
                <c:pt idx="1">
                  <c:v>FY19</c:v>
                </c:pt>
                <c:pt idx="2">
                  <c:v>FY20</c:v>
                </c:pt>
                <c:pt idx="3">
                  <c:v>FY21</c:v>
                </c:pt>
                <c:pt idx="4">
                  <c:v>FY22</c:v>
                </c:pt>
                <c:pt idx="5">
                  <c:v>FY23</c:v>
                </c:pt>
              </c:strCache>
            </c:strRef>
          </c:cat>
          <c:val>
            <c:numRef>
              <c:f>'Yearly Ratios'!$L$17:$L$22</c:f>
              <c:numCache>
                <c:formatCode>#,##0</c:formatCode>
                <c:ptCount val="6"/>
                <c:pt idx="0">
                  <c:v>-651</c:v>
                </c:pt>
                <c:pt idx="1">
                  <c:v>2622</c:v>
                </c:pt>
                <c:pt idx="2">
                  <c:v>4762</c:v>
                </c:pt>
                <c:pt idx="3">
                  <c:v>4325</c:v>
                </c:pt>
                <c:pt idx="4">
                  <c:v>3321</c:v>
                </c:pt>
                <c:pt idx="5">
                  <c:v>7387.4944034529599</c:v>
                </c:pt>
              </c:numCache>
            </c:numRef>
          </c:val>
          <c:extLst>
            <c:ext xmlns:c16="http://schemas.microsoft.com/office/drawing/2014/chart" uri="{C3380CC4-5D6E-409C-BE32-E72D297353CC}">
              <c16:uniqueId val="{00000003-67F3-4B01-A388-7366BDF93EC4}"/>
            </c:ext>
          </c:extLst>
        </c:ser>
        <c:dLbls>
          <c:showLegendKey val="0"/>
          <c:showVal val="0"/>
          <c:showCatName val="0"/>
          <c:showSerName val="0"/>
          <c:showPercent val="0"/>
          <c:showBubbleSize val="0"/>
        </c:dLbls>
        <c:gapWidth val="100"/>
        <c:axId val="322539312"/>
        <c:axId val="1981096720"/>
      </c:barChart>
      <c:catAx>
        <c:axId val="322539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200" b="0" i="0" u="none" strike="noStrike" kern="1200" baseline="0">
                <a:solidFill>
                  <a:sysClr val="windowText" lastClr="000000"/>
                </a:solidFill>
                <a:latin typeface="+mn-lt"/>
                <a:ea typeface="+mn-ea"/>
                <a:cs typeface="+mn-cs"/>
              </a:defRPr>
            </a:pPr>
            <a:endParaRPr lang="en-US"/>
          </a:p>
        </c:txPr>
        <c:crossAx val="1981096720"/>
        <c:crosses val="autoZero"/>
        <c:auto val="1"/>
        <c:lblAlgn val="ctr"/>
        <c:lblOffset val="100"/>
        <c:noMultiLvlLbl val="0"/>
      </c:catAx>
      <c:valAx>
        <c:axId val="1981096720"/>
        <c:scaling>
          <c:orientation val="minMax"/>
        </c:scaling>
        <c:delete val="1"/>
        <c:axPos val="l"/>
        <c:numFmt formatCode="#,##0" sourceLinked="1"/>
        <c:majorTickMark val="none"/>
        <c:minorTickMark val="none"/>
        <c:tickLblPos val="nextTo"/>
        <c:crossAx val="32253931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ysClr val="windowText" lastClr="000000"/>
          </a:solidFill>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'Yearly Ratios'!$U$16</c:f>
              <c:strCache>
                <c:ptCount val="1"/>
                <c:pt idx="0">
                  <c:v>Capex</c:v>
                </c:pt>
              </c:strCache>
            </c:strRef>
          </c:tx>
          <c:spPr>
            <a:solidFill>
              <a:srgbClr val="0070C0"/>
            </a:solidFill>
            <a:ln>
              <a:noFill/>
            </a:ln>
            <a:effectLst/>
          </c:spPr>
          <c:invertIfNegative val="0"/>
          <c:dPt>
            <c:idx val="5"/>
            <c:invertIfNegative val="0"/>
            <c:bubble3D val="0"/>
            <c:spPr>
              <a:solidFill>
                <a:srgbClr val="002060"/>
              </a:solidFill>
              <a:ln>
                <a:noFill/>
              </a:ln>
              <a:effectLst/>
            </c:spPr>
            <c:extLst>
              <c:ext xmlns:c16="http://schemas.microsoft.com/office/drawing/2014/chart" uri="{C3380CC4-5D6E-409C-BE32-E72D297353CC}">
                <c16:uniqueId val="{00000001-CD4E-48D2-B3B2-7FF8E7B9F958}"/>
              </c:ext>
            </c:extLst>
          </c:dPt>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'Yearly Ratios'!$T$17:$T$22</c:f>
              <c:strCache>
                <c:ptCount val="6"/>
                <c:pt idx="0">
                  <c:v>FY18</c:v>
                </c:pt>
                <c:pt idx="1">
                  <c:v>FY19</c:v>
                </c:pt>
                <c:pt idx="2">
                  <c:v>FY20</c:v>
                </c:pt>
                <c:pt idx="3">
                  <c:v>FY21</c:v>
                </c:pt>
                <c:pt idx="4">
                  <c:v>FY22</c:v>
                </c:pt>
                <c:pt idx="5">
                  <c:v>FY23</c:v>
                </c:pt>
              </c:strCache>
            </c:strRef>
          </c:cat>
          <c:val>
            <c:numRef>
              <c:f>'Yearly Ratios'!$U$17:$U$22</c:f>
              <c:numCache>
                <c:formatCode>#,##0</c:formatCode>
                <c:ptCount val="6"/>
                <c:pt idx="0">
                  <c:v>4463</c:v>
                </c:pt>
                <c:pt idx="1">
                  <c:v>2788</c:v>
                </c:pt>
                <c:pt idx="2">
                  <c:v>1843</c:v>
                </c:pt>
                <c:pt idx="3">
                  <c:v>2710</c:v>
                </c:pt>
                <c:pt idx="4">
                  <c:v>3967</c:v>
                </c:pt>
                <c:pt idx="5">
                  <c:v>4105</c:v>
                </c:pt>
              </c:numCache>
            </c:numRef>
          </c:val>
          <c:extLst>
            <c:ext xmlns:c16="http://schemas.microsoft.com/office/drawing/2014/chart" uri="{C3380CC4-5D6E-409C-BE32-E72D297353CC}">
              <c16:uniqueId val="{00000002-CD4E-48D2-B3B2-7FF8E7B9F958}"/>
            </c:ext>
          </c:extLst>
        </c:ser>
        <c:dLbls>
          <c:showLegendKey val="0"/>
          <c:showVal val="0"/>
          <c:showCatName val="0"/>
          <c:showSerName val="0"/>
          <c:showPercent val="0"/>
          <c:showBubbleSize val="0"/>
        </c:dLbls>
        <c:gapWidth val="100"/>
        <c:axId val="322539312"/>
        <c:axId val="1981096720"/>
      </c:barChart>
      <c:catAx>
        <c:axId val="322539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200" b="0" i="0" u="none" strike="noStrike" kern="1200" baseline="0">
                <a:solidFill>
                  <a:sysClr val="windowText" lastClr="000000"/>
                </a:solidFill>
                <a:latin typeface="+mn-lt"/>
                <a:ea typeface="+mn-ea"/>
                <a:cs typeface="+mn-cs"/>
              </a:defRPr>
            </a:pPr>
            <a:endParaRPr lang="en-US"/>
          </a:p>
        </c:txPr>
        <c:crossAx val="1981096720"/>
        <c:crosses val="autoZero"/>
        <c:auto val="1"/>
        <c:lblAlgn val="ctr"/>
        <c:lblOffset val="100"/>
        <c:noMultiLvlLbl val="0"/>
      </c:catAx>
      <c:valAx>
        <c:axId val="1981096720"/>
        <c:scaling>
          <c:orientation val="minMax"/>
        </c:scaling>
        <c:delete val="1"/>
        <c:axPos val="l"/>
        <c:numFmt formatCode="#,##0" sourceLinked="1"/>
        <c:majorTickMark val="none"/>
        <c:minorTickMark val="none"/>
        <c:tickLblPos val="nextTo"/>
        <c:crossAx val="32253931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ysClr val="windowText" lastClr="000000"/>
          </a:solidFill>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1" i="0" u="none" strike="noStrike" kern="1200" spc="0" baseline="0">
                <a:solidFill>
                  <a:sysClr val="windowText" lastClr="000000"/>
                </a:solidFill>
                <a:latin typeface="Arial" panose="020B0604020202020204" pitchFamily="34" charset="0"/>
                <a:ea typeface="+mn-ea"/>
                <a:cs typeface="Arial" panose="020B0604020202020204" pitchFamily="34" charset="0"/>
              </a:defRPr>
            </a:pPr>
            <a:r>
              <a:rPr lang="en-US" sz="2000" b="1"/>
              <a:t>ANDA/Dossier filed - Therapeutic area wise</a:t>
            </a:r>
          </a:p>
        </c:rich>
      </c:tx>
      <c:overlay val="0"/>
      <c:spPr>
        <a:noFill/>
        <a:ln>
          <a:noFill/>
        </a:ln>
        <a:effectLst/>
      </c:spPr>
      <c:txPr>
        <a:bodyPr rot="0" spcFirstLastPara="1" vertOverflow="ellipsis" vert="horz" wrap="square" anchor="ctr" anchorCtr="1"/>
        <a:lstStyle/>
        <a:p>
          <a:pPr>
            <a:defRPr sz="2000" b="1" i="0" u="none" strike="noStrike" kern="1200" spc="0" baseline="0">
              <a:solidFill>
                <a:sysClr val="windowText" lastClr="000000"/>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0.26430883147480583"/>
          <c:y val="0.17783251231527095"/>
          <c:w val="0.73569116852519423"/>
          <c:h val="0.77783251231527095"/>
        </c:manualLayout>
      </c:layout>
      <c:barChart>
        <c:barDir val="bar"/>
        <c:grouping val="clustered"/>
        <c:varyColors val="0"/>
        <c:ser>
          <c:idx val="0"/>
          <c:order val="0"/>
          <c:spPr>
            <a:solidFill>
              <a:schemeClr val="accent3">
                <a:lumMod val="60000"/>
                <a:lumOff val="40000"/>
              </a:schemeClr>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'[Earnings Presentation Q1FY24.xlsx]ANDA'!$B$3:$B$11</c:f>
              <c:strCache>
                <c:ptCount val="9"/>
                <c:pt idx="0">
                  <c:v>Anti-gout</c:v>
                </c:pt>
                <c:pt idx="1">
                  <c:v>Antitussives</c:v>
                </c:pt>
                <c:pt idx="2">
                  <c:v>Anti-Histamines</c:v>
                </c:pt>
                <c:pt idx="3">
                  <c:v>Mineral supplements</c:v>
                </c:pt>
                <c:pt idx="4">
                  <c:v>Anti-diabetic</c:v>
                </c:pt>
                <c:pt idx="5">
                  <c:v>Cardiovascular</c:v>
                </c:pt>
                <c:pt idx="6">
                  <c:v>Other areas</c:v>
                </c:pt>
                <c:pt idx="7">
                  <c:v>CNS</c:v>
                </c:pt>
                <c:pt idx="8">
                  <c:v>Analgesics</c:v>
                </c:pt>
              </c:strCache>
            </c:strRef>
          </c:cat>
          <c:val>
            <c:numRef>
              <c:f>'[Earnings Presentation Q1FY24.xlsx]ANDA'!$C$3:$C$11</c:f>
              <c:numCache>
                <c:formatCode>General</c:formatCode>
                <c:ptCount val="9"/>
                <c:pt idx="0">
                  <c:v>3</c:v>
                </c:pt>
                <c:pt idx="1">
                  <c:v>3</c:v>
                </c:pt>
                <c:pt idx="2">
                  <c:v>4</c:v>
                </c:pt>
                <c:pt idx="3">
                  <c:v>5</c:v>
                </c:pt>
                <c:pt idx="4">
                  <c:v>9</c:v>
                </c:pt>
                <c:pt idx="5">
                  <c:v>11</c:v>
                </c:pt>
                <c:pt idx="6">
                  <c:v>13</c:v>
                </c:pt>
                <c:pt idx="7">
                  <c:v>22</c:v>
                </c:pt>
                <c:pt idx="8">
                  <c:v>29</c:v>
                </c:pt>
              </c:numCache>
            </c:numRef>
          </c:val>
          <c:extLst>
            <c:ext xmlns:c16="http://schemas.microsoft.com/office/drawing/2014/chart" uri="{C3380CC4-5D6E-409C-BE32-E72D297353CC}">
              <c16:uniqueId val="{00000000-C1DA-4C98-9275-9D58E0CF428D}"/>
            </c:ext>
          </c:extLst>
        </c:ser>
        <c:dLbls>
          <c:dLblPos val="outEnd"/>
          <c:showLegendKey val="0"/>
          <c:showVal val="1"/>
          <c:showCatName val="0"/>
          <c:showSerName val="0"/>
          <c:showPercent val="0"/>
          <c:showBubbleSize val="0"/>
        </c:dLbls>
        <c:gapWidth val="6"/>
        <c:axId val="777292272"/>
        <c:axId val="777294240"/>
      </c:barChart>
      <c:catAx>
        <c:axId val="77729227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crossAx val="777294240"/>
        <c:crosses val="autoZero"/>
        <c:auto val="1"/>
        <c:lblAlgn val="ctr"/>
        <c:lblOffset val="100"/>
        <c:noMultiLvlLbl val="0"/>
      </c:catAx>
      <c:valAx>
        <c:axId val="777294240"/>
        <c:scaling>
          <c:orientation val="minMax"/>
          <c:max val="30"/>
        </c:scaling>
        <c:delete val="0"/>
        <c:axPos val="b"/>
        <c:numFmt formatCode="General" sourceLinked="1"/>
        <c:majorTickMark val="none"/>
        <c:minorTickMark val="none"/>
        <c:tickLblPos val="none"/>
        <c:spPr>
          <a:noFill/>
          <a:ln>
            <a:noFill/>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crossAx val="777292272"/>
        <c:crosses val="autoZero"/>
        <c:crossBetween val="between"/>
        <c:minorUnit val="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ysClr val="windowText" lastClr="000000"/>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CF7B7B-3966-4DE8-AA85-486065324ADA}" type="datetimeFigureOut">
              <a:rPr lang="en-IN" smtClean="0"/>
              <a:t>10-08-2023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17A0AB-DD8A-4C9B-BCBB-EC0B5E470EB5}" type="slidenum">
              <a:rPr lang="en-IN" smtClean="0"/>
              <a:t>‹#›</a:t>
            </a:fld>
            <a:endParaRPr lang="en-IN"/>
          </a:p>
        </p:txBody>
      </p:sp>
    </p:spTree>
    <p:extLst>
      <p:ext uri="{BB962C8B-B14F-4D97-AF65-F5344CB8AC3E}">
        <p14:creationId xmlns:p14="http://schemas.microsoft.com/office/powerpoint/2010/main" val="2468523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A13EED7-A0A4-46BA-B19C-64A7CB014E35}" type="slidenum">
              <a:rPr lang="en-IN" smtClean="0"/>
              <a:t>21</a:t>
            </a:fld>
            <a:endParaRPr lang="en-IN" dirty="0"/>
          </a:p>
        </p:txBody>
      </p:sp>
    </p:spTree>
    <p:extLst>
      <p:ext uri="{BB962C8B-B14F-4D97-AF65-F5344CB8AC3E}">
        <p14:creationId xmlns:p14="http://schemas.microsoft.com/office/powerpoint/2010/main" val="33373346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165E20-3C22-3568-AE58-4BC3FCC8383B}"/>
              </a:ext>
            </a:extLst>
          </p:cNvPr>
          <p:cNvSpPr>
            <a:spLocks noGrp="1"/>
          </p:cNvSpPr>
          <p:nvPr>
            <p:ph type="dt" sz="half" idx="10"/>
          </p:nvPr>
        </p:nvSpPr>
        <p:spPr/>
        <p:txBody>
          <a:bodyPr/>
          <a:lstStyle/>
          <a:p>
            <a:fld id="{84B43AB2-A213-4F5C-91BA-CE20C9D66F61}" type="datetimeFigureOut">
              <a:rPr lang="en-US" smtClean="0"/>
              <a:t>8/10/2023</a:t>
            </a:fld>
            <a:endParaRPr lang="en-US"/>
          </a:p>
        </p:txBody>
      </p:sp>
      <p:sp>
        <p:nvSpPr>
          <p:cNvPr id="3" name="Footer Placeholder 2">
            <a:extLst>
              <a:ext uri="{FF2B5EF4-FFF2-40B4-BE49-F238E27FC236}">
                <a16:creationId xmlns:a16="http://schemas.microsoft.com/office/drawing/2014/main" id="{871309A3-51E6-3E48-1F35-5263405FC5D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C94B6F-3865-CE4B-DB36-9DDBD7F6CF43}"/>
              </a:ext>
            </a:extLst>
          </p:cNvPr>
          <p:cNvSpPr>
            <a:spLocks noGrp="1"/>
          </p:cNvSpPr>
          <p:nvPr>
            <p:ph type="sldNum" sz="quarter" idx="12"/>
          </p:nvPr>
        </p:nvSpPr>
        <p:spPr/>
        <p:txBody>
          <a:bodyPr/>
          <a:lstStyle/>
          <a:p>
            <a:fld id="{FDDC9724-02E9-4BC7-8A5A-62DCEA2A7C21}" type="slidenum">
              <a:rPr lang="en-US" smtClean="0"/>
              <a:t>‹#›</a:t>
            </a:fld>
            <a:endParaRPr lang="en-US"/>
          </a:p>
        </p:txBody>
      </p:sp>
    </p:spTree>
    <p:extLst>
      <p:ext uri="{BB962C8B-B14F-4D97-AF65-F5344CB8AC3E}">
        <p14:creationId xmlns:p14="http://schemas.microsoft.com/office/powerpoint/2010/main" val="3048751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Custom">
    <p:spTree>
      <p:nvGrpSpPr>
        <p:cNvPr id="1" name=""/>
        <p:cNvGrpSpPr/>
        <p:nvPr/>
      </p:nvGrpSpPr>
      <p:grpSpPr>
        <a:xfrm>
          <a:off x="0" y="0"/>
          <a:ext cx="0" cy="0"/>
          <a:chOff x="0" y="0"/>
          <a:chExt cx="0" cy="0"/>
        </a:xfrm>
      </p:grpSpPr>
      <p:sp>
        <p:nvSpPr>
          <p:cNvPr id="9" name="Slide Number">
            <a:extLst>
              <a:ext uri="{FF2B5EF4-FFF2-40B4-BE49-F238E27FC236}">
                <a16:creationId xmlns:a16="http://schemas.microsoft.com/office/drawing/2014/main" id="{6982A9EE-ED1D-4D7E-84CA-3C36D0891D68}"/>
              </a:ext>
            </a:extLst>
          </p:cNvPr>
          <p:cNvSpPr>
            <a:spLocks noChangeArrowheads="1"/>
          </p:cNvSpPr>
          <p:nvPr userDrawn="1">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userDrawn="1">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Tree>
    <p:extLst>
      <p:ext uri="{BB962C8B-B14F-4D97-AF65-F5344CB8AC3E}">
        <p14:creationId xmlns:p14="http://schemas.microsoft.com/office/powerpoint/2010/main" val="1740480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4A995094-BAED-4763-8654-1FAB2E991542}"/>
              </a:ext>
            </a:extLst>
          </p:cNvPr>
          <p:cNvGraphicFramePr>
            <a:graphicFrameLocks noChangeAspect="1"/>
          </p:cNvGraphicFramePr>
          <p:nvPr userDrawn="1">
            <p:custDataLst>
              <p:tags r:id="rId1"/>
            </p:custDataLst>
            <p:extLst>
              <p:ext uri="{D42A27DB-BD31-4B8C-83A1-F6EECF244321}">
                <p14:modId xmlns:p14="http://schemas.microsoft.com/office/powerpoint/2010/main" val="834745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1" imgH="423" progId="TCLayout.ActiveDocument.1">
                  <p:embed/>
                </p:oleObj>
              </mc:Choice>
              <mc:Fallback>
                <p:oleObj name="think-cell Slide" r:id="rId5" imgW="421" imgH="423" progId="TCLayout.ActiveDocument.1">
                  <p:embed/>
                  <p:pic>
                    <p:nvPicPr>
                      <p:cNvPr id="8" name="Object 7" hidden="1">
                        <a:extLst>
                          <a:ext uri="{FF2B5EF4-FFF2-40B4-BE49-F238E27FC236}">
                            <a16:creationId xmlns:a16="http://schemas.microsoft.com/office/drawing/2014/main" id="{4A995094-BAED-4763-8654-1FAB2E99154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C4C591A-E21A-44CF-80E1-E7D8886A76A3}"/>
              </a:ext>
            </a:extLst>
          </p:cNvPr>
          <p:cNvSpPr>
            <a:spLocks noGrp="1"/>
          </p:cNvSpPr>
          <p:nvPr>
            <p:ph type="title"/>
          </p:nvPr>
        </p:nvSpPr>
        <p:spPr>
          <a:xfrm>
            <a:off x="140854" y="244998"/>
            <a:ext cx="10515600" cy="586736"/>
          </a:xfrm>
        </p:spPr>
        <p:txBody>
          <a:bodyPr vert="horz">
            <a:normAutofit/>
          </a:bodyPr>
          <a:lstStyle>
            <a:lvl1pPr>
              <a:defRPr sz="2400" b="0">
                <a:solidFill>
                  <a:schemeClr val="accent1">
                    <a:lumMod val="50000"/>
                  </a:schemeClr>
                </a:solidFill>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E1042F95-7A72-4F19-A278-A5CAD917E2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3DE04F-BAA2-4416-A8F8-D4F6BA110FF8}"/>
              </a:ext>
            </a:extLst>
          </p:cNvPr>
          <p:cNvSpPr>
            <a:spLocks noGrp="1"/>
          </p:cNvSpPr>
          <p:nvPr>
            <p:ph type="dt" sz="half" idx="10"/>
          </p:nvPr>
        </p:nvSpPr>
        <p:spPr/>
        <p:txBody>
          <a:bodyPr/>
          <a:lstStyle/>
          <a:p>
            <a:fld id="{E26FDBE4-F52E-4843-8460-85F08781DB1F}" type="datetime1">
              <a:rPr lang="en-IN" smtClean="0"/>
              <a:t>10-08-2023</a:t>
            </a:fld>
            <a:endParaRPr lang="en-IN" dirty="0"/>
          </a:p>
        </p:txBody>
      </p:sp>
      <p:sp>
        <p:nvSpPr>
          <p:cNvPr id="5" name="Footer Placeholder 4">
            <a:extLst>
              <a:ext uri="{FF2B5EF4-FFF2-40B4-BE49-F238E27FC236}">
                <a16:creationId xmlns:a16="http://schemas.microsoft.com/office/drawing/2014/main" id="{93B856C5-71D2-476B-911C-3B9E26E2D08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8BDCDFB0-51BF-4E95-AE56-E448D943BF19}"/>
              </a:ext>
            </a:extLst>
          </p:cNvPr>
          <p:cNvSpPr>
            <a:spLocks noGrp="1"/>
          </p:cNvSpPr>
          <p:nvPr>
            <p:ph type="sldNum" sz="quarter" idx="12"/>
          </p:nvPr>
        </p:nvSpPr>
        <p:spPr>
          <a:xfrm>
            <a:off x="9261248" y="6410780"/>
            <a:ext cx="2743200" cy="365125"/>
          </a:xfrm>
        </p:spPr>
        <p:txBody>
          <a:bodyPr/>
          <a:lstStyle>
            <a:lvl1pPr>
              <a:defRPr sz="1100">
                <a:solidFill>
                  <a:schemeClr val="bg1"/>
                </a:solidFill>
                <a:latin typeface="Arial" panose="020B0604020202020204" pitchFamily="34" charset="0"/>
                <a:cs typeface="Arial" panose="020B0604020202020204" pitchFamily="34" charset="0"/>
              </a:defRPr>
            </a:lvl1pPr>
          </a:lstStyle>
          <a:p>
            <a:fld id="{9FC3031A-744E-4491-9064-FD6EC4156FCE}" type="slidenum">
              <a:rPr lang="en-IN" smtClean="0"/>
              <a:pPr/>
              <a:t>‹#›</a:t>
            </a:fld>
            <a:endParaRPr lang="en-IN" dirty="0"/>
          </a:p>
        </p:txBody>
      </p:sp>
      <p:sp>
        <p:nvSpPr>
          <p:cNvPr id="16" name="Oval 15">
            <a:extLst>
              <a:ext uri="{FF2B5EF4-FFF2-40B4-BE49-F238E27FC236}">
                <a16:creationId xmlns:a16="http://schemas.microsoft.com/office/drawing/2014/main" id="{4F1D0915-1038-4059-9B09-FF6D493635BD}"/>
              </a:ext>
            </a:extLst>
          </p:cNvPr>
          <p:cNvSpPr/>
          <p:nvPr userDrawn="1"/>
        </p:nvSpPr>
        <p:spPr>
          <a:xfrm>
            <a:off x="11650209" y="6399894"/>
            <a:ext cx="365125" cy="365125"/>
          </a:xfrm>
          <a:prstGeom prst="ellipse">
            <a:avLst/>
          </a:prstGeom>
          <a:solidFill>
            <a:srgbClr val="0D9ADC"/>
          </a:solidFill>
          <a:ln>
            <a:solidFill>
              <a:srgbClr val="0D9A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Oval 16">
            <a:extLst>
              <a:ext uri="{FF2B5EF4-FFF2-40B4-BE49-F238E27FC236}">
                <a16:creationId xmlns:a16="http://schemas.microsoft.com/office/drawing/2014/main" id="{869EA290-803D-456B-A8CB-056D9BFB67C6}"/>
              </a:ext>
            </a:extLst>
          </p:cNvPr>
          <p:cNvSpPr/>
          <p:nvPr userDrawn="1"/>
        </p:nvSpPr>
        <p:spPr>
          <a:xfrm>
            <a:off x="11537200" y="6536604"/>
            <a:ext cx="91703" cy="91703"/>
          </a:xfrm>
          <a:prstGeom prst="ellipse">
            <a:avLst/>
          </a:prstGeom>
          <a:solidFill>
            <a:srgbClr val="0D9ADC"/>
          </a:solidFill>
          <a:ln>
            <a:solidFill>
              <a:srgbClr val="0D9A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Rectangle 17">
            <a:extLst>
              <a:ext uri="{FF2B5EF4-FFF2-40B4-BE49-F238E27FC236}">
                <a16:creationId xmlns:a16="http://schemas.microsoft.com/office/drawing/2014/main" id="{3CA3A431-B87A-4E25-916F-CB9EA31C4351}"/>
              </a:ext>
            </a:extLst>
          </p:cNvPr>
          <p:cNvSpPr/>
          <p:nvPr userDrawn="1">
            <p:custDataLst>
              <p:tags r:id="rId2"/>
            </p:custDataLst>
          </p:nvPr>
        </p:nvSpPr>
        <p:spPr>
          <a:xfrm>
            <a:off x="0" y="6730186"/>
            <a:ext cx="11515428" cy="45719"/>
          </a:xfrm>
          <a:prstGeom prst="rect">
            <a:avLst/>
          </a:prstGeom>
          <a:gradFill flip="none" rotWithShape="1">
            <a:gsLst>
              <a:gs pos="6000">
                <a:srgbClr val="002060"/>
              </a:gs>
              <a:gs pos="48000">
                <a:srgbClr val="00B0F0"/>
              </a:gs>
              <a:gs pos="87000">
                <a:schemeClr val="accent5">
                  <a:lumMod val="75000"/>
                </a:schemeClr>
              </a:gs>
              <a:gs pos="100000">
                <a:srgbClr val="002060"/>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Rectangle 9">
            <a:extLst>
              <a:ext uri="{FF2B5EF4-FFF2-40B4-BE49-F238E27FC236}">
                <a16:creationId xmlns:a16="http://schemas.microsoft.com/office/drawing/2014/main" id="{53935813-418C-4F3E-B51C-E1BEB0C248D2}"/>
              </a:ext>
            </a:extLst>
          </p:cNvPr>
          <p:cNvSpPr/>
          <p:nvPr userDrawn="1">
            <p:custDataLst>
              <p:tags r:id="rId3"/>
            </p:custDataLst>
          </p:nvPr>
        </p:nvSpPr>
        <p:spPr>
          <a:xfrm>
            <a:off x="113475" y="813230"/>
            <a:ext cx="10584000" cy="45719"/>
          </a:xfrm>
          <a:prstGeom prst="rect">
            <a:avLst/>
          </a:prstGeom>
          <a:gradFill flip="none" rotWithShape="1">
            <a:gsLst>
              <a:gs pos="16000">
                <a:srgbClr val="002060"/>
              </a:gs>
              <a:gs pos="50000">
                <a:srgbClr val="00B0F0"/>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50860285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71AC67-B676-6D14-9B31-E6F2B7B630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2A1C133-5E7C-3C69-8CF5-F07DAE109C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B81FE8-F5BC-30D5-94AF-3FC1142F78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B43AB2-A213-4F5C-91BA-CE20C9D66F61}" type="datetimeFigureOut">
              <a:rPr lang="en-US" smtClean="0"/>
              <a:t>8/10/2023</a:t>
            </a:fld>
            <a:endParaRPr lang="en-US"/>
          </a:p>
        </p:txBody>
      </p:sp>
      <p:sp>
        <p:nvSpPr>
          <p:cNvPr id="5" name="Footer Placeholder 4">
            <a:extLst>
              <a:ext uri="{FF2B5EF4-FFF2-40B4-BE49-F238E27FC236}">
                <a16:creationId xmlns:a16="http://schemas.microsoft.com/office/drawing/2014/main" id="{C8F7F569-C348-0FF2-862B-A352BF6849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9B49DCB-04F5-6144-6630-4FA61299B8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DC9724-02E9-4BC7-8A5A-62DCEA2A7C21}" type="slidenum">
              <a:rPr lang="en-US" smtClean="0"/>
              <a:t>‹#›</a:t>
            </a:fld>
            <a:endParaRPr lang="en-US"/>
          </a:p>
        </p:txBody>
      </p:sp>
    </p:spTree>
    <p:extLst>
      <p:ext uri="{BB962C8B-B14F-4D97-AF65-F5344CB8AC3E}">
        <p14:creationId xmlns:p14="http://schemas.microsoft.com/office/powerpoint/2010/main" val="3921626267"/>
      </p:ext>
    </p:extLst>
  </p:cSld>
  <p:clrMap bg1="lt1" tx1="dk1" bg2="lt2" tx2="dk2" accent1="accent1" accent2="accent2" accent3="accent3" accent4="accent4" accent5="accent5" accent6="accent6" hlink="hlink" folHlink="folHlink"/>
  <p:sldLayoutIdLst>
    <p:sldLayoutId id="2147483655" r:id="rId1"/>
    <p:sldLayoutId id="2147483682" r:id="rId2"/>
    <p:sldLayoutId id="2147483683"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5.emf"/><Relationship Id="rId2" Type="http://schemas.openxmlformats.org/officeDocument/2006/relationships/slideLayout" Target="../slideLayouts/slideLayout2.xml"/><Relationship Id="rId1" Type="http://schemas.openxmlformats.org/officeDocument/2006/relationships/tags" Target="../tags/tag6.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6.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Layout" Target="../slideLayouts/slideLayout2.xml"/><Relationship Id="rId5" Type="http://schemas.openxmlformats.org/officeDocument/2006/relationships/tags" Target="../tags/tag11.xml"/><Relationship Id="rId4" Type="http://schemas.openxmlformats.org/officeDocument/2006/relationships/tags" Target="../tags/tag10.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oleObject" Target="../embeddings/oleObject3.bin"/><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1.emf"/><Relationship Id="rId9" Type="http://schemas.openxmlformats.org/officeDocument/2006/relationships/image" Target="../media/image13.png"/><Relationship Id="rId1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1.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1.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1.e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chart" Target="../charts/chart2.xml"/><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chart" Target="../charts/chart1.xml"/><Relationship Id="rId5" Type="http://schemas.openxmlformats.org/officeDocument/2006/relationships/image" Target="../media/image1.emf"/><Relationship Id="rId4" Type="http://schemas.openxmlformats.org/officeDocument/2006/relationships/oleObject" Target="../embeddings/oleObject6.bin"/></Relationships>
</file>

<file path=ppt/slides/_rels/slide22.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oleObject" Target="../embeddings/oleObject7.bin"/><Relationship Id="rId7" Type="http://schemas.openxmlformats.org/officeDocument/2006/relationships/chart" Target="../charts/chart5.xml"/><Relationship Id="rId2" Type="http://schemas.openxmlformats.org/officeDocument/2006/relationships/slideLayout" Target="../slideLayouts/slideLayout2.xml"/><Relationship Id="rId1" Type="http://schemas.openxmlformats.org/officeDocument/2006/relationships/tags" Target="../tags/tag17.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image" Target="../media/image1.emf"/></Relationships>
</file>

<file path=ppt/slides/_rels/slide23.xml.rels><?xml version="1.0" encoding="UTF-8" standalone="yes"?>
<Relationships xmlns="http://schemas.openxmlformats.org/package/2006/relationships"><Relationship Id="rId8" Type="http://schemas.openxmlformats.org/officeDocument/2006/relationships/chart" Target="../charts/chart10.xml"/><Relationship Id="rId3" Type="http://schemas.openxmlformats.org/officeDocument/2006/relationships/oleObject" Target="../embeddings/oleObject7.bin"/><Relationship Id="rId7" Type="http://schemas.openxmlformats.org/officeDocument/2006/relationships/chart" Target="../charts/chart9.xml"/><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chart" Target="../charts/chart8.xml"/><Relationship Id="rId5" Type="http://schemas.openxmlformats.org/officeDocument/2006/relationships/chart" Target="../charts/chart7.xml"/><Relationship Id="rId10" Type="http://schemas.openxmlformats.org/officeDocument/2006/relationships/chart" Target="../charts/chart12.xml"/><Relationship Id="rId4" Type="http://schemas.openxmlformats.org/officeDocument/2006/relationships/image" Target="../media/image1.emf"/><Relationship Id="rId9" Type="http://schemas.openxmlformats.org/officeDocument/2006/relationships/chart" Target="../charts/chart11.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tags" Target="../tags/tag19.xml"/><Relationship Id="rId5" Type="http://schemas.openxmlformats.org/officeDocument/2006/relationships/chart" Target="../charts/chart13.xml"/><Relationship Id="rId4" Type="http://schemas.openxmlformats.org/officeDocument/2006/relationships/image" Target="../media/image1.emf"/></Relationships>
</file>

<file path=ppt/slides/_rels/slide25.xml.rels><?xml version="1.0" encoding="UTF-8" standalone="yes"?>
<Relationships xmlns="http://schemas.openxmlformats.org/package/2006/relationships"><Relationship Id="rId8" Type="http://schemas.openxmlformats.org/officeDocument/2006/relationships/image" Target="../media/image28.jpeg"/><Relationship Id="rId13" Type="http://schemas.openxmlformats.org/officeDocument/2006/relationships/image" Target="../media/image32.png"/><Relationship Id="rId3" Type="http://schemas.openxmlformats.org/officeDocument/2006/relationships/oleObject" Target="../embeddings/oleObject9.bin"/><Relationship Id="rId7" Type="http://schemas.openxmlformats.org/officeDocument/2006/relationships/image" Target="../media/image27.png"/><Relationship Id="rId12" Type="http://schemas.openxmlformats.org/officeDocument/2006/relationships/hyperlink" Target="mailto:krishna.raghunathan@granulesindia.com" TargetMode="External"/><Relationship Id="rId2" Type="http://schemas.openxmlformats.org/officeDocument/2006/relationships/slideLayout" Target="../slideLayouts/slideLayout1.xml"/><Relationship Id="rId1" Type="http://schemas.openxmlformats.org/officeDocument/2006/relationships/tags" Target="../tags/tag20.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hyperlink" Target="http://www.granulesindia.com/" TargetMode="External"/><Relationship Id="rId15" Type="http://schemas.openxmlformats.org/officeDocument/2006/relationships/hyperlink" Target="http://www.orientcap.com/" TargetMode="External"/><Relationship Id="rId10" Type="http://schemas.openxmlformats.org/officeDocument/2006/relationships/image" Target="../media/image30.png"/><Relationship Id="rId4" Type="http://schemas.openxmlformats.org/officeDocument/2006/relationships/image" Target="../media/image1.emf"/><Relationship Id="rId9" Type="http://schemas.openxmlformats.org/officeDocument/2006/relationships/image" Target="../media/image29.png"/><Relationship Id="rId14" Type="http://schemas.openxmlformats.org/officeDocument/2006/relationships/hyperlink" Target="mailto:payal.dave@linkintime.co.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A32F0-0E44-B12B-C7E1-4E9759409232}"/>
              </a:ext>
            </a:extLst>
          </p:cNvPr>
          <p:cNvSpPr txBox="1">
            <a:spLocks/>
          </p:cNvSpPr>
          <p:nvPr/>
        </p:nvSpPr>
        <p:spPr>
          <a:xfrm>
            <a:off x="7910283" y="741391"/>
            <a:ext cx="3397017" cy="161620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3200" b="1" dirty="0">
                <a:latin typeface="Aptos" panose="020B0004020202020204" pitchFamily="34" charset="0"/>
              </a:rPr>
              <a:t>Granules India Limited </a:t>
            </a:r>
          </a:p>
        </p:txBody>
      </p:sp>
      <p:pic>
        <p:nvPicPr>
          <p:cNvPr id="3" name="Picture 2" descr="A hand holding a leaf&#10;&#10;Description automatically generated">
            <a:extLst>
              <a:ext uri="{FF2B5EF4-FFF2-40B4-BE49-F238E27FC236}">
                <a16:creationId xmlns:a16="http://schemas.microsoft.com/office/drawing/2014/main" id="{E696452D-208E-B973-1976-4E98F2E66624}"/>
              </a:ext>
            </a:extLst>
          </p:cNvPr>
          <p:cNvPicPr>
            <a:picLocks noChangeAspect="1"/>
          </p:cNvPicPr>
          <p:nvPr/>
        </p:nvPicPr>
        <p:blipFill rotWithShape="1">
          <a:blip r:embed="rId2"/>
          <a:srcRect l="15910" r="21838"/>
          <a:stretch/>
        </p:blipFill>
        <p:spPr>
          <a:xfrm>
            <a:off x="884698" y="877413"/>
            <a:ext cx="6406903" cy="5043096"/>
          </a:xfrm>
          <a:prstGeom prst="rect">
            <a:avLst/>
          </a:prstGeom>
        </p:spPr>
      </p:pic>
      <p:grpSp>
        <p:nvGrpSpPr>
          <p:cNvPr id="10" name="Group 9">
            <a:extLst>
              <a:ext uri="{FF2B5EF4-FFF2-40B4-BE49-F238E27FC236}">
                <a16:creationId xmlns:a16="http://schemas.microsoft.com/office/drawing/2014/main" id="{BE589684-54CA-64D8-C963-5F19FF75BF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84697" y="5858828"/>
            <a:ext cx="6406903" cy="123363"/>
            <a:chOff x="7015162" y="5858828"/>
            <a:chExt cx="4300544" cy="123363"/>
          </a:xfrm>
        </p:grpSpPr>
        <p:sp>
          <p:nvSpPr>
            <p:cNvPr id="11" name="Rectangle 10">
              <a:extLst>
                <a:ext uri="{FF2B5EF4-FFF2-40B4-BE49-F238E27FC236}">
                  <a16:creationId xmlns:a16="http://schemas.microsoft.com/office/drawing/2014/main" id="{9B56B8E8-B789-DA4D-E4BE-03FA3165B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03753" y="3770237"/>
              <a:ext cx="123362" cy="4300544"/>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2" name="Rectangle 11">
              <a:extLst>
                <a:ext uri="{FF2B5EF4-FFF2-40B4-BE49-F238E27FC236}">
                  <a16:creationId xmlns:a16="http://schemas.microsoft.com/office/drawing/2014/main" id="{2255D907-377D-0DF9-B4A4-4B44C46FB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09789" y="4876274"/>
              <a:ext cx="123362" cy="2088471"/>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grpSp>
      <p:sp>
        <p:nvSpPr>
          <p:cNvPr id="4" name="Subtitle 2">
            <a:extLst>
              <a:ext uri="{FF2B5EF4-FFF2-40B4-BE49-F238E27FC236}">
                <a16:creationId xmlns:a16="http://schemas.microsoft.com/office/drawing/2014/main" id="{09FBAD1B-0BDC-FBE7-36D5-2558BE8AAA41}"/>
              </a:ext>
            </a:extLst>
          </p:cNvPr>
          <p:cNvSpPr txBox="1">
            <a:spLocks/>
          </p:cNvSpPr>
          <p:nvPr/>
        </p:nvSpPr>
        <p:spPr>
          <a:xfrm>
            <a:off x="7910284" y="2533476"/>
            <a:ext cx="3405415" cy="344783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latin typeface="Aptos" panose="020B0004020202020204" pitchFamily="34" charset="0"/>
              </a:rPr>
              <a:t>Investor Presentation</a:t>
            </a:r>
          </a:p>
          <a:p>
            <a:pPr marL="0" indent="0">
              <a:buNone/>
            </a:pPr>
            <a:r>
              <a:rPr lang="en-US" sz="2000" dirty="0">
                <a:latin typeface="Aptos" panose="020B0004020202020204" pitchFamily="34" charset="0"/>
              </a:rPr>
              <a:t>August 2023</a:t>
            </a:r>
          </a:p>
        </p:txBody>
      </p:sp>
      <p:pic>
        <p:nvPicPr>
          <p:cNvPr id="5" name="Picture 2" descr="Granules India | IBM">
            <a:extLst>
              <a:ext uri="{FF2B5EF4-FFF2-40B4-BE49-F238E27FC236}">
                <a16:creationId xmlns:a16="http://schemas.microsoft.com/office/drawing/2014/main" id="{533DDABA-A2B9-1F68-8F44-C2878A7C3F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0283" y="3541425"/>
            <a:ext cx="2190052" cy="656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1736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F79B8C-79E1-F2B8-23C1-35D5B773A723}"/>
              </a:ext>
            </a:extLst>
          </p:cNvPr>
          <p:cNvSpPr txBox="1"/>
          <p:nvPr/>
        </p:nvSpPr>
        <p:spPr>
          <a:xfrm>
            <a:off x="117248" y="197891"/>
            <a:ext cx="11129499" cy="646331"/>
          </a:xfrm>
          <a:prstGeom prst="rect">
            <a:avLst/>
          </a:prstGeom>
          <a:noFill/>
        </p:spPr>
        <p:txBody>
          <a:bodyPr wrap="square" rtlCol="0">
            <a:spAutoFit/>
          </a:bodyPr>
          <a:lstStyle/>
          <a:p>
            <a:r>
              <a:rPr lang="en-US" sz="3600" b="1" dirty="0">
                <a:solidFill>
                  <a:srgbClr val="00B0F0"/>
                </a:solidFill>
                <a:latin typeface="Aptos" panose="020B0004020202020204" pitchFamily="34" charset="0"/>
                <a:cs typeface="Arial" panose="020B0604020202020204" pitchFamily="34" charset="0"/>
              </a:rPr>
              <a:t>Safe harbour</a:t>
            </a:r>
          </a:p>
        </p:txBody>
      </p:sp>
      <p:sp>
        <p:nvSpPr>
          <p:cNvPr id="3" name="Content Placeholder 2">
            <a:extLst>
              <a:ext uri="{FF2B5EF4-FFF2-40B4-BE49-F238E27FC236}">
                <a16:creationId xmlns:a16="http://schemas.microsoft.com/office/drawing/2014/main" id="{4070C8E1-3207-24EE-0BEA-A8370ACCD0BB}"/>
              </a:ext>
            </a:extLst>
          </p:cNvPr>
          <p:cNvSpPr txBox="1">
            <a:spLocks/>
          </p:cNvSpPr>
          <p:nvPr/>
        </p:nvSpPr>
        <p:spPr>
          <a:xfrm>
            <a:off x="117248" y="964142"/>
            <a:ext cx="11742520" cy="54466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badi" panose="020B06040201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badi" panose="020B06040201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badi" panose="020B06040201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badi" panose="020B06040201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badi" panose="020B06040201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1800"/>
              </a:spcBef>
              <a:spcAft>
                <a:spcPts val="1800"/>
              </a:spcAft>
              <a:buFont typeface="Arial" panose="020B0604020202020204" pitchFamily="34" charset="0"/>
              <a:buNone/>
            </a:pPr>
            <a:r>
              <a:rPr lang="en-IN" sz="1600" dirty="0">
                <a:latin typeface="Aptos" panose="020B0004020202020204" pitchFamily="34" charset="0"/>
                <a:ea typeface="Cambria" panose="02040503050406030204" pitchFamily="18" charset="0"/>
                <a:cs typeface="Arial" panose="020B0604020202020204" pitchFamily="34" charset="0"/>
              </a:rPr>
              <a:t>The Presentation is to provide the general background information about the Company’s activities as at the date of the Presentation. The information contained herein is for general information purposes only and based on estimates and should not be considered as a recommendation that any investor should subscribe / purchase the company shares. The Company makes no representation or warranty, express or implied, as to, and does not accept any responsibility or liability with respect to, the fairness, accuracy, completeness or correctness of any information contained herein.</a:t>
            </a:r>
          </a:p>
          <a:p>
            <a:pPr marL="0" indent="0" algn="just">
              <a:lnSpc>
                <a:spcPct val="100000"/>
              </a:lnSpc>
              <a:spcBef>
                <a:spcPts val="1800"/>
              </a:spcBef>
              <a:spcAft>
                <a:spcPts val="1800"/>
              </a:spcAft>
              <a:buFont typeface="Arial" panose="020B0604020202020204" pitchFamily="34" charset="0"/>
              <a:buNone/>
            </a:pPr>
            <a:r>
              <a:rPr lang="en-IN" sz="1600" dirty="0">
                <a:latin typeface="Aptos" panose="020B0004020202020204" pitchFamily="34" charset="0"/>
                <a:ea typeface="Cambria" panose="02040503050406030204" pitchFamily="18" charset="0"/>
                <a:cs typeface="Arial" panose="020B0604020202020204" pitchFamily="34" charset="0"/>
              </a:rPr>
              <a:t>This presentation may include certain “forward looking statements”. These statements are based on current expectations, forecasts and assumptions that are subject to risks and uncertainties which could cause actual outcomes and results to differ materially from these statements. Important factors that could cause actual results to differ materially from our expectations include, amongst others general economic and business conditions in India, ability to successfully implement our strategy, our research and development efforts, our growth and expansion plans and technological changes, changes in the value of the Rupee and other currencies, changes in the Indian and international interest rates, change in laws and regulations that apply to the Indian and global pharmaceuticals industries, increasing competition, changes in political conditions in India or any other country and changes in the foreign exchange control regulations in India. Neither the company, nor its directors and any of the affiliates or employee have any obligation to update or otherwise revise any forward-looking statements. The readers may use their own judgment and are advised to make their own calculations before deciding on any matter based on the information given herein. </a:t>
            </a:r>
          </a:p>
          <a:p>
            <a:pPr marL="0" indent="0" algn="just">
              <a:lnSpc>
                <a:spcPct val="100000"/>
              </a:lnSpc>
              <a:spcBef>
                <a:spcPts val="1800"/>
              </a:spcBef>
              <a:spcAft>
                <a:spcPts val="1800"/>
              </a:spcAft>
              <a:buFont typeface="Arial" panose="020B0604020202020204" pitchFamily="34" charset="0"/>
              <a:buNone/>
            </a:pPr>
            <a:r>
              <a:rPr lang="en-IN" sz="1600" dirty="0">
                <a:latin typeface="Aptos" panose="020B0004020202020204" pitchFamily="34" charset="0"/>
                <a:ea typeface="Cambria" panose="02040503050406030204" pitchFamily="18" charset="0"/>
                <a:cs typeface="Arial" panose="020B0604020202020204" pitchFamily="34" charset="0"/>
              </a:rPr>
              <a:t>No part of this presentation may be reproduced, quoted or circulated without prior written approval from Granules India Limited.</a:t>
            </a:r>
          </a:p>
          <a:p>
            <a:pPr algn="just">
              <a:lnSpc>
                <a:spcPct val="100000"/>
              </a:lnSpc>
              <a:spcBef>
                <a:spcPts val="1800"/>
              </a:spcBef>
              <a:spcAft>
                <a:spcPts val="1800"/>
              </a:spcAft>
            </a:pPr>
            <a:endParaRPr lang="en-IN" sz="1600" dirty="0">
              <a:latin typeface="Aptos" panose="020B0004020202020204" pitchFamily="34"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31875970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 name="Object 37" hidden="1">
            <a:extLst>
              <a:ext uri="{FF2B5EF4-FFF2-40B4-BE49-F238E27FC236}">
                <a16:creationId xmlns:a16="http://schemas.microsoft.com/office/drawing/2014/main" id="{00FF1726-58DA-3D53-A71D-9FB1AD24609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1" imgH="423" progId="TCLayout.ActiveDocument.1">
                  <p:embed/>
                </p:oleObj>
              </mc:Choice>
              <mc:Fallback>
                <p:oleObj name="think-cell Slide" r:id="rId3" imgW="421" imgH="423" progId="TCLayout.ActiveDocument.1">
                  <p:embed/>
                  <p:pic>
                    <p:nvPicPr>
                      <p:cNvPr id="38" name="Object 37" hidden="1">
                        <a:extLst>
                          <a:ext uri="{FF2B5EF4-FFF2-40B4-BE49-F238E27FC236}">
                            <a16:creationId xmlns:a16="http://schemas.microsoft.com/office/drawing/2014/main" id="{00FF1726-58DA-3D53-A71D-9FB1AD24609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1032" name="Straight Connector 1031">
            <a:extLst>
              <a:ext uri="{FF2B5EF4-FFF2-40B4-BE49-F238E27FC236}">
                <a16:creationId xmlns:a16="http://schemas.microsoft.com/office/drawing/2014/main" id="{B61227E2-BA37-5F73-5F35-358399B09B44}"/>
              </a:ext>
            </a:extLst>
          </p:cNvPr>
          <p:cNvCxnSpPr>
            <a:cxnSpLocks/>
          </p:cNvCxnSpPr>
          <p:nvPr/>
        </p:nvCxnSpPr>
        <p:spPr>
          <a:xfrm>
            <a:off x="1105152" y="3852946"/>
            <a:ext cx="0" cy="326093"/>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23F69A33-996E-937A-A1C6-FDD545495B84}"/>
              </a:ext>
            </a:extLst>
          </p:cNvPr>
          <p:cNvGrpSpPr/>
          <p:nvPr/>
        </p:nvGrpSpPr>
        <p:grpSpPr>
          <a:xfrm>
            <a:off x="26764" y="3389755"/>
            <a:ext cx="11064943" cy="731401"/>
            <a:chOff x="-82242" y="3725785"/>
            <a:chExt cx="11176806" cy="666184"/>
          </a:xfrm>
          <a:solidFill>
            <a:srgbClr val="1F88C9"/>
          </a:solidFill>
        </p:grpSpPr>
        <p:cxnSp>
          <p:nvCxnSpPr>
            <p:cNvPr id="72" name="Straight Connector 71">
              <a:extLst>
                <a:ext uri="{FF2B5EF4-FFF2-40B4-BE49-F238E27FC236}">
                  <a16:creationId xmlns:a16="http://schemas.microsoft.com/office/drawing/2014/main" id="{14949161-3C89-34F7-E317-83D4C1B5810B}"/>
                </a:ext>
              </a:extLst>
            </p:cNvPr>
            <p:cNvCxnSpPr>
              <a:cxnSpLocks/>
            </p:cNvCxnSpPr>
            <p:nvPr/>
          </p:nvCxnSpPr>
          <p:spPr>
            <a:xfrm>
              <a:off x="1914815" y="4073286"/>
              <a:ext cx="9179749" cy="0"/>
            </a:xfrm>
            <a:prstGeom prst="line">
              <a:avLst/>
            </a:prstGeom>
            <a:grpFill/>
            <a:ln w="12700">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73" name="Group 72">
              <a:extLst>
                <a:ext uri="{FF2B5EF4-FFF2-40B4-BE49-F238E27FC236}">
                  <a16:creationId xmlns:a16="http://schemas.microsoft.com/office/drawing/2014/main" id="{4936A5A4-9750-2C53-55F7-9003503D04DE}"/>
                </a:ext>
              </a:extLst>
            </p:cNvPr>
            <p:cNvGrpSpPr/>
            <p:nvPr/>
          </p:nvGrpSpPr>
          <p:grpSpPr>
            <a:xfrm>
              <a:off x="-82242" y="3725785"/>
              <a:ext cx="2168764" cy="666184"/>
              <a:chOff x="-82242" y="3756781"/>
              <a:chExt cx="2168764" cy="666184"/>
            </a:xfrm>
            <a:grpFill/>
          </p:grpSpPr>
          <p:sp>
            <p:nvSpPr>
              <p:cNvPr id="74" name="Rectangle 44">
                <a:extLst>
                  <a:ext uri="{FF2B5EF4-FFF2-40B4-BE49-F238E27FC236}">
                    <a16:creationId xmlns:a16="http://schemas.microsoft.com/office/drawing/2014/main" id="{F2C8ED5C-7CE3-E8EC-CA14-98907881CD21}"/>
                  </a:ext>
                </a:extLst>
              </p:cNvPr>
              <p:cNvSpPr/>
              <p:nvPr/>
            </p:nvSpPr>
            <p:spPr>
              <a:xfrm>
                <a:off x="-82242" y="3756781"/>
                <a:ext cx="2168764" cy="666184"/>
              </a:xfrm>
              <a:prstGeom prst="homePlate">
                <a:avLst>
                  <a:gd name="adj" fmla="val 34729"/>
                </a:avLst>
              </a:prstGeom>
              <a:grp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0B0004020202020204" pitchFamily="34" charset="0"/>
                </a:endParaRPr>
              </a:p>
            </p:txBody>
          </p:sp>
          <p:sp>
            <p:nvSpPr>
              <p:cNvPr id="75" name="Rectangle 74">
                <a:extLst>
                  <a:ext uri="{FF2B5EF4-FFF2-40B4-BE49-F238E27FC236}">
                    <a16:creationId xmlns:a16="http://schemas.microsoft.com/office/drawing/2014/main" id="{B8B5BF67-ACEA-E049-FB0F-3F83BB431C12}"/>
                  </a:ext>
                </a:extLst>
              </p:cNvPr>
              <p:cNvSpPr/>
              <p:nvPr/>
            </p:nvSpPr>
            <p:spPr>
              <a:xfrm>
                <a:off x="-49803" y="3951991"/>
                <a:ext cx="2004722" cy="266317"/>
              </a:xfrm>
              <a:prstGeom prst="rect">
                <a:avLst/>
              </a:prstGeom>
              <a:grpFill/>
            </p:spPr>
            <p:txBody>
              <a:bodyPr wrap="square"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US" sz="1300" b="1" kern="0" spc="50" dirty="0">
                    <a:solidFill>
                      <a:schemeClr val="bg1"/>
                    </a:solidFill>
                    <a:latin typeface="Aptos" panose="020B0004020202020204" pitchFamily="34" charset="0"/>
                    <a:cs typeface="Arial" panose="020B0604020202020204" pitchFamily="34" charset="0"/>
                  </a:rPr>
                  <a:t>Establishment in 1984</a:t>
                </a:r>
              </a:p>
            </p:txBody>
          </p:sp>
        </p:grpSp>
      </p:grpSp>
      <p:cxnSp>
        <p:nvCxnSpPr>
          <p:cNvPr id="42" name="Straight Connector 41">
            <a:extLst>
              <a:ext uri="{FF2B5EF4-FFF2-40B4-BE49-F238E27FC236}">
                <a16:creationId xmlns:a16="http://schemas.microsoft.com/office/drawing/2014/main" id="{EE62AD03-AD9D-ED37-243E-CEB86C4967DA}"/>
              </a:ext>
            </a:extLst>
          </p:cNvPr>
          <p:cNvCxnSpPr>
            <a:cxnSpLocks/>
          </p:cNvCxnSpPr>
          <p:nvPr/>
        </p:nvCxnSpPr>
        <p:spPr>
          <a:xfrm>
            <a:off x="8661272" y="3782020"/>
            <a:ext cx="0" cy="326093"/>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92897F0-4626-0359-B2EA-BB6603418A81}"/>
              </a:ext>
            </a:extLst>
          </p:cNvPr>
          <p:cNvCxnSpPr>
            <a:cxnSpLocks/>
          </p:cNvCxnSpPr>
          <p:nvPr/>
        </p:nvCxnSpPr>
        <p:spPr>
          <a:xfrm>
            <a:off x="3782892" y="3780238"/>
            <a:ext cx="0" cy="326093"/>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D967905-9583-0CCC-49F2-63BAF72BEA2B}"/>
              </a:ext>
            </a:extLst>
          </p:cNvPr>
          <p:cNvSpPr/>
          <p:nvPr/>
        </p:nvSpPr>
        <p:spPr>
          <a:xfrm>
            <a:off x="239686" y="1288314"/>
            <a:ext cx="5094298" cy="1876748"/>
          </a:xfrm>
          <a:prstGeom prst="rect">
            <a:avLst/>
          </a:prstGeom>
          <a:solidFill>
            <a:srgbClr val="DAE3F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5" name="TextBox 14">
            <a:extLst>
              <a:ext uri="{FF2B5EF4-FFF2-40B4-BE49-F238E27FC236}">
                <a16:creationId xmlns:a16="http://schemas.microsoft.com/office/drawing/2014/main" id="{CAAB5DD4-702E-45B0-3426-6E34005F2391}"/>
              </a:ext>
            </a:extLst>
          </p:cNvPr>
          <p:cNvSpPr txBox="1"/>
          <p:nvPr/>
        </p:nvSpPr>
        <p:spPr>
          <a:xfrm>
            <a:off x="874574" y="1568508"/>
            <a:ext cx="4459410" cy="1569660"/>
          </a:xfrm>
          <a:prstGeom prst="rect">
            <a:avLst/>
          </a:prstGeom>
          <a:noFill/>
        </p:spPr>
        <p:txBody>
          <a:bodyPr wrap="square" anchor="ct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b="1" kern="0" spc="50" dirty="0">
                <a:solidFill>
                  <a:prstClr val="black">
                    <a:lumMod val="65000"/>
                    <a:lumOff val="35000"/>
                  </a:prstClr>
                </a:solidFill>
                <a:latin typeface="Aptos" panose="020B0004020202020204" pitchFamily="34" charset="0"/>
                <a:cs typeface="Arial" panose="020B0604020202020204" pitchFamily="34" charset="0"/>
              </a:rPr>
              <a:t>Granules India</a:t>
            </a:r>
            <a:r>
              <a:rPr lang="en-US" sz="1200" kern="0" spc="50" dirty="0">
                <a:solidFill>
                  <a:prstClr val="black">
                    <a:lumMod val="65000"/>
                    <a:lumOff val="35000"/>
                  </a:prstClr>
                </a:solidFill>
                <a:latin typeface="Aptos" panose="020B0004020202020204" pitchFamily="34" charset="0"/>
                <a:cs typeface="Arial" panose="020B0604020202020204" pitchFamily="34" charset="0"/>
              </a:rPr>
              <a:t> is a vertically integrated, high-growth pharmaceutical company with 38 years of proven performance and increasing presence across the world. Headquartered in Hyderabad, India, Granules offers collaborative and strategic partnership to global pharmaceutical leaders by producing best quality API, PFI and FD through manufacturing excellence, process innovation and regulatory expertise</a:t>
            </a:r>
          </a:p>
        </p:txBody>
      </p:sp>
      <p:grpSp>
        <p:nvGrpSpPr>
          <p:cNvPr id="16" name="Group 15">
            <a:extLst>
              <a:ext uri="{FF2B5EF4-FFF2-40B4-BE49-F238E27FC236}">
                <a16:creationId xmlns:a16="http://schemas.microsoft.com/office/drawing/2014/main" id="{78DFE7F9-A9A7-F571-16E0-5A731F6046B2}"/>
              </a:ext>
            </a:extLst>
          </p:cNvPr>
          <p:cNvGrpSpPr/>
          <p:nvPr/>
        </p:nvGrpSpPr>
        <p:grpSpPr>
          <a:xfrm>
            <a:off x="10378" y="980844"/>
            <a:ext cx="2749240" cy="612875"/>
            <a:chOff x="560360" y="2015785"/>
            <a:chExt cx="2542703" cy="419303"/>
          </a:xfrm>
          <a:solidFill>
            <a:srgbClr val="5B9BD5"/>
          </a:solidFill>
        </p:grpSpPr>
        <p:sp>
          <p:nvSpPr>
            <p:cNvPr id="20" name="Rectangle 44">
              <a:extLst>
                <a:ext uri="{FF2B5EF4-FFF2-40B4-BE49-F238E27FC236}">
                  <a16:creationId xmlns:a16="http://schemas.microsoft.com/office/drawing/2014/main" id="{FEC73AE9-C2B5-20E7-44AE-69424D2A3675}"/>
                </a:ext>
              </a:extLst>
            </p:cNvPr>
            <p:cNvSpPr/>
            <p:nvPr/>
          </p:nvSpPr>
          <p:spPr>
            <a:xfrm>
              <a:off x="560360" y="2015785"/>
              <a:ext cx="2542703" cy="419303"/>
            </a:xfrm>
            <a:prstGeom prst="homePlate">
              <a:avLst>
                <a:gd name="adj" fmla="val 34729"/>
              </a:avLst>
            </a:prstGeom>
            <a:grp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0B0004020202020204" pitchFamily="34" charset="0"/>
              </a:endParaRPr>
            </a:p>
          </p:txBody>
        </p:sp>
        <p:sp>
          <p:nvSpPr>
            <p:cNvPr id="21" name="Rectangle 20">
              <a:extLst>
                <a:ext uri="{FF2B5EF4-FFF2-40B4-BE49-F238E27FC236}">
                  <a16:creationId xmlns:a16="http://schemas.microsoft.com/office/drawing/2014/main" id="{56811DE2-0592-7F33-19EC-C61B01EED7C2}"/>
                </a:ext>
              </a:extLst>
            </p:cNvPr>
            <p:cNvSpPr/>
            <p:nvPr/>
          </p:nvSpPr>
          <p:spPr>
            <a:xfrm>
              <a:off x="1352963" y="2109624"/>
              <a:ext cx="1442688" cy="231624"/>
            </a:xfrm>
            <a:prstGeom prst="rect">
              <a:avLst/>
            </a:prstGeom>
            <a:grpFill/>
          </p:spPr>
          <p:txBody>
            <a:bodyPr wrap="square"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bg2"/>
                  </a:solidFill>
                  <a:effectLst>
                    <a:outerShdw blurRad="38100" dist="38100" dir="2700000" algn="tl">
                      <a:srgbClr val="000000">
                        <a:alpha val="43137"/>
                      </a:srgbClr>
                    </a:outerShdw>
                  </a:effectLst>
                  <a:uLnTx/>
                  <a:uFillTx/>
                  <a:latin typeface="Aptos" panose="020B0004020202020204" pitchFamily="34" charset="0"/>
                  <a:cs typeface="Arial" panose="020B0604020202020204" pitchFamily="34" charset="0"/>
                </a:rPr>
                <a:t>About Us </a:t>
              </a:r>
            </a:p>
          </p:txBody>
        </p:sp>
      </p:grpSp>
      <p:cxnSp>
        <p:nvCxnSpPr>
          <p:cNvPr id="131" name="Straight Connector 130">
            <a:extLst>
              <a:ext uri="{FF2B5EF4-FFF2-40B4-BE49-F238E27FC236}">
                <a16:creationId xmlns:a16="http://schemas.microsoft.com/office/drawing/2014/main" id="{7D20A3E8-3DC7-04B0-A579-E4B8191B58CB}"/>
              </a:ext>
            </a:extLst>
          </p:cNvPr>
          <p:cNvCxnSpPr>
            <a:cxnSpLocks/>
          </p:cNvCxnSpPr>
          <p:nvPr/>
        </p:nvCxnSpPr>
        <p:spPr>
          <a:xfrm>
            <a:off x="6402731" y="906456"/>
            <a:ext cx="0" cy="326093"/>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FFE27CC1-3B7C-91A6-0895-5FB766229FFA}"/>
              </a:ext>
            </a:extLst>
          </p:cNvPr>
          <p:cNvCxnSpPr>
            <a:cxnSpLocks/>
          </p:cNvCxnSpPr>
          <p:nvPr/>
        </p:nvCxnSpPr>
        <p:spPr>
          <a:xfrm>
            <a:off x="2828138" y="913939"/>
            <a:ext cx="9206906"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240D8243-1E57-789F-95A2-CF5316F86D8F}"/>
              </a:ext>
            </a:extLst>
          </p:cNvPr>
          <p:cNvGrpSpPr/>
          <p:nvPr/>
        </p:nvGrpSpPr>
        <p:grpSpPr>
          <a:xfrm>
            <a:off x="22459" y="1044482"/>
            <a:ext cx="918780" cy="916367"/>
            <a:chOff x="4323" y="1223594"/>
            <a:chExt cx="918780" cy="916367"/>
          </a:xfrm>
        </p:grpSpPr>
        <p:grpSp>
          <p:nvGrpSpPr>
            <p:cNvPr id="17" name="Group 16">
              <a:extLst>
                <a:ext uri="{FF2B5EF4-FFF2-40B4-BE49-F238E27FC236}">
                  <a16:creationId xmlns:a16="http://schemas.microsoft.com/office/drawing/2014/main" id="{AAF47097-EEE0-48A7-7FC6-203FD6EFFB9E}"/>
                </a:ext>
              </a:extLst>
            </p:cNvPr>
            <p:cNvGrpSpPr/>
            <p:nvPr/>
          </p:nvGrpSpPr>
          <p:grpSpPr>
            <a:xfrm>
              <a:off x="4323" y="1223594"/>
              <a:ext cx="918780" cy="916367"/>
              <a:chOff x="1190235" y="2538107"/>
              <a:chExt cx="575400" cy="575400"/>
            </a:xfrm>
            <a:solidFill>
              <a:srgbClr val="203864"/>
            </a:solidFill>
          </p:grpSpPr>
          <p:sp>
            <p:nvSpPr>
              <p:cNvPr id="18" name="Oval 17">
                <a:extLst>
                  <a:ext uri="{FF2B5EF4-FFF2-40B4-BE49-F238E27FC236}">
                    <a16:creationId xmlns:a16="http://schemas.microsoft.com/office/drawing/2014/main" id="{143C5FD7-7C45-53FF-7938-D9C90B610A5F}"/>
                  </a:ext>
                </a:extLst>
              </p:cNvPr>
              <p:cNvSpPr/>
              <p:nvPr/>
            </p:nvSpPr>
            <p:spPr>
              <a:xfrm>
                <a:off x="1190235" y="2538107"/>
                <a:ext cx="575400" cy="575400"/>
              </a:xfrm>
              <a:prstGeom prst="ellipse">
                <a:avLst/>
              </a:prstGeom>
              <a:grp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9" name="Oval 18">
                <a:extLst>
                  <a:ext uri="{FF2B5EF4-FFF2-40B4-BE49-F238E27FC236}">
                    <a16:creationId xmlns:a16="http://schemas.microsoft.com/office/drawing/2014/main" id="{08FC9F03-1DDE-C21F-A6BB-D7F399E9B4BB}"/>
                  </a:ext>
                </a:extLst>
              </p:cNvPr>
              <p:cNvSpPr/>
              <p:nvPr/>
            </p:nvSpPr>
            <p:spPr>
              <a:xfrm>
                <a:off x="1240555" y="2588427"/>
                <a:ext cx="474760" cy="47476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grpSp>
        <p:pic>
          <p:nvPicPr>
            <p:cNvPr id="151" name="Picture 150">
              <a:extLst>
                <a:ext uri="{FF2B5EF4-FFF2-40B4-BE49-F238E27FC236}">
                  <a16:creationId xmlns:a16="http://schemas.microsoft.com/office/drawing/2014/main" id="{24A3630D-8366-DA15-F3DB-B37D00B6C84B}"/>
                </a:ext>
              </a:extLst>
            </p:cNvPr>
            <p:cNvPicPr>
              <a:picLocks noChangeAspect="1"/>
            </p:cNvPicPr>
            <p:nvPr/>
          </p:nvPicPr>
          <p:blipFill>
            <a:blip r:embed="rId5">
              <a:lum bright="70000" contrast="-70000"/>
              <a:extLst>
                <a:ext uri="{BEBA8EAE-BF5A-486C-A8C5-ECC9F3942E4B}">
                  <a14:imgProps xmlns:a14="http://schemas.microsoft.com/office/drawing/2010/main">
                    <a14:imgLayer r:embed="rId6">
                      <a14:imgEffect>
                        <a14:backgroundRemoval t="7143" b="89796" l="8696" r="93913">
                          <a14:foregroundMark x1="44348" y1="25510" x2="44348" y2="25510"/>
                          <a14:foregroundMark x1="40000" y1="28571" x2="40000" y2="28571"/>
                          <a14:foregroundMark x1="48696" y1="29592" x2="48696" y2="29592"/>
                          <a14:foregroundMark x1="53913" y1="42857" x2="53913" y2="42857"/>
                          <a14:foregroundMark x1="36522" y1="60204" x2="36522" y2="60204"/>
                          <a14:foregroundMark x1="58261" y1="61224" x2="58261" y2="61224"/>
                          <a14:foregroundMark x1="73043" y1="55102" x2="73043" y2="55102"/>
                          <a14:foregroundMark x1="65217" y1="63265" x2="65217" y2="63265"/>
                          <a14:foregroundMark x1="43478" y1="7143" x2="43478" y2="7143"/>
                          <a14:foregroundMark x1="93913" y1="87755" x2="93913" y2="87755"/>
                        </a14:backgroundRemoval>
                      </a14:imgEffect>
                    </a14:imgLayer>
                  </a14:imgProps>
                </a:ext>
              </a:extLst>
            </a:blip>
            <a:stretch>
              <a:fillRect/>
            </a:stretch>
          </p:blipFill>
          <p:spPr>
            <a:xfrm>
              <a:off x="108790" y="1336308"/>
              <a:ext cx="746267" cy="635949"/>
            </a:xfrm>
            <a:prstGeom prst="rect">
              <a:avLst/>
            </a:prstGeom>
          </p:spPr>
        </p:pic>
      </p:grpSp>
      <p:sp>
        <p:nvSpPr>
          <p:cNvPr id="136" name="Rectangle: Rounded Corners 135">
            <a:extLst>
              <a:ext uri="{FF2B5EF4-FFF2-40B4-BE49-F238E27FC236}">
                <a16:creationId xmlns:a16="http://schemas.microsoft.com/office/drawing/2014/main" id="{E00740A7-0095-5103-C974-40B8C32B9B78}"/>
              </a:ext>
            </a:extLst>
          </p:cNvPr>
          <p:cNvSpPr/>
          <p:nvPr/>
        </p:nvSpPr>
        <p:spPr>
          <a:xfrm>
            <a:off x="5456485" y="1613164"/>
            <a:ext cx="1887719" cy="2044221"/>
          </a:xfrm>
          <a:prstGeom prst="roundRect">
            <a:avLst>
              <a:gd name="adj" fmla="val 8775"/>
            </a:avLst>
          </a:prstGeom>
          <a:no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37" name="TextBox 136">
            <a:extLst>
              <a:ext uri="{FF2B5EF4-FFF2-40B4-BE49-F238E27FC236}">
                <a16:creationId xmlns:a16="http://schemas.microsoft.com/office/drawing/2014/main" id="{034D230F-2616-F86D-5F57-FF0ED0D52304}"/>
              </a:ext>
            </a:extLst>
          </p:cNvPr>
          <p:cNvSpPr txBox="1"/>
          <p:nvPr/>
        </p:nvSpPr>
        <p:spPr>
          <a:xfrm>
            <a:off x="5455548" y="2514336"/>
            <a:ext cx="1886670" cy="492443"/>
          </a:xfrm>
          <a:prstGeom prst="rect">
            <a:avLst/>
          </a:prstGeom>
          <a:noFill/>
        </p:spPr>
        <p:txBody>
          <a:bodyPr wrap="square" anchor="ctr">
            <a:spAutoFit/>
          </a:bodyPr>
          <a:lstStyle/>
          <a:p>
            <a:pPr marL="108000" marR="0" lvl="0" indent="0" fontAlgn="auto">
              <a:lnSpc>
                <a:spcPct val="100000"/>
              </a:lnSpc>
              <a:spcBef>
                <a:spcPts val="600"/>
              </a:spcBef>
              <a:spcAft>
                <a:spcPts val="0"/>
              </a:spcAft>
              <a:buClr>
                <a:srgbClr val="4F81BD"/>
              </a:buClr>
              <a:buSzTx/>
              <a:buFontTx/>
              <a:buNone/>
              <a:tabLst/>
              <a:defRPr/>
            </a:pPr>
            <a:r>
              <a:rPr lang="en-US" sz="1300" kern="0" spc="50" dirty="0">
                <a:solidFill>
                  <a:prstClr val="black">
                    <a:lumMod val="65000"/>
                    <a:lumOff val="35000"/>
                  </a:prstClr>
                </a:solidFill>
                <a:latin typeface="Aptos" panose="020B0004020202020204" pitchFamily="34" charset="0"/>
                <a:cs typeface="Arial" panose="020B0604020202020204" pitchFamily="34" charset="0"/>
              </a:rPr>
              <a:t>Vertically integrated across value chain</a:t>
            </a:r>
          </a:p>
        </p:txBody>
      </p:sp>
      <p:grpSp>
        <p:nvGrpSpPr>
          <p:cNvPr id="30" name="Group 29">
            <a:extLst>
              <a:ext uri="{FF2B5EF4-FFF2-40B4-BE49-F238E27FC236}">
                <a16:creationId xmlns:a16="http://schemas.microsoft.com/office/drawing/2014/main" id="{491B0E24-12D9-2A9A-C5E9-5F3C4B0BA292}"/>
              </a:ext>
            </a:extLst>
          </p:cNvPr>
          <p:cNvGrpSpPr/>
          <p:nvPr/>
        </p:nvGrpSpPr>
        <p:grpSpPr>
          <a:xfrm>
            <a:off x="5456485" y="1960849"/>
            <a:ext cx="1887719" cy="426716"/>
            <a:chOff x="5216645" y="1960849"/>
            <a:chExt cx="1887719" cy="426716"/>
          </a:xfrm>
        </p:grpSpPr>
        <p:sp>
          <p:nvSpPr>
            <p:cNvPr id="135" name="Rectangle: Rounded Corners 134">
              <a:extLst>
                <a:ext uri="{FF2B5EF4-FFF2-40B4-BE49-F238E27FC236}">
                  <a16:creationId xmlns:a16="http://schemas.microsoft.com/office/drawing/2014/main" id="{6DDAE0FA-E5D5-8689-BDB9-A1D54367968F}"/>
                </a:ext>
              </a:extLst>
            </p:cNvPr>
            <p:cNvSpPr/>
            <p:nvPr/>
          </p:nvSpPr>
          <p:spPr>
            <a:xfrm>
              <a:off x="5216645" y="1960849"/>
              <a:ext cx="1887719" cy="426716"/>
            </a:xfrm>
            <a:prstGeom prst="roundRect">
              <a:avLst>
                <a:gd name="adj" fmla="val 0"/>
              </a:avLst>
            </a:prstGeom>
            <a:solidFill>
              <a:srgbClr val="DAE3F3"/>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38" name="TextBox 137">
              <a:extLst>
                <a:ext uri="{FF2B5EF4-FFF2-40B4-BE49-F238E27FC236}">
                  <a16:creationId xmlns:a16="http://schemas.microsoft.com/office/drawing/2014/main" id="{D5FE7E41-3780-F6CA-1409-444AFF509C85}"/>
                </a:ext>
              </a:extLst>
            </p:cNvPr>
            <p:cNvSpPr txBox="1"/>
            <p:nvPr/>
          </p:nvSpPr>
          <p:spPr>
            <a:xfrm>
              <a:off x="5311050" y="2028012"/>
              <a:ext cx="1705916" cy="292388"/>
            </a:xfrm>
            <a:prstGeom prst="rect">
              <a:avLst/>
            </a:prstGeom>
            <a:noFill/>
          </p:spPr>
          <p:txBody>
            <a:bodyPr wrap="none" rtlCol="0" anchor="ctr">
              <a:spAutoFit/>
            </a:bodyPr>
            <a:lstStyle>
              <a:defPPr>
                <a:defRPr lang="en-US"/>
              </a:defPPr>
              <a:lvl1pPr marR="0" lvl="0" indent="0" algn="ctr" defTabSz="914377" fontAlgn="auto">
                <a:lnSpc>
                  <a:spcPct val="100000"/>
                </a:lnSpc>
                <a:spcBef>
                  <a:spcPts val="0"/>
                </a:spcBef>
                <a:spcAft>
                  <a:spcPts val="0"/>
                </a:spcAft>
                <a:buClrTx/>
                <a:buSzTx/>
                <a:buFontTx/>
                <a:buNone/>
                <a:tabLst/>
                <a:defRPr kumimoji="0" sz="1400" b="1" i="0" u="none" strike="noStrike" cap="none" spc="0" normalizeH="0" baseline="0">
                  <a:ln>
                    <a:noFill/>
                  </a:ln>
                  <a:solidFill>
                    <a:schemeClr val="tx2">
                      <a:lumMod val="75000"/>
                      <a:lumOff val="25000"/>
                    </a:schemeClr>
                  </a:solidFill>
                  <a:effectLst/>
                  <a:uLnTx/>
                  <a:uFillTx/>
                  <a:latin typeface="Arial" panose="020B0604020202020204" pitchFamily="34" charset="0"/>
                  <a:cs typeface="Arial" panose="020B0604020202020204" pitchFamily="34" charset="0"/>
                </a:defRPr>
              </a:lvl1pPr>
            </a:lstStyle>
            <a:p>
              <a:r>
                <a:rPr lang="en-US" sz="1300" kern="0" spc="50" dirty="0">
                  <a:solidFill>
                    <a:prstClr val="black">
                      <a:lumMod val="65000"/>
                      <a:lumOff val="35000"/>
                    </a:prstClr>
                  </a:solidFill>
                  <a:latin typeface="Aptos" panose="020B0004020202020204" pitchFamily="34" charset="0"/>
                </a:rPr>
                <a:t>Business Verticals</a:t>
              </a:r>
            </a:p>
          </p:txBody>
        </p:sp>
      </p:grpSp>
      <p:sp>
        <p:nvSpPr>
          <p:cNvPr id="134" name="Oval 133">
            <a:extLst>
              <a:ext uri="{FF2B5EF4-FFF2-40B4-BE49-F238E27FC236}">
                <a16:creationId xmlns:a16="http://schemas.microsoft.com/office/drawing/2014/main" id="{A9104B6A-F3BC-E824-E798-4FFA7E335089}"/>
              </a:ext>
            </a:extLst>
          </p:cNvPr>
          <p:cNvSpPr/>
          <p:nvPr/>
        </p:nvSpPr>
        <p:spPr>
          <a:xfrm>
            <a:off x="6105654" y="1257296"/>
            <a:ext cx="689728" cy="686662"/>
          </a:xfrm>
          <a:prstGeom prst="ellipse">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ptos" panose="020B0004020202020204" pitchFamily="34" charset="0"/>
            </a:endParaRPr>
          </a:p>
        </p:txBody>
      </p:sp>
      <p:sp>
        <p:nvSpPr>
          <p:cNvPr id="152" name="Freeform 18">
            <a:extLst>
              <a:ext uri="{FF2B5EF4-FFF2-40B4-BE49-F238E27FC236}">
                <a16:creationId xmlns:a16="http://schemas.microsoft.com/office/drawing/2014/main" id="{ACE1C4CC-B32E-E9E7-00A5-F1AA9514B4C6}"/>
              </a:ext>
            </a:extLst>
          </p:cNvPr>
          <p:cNvSpPr>
            <a:spLocks noChangeAspect="1" noEditPoints="1"/>
          </p:cNvSpPr>
          <p:nvPr/>
        </p:nvSpPr>
        <p:spPr bwMode="auto">
          <a:xfrm rot="20700000">
            <a:off x="6269388" y="1364783"/>
            <a:ext cx="359680" cy="424860"/>
          </a:xfrm>
          <a:custGeom>
            <a:avLst/>
            <a:gdLst>
              <a:gd name="T0" fmla="*/ 553 w 14135"/>
              <a:gd name="T1" fmla="*/ 1822 h 16340"/>
              <a:gd name="T2" fmla="*/ 2147 w 14135"/>
              <a:gd name="T3" fmla="*/ 3174 h 16340"/>
              <a:gd name="T4" fmla="*/ 2067 w 14135"/>
              <a:gd name="T5" fmla="*/ 4483 h 16340"/>
              <a:gd name="T6" fmla="*/ 1507 w 14135"/>
              <a:gd name="T7" fmla="*/ 5678 h 16340"/>
              <a:gd name="T8" fmla="*/ 473 w 14135"/>
              <a:gd name="T9" fmla="*/ 6125 h 16340"/>
              <a:gd name="T10" fmla="*/ 1371 w 14135"/>
              <a:gd name="T11" fmla="*/ 7799 h 16340"/>
              <a:gd name="T12" fmla="*/ 2184 w 14135"/>
              <a:gd name="T13" fmla="*/ 6135 h 16340"/>
              <a:gd name="T14" fmla="*/ 2471 w 14135"/>
              <a:gd name="T15" fmla="*/ 5297 h 16340"/>
              <a:gd name="T16" fmla="*/ 3886 w 14135"/>
              <a:gd name="T17" fmla="*/ 4366 h 16340"/>
              <a:gd name="T18" fmla="*/ 5244 w 14135"/>
              <a:gd name="T19" fmla="*/ 4196 h 16340"/>
              <a:gd name="T20" fmla="*/ 5569 w 14135"/>
              <a:gd name="T21" fmla="*/ 4683 h 16340"/>
              <a:gd name="T22" fmla="*/ 6106 w 14135"/>
              <a:gd name="T23" fmla="*/ 4920 h 16340"/>
              <a:gd name="T24" fmla="*/ 6479 w 14135"/>
              <a:gd name="T25" fmla="*/ 4902 h 16340"/>
              <a:gd name="T26" fmla="*/ 7108 w 14135"/>
              <a:gd name="T27" fmla="*/ 5948 h 16340"/>
              <a:gd name="T28" fmla="*/ 7126 w 14135"/>
              <a:gd name="T29" fmla="*/ 5975 h 16340"/>
              <a:gd name="T30" fmla="*/ 6876 w 14135"/>
              <a:gd name="T31" fmla="*/ 6440 h 16340"/>
              <a:gd name="T32" fmla="*/ 7119 w 14135"/>
              <a:gd name="T33" fmla="*/ 7423 h 16340"/>
              <a:gd name="T34" fmla="*/ 6507 w 14135"/>
              <a:gd name="T35" fmla="*/ 8513 h 16340"/>
              <a:gd name="T36" fmla="*/ 5237 w 14135"/>
              <a:gd name="T37" fmla="*/ 9715 h 16340"/>
              <a:gd name="T38" fmla="*/ 5282 w 14135"/>
              <a:gd name="T39" fmla="*/ 9903 h 16340"/>
              <a:gd name="T40" fmla="*/ 6515 w 14135"/>
              <a:gd name="T41" fmla="*/ 10595 h 16340"/>
              <a:gd name="T42" fmla="*/ 6926 w 14135"/>
              <a:gd name="T43" fmla="*/ 12166 h 16340"/>
              <a:gd name="T44" fmla="*/ 7963 w 14135"/>
              <a:gd name="T45" fmla="*/ 13439 h 16340"/>
              <a:gd name="T46" fmla="*/ 8963 w 14135"/>
              <a:gd name="T47" fmla="*/ 12719 h 16340"/>
              <a:gd name="T48" fmla="*/ 10242 w 14135"/>
              <a:gd name="T49" fmla="*/ 12693 h 16340"/>
              <a:gd name="T50" fmla="*/ 11702 w 14135"/>
              <a:gd name="T51" fmla="*/ 13777 h 16340"/>
              <a:gd name="T52" fmla="*/ 11867 w 14135"/>
              <a:gd name="T53" fmla="*/ 15338 h 16340"/>
              <a:gd name="T54" fmla="*/ 13364 w 14135"/>
              <a:gd name="T55" fmla="*/ 14245 h 16340"/>
              <a:gd name="T56" fmla="*/ 12529 w 14135"/>
              <a:gd name="T57" fmla="*/ 13909 h 16340"/>
              <a:gd name="T58" fmla="*/ 12205 w 14135"/>
              <a:gd name="T59" fmla="*/ 13355 h 16340"/>
              <a:gd name="T60" fmla="*/ 12298 w 14135"/>
              <a:gd name="T61" fmla="*/ 12289 h 16340"/>
              <a:gd name="T62" fmla="*/ 12678 w 14135"/>
              <a:gd name="T63" fmla="*/ 10560 h 16340"/>
              <a:gd name="T64" fmla="*/ 13639 w 14135"/>
              <a:gd name="T65" fmla="*/ 8791 h 16340"/>
              <a:gd name="T66" fmla="*/ 12519 w 14135"/>
              <a:gd name="T67" fmla="*/ 8267 h 16340"/>
              <a:gd name="T68" fmla="*/ 12058 w 14135"/>
              <a:gd name="T69" fmla="*/ 7295 h 16340"/>
              <a:gd name="T70" fmla="*/ 11105 w 14135"/>
              <a:gd name="T71" fmla="*/ 5622 h 16340"/>
              <a:gd name="T72" fmla="*/ 10183 w 14135"/>
              <a:gd name="T73" fmla="*/ 6369 h 16340"/>
              <a:gd name="T74" fmla="*/ 8874 w 14135"/>
              <a:gd name="T75" fmla="*/ 6259 h 16340"/>
              <a:gd name="T76" fmla="*/ 8846 w 14135"/>
              <a:gd name="T77" fmla="*/ 6195 h 16340"/>
              <a:gd name="T78" fmla="*/ 8306 w 14135"/>
              <a:gd name="T79" fmla="*/ 5715 h 16340"/>
              <a:gd name="T80" fmla="*/ 7351 w 14135"/>
              <a:gd name="T81" fmla="*/ 5110 h 16340"/>
              <a:gd name="T82" fmla="*/ 7284 w 14135"/>
              <a:gd name="T83" fmla="*/ 4012 h 16340"/>
              <a:gd name="T84" fmla="*/ 5776 w 14135"/>
              <a:gd name="T85" fmla="*/ 2909 h 16340"/>
              <a:gd name="T86" fmla="*/ 4588 w 14135"/>
              <a:gd name="T87" fmla="*/ 3547 h 16340"/>
              <a:gd name="T88" fmla="*/ 3441 w 14135"/>
              <a:gd name="T89" fmla="*/ 2954 h 16340"/>
              <a:gd name="T90" fmla="*/ 2495 w 14135"/>
              <a:gd name="T91" fmla="*/ 2488 h 16340"/>
              <a:gd name="T92" fmla="*/ 2324 w 14135"/>
              <a:gd name="T93" fmla="*/ 902 h 16340"/>
              <a:gd name="T94" fmla="*/ 8928 w 14135"/>
              <a:gd name="T95" fmla="*/ 7018 h 16340"/>
              <a:gd name="T96" fmla="*/ 10256 w 14135"/>
              <a:gd name="T97" fmla="*/ 7142 h 16340"/>
              <a:gd name="T98" fmla="*/ 11443 w 14135"/>
              <a:gd name="T99" fmla="*/ 7723 h 16340"/>
              <a:gd name="T100" fmla="*/ 11984 w 14135"/>
              <a:gd name="T101" fmla="*/ 8923 h 16340"/>
              <a:gd name="T102" fmla="*/ 11802 w 14135"/>
              <a:gd name="T103" fmla="*/ 10786 h 16340"/>
              <a:gd name="T104" fmla="*/ 10281 w 14135"/>
              <a:gd name="T105" fmla="*/ 11936 h 16340"/>
              <a:gd name="T106" fmla="*/ 9410 w 14135"/>
              <a:gd name="T107" fmla="*/ 12060 h 16340"/>
              <a:gd name="T108" fmla="*/ 7892 w 14135"/>
              <a:gd name="T109" fmla="*/ 11343 h 16340"/>
              <a:gd name="T110" fmla="*/ 7191 w 14135"/>
              <a:gd name="T111" fmla="*/ 10456 h 16340"/>
              <a:gd name="T112" fmla="*/ 7333 w 14135"/>
              <a:gd name="T113" fmla="*/ 9630 h 16340"/>
              <a:gd name="T114" fmla="*/ 7197 w 14135"/>
              <a:gd name="T115" fmla="*/ 8609 h 16340"/>
              <a:gd name="T116" fmla="*/ 7933 w 14135"/>
              <a:gd name="T117" fmla="*/ 7737 h 16340"/>
              <a:gd name="T118" fmla="*/ 8597 w 14135"/>
              <a:gd name="T119" fmla="*/ 7496 h 16340"/>
              <a:gd name="T120" fmla="*/ 8624 w 14135"/>
              <a:gd name="T121" fmla="*/ 7473 h 16340"/>
              <a:gd name="T122" fmla="*/ 8642 w 14135"/>
              <a:gd name="T123" fmla="*/ 7449 h 16340"/>
              <a:gd name="T124" fmla="*/ 8928 w 14135"/>
              <a:gd name="T125" fmla="*/ 7018 h 16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135" h="16340">
                <a:moveTo>
                  <a:pt x="1295" y="2"/>
                </a:moveTo>
                <a:cubicBezTo>
                  <a:pt x="1145" y="0"/>
                  <a:pt x="993" y="23"/>
                  <a:pt x="872" y="71"/>
                </a:cubicBezTo>
                <a:cubicBezTo>
                  <a:pt x="176" y="347"/>
                  <a:pt x="0" y="1312"/>
                  <a:pt x="553" y="1822"/>
                </a:cubicBezTo>
                <a:cubicBezTo>
                  <a:pt x="762" y="2015"/>
                  <a:pt x="956" y="2091"/>
                  <a:pt x="1258" y="2099"/>
                </a:cubicBezTo>
                <a:cubicBezTo>
                  <a:pt x="1554" y="2106"/>
                  <a:pt x="1478" y="2029"/>
                  <a:pt x="1890" y="2733"/>
                </a:cubicBezTo>
                <a:lnTo>
                  <a:pt x="2147" y="3174"/>
                </a:lnTo>
                <a:lnTo>
                  <a:pt x="2048" y="3338"/>
                </a:lnTo>
                <a:cubicBezTo>
                  <a:pt x="1924" y="3544"/>
                  <a:pt x="1894" y="3653"/>
                  <a:pt x="1894" y="3892"/>
                </a:cubicBezTo>
                <a:cubicBezTo>
                  <a:pt x="1894" y="4090"/>
                  <a:pt x="1967" y="4340"/>
                  <a:pt x="2067" y="4483"/>
                </a:cubicBezTo>
                <a:cubicBezTo>
                  <a:pt x="2096" y="4524"/>
                  <a:pt x="2119" y="4568"/>
                  <a:pt x="2119" y="4581"/>
                </a:cubicBezTo>
                <a:cubicBezTo>
                  <a:pt x="2119" y="4594"/>
                  <a:pt x="1981" y="4846"/>
                  <a:pt x="1813" y="5141"/>
                </a:cubicBezTo>
                <a:lnTo>
                  <a:pt x="1507" y="5678"/>
                </a:lnTo>
                <a:lnTo>
                  <a:pt x="1272" y="5698"/>
                </a:lnTo>
                <a:cubicBezTo>
                  <a:pt x="1093" y="5713"/>
                  <a:pt x="996" y="5738"/>
                  <a:pt x="866" y="5804"/>
                </a:cubicBezTo>
                <a:cubicBezTo>
                  <a:pt x="659" y="5908"/>
                  <a:pt x="607" y="5950"/>
                  <a:pt x="473" y="6125"/>
                </a:cubicBezTo>
                <a:cubicBezTo>
                  <a:pt x="172" y="6519"/>
                  <a:pt x="203" y="7083"/>
                  <a:pt x="546" y="7457"/>
                </a:cubicBezTo>
                <a:cubicBezTo>
                  <a:pt x="690" y="7615"/>
                  <a:pt x="823" y="7701"/>
                  <a:pt x="1032" y="7770"/>
                </a:cubicBezTo>
                <a:cubicBezTo>
                  <a:pt x="1100" y="7793"/>
                  <a:pt x="1236" y="7805"/>
                  <a:pt x="1371" y="7799"/>
                </a:cubicBezTo>
                <a:cubicBezTo>
                  <a:pt x="1760" y="7785"/>
                  <a:pt x="2076" y="7585"/>
                  <a:pt x="2261" y="7239"/>
                </a:cubicBezTo>
                <a:cubicBezTo>
                  <a:pt x="2343" y="7085"/>
                  <a:pt x="2357" y="7027"/>
                  <a:pt x="2368" y="6817"/>
                </a:cubicBezTo>
                <a:cubicBezTo>
                  <a:pt x="2381" y="6530"/>
                  <a:pt x="2336" y="6361"/>
                  <a:pt x="2184" y="6135"/>
                </a:cubicBezTo>
                <a:lnTo>
                  <a:pt x="2085" y="5989"/>
                </a:lnTo>
                <a:lnTo>
                  <a:pt x="2179" y="5819"/>
                </a:lnTo>
                <a:cubicBezTo>
                  <a:pt x="2230" y="5725"/>
                  <a:pt x="2361" y="5491"/>
                  <a:pt x="2471" y="5297"/>
                </a:cubicBezTo>
                <a:lnTo>
                  <a:pt x="2671" y="4944"/>
                </a:lnTo>
                <a:lnTo>
                  <a:pt x="2912" y="4944"/>
                </a:lnTo>
                <a:cubicBezTo>
                  <a:pt x="3352" y="4943"/>
                  <a:pt x="3712" y="4729"/>
                  <a:pt x="3886" y="4366"/>
                </a:cubicBezTo>
                <a:lnTo>
                  <a:pt x="3967" y="4197"/>
                </a:lnTo>
                <a:lnTo>
                  <a:pt x="4607" y="4197"/>
                </a:lnTo>
                <a:lnTo>
                  <a:pt x="5244" y="4196"/>
                </a:lnTo>
                <a:lnTo>
                  <a:pt x="5246" y="4198"/>
                </a:lnTo>
                <a:lnTo>
                  <a:pt x="5265" y="4273"/>
                </a:lnTo>
                <a:cubicBezTo>
                  <a:pt x="5290" y="4374"/>
                  <a:pt x="5454" y="4595"/>
                  <a:pt x="5569" y="4683"/>
                </a:cubicBezTo>
                <a:cubicBezTo>
                  <a:pt x="5685" y="4771"/>
                  <a:pt x="5861" y="4860"/>
                  <a:pt x="5971" y="4886"/>
                </a:cubicBezTo>
                <a:cubicBezTo>
                  <a:pt x="5977" y="4887"/>
                  <a:pt x="5982" y="4887"/>
                  <a:pt x="5985" y="4886"/>
                </a:cubicBezTo>
                <a:lnTo>
                  <a:pt x="6106" y="4920"/>
                </a:lnTo>
                <a:lnTo>
                  <a:pt x="6124" y="4938"/>
                </a:lnTo>
                <a:lnTo>
                  <a:pt x="6302" y="4920"/>
                </a:lnTo>
                <a:lnTo>
                  <a:pt x="6479" y="4902"/>
                </a:lnTo>
                <a:lnTo>
                  <a:pt x="6547" y="5021"/>
                </a:lnTo>
                <a:cubicBezTo>
                  <a:pt x="6745" y="5373"/>
                  <a:pt x="7018" y="5826"/>
                  <a:pt x="7063" y="5878"/>
                </a:cubicBezTo>
                <a:cubicBezTo>
                  <a:pt x="7092" y="5910"/>
                  <a:pt x="7112" y="5942"/>
                  <a:pt x="7108" y="5948"/>
                </a:cubicBezTo>
                <a:cubicBezTo>
                  <a:pt x="7104" y="5955"/>
                  <a:pt x="7106" y="5956"/>
                  <a:pt x="7113" y="5952"/>
                </a:cubicBezTo>
                <a:cubicBezTo>
                  <a:pt x="7114" y="5952"/>
                  <a:pt x="7114" y="5952"/>
                  <a:pt x="7115" y="5953"/>
                </a:cubicBezTo>
                <a:lnTo>
                  <a:pt x="7126" y="5975"/>
                </a:lnTo>
                <a:lnTo>
                  <a:pt x="7127" y="5977"/>
                </a:lnTo>
                <a:lnTo>
                  <a:pt x="7078" y="6037"/>
                </a:lnTo>
                <a:cubicBezTo>
                  <a:pt x="7007" y="6126"/>
                  <a:pt x="6901" y="6339"/>
                  <a:pt x="6876" y="6440"/>
                </a:cubicBezTo>
                <a:cubicBezTo>
                  <a:pt x="6842" y="6580"/>
                  <a:pt x="6857" y="6894"/>
                  <a:pt x="6906" y="7038"/>
                </a:cubicBezTo>
                <a:cubicBezTo>
                  <a:pt x="6931" y="7113"/>
                  <a:pt x="6989" y="7229"/>
                  <a:pt x="7035" y="7298"/>
                </a:cubicBezTo>
                <a:lnTo>
                  <a:pt x="7119" y="7423"/>
                </a:lnTo>
                <a:lnTo>
                  <a:pt x="7053" y="7539"/>
                </a:lnTo>
                <a:cubicBezTo>
                  <a:pt x="7017" y="7604"/>
                  <a:pt x="6879" y="7849"/>
                  <a:pt x="6747" y="8084"/>
                </a:cubicBezTo>
                <a:lnTo>
                  <a:pt x="6507" y="8513"/>
                </a:lnTo>
                <a:lnTo>
                  <a:pt x="6296" y="8511"/>
                </a:lnTo>
                <a:cubicBezTo>
                  <a:pt x="5854" y="8508"/>
                  <a:pt x="5480" y="8749"/>
                  <a:pt x="5308" y="9150"/>
                </a:cubicBezTo>
                <a:cubicBezTo>
                  <a:pt x="5240" y="9308"/>
                  <a:pt x="5208" y="9564"/>
                  <a:pt x="5237" y="9715"/>
                </a:cubicBezTo>
                <a:lnTo>
                  <a:pt x="5256" y="9822"/>
                </a:lnTo>
                <a:lnTo>
                  <a:pt x="5260" y="9818"/>
                </a:lnTo>
                <a:lnTo>
                  <a:pt x="5282" y="9903"/>
                </a:lnTo>
                <a:cubicBezTo>
                  <a:pt x="5300" y="9990"/>
                  <a:pt x="5394" y="10152"/>
                  <a:pt x="5494" y="10263"/>
                </a:cubicBezTo>
                <a:cubicBezTo>
                  <a:pt x="5712" y="10504"/>
                  <a:pt x="6077" y="10647"/>
                  <a:pt x="6381" y="10611"/>
                </a:cubicBezTo>
                <a:lnTo>
                  <a:pt x="6515" y="10595"/>
                </a:lnTo>
                <a:lnTo>
                  <a:pt x="6800" y="11076"/>
                </a:lnTo>
                <a:cubicBezTo>
                  <a:pt x="7184" y="11724"/>
                  <a:pt x="7164" y="11665"/>
                  <a:pt x="7060" y="11832"/>
                </a:cubicBezTo>
                <a:cubicBezTo>
                  <a:pt x="7013" y="11908"/>
                  <a:pt x="6953" y="12059"/>
                  <a:pt x="6926" y="12166"/>
                </a:cubicBezTo>
                <a:cubicBezTo>
                  <a:pt x="6885" y="12333"/>
                  <a:pt x="6883" y="12389"/>
                  <a:pt x="6912" y="12558"/>
                </a:cubicBezTo>
                <a:cubicBezTo>
                  <a:pt x="6974" y="12919"/>
                  <a:pt x="7180" y="13192"/>
                  <a:pt x="7509" y="13350"/>
                </a:cubicBezTo>
                <a:cubicBezTo>
                  <a:pt x="7675" y="13430"/>
                  <a:pt x="7719" y="13439"/>
                  <a:pt x="7963" y="13439"/>
                </a:cubicBezTo>
                <a:cubicBezTo>
                  <a:pt x="8214" y="13439"/>
                  <a:pt x="8245" y="13432"/>
                  <a:pt x="8423" y="13342"/>
                </a:cubicBezTo>
                <a:cubicBezTo>
                  <a:pt x="8642" y="13231"/>
                  <a:pt x="8832" y="13037"/>
                  <a:pt x="8911" y="12846"/>
                </a:cubicBezTo>
                <a:lnTo>
                  <a:pt x="8963" y="12719"/>
                </a:lnTo>
                <a:lnTo>
                  <a:pt x="9344" y="12715"/>
                </a:lnTo>
                <a:cubicBezTo>
                  <a:pt x="9553" y="12714"/>
                  <a:pt x="9842" y="12708"/>
                  <a:pt x="9984" y="12702"/>
                </a:cubicBezTo>
                <a:lnTo>
                  <a:pt x="10242" y="12693"/>
                </a:lnTo>
                <a:lnTo>
                  <a:pt x="10272" y="12776"/>
                </a:lnTo>
                <a:cubicBezTo>
                  <a:pt x="10401" y="13149"/>
                  <a:pt x="10845" y="13434"/>
                  <a:pt x="11273" y="13421"/>
                </a:cubicBezTo>
                <a:cubicBezTo>
                  <a:pt x="11499" y="13414"/>
                  <a:pt x="11493" y="13410"/>
                  <a:pt x="11702" y="13777"/>
                </a:cubicBezTo>
                <a:cubicBezTo>
                  <a:pt x="11773" y="13901"/>
                  <a:pt x="11893" y="14111"/>
                  <a:pt x="11971" y="14243"/>
                </a:cubicBezTo>
                <a:cubicBezTo>
                  <a:pt x="12125" y="14504"/>
                  <a:pt x="12125" y="14476"/>
                  <a:pt x="11984" y="14707"/>
                </a:cubicBezTo>
                <a:cubicBezTo>
                  <a:pt x="11896" y="14852"/>
                  <a:pt x="11843" y="15136"/>
                  <a:pt x="11867" y="15338"/>
                </a:cubicBezTo>
                <a:cubicBezTo>
                  <a:pt x="11919" y="15781"/>
                  <a:pt x="12289" y="16170"/>
                  <a:pt x="12730" y="16248"/>
                </a:cubicBezTo>
                <a:cubicBezTo>
                  <a:pt x="13255" y="16340"/>
                  <a:pt x="13783" y="16011"/>
                  <a:pt x="13932" y="15500"/>
                </a:cubicBezTo>
                <a:cubicBezTo>
                  <a:pt x="14075" y="15007"/>
                  <a:pt x="13837" y="14482"/>
                  <a:pt x="13364" y="14245"/>
                </a:cubicBezTo>
                <a:cubicBezTo>
                  <a:pt x="13252" y="14189"/>
                  <a:pt x="13170" y="14173"/>
                  <a:pt x="12950" y="14164"/>
                </a:cubicBezTo>
                <a:lnTo>
                  <a:pt x="12675" y="14152"/>
                </a:lnTo>
                <a:lnTo>
                  <a:pt x="12529" y="13909"/>
                </a:lnTo>
                <a:cubicBezTo>
                  <a:pt x="12449" y="13775"/>
                  <a:pt x="12369" y="13656"/>
                  <a:pt x="12352" y="13644"/>
                </a:cubicBezTo>
                <a:cubicBezTo>
                  <a:pt x="12335" y="13633"/>
                  <a:pt x="12330" y="13623"/>
                  <a:pt x="12342" y="13623"/>
                </a:cubicBezTo>
                <a:cubicBezTo>
                  <a:pt x="12353" y="13623"/>
                  <a:pt x="12291" y="13502"/>
                  <a:pt x="12205" y="13355"/>
                </a:cubicBezTo>
                <a:lnTo>
                  <a:pt x="12049" y="13087"/>
                </a:lnTo>
                <a:lnTo>
                  <a:pt x="12134" y="12947"/>
                </a:lnTo>
                <a:cubicBezTo>
                  <a:pt x="12263" y="12737"/>
                  <a:pt x="12318" y="12520"/>
                  <a:pt x="12298" y="12289"/>
                </a:cubicBezTo>
                <a:cubicBezTo>
                  <a:pt x="12282" y="12097"/>
                  <a:pt x="12183" y="11829"/>
                  <a:pt x="12091" y="11727"/>
                </a:cubicBezTo>
                <a:cubicBezTo>
                  <a:pt x="12050" y="11682"/>
                  <a:pt x="12071" y="11634"/>
                  <a:pt x="12362" y="11119"/>
                </a:cubicBezTo>
                <a:lnTo>
                  <a:pt x="12678" y="10560"/>
                </a:lnTo>
                <a:lnTo>
                  <a:pt x="12894" y="10559"/>
                </a:lnTo>
                <a:cubicBezTo>
                  <a:pt x="13078" y="10558"/>
                  <a:pt x="13141" y="10545"/>
                  <a:pt x="13301" y="10470"/>
                </a:cubicBezTo>
                <a:cubicBezTo>
                  <a:pt x="13967" y="10157"/>
                  <a:pt x="14135" y="9323"/>
                  <a:pt x="13639" y="8791"/>
                </a:cubicBezTo>
                <a:cubicBezTo>
                  <a:pt x="13413" y="8549"/>
                  <a:pt x="13179" y="8451"/>
                  <a:pt x="12829" y="8455"/>
                </a:cubicBezTo>
                <a:lnTo>
                  <a:pt x="12629" y="8457"/>
                </a:lnTo>
                <a:lnTo>
                  <a:pt x="12519" y="8267"/>
                </a:lnTo>
                <a:cubicBezTo>
                  <a:pt x="12458" y="8162"/>
                  <a:pt x="12316" y="7920"/>
                  <a:pt x="12202" y="7729"/>
                </a:cubicBezTo>
                <a:lnTo>
                  <a:pt x="11996" y="7381"/>
                </a:lnTo>
                <a:lnTo>
                  <a:pt x="12058" y="7295"/>
                </a:lnTo>
                <a:cubicBezTo>
                  <a:pt x="12394" y="6823"/>
                  <a:pt x="12281" y="6124"/>
                  <a:pt x="11818" y="5809"/>
                </a:cubicBezTo>
                <a:cubicBezTo>
                  <a:pt x="11617" y="5673"/>
                  <a:pt x="11444" y="5622"/>
                  <a:pt x="11178" y="5622"/>
                </a:cubicBezTo>
                <a:cubicBezTo>
                  <a:pt x="11151" y="5622"/>
                  <a:pt x="11127" y="5622"/>
                  <a:pt x="11105" y="5622"/>
                </a:cubicBezTo>
                <a:cubicBezTo>
                  <a:pt x="10950" y="5625"/>
                  <a:pt x="10896" y="5642"/>
                  <a:pt x="10750" y="5714"/>
                </a:cubicBezTo>
                <a:cubicBezTo>
                  <a:pt x="10529" y="5823"/>
                  <a:pt x="10305" y="6051"/>
                  <a:pt x="10232" y="6242"/>
                </a:cubicBezTo>
                <a:lnTo>
                  <a:pt x="10183" y="6369"/>
                </a:lnTo>
                <a:lnTo>
                  <a:pt x="9549" y="6369"/>
                </a:lnTo>
                <a:cubicBezTo>
                  <a:pt x="8939" y="6369"/>
                  <a:pt x="8915" y="6367"/>
                  <a:pt x="8901" y="6313"/>
                </a:cubicBezTo>
                <a:cubicBezTo>
                  <a:pt x="8894" y="6287"/>
                  <a:pt x="8883" y="6266"/>
                  <a:pt x="8874" y="6259"/>
                </a:cubicBezTo>
                <a:lnTo>
                  <a:pt x="8858" y="6221"/>
                </a:lnTo>
                <a:lnTo>
                  <a:pt x="8856" y="6218"/>
                </a:lnTo>
                <a:lnTo>
                  <a:pt x="8846" y="6195"/>
                </a:lnTo>
                <a:lnTo>
                  <a:pt x="8843" y="6195"/>
                </a:lnTo>
                <a:lnTo>
                  <a:pt x="8802" y="6126"/>
                </a:lnTo>
                <a:cubicBezTo>
                  <a:pt x="8715" y="5978"/>
                  <a:pt x="8483" y="5786"/>
                  <a:pt x="8306" y="5715"/>
                </a:cubicBezTo>
                <a:cubicBezTo>
                  <a:pt x="8188" y="5668"/>
                  <a:pt x="8080" y="5650"/>
                  <a:pt x="7904" y="5647"/>
                </a:cubicBezTo>
                <a:lnTo>
                  <a:pt x="7665" y="5642"/>
                </a:lnTo>
                <a:lnTo>
                  <a:pt x="7351" y="5110"/>
                </a:lnTo>
                <a:lnTo>
                  <a:pt x="7037" y="4577"/>
                </a:lnTo>
                <a:lnTo>
                  <a:pt x="7091" y="4492"/>
                </a:lnTo>
                <a:cubicBezTo>
                  <a:pt x="7189" y="4342"/>
                  <a:pt x="7258" y="4171"/>
                  <a:pt x="7284" y="4012"/>
                </a:cubicBezTo>
                <a:cubicBezTo>
                  <a:pt x="7354" y="3577"/>
                  <a:pt x="7109" y="3108"/>
                  <a:pt x="6703" y="2909"/>
                </a:cubicBezTo>
                <a:cubicBezTo>
                  <a:pt x="6551" y="2834"/>
                  <a:pt x="6509" y="2827"/>
                  <a:pt x="6239" y="2827"/>
                </a:cubicBezTo>
                <a:cubicBezTo>
                  <a:pt x="5969" y="2827"/>
                  <a:pt x="5928" y="2834"/>
                  <a:pt x="5776" y="2909"/>
                </a:cubicBezTo>
                <a:cubicBezTo>
                  <a:pt x="5571" y="3010"/>
                  <a:pt x="5380" y="3202"/>
                  <a:pt x="5289" y="3399"/>
                </a:cubicBezTo>
                <a:lnTo>
                  <a:pt x="5220" y="3547"/>
                </a:lnTo>
                <a:lnTo>
                  <a:pt x="4588" y="3547"/>
                </a:lnTo>
                <a:lnTo>
                  <a:pt x="3958" y="3547"/>
                </a:lnTo>
                <a:lnTo>
                  <a:pt x="3892" y="3416"/>
                </a:lnTo>
                <a:cubicBezTo>
                  <a:pt x="3793" y="3218"/>
                  <a:pt x="3639" y="3060"/>
                  <a:pt x="3441" y="2954"/>
                </a:cubicBezTo>
                <a:cubicBezTo>
                  <a:pt x="3283" y="2870"/>
                  <a:pt x="3230" y="2857"/>
                  <a:pt x="2981" y="2843"/>
                </a:cubicBezTo>
                <a:lnTo>
                  <a:pt x="2699" y="2827"/>
                </a:lnTo>
                <a:lnTo>
                  <a:pt x="2495" y="2488"/>
                </a:lnTo>
                <a:cubicBezTo>
                  <a:pt x="2258" y="2094"/>
                  <a:pt x="2091" y="1794"/>
                  <a:pt x="2091" y="1763"/>
                </a:cubicBezTo>
                <a:cubicBezTo>
                  <a:pt x="2091" y="1752"/>
                  <a:pt x="2130" y="1680"/>
                  <a:pt x="2176" y="1604"/>
                </a:cubicBezTo>
                <a:cubicBezTo>
                  <a:pt x="2307" y="1392"/>
                  <a:pt x="2362" y="1126"/>
                  <a:pt x="2324" y="902"/>
                </a:cubicBezTo>
                <a:cubicBezTo>
                  <a:pt x="2261" y="537"/>
                  <a:pt x="2032" y="234"/>
                  <a:pt x="1702" y="82"/>
                </a:cubicBezTo>
                <a:cubicBezTo>
                  <a:pt x="1592" y="31"/>
                  <a:pt x="1445" y="4"/>
                  <a:pt x="1295" y="2"/>
                </a:cubicBezTo>
                <a:close/>
                <a:moveTo>
                  <a:pt x="8928" y="7018"/>
                </a:moveTo>
                <a:lnTo>
                  <a:pt x="9566" y="7018"/>
                </a:lnTo>
                <a:lnTo>
                  <a:pt x="10205" y="7018"/>
                </a:lnTo>
                <a:lnTo>
                  <a:pt x="10256" y="7142"/>
                </a:lnTo>
                <a:cubicBezTo>
                  <a:pt x="10326" y="7314"/>
                  <a:pt x="10538" y="7524"/>
                  <a:pt x="10741" y="7623"/>
                </a:cubicBezTo>
                <a:cubicBezTo>
                  <a:pt x="10886" y="7694"/>
                  <a:pt x="10949" y="7707"/>
                  <a:pt x="11176" y="7714"/>
                </a:cubicBezTo>
                <a:lnTo>
                  <a:pt x="11443" y="7723"/>
                </a:lnTo>
                <a:lnTo>
                  <a:pt x="11747" y="8238"/>
                </a:lnTo>
                <a:cubicBezTo>
                  <a:pt x="11914" y="8521"/>
                  <a:pt x="12052" y="8769"/>
                  <a:pt x="12052" y="8788"/>
                </a:cubicBezTo>
                <a:cubicBezTo>
                  <a:pt x="12053" y="8807"/>
                  <a:pt x="12022" y="8867"/>
                  <a:pt x="11984" y="8923"/>
                </a:cubicBezTo>
                <a:cubicBezTo>
                  <a:pt x="11751" y="9268"/>
                  <a:pt x="11763" y="9782"/>
                  <a:pt x="12012" y="10123"/>
                </a:cubicBezTo>
                <a:lnTo>
                  <a:pt x="12104" y="10250"/>
                </a:lnTo>
                <a:lnTo>
                  <a:pt x="11802" y="10786"/>
                </a:lnTo>
                <a:lnTo>
                  <a:pt x="11500" y="11322"/>
                </a:lnTo>
                <a:lnTo>
                  <a:pt x="11303" y="11312"/>
                </a:lnTo>
                <a:cubicBezTo>
                  <a:pt x="10862" y="11291"/>
                  <a:pt x="10438" y="11550"/>
                  <a:pt x="10281" y="11936"/>
                </a:cubicBezTo>
                <a:lnTo>
                  <a:pt x="10239" y="12042"/>
                </a:lnTo>
                <a:lnTo>
                  <a:pt x="10039" y="12043"/>
                </a:lnTo>
                <a:cubicBezTo>
                  <a:pt x="9929" y="12043"/>
                  <a:pt x="9646" y="12051"/>
                  <a:pt x="9410" y="12060"/>
                </a:cubicBezTo>
                <a:lnTo>
                  <a:pt x="8981" y="12076"/>
                </a:lnTo>
                <a:lnTo>
                  <a:pt x="8909" y="11933"/>
                </a:lnTo>
                <a:cubicBezTo>
                  <a:pt x="8712" y="11545"/>
                  <a:pt x="8307" y="11310"/>
                  <a:pt x="7892" y="11343"/>
                </a:cubicBezTo>
                <a:lnTo>
                  <a:pt x="7720" y="11357"/>
                </a:lnTo>
                <a:lnTo>
                  <a:pt x="7510" y="11001"/>
                </a:lnTo>
                <a:cubicBezTo>
                  <a:pt x="7395" y="10805"/>
                  <a:pt x="7252" y="10560"/>
                  <a:pt x="7191" y="10456"/>
                </a:cubicBezTo>
                <a:lnTo>
                  <a:pt x="7081" y="10266"/>
                </a:lnTo>
                <a:lnTo>
                  <a:pt x="7136" y="10188"/>
                </a:lnTo>
                <a:cubicBezTo>
                  <a:pt x="7269" y="9999"/>
                  <a:pt x="7319" y="9858"/>
                  <a:pt x="7333" y="9630"/>
                </a:cubicBezTo>
                <a:cubicBezTo>
                  <a:pt x="7349" y="9360"/>
                  <a:pt x="7319" y="9233"/>
                  <a:pt x="7186" y="9011"/>
                </a:cubicBezTo>
                <a:cubicBezTo>
                  <a:pt x="7131" y="8920"/>
                  <a:pt x="7086" y="8837"/>
                  <a:pt x="7086" y="8825"/>
                </a:cubicBezTo>
                <a:cubicBezTo>
                  <a:pt x="7086" y="8814"/>
                  <a:pt x="7136" y="8716"/>
                  <a:pt x="7197" y="8609"/>
                </a:cubicBezTo>
                <a:cubicBezTo>
                  <a:pt x="7258" y="8502"/>
                  <a:pt x="7395" y="8263"/>
                  <a:pt x="7501" y="8076"/>
                </a:cubicBezTo>
                <a:lnTo>
                  <a:pt x="7693" y="7738"/>
                </a:lnTo>
                <a:lnTo>
                  <a:pt x="7933" y="7737"/>
                </a:lnTo>
                <a:cubicBezTo>
                  <a:pt x="8130" y="7736"/>
                  <a:pt x="8200" y="7723"/>
                  <a:pt x="8328" y="7664"/>
                </a:cubicBezTo>
                <a:cubicBezTo>
                  <a:pt x="8413" y="7624"/>
                  <a:pt x="8515" y="7565"/>
                  <a:pt x="8554" y="7532"/>
                </a:cubicBezTo>
                <a:lnTo>
                  <a:pt x="8597" y="7496"/>
                </a:lnTo>
                <a:lnTo>
                  <a:pt x="8599" y="7496"/>
                </a:lnTo>
                <a:lnTo>
                  <a:pt x="8606" y="7487"/>
                </a:lnTo>
                <a:lnTo>
                  <a:pt x="8624" y="7473"/>
                </a:lnTo>
                <a:lnTo>
                  <a:pt x="8622" y="7471"/>
                </a:lnTo>
                <a:lnTo>
                  <a:pt x="8641" y="7453"/>
                </a:lnTo>
                <a:lnTo>
                  <a:pt x="8642" y="7449"/>
                </a:lnTo>
                <a:lnTo>
                  <a:pt x="8704" y="7390"/>
                </a:lnTo>
                <a:cubicBezTo>
                  <a:pt x="8742" y="7355"/>
                  <a:pt x="8807" y="7257"/>
                  <a:pt x="8850" y="7172"/>
                </a:cubicBezTo>
                <a:lnTo>
                  <a:pt x="8928" y="7018"/>
                </a:lnTo>
                <a:close/>
              </a:path>
            </a:pathLst>
          </a:custGeom>
          <a:solidFill>
            <a:schemeClr val="tx2">
              <a:lumMod val="50000"/>
            </a:schemeClr>
          </a:solidFill>
          <a:ln w="9525" cap="flat" cmpd="sng" algn="ctr">
            <a:solidFill>
              <a:schemeClr val="accent1">
                <a:lumMod val="50000"/>
              </a:schemeClr>
            </a:solidFill>
            <a:prstDash val="solid"/>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black"/>
              </a:solidFill>
              <a:effectLst/>
              <a:uLnTx/>
              <a:uFillTx/>
              <a:latin typeface="Aptos" panose="020B0004020202020204" pitchFamily="34" charset="0"/>
            </a:endParaRPr>
          </a:p>
        </p:txBody>
      </p:sp>
      <p:pic>
        <p:nvPicPr>
          <p:cNvPr id="154" name="Picture 153" descr="arrow-123.emf">
            <a:extLst>
              <a:ext uri="{FF2B5EF4-FFF2-40B4-BE49-F238E27FC236}">
                <a16:creationId xmlns:a16="http://schemas.microsoft.com/office/drawing/2014/main" id="{E36C83DE-148F-C9DB-6106-BE4F7495CA5B}"/>
              </a:ext>
            </a:extLst>
          </p:cNvPr>
          <p:cNvPicPr>
            <a:picLocks noChangeAspect="1"/>
          </p:cNvPicPr>
          <p:nvPr/>
        </p:nvPicPr>
        <p:blipFill>
          <a:blip r:embed="rId7"/>
          <a:stretch>
            <a:fillRect/>
          </a:stretch>
        </p:blipFill>
        <p:spPr>
          <a:xfrm>
            <a:off x="6088254" y="3076237"/>
            <a:ext cx="875879" cy="553717"/>
          </a:xfrm>
          <a:prstGeom prst="rect">
            <a:avLst/>
          </a:prstGeom>
        </p:spPr>
      </p:pic>
      <p:sp>
        <p:nvSpPr>
          <p:cNvPr id="159" name="Rectangle: Rounded Corners 158">
            <a:extLst>
              <a:ext uri="{FF2B5EF4-FFF2-40B4-BE49-F238E27FC236}">
                <a16:creationId xmlns:a16="http://schemas.microsoft.com/office/drawing/2014/main" id="{659F5151-9018-5689-FB52-056452EC4E6F}"/>
              </a:ext>
            </a:extLst>
          </p:cNvPr>
          <p:cNvSpPr/>
          <p:nvPr/>
        </p:nvSpPr>
        <p:spPr>
          <a:xfrm>
            <a:off x="7766843" y="1967742"/>
            <a:ext cx="1887719" cy="426716"/>
          </a:xfrm>
          <a:prstGeom prst="roundRect">
            <a:avLst>
              <a:gd name="adj" fmla="val 0"/>
            </a:avLst>
          </a:prstGeom>
          <a:solidFill>
            <a:srgbClr val="5B9BD5"/>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60" name="Rectangle: Rounded Corners 159">
            <a:extLst>
              <a:ext uri="{FF2B5EF4-FFF2-40B4-BE49-F238E27FC236}">
                <a16:creationId xmlns:a16="http://schemas.microsoft.com/office/drawing/2014/main" id="{45E23F15-C218-604E-865C-C103C7BEFE31}"/>
              </a:ext>
            </a:extLst>
          </p:cNvPr>
          <p:cNvSpPr/>
          <p:nvPr/>
        </p:nvSpPr>
        <p:spPr>
          <a:xfrm>
            <a:off x="7766843" y="1620057"/>
            <a:ext cx="1887719" cy="2044221"/>
          </a:xfrm>
          <a:prstGeom prst="roundRect">
            <a:avLst>
              <a:gd name="adj" fmla="val 8775"/>
            </a:avLst>
          </a:prstGeom>
          <a:no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61" name="TextBox 160">
            <a:extLst>
              <a:ext uri="{FF2B5EF4-FFF2-40B4-BE49-F238E27FC236}">
                <a16:creationId xmlns:a16="http://schemas.microsoft.com/office/drawing/2014/main" id="{99997A84-1203-7A3C-6DD8-2F071A40CC18}"/>
              </a:ext>
            </a:extLst>
          </p:cNvPr>
          <p:cNvSpPr txBox="1"/>
          <p:nvPr/>
        </p:nvSpPr>
        <p:spPr>
          <a:xfrm>
            <a:off x="7724122" y="2428207"/>
            <a:ext cx="1886670" cy="692497"/>
          </a:xfrm>
          <a:prstGeom prst="rect">
            <a:avLst/>
          </a:prstGeom>
          <a:noFill/>
        </p:spPr>
        <p:txBody>
          <a:bodyPr wrap="square" anchor="ctr">
            <a:spAutoFit/>
          </a:bodyPr>
          <a:lstStyle/>
          <a:p>
            <a:pPr marL="285750" indent="-285750">
              <a:buFont typeface="Arial" panose="020B0604020202020204" pitchFamily="34" charset="0"/>
              <a:buChar char="•"/>
              <a:defRPr/>
            </a:pPr>
            <a:r>
              <a:rPr lang="en-US" sz="1300" kern="0" spc="50" dirty="0">
                <a:solidFill>
                  <a:prstClr val="black">
                    <a:lumMod val="65000"/>
                    <a:lumOff val="35000"/>
                  </a:prstClr>
                </a:solidFill>
                <a:latin typeface="Aptos" panose="020B0004020202020204" pitchFamily="34" charset="0"/>
                <a:cs typeface="Arial" panose="020B0604020202020204" pitchFamily="34" charset="0"/>
              </a:rPr>
              <a:t>80+ countries</a:t>
            </a:r>
          </a:p>
          <a:p>
            <a:pPr marL="285750" indent="-285750">
              <a:buFont typeface="Arial" panose="020B0604020202020204" pitchFamily="34" charset="0"/>
              <a:buChar char="•"/>
              <a:defRPr/>
            </a:pPr>
            <a:r>
              <a:rPr lang="en-US" sz="1300" kern="0" spc="50" dirty="0">
                <a:solidFill>
                  <a:prstClr val="black">
                    <a:lumMod val="65000"/>
                    <a:lumOff val="35000"/>
                  </a:prstClr>
                </a:solidFill>
                <a:latin typeface="Aptos" panose="020B0004020202020204" pitchFamily="34" charset="0"/>
                <a:cs typeface="Arial" panose="020B0604020202020204" pitchFamily="34" charset="0"/>
              </a:rPr>
              <a:t>300+ customers</a:t>
            </a:r>
          </a:p>
          <a:p>
            <a:pPr marL="285750" indent="-285750">
              <a:buFont typeface="Arial" panose="020B0604020202020204" pitchFamily="34" charset="0"/>
              <a:buChar char="•"/>
              <a:defRPr/>
            </a:pPr>
            <a:r>
              <a:rPr lang="en-US" sz="1300" kern="0" spc="50" dirty="0">
                <a:solidFill>
                  <a:prstClr val="black">
                    <a:lumMod val="65000"/>
                    <a:lumOff val="35000"/>
                  </a:prstClr>
                </a:solidFill>
                <a:latin typeface="Aptos" panose="020B0004020202020204" pitchFamily="34" charset="0"/>
                <a:cs typeface="Arial" panose="020B0604020202020204" pitchFamily="34" charset="0"/>
              </a:rPr>
              <a:t>60+ ANDA filings</a:t>
            </a:r>
          </a:p>
        </p:txBody>
      </p:sp>
      <p:sp>
        <p:nvSpPr>
          <p:cNvPr id="162" name="TextBox 161">
            <a:extLst>
              <a:ext uri="{FF2B5EF4-FFF2-40B4-BE49-F238E27FC236}">
                <a16:creationId xmlns:a16="http://schemas.microsoft.com/office/drawing/2014/main" id="{19F51A1D-85FD-48D0-2E9E-6BF62EE95316}"/>
              </a:ext>
            </a:extLst>
          </p:cNvPr>
          <p:cNvSpPr txBox="1"/>
          <p:nvPr/>
        </p:nvSpPr>
        <p:spPr>
          <a:xfrm>
            <a:off x="8076050" y="2034905"/>
            <a:ext cx="1276311" cy="292388"/>
          </a:xfrm>
          <a:prstGeom prst="rect">
            <a:avLst/>
          </a:prstGeom>
          <a:noFill/>
        </p:spPr>
        <p:txBody>
          <a:bodyPr wrap="none" rtlCol="0" anchor="ctr">
            <a:spAutoFit/>
          </a:bodyPr>
          <a:lstStyle>
            <a:defPPr>
              <a:defRPr lang="en-US"/>
            </a:defPPr>
            <a:lvl1pPr marR="0" lvl="0" indent="0" algn="ctr" defTabSz="914377" fontAlgn="auto">
              <a:lnSpc>
                <a:spcPct val="100000"/>
              </a:lnSpc>
              <a:spcBef>
                <a:spcPts val="0"/>
              </a:spcBef>
              <a:spcAft>
                <a:spcPts val="0"/>
              </a:spcAft>
              <a:buClrTx/>
              <a:buSzTx/>
              <a:buFontTx/>
              <a:buNone/>
              <a:tabLst/>
              <a:defRPr kumimoji="0" sz="1400" b="1" i="0" u="none" strike="noStrike" cap="none" spc="0" normalizeH="0" baseline="0">
                <a:ln>
                  <a:noFill/>
                </a:ln>
                <a:solidFill>
                  <a:schemeClr val="tx2">
                    <a:lumMod val="75000"/>
                    <a:lumOff val="25000"/>
                  </a:schemeClr>
                </a:solidFill>
                <a:effectLst/>
                <a:uLnTx/>
                <a:uFillTx/>
                <a:latin typeface="Arial" panose="020B0604020202020204" pitchFamily="34" charset="0"/>
                <a:cs typeface="Arial" panose="020B0604020202020204" pitchFamily="34" charset="0"/>
              </a:defRPr>
            </a:lvl1pPr>
          </a:lstStyle>
          <a:p>
            <a:r>
              <a:rPr lang="en-US" sz="1300" kern="0" spc="50" dirty="0">
                <a:solidFill>
                  <a:schemeClr val="bg1"/>
                </a:solidFill>
                <a:latin typeface="Aptos" panose="020B0004020202020204" pitchFamily="34" charset="0"/>
              </a:rPr>
              <a:t>Global Reach</a:t>
            </a:r>
          </a:p>
        </p:txBody>
      </p:sp>
      <p:sp>
        <p:nvSpPr>
          <p:cNvPr id="167" name="Oval 166">
            <a:extLst>
              <a:ext uri="{FF2B5EF4-FFF2-40B4-BE49-F238E27FC236}">
                <a16:creationId xmlns:a16="http://schemas.microsoft.com/office/drawing/2014/main" id="{20F4282F-A831-DB80-2CB8-E0589CB5FD18}"/>
              </a:ext>
            </a:extLst>
          </p:cNvPr>
          <p:cNvSpPr/>
          <p:nvPr/>
        </p:nvSpPr>
        <p:spPr>
          <a:xfrm>
            <a:off x="8393742" y="1312244"/>
            <a:ext cx="673228" cy="617203"/>
          </a:xfrm>
          <a:prstGeom prst="ellipse">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ptos" panose="020B0004020202020204" pitchFamily="34" charset="0"/>
            </a:endParaRPr>
          </a:p>
        </p:txBody>
      </p:sp>
      <p:cxnSp>
        <p:nvCxnSpPr>
          <p:cNvPr id="168" name="Straight Connector 167">
            <a:extLst>
              <a:ext uri="{FF2B5EF4-FFF2-40B4-BE49-F238E27FC236}">
                <a16:creationId xmlns:a16="http://schemas.microsoft.com/office/drawing/2014/main" id="{103DF436-0817-0765-8CE9-D9EDC56A8149}"/>
              </a:ext>
            </a:extLst>
          </p:cNvPr>
          <p:cNvCxnSpPr>
            <a:cxnSpLocks/>
          </p:cNvCxnSpPr>
          <p:nvPr/>
        </p:nvCxnSpPr>
        <p:spPr>
          <a:xfrm>
            <a:off x="8728954" y="943962"/>
            <a:ext cx="0" cy="326093"/>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69" name="Freeform 8">
            <a:extLst>
              <a:ext uri="{FF2B5EF4-FFF2-40B4-BE49-F238E27FC236}">
                <a16:creationId xmlns:a16="http://schemas.microsoft.com/office/drawing/2014/main" id="{79BEB29E-163F-4152-5CE3-BB20BB2D5EBE}"/>
              </a:ext>
            </a:extLst>
          </p:cNvPr>
          <p:cNvSpPr>
            <a:spLocks noEditPoints="1"/>
          </p:cNvSpPr>
          <p:nvPr/>
        </p:nvSpPr>
        <p:spPr bwMode="auto">
          <a:xfrm>
            <a:off x="8560806" y="1407131"/>
            <a:ext cx="349005" cy="380110"/>
          </a:xfrm>
          <a:custGeom>
            <a:avLst/>
            <a:gdLst>
              <a:gd name="T0" fmla="*/ 474 w 6658"/>
              <a:gd name="T1" fmla="*/ 4484 h 7154"/>
              <a:gd name="T2" fmla="*/ 548 w 6658"/>
              <a:gd name="T3" fmla="*/ 3471 h 7154"/>
              <a:gd name="T4" fmla="*/ 1388 w 6658"/>
              <a:gd name="T5" fmla="*/ 2476 h 7154"/>
              <a:gd name="T6" fmla="*/ 818 w 6658"/>
              <a:gd name="T7" fmla="*/ 2441 h 7154"/>
              <a:gd name="T8" fmla="*/ 3757 w 6658"/>
              <a:gd name="T9" fmla="*/ 830 h 7154"/>
              <a:gd name="T10" fmla="*/ 5731 w 6658"/>
              <a:gd name="T11" fmla="*/ 63 h 7154"/>
              <a:gd name="T12" fmla="*/ 5884 w 6658"/>
              <a:gd name="T13" fmla="*/ 2888 h 7154"/>
              <a:gd name="T14" fmla="*/ 3176 w 6658"/>
              <a:gd name="T15" fmla="*/ 6417 h 7154"/>
              <a:gd name="T16" fmla="*/ 1932 w 6658"/>
              <a:gd name="T17" fmla="*/ 6832 h 7154"/>
              <a:gd name="T18" fmla="*/ 6337 w 6658"/>
              <a:gd name="T19" fmla="*/ 2581 h 7154"/>
              <a:gd name="T20" fmla="*/ 3702 w 6658"/>
              <a:gd name="T21" fmla="*/ 1523 h 7154"/>
              <a:gd name="T22" fmla="*/ 1234 w 6658"/>
              <a:gd name="T23" fmla="*/ 6109 h 7154"/>
              <a:gd name="T24" fmla="*/ 317 w 6658"/>
              <a:gd name="T25" fmla="*/ 5828 h 7154"/>
              <a:gd name="T26" fmla="*/ 3725 w 6658"/>
              <a:gd name="T27" fmla="*/ 6021 h 7154"/>
              <a:gd name="T28" fmla="*/ 3776 w 6658"/>
              <a:gd name="T29" fmla="*/ 5863 h 7154"/>
              <a:gd name="T30" fmla="*/ 5252 w 6658"/>
              <a:gd name="T31" fmla="*/ 5115 h 7154"/>
              <a:gd name="T32" fmla="*/ 4749 w 6658"/>
              <a:gd name="T33" fmla="*/ 5149 h 7154"/>
              <a:gd name="T34" fmla="*/ 1370 w 6658"/>
              <a:gd name="T35" fmla="*/ 5881 h 7154"/>
              <a:gd name="T36" fmla="*/ 773 w 6658"/>
              <a:gd name="T37" fmla="*/ 5181 h 7154"/>
              <a:gd name="T38" fmla="*/ 1821 w 6658"/>
              <a:gd name="T39" fmla="*/ 5626 h 7154"/>
              <a:gd name="T40" fmla="*/ 1255 w 6658"/>
              <a:gd name="T41" fmla="*/ 5052 h 7154"/>
              <a:gd name="T42" fmla="*/ 2167 w 6658"/>
              <a:gd name="T43" fmla="*/ 5249 h 7154"/>
              <a:gd name="T44" fmla="*/ 1996 w 6658"/>
              <a:gd name="T45" fmla="*/ 5441 h 7154"/>
              <a:gd name="T46" fmla="*/ 1225 w 6658"/>
              <a:gd name="T47" fmla="*/ 3697 h 7154"/>
              <a:gd name="T48" fmla="*/ 793 w 6658"/>
              <a:gd name="T49" fmla="*/ 4668 h 7154"/>
              <a:gd name="T50" fmla="*/ 2415 w 6658"/>
              <a:gd name="T51" fmla="*/ 4635 h 7154"/>
              <a:gd name="T52" fmla="*/ 1459 w 6658"/>
              <a:gd name="T53" fmla="*/ 3697 h 7154"/>
              <a:gd name="T54" fmla="*/ 2050 w 6658"/>
              <a:gd name="T55" fmla="*/ 4826 h 7154"/>
              <a:gd name="T56" fmla="*/ 5734 w 6658"/>
              <a:gd name="T57" fmla="*/ 3873 h 7154"/>
              <a:gd name="T58" fmla="*/ 5161 w 6658"/>
              <a:gd name="T59" fmla="*/ 3961 h 7154"/>
              <a:gd name="T60" fmla="*/ 5161 w 6658"/>
              <a:gd name="T61" fmla="*/ 4826 h 7154"/>
              <a:gd name="T62" fmla="*/ 3067 w 6658"/>
              <a:gd name="T63" fmla="*/ 3713 h 7154"/>
              <a:gd name="T64" fmla="*/ 2606 w 6658"/>
              <a:gd name="T65" fmla="*/ 4246 h 7154"/>
              <a:gd name="T66" fmla="*/ 2436 w 6658"/>
              <a:gd name="T67" fmla="*/ 2386 h 7154"/>
              <a:gd name="T68" fmla="*/ 1459 w 6658"/>
              <a:gd name="T69" fmla="*/ 3394 h 7154"/>
              <a:gd name="T70" fmla="*/ 2385 w 6658"/>
              <a:gd name="T71" fmla="*/ 2951 h 7154"/>
              <a:gd name="T72" fmla="*/ 3144 w 6658"/>
              <a:gd name="T73" fmla="*/ 2349 h 7154"/>
              <a:gd name="T74" fmla="*/ 2580 w 6658"/>
              <a:gd name="T75" fmla="*/ 3473 h 7154"/>
              <a:gd name="T76" fmla="*/ 5737 w 6658"/>
              <a:gd name="T77" fmla="*/ 3323 h 7154"/>
              <a:gd name="T78" fmla="*/ 5756 w 6658"/>
              <a:gd name="T79" fmla="*/ 3471 h 7154"/>
              <a:gd name="T80" fmla="*/ 2080 w 6658"/>
              <a:gd name="T81" fmla="*/ 1228 h 7154"/>
              <a:gd name="T82" fmla="*/ 1260 w 6658"/>
              <a:gd name="T83" fmla="*/ 2117 h 7154"/>
              <a:gd name="T84" fmla="*/ 2744 w 6658"/>
              <a:gd name="T85" fmla="*/ 1078 h 7154"/>
              <a:gd name="T86" fmla="*/ 2116 w 6658"/>
              <a:gd name="T87" fmla="*/ 2117 h 7154"/>
              <a:gd name="T88" fmla="*/ 3776 w 6658"/>
              <a:gd name="T89" fmla="*/ 1794 h 7154"/>
              <a:gd name="T90" fmla="*/ 3605 w 6658"/>
              <a:gd name="T91" fmla="*/ 1030 h 7154"/>
              <a:gd name="T92" fmla="*/ 2701 w 6658"/>
              <a:gd name="T93" fmla="*/ 2077 h 7154"/>
              <a:gd name="T94" fmla="*/ 442 w 6658"/>
              <a:gd name="T95" fmla="*/ 2977 h 7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658" h="7154">
                <a:moveTo>
                  <a:pt x="1015" y="7099"/>
                </a:moveTo>
                <a:cubicBezTo>
                  <a:pt x="352" y="6912"/>
                  <a:pt x="0" y="6333"/>
                  <a:pt x="99" y="5590"/>
                </a:cubicBezTo>
                <a:cubicBezTo>
                  <a:pt x="138" y="5302"/>
                  <a:pt x="258" y="4911"/>
                  <a:pt x="386" y="4657"/>
                </a:cubicBezTo>
                <a:lnTo>
                  <a:pt x="474" y="4484"/>
                </a:lnTo>
                <a:lnTo>
                  <a:pt x="410" y="4238"/>
                </a:lnTo>
                <a:cubicBezTo>
                  <a:pt x="333" y="3939"/>
                  <a:pt x="316" y="3260"/>
                  <a:pt x="383" y="3179"/>
                </a:cubicBezTo>
                <a:cubicBezTo>
                  <a:pt x="478" y="3064"/>
                  <a:pt x="590" y="3166"/>
                  <a:pt x="565" y="3346"/>
                </a:cubicBezTo>
                <a:lnTo>
                  <a:pt x="548" y="3471"/>
                </a:lnTo>
                <a:lnTo>
                  <a:pt x="887" y="3471"/>
                </a:lnTo>
                <a:lnTo>
                  <a:pt x="1226" y="3471"/>
                </a:lnTo>
                <a:lnTo>
                  <a:pt x="1245" y="3281"/>
                </a:lnTo>
                <a:cubicBezTo>
                  <a:pt x="1269" y="3035"/>
                  <a:pt x="1338" y="2648"/>
                  <a:pt x="1388" y="2476"/>
                </a:cubicBezTo>
                <a:lnTo>
                  <a:pt x="1427" y="2342"/>
                </a:lnTo>
                <a:lnTo>
                  <a:pt x="1146" y="2342"/>
                </a:lnTo>
                <a:lnTo>
                  <a:pt x="865" y="2342"/>
                </a:lnTo>
                <a:lnTo>
                  <a:pt x="818" y="2441"/>
                </a:lnTo>
                <a:cubicBezTo>
                  <a:pt x="766" y="2550"/>
                  <a:pt x="687" y="2590"/>
                  <a:pt x="625" y="2539"/>
                </a:cubicBezTo>
                <a:cubicBezTo>
                  <a:pt x="564" y="2489"/>
                  <a:pt x="573" y="2441"/>
                  <a:pt x="683" y="2232"/>
                </a:cubicBezTo>
                <a:cubicBezTo>
                  <a:pt x="1080" y="1477"/>
                  <a:pt x="1892" y="919"/>
                  <a:pt x="2784" y="789"/>
                </a:cubicBezTo>
                <a:cubicBezTo>
                  <a:pt x="3053" y="749"/>
                  <a:pt x="3496" y="768"/>
                  <a:pt x="3757" y="830"/>
                </a:cubicBezTo>
                <a:lnTo>
                  <a:pt x="3925" y="870"/>
                </a:lnTo>
                <a:lnTo>
                  <a:pt x="4765" y="435"/>
                </a:lnTo>
                <a:cubicBezTo>
                  <a:pt x="5228" y="196"/>
                  <a:pt x="5625" y="0"/>
                  <a:pt x="5648" y="0"/>
                </a:cubicBezTo>
                <a:cubicBezTo>
                  <a:pt x="5672" y="0"/>
                  <a:pt x="5709" y="29"/>
                  <a:pt x="5731" y="63"/>
                </a:cubicBezTo>
                <a:cubicBezTo>
                  <a:pt x="5798" y="171"/>
                  <a:pt x="6658" y="2793"/>
                  <a:pt x="6641" y="2838"/>
                </a:cubicBezTo>
                <a:cubicBezTo>
                  <a:pt x="6604" y="2935"/>
                  <a:pt x="6552" y="2923"/>
                  <a:pt x="5957" y="2686"/>
                </a:cubicBezTo>
                <a:lnTo>
                  <a:pt x="5814" y="2629"/>
                </a:lnTo>
                <a:lnTo>
                  <a:pt x="5884" y="2888"/>
                </a:lnTo>
                <a:cubicBezTo>
                  <a:pt x="5943" y="3104"/>
                  <a:pt x="5954" y="3214"/>
                  <a:pt x="5957" y="3556"/>
                </a:cubicBezTo>
                <a:cubicBezTo>
                  <a:pt x="5958" y="3804"/>
                  <a:pt x="5944" y="4032"/>
                  <a:pt x="5921" y="4135"/>
                </a:cubicBezTo>
                <a:cubicBezTo>
                  <a:pt x="5650" y="5354"/>
                  <a:pt x="4677" y="6241"/>
                  <a:pt x="3456" y="6384"/>
                </a:cubicBezTo>
                <a:lnTo>
                  <a:pt x="3176" y="6417"/>
                </a:lnTo>
                <a:lnTo>
                  <a:pt x="2867" y="6621"/>
                </a:lnTo>
                <a:cubicBezTo>
                  <a:pt x="2550" y="6830"/>
                  <a:pt x="2260" y="6968"/>
                  <a:pt x="1939" y="7062"/>
                </a:cubicBezTo>
                <a:cubicBezTo>
                  <a:pt x="1690" y="7135"/>
                  <a:pt x="1211" y="7154"/>
                  <a:pt x="1015" y="7099"/>
                </a:cubicBezTo>
                <a:close/>
                <a:moveTo>
                  <a:pt x="1932" y="6832"/>
                </a:moveTo>
                <a:cubicBezTo>
                  <a:pt x="3234" y="6409"/>
                  <a:pt x="4529" y="4947"/>
                  <a:pt x="5470" y="2836"/>
                </a:cubicBezTo>
                <a:cubicBezTo>
                  <a:pt x="5574" y="2604"/>
                  <a:pt x="5678" y="2402"/>
                  <a:pt x="5700" y="2387"/>
                </a:cubicBezTo>
                <a:cubicBezTo>
                  <a:pt x="5728" y="2370"/>
                  <a:pt x="5834" y="2398"/>
                  <a:pt x="6034" y="2476"/>
                </a:cubicBezTo>
                <a:cubicBezTo>
                  <a:pt x="6195" y="2538"/>
                  <a:pt x="6332" y="2586"/>
                  <a:pt x="6337" y="2581"/>
                </a:cubicBezTo>
                <a:cubicBezTo>
                  <a:pt x="6350" y="2569"/>
                  <a:pt x="5606" y="331"/>
                  <a:pt x="5579" y="301"/>
                </a:cubicBezTo>
                <a:cubicBezTo>
                  <a:pt x="5567" y="288"/>
                  <a:pt x="5073" y="528"/>
                  <a:pt x="4480" y="834"/>
                </a:cubicBezTo>
                <a:cubicBezTo>
                  <a:pt x="3887" y="1140"/>
                  <a:pt x="3412" y="1399"/>
                  <a:pt x="3425" y="1410"/>
                </a:cubicBezTo>
                <a:cubicBezTo>
                  <a:pt x="3438" y="1421"/>
                  <a:pt x="3563" y="1472"/>
                  <a:pt x="3702" y="1523"/>
                </a:cubicBezTo>
                <a:cubicBezTo>
                  <a:pt x="4085" y="1662"/>
                  <a:pt x="4077" y="1646"/>
                  <a:pt x="3957" y="2041"/>
                </a:cubicBezTo>
                <a:cubicBezTo>
                  <a:pt x="3576" y="3301"/>
                  <a:pt x="2923" y="4652"/>
                  <a:pt x="2335" y="5401"/>
                </a:cubicBezTo>
                <a:cubicBezTo>
                  <a:pt x="2128" y="5664"/>
                  <a:pt x="1844" y="5913"/>
                  <a:pt x="1629" y="6019"/>
                </a:cubicBezTo>
                <a:cubicBezTo>
                  <a:pt x="1471" y="6098"/>
                  <a:pt x="1416" y="6110"/>
                  <a:pt x="1234" y="6109"/>
                </a:cubicBezTo>
                <a:cubicBezTo>
                  <a:pt x="770" y="6108"/>
                  <a:pt x="537" y="5830"/>
                  <a:pt x="548" y="5292"/>
                </a:cubicBezTo>
                <a:cubicBezTo>
                  <a:pt x="550" y="5167"/>
                  <a:pt x="566" y="5004"/>
                  <a:pt x="583" y="4928"/>
                </a:cubicBezTo>
                <a:cubicBezTo>
                  <a:pt x="627" y="4734"/>
                  <a:pt x="597" y="4732"/>
                  <a:pt x="513" y="4923"/>
                </a:cubicBezTo>
                <a:cubicBezTo>
                  <a:pt x="372" y="5241"/>
                  <a:pt x="317" y="5494"/>
                  <a:pt x="317" y="5828"/>
                </a:cubicBezTo>
                <a:cubicBezTo>
                  <a:pt x="316" y="6119"/>
                  <a:pt x="321" y="6150"/>
                  <a:pt x="404" y="6322"/>
                </a:cubicBezTo>
                <a:cubicBezTo>
                  <a:pt x="542" y="6607"/>
                  <a:pt x="732" y="6771"/>
                  <a:pt x="1050" y="6877"/>
                </a:cubicBezTo>
                <a:cubicBezTo>
                  <a:pt x="1211" y="6931"/>
                  <a:pt x="1705" y="6906"/>
                  <a:pt x="1932" y="6832"/>
                </a:cubicBezTo>
                <a:close/>
                <a:moveTo>
                  <a:pt x="3725" y="6021"/>
                </a:moveTo>
                <a:cubicBezTo>
                  <a:pt x="3929" y="5918"/>
                  <a:pt x="4245" y="5591"/>
                  <a:pt x="4404" y="5320"/>
                </a:cubicBezTo>
                <a:cubicBezTo>
                  <a:pt x="4476" y="5197"/>
                  <a:pt x="4535" y="5085"/>
                  <a:pt x="4535" y="5071"/>
                </a:cubicBezTo>
                <a:cubicBezTo>
                  <a:pt x="4535" y="5004"/>
                  <a:pt x="4437" y="5094"/>
                  <a:pt x="4232" y="5348"/>
                </a:cubicBezTo>
                <a:cubicBezTo>
                  <a:pt x="4107" y="5503"/>
                  <a:pt x="3902" y="5735"/>
                  <a:pt x="3776" y="5863"/>
                </a:cubicBezTo>
                <a:cubicBezTo>
                  <a:pt x="3650" y="5991"/>
                  <a:pt x="3554" y="6096"/>
                  <a:pt x="3562" y="6096"/>
                </a:cubicBezTo>
                <a:cubicBezTo>
                  <a:pt x="3570" y="6096"/>
                  <a:pt x="3644" y="6062"/>
                  <a:pt x="3725" y="6021"/>
                </a:cubicBezTo>
                <a:close/>
                <a:moveTo>
                  <a:pt x="4448" y="5829"/>
                </a:moveTo>
                <a:cubicBezTo>
                  <a:pt x="4751" y="5651"/>
                  <a:pt x="4946" y="5478"/>
                  <a:pt x="5252" y="5115"/>
                </a:cubicBezTo>
                <a:lnTo>
                  <a:pt x="5306" y="5052"/>
                </a:lnTo>
                <a:lnTo>
                  <a:pt x="5048" y="5052"/>
                </a:lnTo>
                <a:lnTo>
                  <a:pt x="4790" y="5052"/>
                </a:lnTo>
                <a:lnTo>
                  <a:pt x="4749" y="5149"/>
                </a:lnTo>
                <a:cubicBezTo>
                  <a:pt x="4669" y="5342"/>
                  <a:pt x="4477" y="5642"/>
                  <a:pt x="4335" y="5797"/>
                </a:cubicBezTo>
                <a:cubicBezTo>
                  <a:pt x="4256" y="5884"/>
                  <a:pt x="4200" y="5955"/>
                  <a:pt x="4212" y="5955"/>
                </a:cubicBezTo>
                <a:cubicBezTo>
                  <a:pt x="4224" y="5955"/>
                  <a:pt x="4330" y="5898"/>
                  <a:pt x="4448" y="5829"/>
                </a:cubicBezTo>
                <a:close/>
                <a:moveTo>
                  <a:pt x="1370" y="5881"/>
                </a:moveTo>
                <a:lnTo>
                  <a:pt x="1458" y="5863"/>
                </a:lnTo>
                <a:lnTo>
                  <a:pt x="1209" y="5620"/>
                </a:lnTo>
                <a:cubicBezTo>
                  <a:pt x="1072" y="5486"/>
                  <a:pt x="924" y="5322"/>
                  <a:pt x="880" y="5255"/>
                </a:cubicBezTo>
                <a:cubicBezTo>
                  <a:pt x="811" y="5150"/>
                  <a:pt x="796" y="5140"/>
                  <a:pt x="773" y="5181"/>
                </a:cubicBezTo>
                <a:cubicBezTo>
                  <a:pt x="735" y="5249"/>
                  <a:pt x="772" y="5552"/>
                  <a:pt x="833" y="5671"/>
                </a:cubicBezTo>
                <a:cubicBezTo>
                  <a:pt x="918" y="5840"/>
                  <a:pt x="1141" y="5927"/>
                  <a:pt x="1370" y="5881"/>
                </a:cubicBezTo>
                <a:close/>
                <a:moveTo>
                  <a:pt x="1755" y="5678"/>
                </a:moveTo>
                <a:lnTo>
                  <a:pt x="1821" y="5626"/>
                </a:lnTo>
                <a:lnTo>
                  <a:pt x="1734" y="5487"/>
                </a:lnTo>
                <a:cubicBezTo>
                  <a:pt x="1686" y="5411"/>
                  <a:pt x="1616" y="5281"/>
                  <a:pt x="1579" y="5200"/>
                </a:cubicBezTo>
                <a:lnTo>
                  <a:pt x="1511" y="5052"/>
                </a:lnTo>
                <a:lnTo>
                  <a:pt x="1255" y="5052"/>
                </a:lnTo>
                <a:cubicBezTo>
                  <a:pt x="966" y="5052"/>
                  <a:pt x="974" y="5026"/>
                  <a:pt x="1188" y="5278"/>
                </a:cubicBezTo>
                <a:cubicBezTo>
                  <a:pt x="1282" y="5388"/>
                  <a:pt x="1653" y="5728"/>
                  <a:pt x="1680" y="5729"/>
                </a:cubicBezTo>
                <a:cubicBezTo>
                  <a:pt x="1685" y="5729"/>
                  <a:pt x="1719" y="5706"/>
                  <a:pt x="1755" y="5678"/>
                </a:cubicBezTo>
                <a:close/>
                <a:moveTo>
                  <a:pt x="2167" y="5249"/>
                </a:moveTo>
                <a:lnTo>
                  <a:pt x="2314" y="5066"/>
                </a:lnTo>
                <a:lnTo>
                  <a:pt x="2052" y="5058"/>
                </a:lnTo>
                <a:cubicBezTo>
                  <a:pt x="1908" y="5053"/>
                  <a:pt x="1784" y="5056"/>
                  <a:pt x="1776" y="5063"/>
                </a:cubicBezTo>
                <a:cubicBezTo>
                  <a:pt x="1755" y="5084"/>
                  <a:pt x="1968" y="5451"/>
                  <a:pt x="1996" y="5441"/>
                </a:cubicBezTo>
                <a:cubicBezTo>
                  <a:pt x="2009" y="5437"/>
                  <a:pt x="2086" y="5350"/>
                  <a:pt x="2167" y="5249"/>
                </a:cubicBezTo>
                <a:close/>
                <a:moveTo>
                  <a:pt x="1417" y="4777"/>
                </a:moveTo>
                <a:cubicBezTo>
                  <a:pt x="1368" y="4649"/>
                  <a:pt x="1287" y="4249"/>
                  <a:pt x="1258" y="3987"/>
                </a:cubicBezTo>
                <a:lnTo>
                  <a:pt x="1225" y="3697"/>
                </a:lnTo>
                <a:lnTo>
                  <a:pt x="888" y="3697"/>
                </a:lnTo>
                <a:lnTo>
                  <a:pt x="550" y="3697"/>
                </a:lnTo>
                <a:lnTo>
                  <a:pt x="570" y="3873"/>
                </a:lnTo>
                <a:cubicBezTo>
                  <a:pt x="595" y="4085"/>
                  <a:pt x="697" y="4450"/>
                  <a:pt x="793" y="4668"/>
                </a:cubicBezTo>
                <a:lnTo>
                  <a:pt x="863" y="4826"/>
                </a:lnTo>
                <a:lnTo>
                  <a:pt x="1150" y="4826"/>
                </a:lnTo>
                <a:cubicBezTo>
                  <a:pt x="1411" y="4826"/>
                  <a:pt x="1435" y="4822"/>
                  <a:pt x="1417" y="4777"/>
                </a:cubicBezTo>
                <a:close/>
                <a:moveTo>
                  <a:pt x="2415" y="4635"/>
                </a:moveTo>
                <a:cubicBezTo>
                  <a:pt x="2404" y="4531"/>
                  <a:pt x="2386" y="4277"/>
                  <a:pt x="2375" y="4071"/>
                </a:cubicBezTo>
                <a:lnTo>
                  <a:pt x="2354" y="3697"/>
                </a:lnTo>
                <a:lnTo>
                  <a:pt x="1907" y="3697"/>
                </a:lnTo>
                <a:lnTo>
                  <a:pt x="1459" y="3697"/>
                </a:lnTo>
                <a:lnTo>
                  <a:pt x="1459" y="3775"/>
                </a:lnTo>
                <a:cubicBezTo>
                  <a:pt x="1459" y="3923"/>
                  <a:pt x="1544" y="4418"/>
                  <a:pt x="1604" y="4621"/>
                </a:cubicBezTo>
                <a:lnTo>
                  <a:pt x="1665" y="4826"/>
                </a:lnTo>
                <a:lnTo>
                  <a:pt x="2050" y="4826"/>
                </a:lnTo>
                <a:lnTo>
                  <a:pt x="2435" y="4826"/>
                </a:lnTo>
                <a:lnTo>
                  <a:pt x="2415" y="4635"/>
                </a:lnTo>
                <a:close/>
                <a:moveTo>
                  <a:pt x="5511" y="4668"/>
                </a:moveTo>
                <a:cubicBezTo>
                  <a:pt x="5607" y="4450"/>
                  <a:pt x="5710" y="4085"/>
                  <a:pt x="5734" y="3873"/>
                </a:cubicBezTo>
                <a:lnTo>
                  <a:pt x="5754" y="3697"/>
                </a:lnTo>
                <a:lnTo>
                  <a:pt x="5530" y="3697"/>
                </a:lnTo>
                <a:lnTo>
                  <a:pt x="5307" y="3697"/>
                </a:lnTo>
                <a:lnTo>
                  <a:pt x="5161" y="3961"/>
                </a:lnTo>
                <a:cubicBezTo>
                  <a:pt x="5080" y="4107"/>
                  <a:pt x="5015" y="4245"/>
                  <a:pt x="5015" y="4269"/>
                </a:cubicBezTo>
                <a:cubicBezTo>
                  <a:pt x="5015" y="4292"/>
                  <a:pt x="4985" y="4427"/>
                  <a:pt x="4948" y="4569"/>
                </a:cubicBezTo>
                <a:lnTo>
                  <a:pt x="4881" y="4826"/>
                </a:lnTo>
                <a:lnTo>
                  <a:pt x="5161" y="4826"/>
                </a:lnTo>
                <a:lnTo>
                  <a:pt x="5441" y="4826"/>
                </a:lnTo>
                <a:lnTo>
                  <a:pt x="5511" y="4668"/>
                </a:lnTo>
                <a:close/>
                <a:moveTo>
                  <a:pt x="2893" y="4077"/>
                </a:moveTo>
                <a:cubicBezTo>
                  <a:pt x="2989" y="3885"/>
                  <a:pt x="3067" y="3721"/>
                  <a:pt x="3067" y="3713"/>
                </a:cubicBezTo>
                <a:cubicBezTo>
                  <a:pt x="3067" y="3704"/>
                  <a:pt x="2959" y="3697"/>
                  <a:pt x="2828" y="3697"/>
                </a:cubicBezTo>
                <a:lnTo>
                  <a:pt x="2588" y="3697"/>
                </a:lnTo>
                <a:lnTo>
                  <a:pt x="2588" y="3820"/>
                </a:lnTo>
                <a:cubicBezTo>
                  <a:pt x="2588" y="3887"/>
                  <a:pt x="2596" y="4079"/>
                  <a:pt x="2606" y="4246"/>
                </a:cubicBezTo>
                <a:cubicBezTo>
                  <a:pt x="2624" y="4537"/>
                  <a:pt x="2627" y="4548"/>
                  <a:pt x="2672" y="4488"/>
                </a:cubicBezTo>
                <a:cubicBezTo>
                  <a:pt x="2697" y="4454"/>
                  <a:pt x="2797" y="4269"/>
                  <a:pt x="2893" y="4077"/>
                </a:cubicBezTo>
                <a:close/>
                <a:moveTo>
                  <a:pt x="2385" y="2951"/>
                </a:moveTo>
                <a:cubicBezTo>
                  <a:pt x="2404" y="2664"/>
                  <a:pt x="2426" y="2410"/>
                  <a:pt x="2436" y="2386"/>
                </a:cubicBezTo>
                <a:cubicBezTo>
                  <a:pt x="2450" y="2348"/>
                  <a:pt x="2403" y="2342"/>
                  <a:pt x="2059" y="2342"/>
                </a:cubicBezTo>
                <a:lnTo>
                  <a:pt x="1665" y="2342"/>
                </a:lnTo>
                <a:lnTo>
                  <a:pt x="1604" y="2547"/>
                </a:lnTo>
                <a:cubicBezTo>
                  <a:pt x="1544" y="2750"/>
                  <a:pt x="1459" y="3245"/>
                  <a:pt x="1459" y="3394"/>
                </a:cubicBezTo>
                <a:lnTo>
                  <a:pt x="1459" y="3471"/>
                </a:lnTo>
                <a:lnTo>
                  <a:pt x="1905" y="3471"/>
                </a:lnTo>
                <a:lnTo>
                  <a:pt x="2350" y="3471"/>
                </a:lnTo>
                <a:lnTo>
                  <a:pt x="2385" y="2951"/>
                </a:lnTo>
                <a:close/>
                <a:moveTo>
                  <a:pt x="3351" y="3062"/>
                </a:moveTo>
                <a:cubicBezTo>
                  <a:pt x="3438" y="2845"/>
                  <a:pt x="3536" y="2594"/>
                  <a:pt x="3569" y="2504"/>
                </a:cubicBezTo>
                <a:lnTo>
                  <a:pt x="3630" y="2341"/>
                </a:lnTo>
                <a:lnTo>
                  <a:pt x="3144" y="2349"/>
                </a:lnTo>
                <a:lnTo>
                  <a:pt x="2658" y="2357"/>
                </a:lnTo>
                <a:lnTo>
                  <a:pt x="2639" y="2526"/>
                </a:lnTo>
                <a:cubicBezTo>
                  <a:pt x="2629" y="2619"/>
                  <a:pt x="2611" y="2870"/>
                  <a:pt x="2600" y="3084"/>
                </a:cubicBezTo>
                <a:lnTo>
                  <a:pt x="2580" y="3473"/>
                </a:lnTo>
                <a:lnTo>
                  <a:pt x="2887" y="3465"/>
                </a:lnTo>
                <a:lnTo>
                  <a:pt x="3194" y="3457"/>
                </a:lnTo>
                <a:lnTo>
                  <a:pt x="3351" y="3062"/>
                </a:lnTo>
                <a:close/>
                <a:moveTo>
                  <a:pt x="5737" y="3323"/>
                </a:moveTo>
                <a:cubicBezTo>
                  <a:pt x="5706" y="3080"/>
                  <a:pt x="5687" y="2992"/>
                  <a:pt x="5665" y="2992"/>
                </a:cubicBezTo>
                <a:cubicBezTo>
                  <a:pt x="5647" y="2992"/>
                  <a:pt x="5512" y="3266"/>
                  <a:pt x="5446" y="3436"/>
                </a:cubicBezTo>
                <a:cubicBezTo>
                  <a:pt x="5436" y="3462"/>
                  <a:pt x="5476" y="3471"/>
                  <a:pt x="5594" y="3471"/>
                </a:cubicBezTo>
                <a:lnTo>
                  <a:pt x="5756" y="3471"/>
                </a:lnTo>
                <a:lnTo>
                  <a:pt x="5737" y="3323"/>
                </a:lnTo>
                <a:close/>
                <a:moveTo>
                  <a:pt x="1546" y="2039"/>
                </a:moveTo>
                <a:cubicBezTo>
                  <a:pt x="1602" y="1890"/>
                  <a:pt x="1832" y="1523"/>
                  <a:pt x="1955" y="1386"/>
                </a:cubicBezTo>
                <a:cubicBezTo>
                  <a:pt x="2024" y="1310"/>
                  <a:pt x="2080" y="1239"/>
                  <a:pt x="2080" y="1228"/>
                </a:cubicBezTo>
                <a:cubicBezTo>
                  <a:pt x="2080" y="1201"/>
                  <a:pt x="1779" y="1373"/>
                  <a:pt x="1611" y="1498"/>
                </a:cubicBezTo>
                <a:cubicBezTo>
                  <a:pt x="1439" y="1625"/>
                  <a:pt x="1225" y="1832"/>
                  <a:pt x="1096" y="1997"/>
                </a:cubicBezTo>
                <a:lnTo>
                  <a:pt x="1002" y="2117"/>
                </a:lnTo>
                <a:lnTo>
                  <a:pt x="1260" y="2117"/>
                </a:lnTo>
                <a:cubicBezTo>
                  <a:pt x="1514" y="2117"/>
                  <a:pt x="1517" y="2116"/>
                  <a:pt x="1546" y="2039"/>
                </a:cubicBezTo>
                <a:close/>
                <a:moveTo>
                  <a:pt x="2536" y="1784"/>
                </a:moveTo>
                <a:cubicBezTo>
                  <a:pt x="2576" y="1601"/>
                  <a:pt x="2642" y="1370"/>
                  <a:pt x="2682" y="1270"/>
                </a:cubicBezTo>
                <a:cubicBezTo>
                  <a:pt x="2722" y="1171"/>
                  <a:pt x="2750" y="1084"/>
                  <a:pt x="2744" y="1078"/>
                </a:cubicBezTo>
                <a:cubicBezTo>
                  <a:pt x="2737" y="1072"/>
                  <a:pt x="2673" y="1096"/>
                  <a:pt x="2601" y="1132"/>
                </a:cubicBezTo>
                <a:cubicBezTo>
                  <a:pt x="2427" y="1219"/>
                  <a:pt x="2131" y="1493"/>
                  <a:pt x="1997" y="1690"/>
                </a:cubicBezTo>
                <a:cubicBezTo>
                  <a:pt x="1896" y="1840"/>
                  <a:pt x="1769" y="2068"/>
                  <a:pt x="1769" y="2101"/>
                </a:cubicBezTo>
                <a:cubicBezTo>
                  <a:pt x="1769" y="2110"/>
                  <a:pt x="1925" y="2117"/>
                  <a:pt x="2116" y="2117"/>
                </a:cubicBezTo>
                <a:lnTo>
                  <a:pt x="2463" y="2117"/>
                </a:lnTo>
                <a:lnTo>
                  <a:pt x="2536" y="1784"/>
                </a:lnTo>
                <a:close/>
                <a:moveTo>
                  <a:pt x="3751" y="1961"/>
                </a:moveTo>
                <a:cubicBezTo>
                  <a:pt x="3774" y="1875"/>
                  <a:pt x="3786" y="1800"/>
                  <a:pt x="3776" y="1794"/>
                </a:cubicBezTo>
                <a:cubicBezTo>
                  <a:pt x="3767" y="1788"/>
                  <a:pt x="3600" y="1724"/>
                  <a:pt x="3406" y="1650"/>
                </a:cubicBezTo>
                <a:cubicBezTo>
                  <a:pt x="3212" y="1577"/>
                  <a:pt x="3039" y="1499"/>
                  <a:pt x="3021" y="1477"/>
                </a:cubicBezTo>
                <a:cubicBezTo>
                  <a:pt x="2958" y="1399"/>
                  <a:pt x="3017" y="1339"/>
                  <a:pt x="3310" y="1185"/>
                </a:cubicBezTo>
                <a:lnTo>
                  <a:pt x="3605" y="1030"/>
                </a:lnTo>
                <a:lnTo>
                  <a:pt x="3498" y="1011"/>
                </a:lnTo>
                <a:cubicBezTo>
                  <a:pt x="3440" y="1000"/>
                  <a:pt x="3327" y="990"/>
                  <a:pt x="3248" y="989"/>
                </a:cubicBezTo>
                <a:cubicBezTo>
                  <a:pt x="3083" y="987"/>
                  <a:pt x="3056" y="1009"/>
                  <a:pt x="2940" y="1240"/>
                </a:cubicBezTo>
                <a:cubicBezTo>
                  <a:pt x="2872" y="1377"/>
                  <a:pt x="2701" y="1975"/>
                  <a:pt x="2701" y="2077"/>
                </a:cubicBezTo>
                <a:cubicBezTo>
                  <a:pt x="2701" y="2109"/>
                  <a:pt x="2792" y="2117"/>
                  <a:pt x="3204" y="2117"/>
                </a:cubicBezTo>
                <a:lnTo>
                  <a:pt x="3707" y="2117"/>
                </a:lnTo>
                <a:lnTo>
                  <a:pt x="3751" y="1961"/>
                </a:lnTo>
                <a:close/>
                <a:moveTo>
                  <a:pt x="442" y="2977"/>
                </a:moveTo>
                <a:cubicBezTo>
                  <a:pt x="397" y="2923"/>
                  <a:pt x="436" y="2771"/>
                  <a:pt x="506" y="2726"/>
                </a:cubicBezTo>
                <a:cubicBezTo>
                  <a:pt x="583" y="2678"/>
                  <a:pt x="655" y="2740"/>
                  <a:pt x="650" y="2848"/>
                </a:cubicBezTo>
                <a:cubicBezTo>
                  <a:pt x="643" y="3002"/>
                  <a:pt x="524" y="3075"/>
                  <a:pt x="442" y="2977"/>
                </a:cubicBezTo>
                <a:close/>
              </a:path>
            </a:pathLst>
          </a:custGeom>
          <a:solidFill>
            <a:schemeClr val="accent1">
              <a:lumMod val="50000"/>
            </a:schemeClr>
          </a:solidFill>
          <a:ln w="9525" cap="flat" cmpd="sng" algn="ctr">
            <a:solidFill>
              <a:schemeClr val="accent1">
                <a:lumMod val="50000"/>
              </a:schemeClr>
            </a:solidFill>
            <a:prstDash val="solid"/>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black"/>
              </a:solidFill>
              <a:effectLst/>
              <a:uLnTx/>
              <a:uFillTx/>
              <a:latin typeface="Aptos" panose="020B0004020202020204" pitchFamily="34" charset="0"/>
            </a:endParaRPr>
          </a:p>
        </p:txBody>
      </p:sp>
      <p:sp>
        <p:nvSpPr>
          <p:cNvPr id="179" name="Rectangle: Rounded Corners 178">
            <a:extLst>
              <a:ext uri="{FF2B5EF4-FFF2-40B4-BE49-F238E27FC236}">
                <a16:creationId xmlns:a16="http://schemas.microsoft.com/office/drawing/2014/main" id="{AB635EDE-98E5-04FA-3DEE-D1FB6CB64B18}"/>
              </a:ext>
            </a:extLst>
          </p:cNvPr>
          <p:cNvSpPr/>
          <p:nvPr/>
        </p:nvSpPr>
        <p:spPr>
          <a:xfrm>
            <a:off x="10005485" y="1960849"/>
            <a:ext cx="1887719" cy="426716"/>
          </a:xfrm>
          <a:prstGeom prst="roundRect">
            <a:avLst>
              <a:gd name="adj" fmla="val 0"/>
            </a:avLst>
          </a:prstGeom>
          <a:solidFill>
            <a:srgbClr val="DAE3F3"/>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222A35"/>
              </a:solidFill>
              <a:latin typeface="Aptos" panose="020B0004020202020204" pitchFamily="34" charset="0"/>
            </a:endParaRPr>
          </a:p>
        </p:txBody>
      </p:sp>
      <p:sp>
        <p:nvSpPr>
          <p:cNvPr id="180" name="Rectangle: Rounded Corners 179">
            <a:extLst>
              <a:ext uri="{FF2B5EF4-FFF2-40B4-BE49-F238E27FC236}">
                <a16:creationId xmlns:a16="http://schemas.microsoft.com/office/drawing/2014/main" id="{5AD9412C-5C33-9DC7-198C-4EEB7CB25BDF}"/>
              </a:ext>
            </a:extLst>
          </p:cNvPr>
          <p:cNvSpPr/>
          <p:nvPr/>
        </p:nvSpPr>
        <p:spPr>
          <a:xfrm>
            <a:off x="10005485" y="1613164"/>
            <a:ext cx="1887719" cy="2044221"/>
          </a:xfrm>
          <a:prstGeom prst="roundRect">
            <a:avLst>
              <a:gd name="adj" fmla="val 8775"/>
            </a:avLst>
          </a:prstGeom>
          <a:no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81" name="TextBox 180">
            <a:extLst>
              <a:ext uri="{FF2B5EF4-FFF2-40B4-BE49-F238E27FC236}">
                <a16:creationId xmlns:a16="http://schemas.microsoft.com/office/drawing/2014/main" id="{2099BEFA-1AEA-EC3E-A18C-F87C312DB6C4}"/>
              </a:ext>
            </a:extLst>
          </p:cNvPr>
          <p:cNvSpPr txBox="1"/>
          <p:nvPr/>
        </p:nvSpPr>
        <p:spPr>
          <a:xfrm>
            <a:off x="9961408" y="2436183"/>
            <a:ext cx="1886670" cy="1092607"/>
          </a:xfrm>
          <a:prstGeom prst="rect">
            <a:avLst/>
          </a:prstGeom>
          <a:noFill/>
        </p:spPr>
        <p:txBody>
          <a:bodyPr wrap="square" anchor="ctr">
            <a:spAutoFit/>
          </a:bodyPr>
          <a:lstStyle/>
          <a:p>
            <a:pPr marL="285750" indent="-285750">
              <a:buFont typeface="Arial" panose="020B0604020202020204" pitchFamily="34" charset="0"/>
              <a:buChar char="•"/>
              <a:defRPr/>
            </a:pPr>
            <a:r>
              <a:rPr lang="en-US" sz="1300" kern="0" spc="50" dirty="0">
                <a:solidFill>
                  <a:prstClr val="black">
                    <a:lumMod val="65000"/>
                    <a:lumOff val="35000"/>
                  </a:prstClr>
                </a:solidFill>
                <a:latin typeface="Aptos" panose="020B0004020202020204" pitchFamily="34" charset="0"/>
                <a:cs typeface="Arial" panose="020B0604020202020204" pitchFamily="34" charset="0"/>
              </a:rPr>
              <a:t>Paracetamol</a:t>
            </a:r>
          </a:p>
          <a:p>
            <a:pPr marL="285750" indent="-285750">
              <a:buFont typeface="Arial" panose="020B0604020202020204" pitchFamily="34" charset="0"/>
              <a:buChar char="•"/>
              <a:defRPr/>
            </a:pPr>
            <a:r>
              <a:rPr lang="en-US" sz="1300" kern="0" spc="50" dirty="0">
                <a:solidFill>
                  <a:prstClr val="black">
                    <a:lumMod val="65000"/>
                    <a:lumOff val="35000"/>
                  </a:prstClr>
                </a:solidFill>
                <a:latin typeface="Aptos" panose="020B0004020202020204" pitchFamily="34" charset="0"/>
                <a:cs typeface="Arial" panose="020B0604020202020204" pitchFamily="34" charset="0"/>
              </a:rPr>
              <a:t>Metformin</a:t>
            </a:r>
          </a:p>
          <a:p>
            <a:pPr marL="285750" indent="-285750">
              <a:buFont typeface="Arial" panose="020B0604020202020204" pitchFamily="34" charset="0"/>
              <a:buChar char="•"/>
              <a:defRPr/>
            </a:pPr>
            <a:r>
              <a:rPr lang="en-US" sz="1300" kern="0" spc="50" dirty="0">
                <a:solidFill>
                  <a:prstClr val="black">
                    <a:lumMod val="65000"/>
                    <a:lumOff val="35000"/>
                  </a:prstClr>
                </a:solidFill>
                <a:latin typeface="Aptos" panose="020B0004020202020204" pitchFamily="34" charset="0"/>
                <a:cs typeface="Arial" panose="020B0604020202020204" pitchFamily="34" charset="0"/>
              </a:rPr>
              <a:t>Ibuprofen</a:t>
            </a:r>
          </a:p>
          <a:p>
            <a:pPr marL="285750" indent="-285750">
              <a:buFont typeface="Arial" panose="020B0604020202020204" pitchFamily="34" charset="0"/>
              <a:buChar char="•"/>
              <a:defRPr/>
            </a:pPr>
            <a:r>
              <a:rPr lang="en-US" sz="1300" kern="0" spc="50" dirty="0">
                <a:solidFill>
                  <a:prstClr val="black">
                    <a:lumMod val="65000"/>
                    <a:lumOff val="35000"/>
                  </a:prstClr>
                </a:solidFill>
                <a:latin typeface="Aptos" panose="020B0004020202020204" pitchFamily="34" charset="0"/>
                <a:cs typeface="Arial" panose="020B0604020202020204" pitchFamily="34" charset="0"/>
              </a:rPr>
              <a:t>Guaifenesin</a:t>
            </a:r>
          </a:p>
          <a:p>
            <a:pPr marL="285750" indent="-285750">
              <a:buFont typeface="Arial" panose="020B0604020202020204" pitchFamily="34" charset="0"/>
              <a:buChar char="•"/>
              <a:defRPr/>
            </a:pPr>
            <a:r>
              <a:rPr lang="en-US" sz="1300" kern="0" spc="50" dirty="0">
                <a:solidFill>
                  <a:prstClr val="black">
                    <a:lumMod val="65000"/>
                    <a:lumOff val="35000"/>
                  </a:prstClr>
                </a:solidFill>
                <a:latin typeface="Aptos" panose="020B0004020202020204" pitchFamily="34" charset="0"/>
                <a:cs typeface="Arial" panose="020B0604020202020204" pitchFamily="34" charset="0"/>
              </a:rPr>
              <a:t>Methocarbamol</a:t>
            </a:r>
          </a:p>
        </p:txBody>
      </p:sp>
      <p:sp>
        <p:nvSpPr>
          <p:cNvPr id="182" name="TextBox 181">
            <a:extLst>
              <a:ext uri="{FF2B5EF4-FFF2-40B4-BE49-F238E27FC236}">
                <a16:creationId xmlns:a16="http://schemas.microsoft.com/office/drawing/2014/main" id="{95A91A77-C73C-80C3-AA74-B1DE605BC959}"/>
              </a:ext>
            </a:extLst>
          </p:cNvPr>
          <p:cNvSpPr txBox="1"/>
          <p:nvPr/>
        </p:nvSpPr>
        <p:spPr>
          <a:xfrm>
            <a:off x="10262595" y="2028012"/>
            <a:ext cx="1380506" cy="292388"/>
          </a:xfrm>
          <a:prstGeom prst="rect">
            <a:avLst/>
          </a:prstGeom>
          <a:noFill/>
        </p:spPr>
        <p:txBody>
          <a:bodyPr wrap="none" rtlCol="0" anchor="ctr">
            <a:spAutoFit/>
          </a:bodyPr>
          <a:lstStyle>
            <a:defPPr>
              <a:defRPr lang="en-US"/>
            </a:defPPr>
            <a:lvl1pPr marR="0" lvl="0" indent="0" algn="ctr" defTabSz="914377" fontAlgn="auto">
              <a:lnSpc>
                <a:spcPct val="100000"/>
              </a:lnSpc>
              <a:spcBef>
                <a:spcPts val="0"/>
              </a:spcBef>
              <a:spcAft>
                <a:spcPts val="0"/>
              </a:spcAft>
              <a:buClrTx/>
              <a:buSzTx/>
              <a:buFontTx/>
              <a:buNone/>
              <a:tabLst/>
              <a:defRPr kumimoji="0" sz="1400" b="1" i="0" u="none" strike="noStrike" cap="none" spc="0" normalizeH="0" baseline="0">
                <a:ln>
                  <a:noFill/>
                </a:ln>
                <a:solidFill>
                  <a:schemeClr val="tx2">
                    <a:lumMod val="75000"/>
                    <a:lumOff val="25000"/>
                  </a:schemeClr>
                </a:solidFill>
                <a:effectLst/>
                <a:uLnTx/>
                <a:uFillTx/>
                <a:latin typeface="Arial" panose="020B0604020202020204" pitchFamily="34" charset="0"/>
                <a:cs typeface="Arial" panose="020B0604020202020204" pitchFamily="34" charset="0"/>
              </a:defRPr>
            </a:lvl1pPr>
          </a:lstStyle>
          <a:p>
            <a:r>
              <a:rPr lang="en-US" sz="1300" kern="0" spc="50" dirty="0">
                <a:solidFill>
                  <a:prstClr val="black">
                    <a:lumMod val="65000"/>
                    <a:lumOff val="35000"/>
                  </a:prstClr>
                </a:solidFill>
                <a:latin typeface="Aptos" panose="020B0004020202020204" pitchFamily="34" charset="0"/>
              </a:rPr>
              <a:t>Top 5 products</a:t>
            </a:r>
          </a:p>
        </p:txBody>
      </p:sp>
      <p:sp>
        <p:nvSpPr>
          <p:cNvPr id="185" name="Oval 184">
            <a:extLst>
              <a:ext uri="{FF2B5EF4-FFF2-40B4-BE49-F238E27FC236}">
                <a16:creationId xmlns:a16="http://schemas.microsoft.com/office/drawing/2014/main" id="{05C31D2B-8523-EBCA-5587-1107D720F04E}"/>
              </a:ext>
            </a:extLst>
          </p:cNvPr>
          <p:cNvSpPr/>
          <p:nvPr/>
        </p:nvSpPr>
        <p:spPr>
          <a:xfrm>
            <a:off x="10603378" y="1273542"/>
            <a:ext cx="672786" cy="653679"/>
          </a:xfrm>
          <a:prstGeom prst="ellipse">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ptos" panose="020B0004020202020204" pitchFamily="34" charset="0"/>
            </a:endParaRPr>
          </a:p>
        </p:txBody>
      </p:sp>
      <p:cxnSp>
        <p:nvCxnSpPr>
          <p:cNvPr id="187" name="Straight Connector 186">
            <a:extLst>
              <a:ext uri="{FF2B5EF4-FFF2-40B4-BE49-F238E27FC236}">
                <a16:creationId xmlns:a16="http://schemas.microsoft.com/office/drawing/2014/main" id="{E50C54CB-6E8F-10BA-AAFC-96B2C3A2BC60}"/>
              </a:ext>
            </a:extLst>
          </p:cNvPr>
          <p:cNvCxnSpPr>
            <a:cxnSpLocks/>
          </p:cNvCxnSpPr>
          <p:nvPr/>
        </p:nvCxnSpPr>
        <p:spPr>
          <a:xfrm>
            <a:off x="10909552" y="907673"/>
            <a:ext cx="0" cy="326093"/>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88" name="Freeform 5">
            <a:extLst>
              <a:ext uri="{FF2B5EF4-FFF2-40B4-BE49-F238E27FC236}">
                <a16:creationId xmlns:a16="http://schemas.microsoft.com/office/drawing/2014/main" id="{C84C6C0A-33E1-2D64-B645-5E08778A463C}"/>
              </a:ext>
            </a:extLst>
          </p:cNvPr>
          <p:cNvSpPr>
            <a:spLocks noEditPoints="1"/>
          </p:cNvSpPr>
          <p:nvPr/>
        </p:nvSpPr>
        <p:spPr bwMode="auto">
          <a:xfrm>
            <a:off x="10784234" y="1380098"/>
            <a:ext cx="342797" cy="361007"/>
          </a:xfrm>
          <a:custGeom>
            <a:avLst/>
            <a:gdLst>
              <a:gd name="T0" fmla="*/ 6651 w 13310"/>
              <a:gd name="T1" fmla="*/ 2 h 13205"/>
              <a:gd name="T2" fmla="*/ 3214 w 13310"/>
              <a:gd name="T3" fmla="*/ 2166 h 13205"/>
              <a:gd name="T4" fmla="*/ 3235 w 13310"/>
              <a:gd name="T5" fmla="*/ 5699 h 13205"/>
              <a:gd name="T6" fmla="*/ 0 w 13310"/>
              <a:gd name="T7" fmla="*/ 7754 h 13205"/>
              <a:gd name="T8" fmla="*/ 39 w 13310"/>
              <a:gd name="T9" fmla="*/ 11422 h 13205"/>
              <a:gd name="T10" fmla="*/ 3288 w 13310"/>
              <a:gd name="T11" fmla="*/ 13143 h 13205"/>
              <a:gd name="T12" fmla="*/ 6633 w 13310"/>
              <a:gd name="T13" fmla="*/ 11161 h 13205"/>
              <a:gd name="T14" fmla="*/ 9717 w 13310"/>
              <a:gd name="T15" fmla="*/ 12772 h 13205"/>
              <a:gd name="T16" fmla="*/ 13223 w 13310"/>
              <a:gd name="T17" fmla="*/ 10677 h 13205"/>
              <a:gd name="T18" fmla="*/ 13288 w 13310"/>
              <a:gd name="T19" fmla="*/ 8801 h 13205"/>
              <a:gd name="T20" fmla="*/ 12946 w 13310"/>
              <a:gd name="T21" fmla="*/ 6752 h 13205"/>
              <a:gd name="T22" fmla="*/ 11711 w 13310"/>
              <a:gd name="T23" fmla="*/ 6121 h 13205"/>
              <a:gd name="T24" fmla="*/ 10074 w 13310"/>
              <a:gd name="T25" fmla="*/ 3584 h 13205"/>
              <a:gd name="T26" fmla="*/ 9732 w 13310"/>
              <a:gd name="T27" fmla="*/ 1535 h 13205"/>
              <a:gd name="T28" fmla="*/ 8497 w 13310"/>
              <a:gd name="T29" fmla="*/ 904 h 13205"/>
              <a:gd name="T30" fmla="*/ 6678 w 13310"/>
              <a:gd name="T31" fmla="*/ 0 h 13205"/>
              <a:gd name="T32" fmla="*/ 6684 w 13310"/>
              <a:gd name="T33" fmla="*/ 464 h 13205"/>
              <a:gd name="T34" fmla="*/ 9414 w 13310"/>
              <a:gd name="T35" fmla="*/ 1904 h 13205"/>
              <a:gd name="T36" fmla="*/ 6626 w 13310"/>
              <a:gd name="T37" fmla="*/ 3634 h 13205"/>
              <a:gd name="T38" fmla="*/ 6684 w 13310"/>
              <a:gd name="T39" fmla="*/ 464 h 13205"/>
              <a:gd name="T40" fmla="*/ 9649 w 13310"/>
              <a:gd name="T41" fmla="*/ 3744 h 13205"/>
              <a:gd name="T42" fmla="*/ 8287 w 13310"/>
              <a:gd name="T43" fmla="*/ 6082 h 13205"/>
              <a:gd name="T44" fmla="*/ 6856 w 13310"/>
              <a:gd name="T45" fmla="*/ 5523 h 13205"/>
              <a:gd name="T46" fmla="*/ 9631 w 13310"/>
              <a:gd name="T47" fmla="*/ 2283 h 13205"/>
              <a:gd name="T48" fmla="*/ 3671 w 13310"/>
              <a:gd name="T49" fmla="*/ 2601 h 13205"/>
              <a:gd name="T50" fmla="*/ 5078 w 13310"/>
              <a:gd name="T51" fmla="*/ 3321 h 13205"/>
              <a:gd name="T52" fmla="*/ 6454 w 13310"/>
              <a:gd name="T53" fmla="*/ 5525 h 13205"/>
              <a:gd name="T54" fmla="*/ 5014 w 13310"/>
              <a:gd name="T55" fmla="*/ 6315 h 13205"/>
              <a:gd name="T56" fmla="*/ 3638 w 13310"/>
              <a:gd name="T57" fmla="*/ 4097 h 13205"/>
              <a:gd name="T58" fmla="*/ 9899 w 13310"/>
              <a:gd name="T59" fmla="*/ 5681 h 13205"/>
              <a:gd name="T60" fmla="*/ 12629 w 13310"/>
              <a:gd name="T61" fmla="*/ 7121 h 13205"/>
              <a:gd name="T62" fmla="*/ 9840 w 13310"/>
              <a:gd name="T63" fmla="*/ 8851 h 13205"/>
              <a:gd name="T64" fmla="*/ 9899 w 13310"/>
              <a:gd name="T65" fmla="*/ 5681 h 13205"/>
              <a:gd name="T66" fmla="*/ 4875 w 13310"/>
              <a:gd name="T67" fmla="*/ 6756 h 13205"/>
              <a:gd name="T68" fmla="*/ 4809 w 13310"/>
              <a:gd name="T69" fmla="*/ 8374 h 13205"/>
              <a:gd name="T70" fmla="*/ 669 w 13310"/>
              <a:gd name="T71" fmla="*/ 7814 h 13205"/>
              <a:gd name="T72" fmla="*/ 12846 w 13310"/>
              <a:gd name="T73" fmla="*/ 7499 h 13205"/>
              <a:gd name="T74" fmla="*/ 12864 w 13310"/>
              <a:gd name="T75" fmla="*/ 10421 h 13205"/>
              <a:gd name="T76" fmla="*/ 10105 w 13310"/>
              <a:gd name="T77" fmla="*/ 12196 h 13205"/>
              <a:gd name="T78" fmla="*/ 10092 w 13310"/>
              <a:gd name="T79" fmla="*/ 9233 h 13205"/>
              <a:gd name="T80" fmla="*/ 6885 w 13310"/>
              <a:gd name="T81" fmla="*/ 7818 h 13205"/>
              <a:gd name="T82" fmla="*/ 8292 w 13310"/>
              <a:gd name="T83" fmla="*/ 8538 h 13205"/>
              <a:gd name="T84" fmla="*/ 9667 w 13310"/>
              <a:gd name="T85" fmla="*/ 10741 h 13205"/>
              <a:gd name="T86" fmla="*/ 8228 w 13310"/>
              <a:gd name="T87" fmla="*/ 11532 h 13205"/>
              <a:gd name="T88" fmla="*/ 6859 w 13310"/>
              <a:gd name="T89" fmla="*/ 9173 h 13205"/>
              <a:gd name="T90" fmla="*/ 6859 w 13310"/>
              <a:gd name="T91" fmla="*/ 8127 h 13205"/>
              <a:gd name="T92" fmla="*/ 6417 w 13310"/>
              <a:gd name="T93" fmla="*/ 7871 h 13205"/>
              <a:gd name="T94" fmla="*/ 6430 w 13310"/>
              <a:gd name="T95" fmla="*/ 8299 h 13205"/>
              <a:gd name="T96" fmla="*/ 6435 w 13310"/>
              <a:gd name="T97" fmla="*/ 10449 h 13205"/>
              <a:gd name="T98" fmla="*/ 5073 w 13310"/>
              <a:gd name="T99" fmla="*/ 11670 h 13205"/>
              <a:gd name="T100" fmla="*/ 3642 w 13310"/>
              <a:gd name="T101" fmla="*/ 11111 h 13205"/>
              <a:gd name="T102" fmla="*/ 6417 w 13310"/>
              <a:gd name="T103" fmla="*/ 7871 h 13205"/>
              <a:gd name="T104" fmla="*/ 459 w 13310"/>
              <a:gd name="T105" fmla="*/ 8189 h 13205"/>
              <a:gd name="T106" fmla="*/ 3232 w 13310"/>
              <a:gd name="T107" fmla="*/ 9613 h 13205"/>
              <a:gd name="T108" fmla="*/ 3211 w 13310"/>
              <a:gd name="T109" fmla="*/ 12611 h 13205"/>
              <a:gd name="T110" fmla="*/ 424 w 13310"/>
              <a:gd name="T111" fmla="*/ 11196 h 13205"/>
              <a:gd name="T112" fmla="*/ 456 w 13310"/>
              <a:gd name="T113" fmla="*/ 8189 h 13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3310" h="13205">
                <a:moveTo>
                  <a:pt x="6677" y="0"/>
                </a:moveTo>
                <a:cubicBezTo>
                  <a:pt x="6668" y="0"/>
                  <a:pt x="6660" y="1"/>
                  <a:pt x="6651" y="2"/>
                </a:cubicBezTo>
                <a:cubicBezTo>
                  <a:pt x="6556" y="14"/>
                  <a:pt x="3444" y="1953"/>
                  <a:pt x="3292" y="2094"/>
                </a:cubicBezTo>
                <a:lnTo>
                  <a:pt x="3214" y="2166"/>
                </a:lnTo>
                <a:lnTo>
                  <a:pt x="3215" y="3967"/>
                </a:lnTo>
                <a:cubicBezTo>
                  <a:pt x="3216" y="5005"/>
                  <a:pt x="3221" y="5490"/>
                  <a:pt x="3235" y="5699"/>
                </a:cubicBezTo>
                <a:cubicBezTo>
                  <a:pt x="2530" y="6109"/>
                  <a:pt x="209" y="7560"/>
                  <a:pt x="78" y="7682"/>
                </a:cubicBezTo>
                <a:lnTo>
                  <a:pt x="0" y="7754"/>
                </a:lnTo>
                <a:lnTo>
                  <a:pt x="1" y="9555"/>
                </a:lnTo>
                <a:cubicBezTo>
                  <a:pt x="2" y="10980"/>
                  <a:pt x="10" y="11370"/>
                  <a:pt x="39" y="11422"/>
                </a:cubicBezTo>
                <a:cubicBezTo>
                  <a:pt x="65" y="11469"/>
                  <a:pt x="533" y="11724"/>
                  <a:pt x="1626" y="12286"/>
                </a:cubicBezTo>
                <a:cubicBezTo>
                  <a:pt x="2478" y="12724"/>
                  <a:pt x="3226" y="13109"/>
                  <a:pt x="3288" y="13143"/>
                </a:cubicBezTo>
                <a:cubicBezTo>
                  <a:pt x="3350" y="13177"/>
                  <a:pt x="3418" y="13205"/>
                  <a:pt x="3439" y="13205"/>
                </a:cubicBezTo>
                <a:cubicBezTo>
                  <a:pt x="3478" y="13205"/>
                  <a:pt x="5967" y="11608"/>
                  <a:pt x="6633" y="11161"/>
                </a:cubicBezTo>
                <a:cubicBezTo>
                  <a:pt x="6853" y="11289"/>
                  <a:pt x="7303" y="11528"/>
                  <a:pt x="8054" y="11914"/>
                </a:cubicBezTo>
                <a:cubicBezTo>
                  <a:pt x="8907" y="12353"/>
                  <a:pt x="9655" y="12738"/>
                  <a:pt x="9717" y="12772"/>
                </a:cubicBezTo>
                <a:cubicBezTo>
                  <a:pt x="9779" y="12805"/>
                  <a:pt x="9846" y="12833"/>
                  <a:pt x="9868" y="12833"/>
                </a:cubicBezTo>
                <a:cubicBezTo>
                  <a:pt x="9912" y="12833"/>
                  <a:pt x="13128" y="10767"/>
                  <a:pt x="13223" y="10677"/>
                </a:cubicBezTo>
                <a:lnTo>
                  <a:pt x="13286" y="10618"/>
                </a:lnTo>
                <a:lnTo>
                  <a:pt x="13288" y="8801"/>
                </a:lnTo>
                <a:cubicBezTo>
                  <a:pt x="13290" y="6760"/>
                  <a:pt x="13310" y="6938"/>
                  <a:pt x="13064" y="6823"/>
                </a:cubicBezTo>
                <a:cubicBezTo>
                  <a:pt x="12992" y="6789"/>
                  <a:pt x="12957" y="6772"/>
                  <a:pt x="12946" y="6752"/>
                </a:cubicBezTo>
                <a:lnTo>
                  <a:pt x="12246" y="6394"/>
                </a:lnTo>
                <a:cubicBezTo>
                  <a:pt x="12131" y="6338"/>
                  <a:pt x="11937" y="6238"/>
                  <a:pt x="11711" y="6121"/>
                </a:cubicBezTo>
                <a:lnTo>
                  <a:pt x="10071" y="5284"/>
                </a:lnTo>
                <a:lnTo>
                  <a:pt x="10074" y="3584"/>
                </a:lnTo>
                <a:cubicBezTo>
                  <a:pt x="10076" y="1543"/>
                  <a:pt x="10095" y="1722"/>
                  <a:pt x="9849" y="1606"/>
                </a:cubicBezTo>
                <a:cubicBezTo>
                  <a:pt x="9777" y="1572"/>
                  <a:pt x="9743" y="1555"/>
                  <a:pt x="9732" y="1535"/>
                </a:cubicBezTo>
                <a:lnTo>
                  <a:pt x="9032" y="1178"/>
                </a:lnTo>
                <a:cubicBezTo>
                  <a:pt x="8917" y="1121"/>
                  <a:pt x="8723" y="1021"/>
                  <a:pt x="8497" y="904"/>
                </a:cubicBezTo>
                <a:lnTo>
                  <a:pt x="6747" y="11"/>
                </a:lnTo>
                <a:cubicBezTo>
                  <a:pt x="6722" y="4"/>
                  <a:pt x="6699" y="0"/>
                  <a:pt x="6678" y="0"/>
                </a:cubicBezTo>
                <a:lnTo>
                  <a:pt x="6677" y="0"/>
                </a:lnTo>
                <a:close/>
                <a:moveTo>
                  <a:pt x="6684" y="464"/>
                </a:moveTo>
                <a:cubicBezTo>
                  <a:pt x="6709" y="463"/>
                  <a:pt x="7341" y="780"/>
                  <a:pt x="8089" y="1168"/>
                </a:cubicBezTo>
                <a:cubicBezTo>
                  <a:pt x="9097" y="1691"/>
                  <a:pt x="9439" y="1882"/>
                  <a:pt x="9414" y="1904"/>
                </a:cubicBezTo>
                <a:cubicBezTo>
                  <a:pt x="9396" y="1921"/>
                  <a:pt x="8770" y="2318"/>
                  <a:pt x="8023" y="2786"/>
                </a:cubicBezTo>
                <a:cubicBezTo>
                  <a:pt x="7276" y="3254"/>
                  <a:pt x="6647" y="3636"/>
                  <a:pt x="6626" y="3634"/>
                </a:cubicBezTo>
                <a:cubicBezTo>
                  <a:pt x="6589" y="3631"/>
                  <a:pt x="3912" y="2257"/>
                  <a:pt x="3883" y="2226"/>
                </a:cubicBezTo>
                <a:cubicBezTo>
                  <a:pt x="3863" y="2206"/>
                  <a:pt x="6629" y="466"/>
                  <a:pt x="6684" y="464"/>
                </a:cubicBezTo>
                <a:close/>
                <a:moveTo>
                  <a:pt x="9631" y="2283"/>
                </a:moveTo>
                <a:cubicBezTo>
                  <a:pt x="9641" y="2283"/>
                  <a:pt x="9649" y="2940"/>
                  <a:pt x="9649" y="3744"/>
                </a:cubicBezTo>
                <a:lnTo>
                  <a:pt x="9649" y="5205"/>
                </a:lnTo>
                <a:lnTo>
                  <a:pt x="8287" y="6082"/>
                </a:lnTo>
                <a:cubicBezTo>
                  <a:pt x="7538" y="6565"/>
                  <a:pt x="6910" y="6968"/>
                  <a:pt x="6890" y="6979"/>
                </a:cubicBezTo>
                <a:cubicBezTo>
                  <a:pt x="6862" y="6995"/>
                  <a:pt x="6855" y="6696"/>
                  <a:pt x="6856" y="5523"/>
                </a:cubicBezTo>
                <a:cubicBezTo>
                  <a:pt x="6856" y="4711"/>
                  <a:pt x="6866" y="4033"/>
                  <a:pt x="6877" y="4017"/>
                </a:cubicBezTo>
                <a:cubicBezTo>
                  <a:pt x="6900" y="3984"/>
                  <a:pt x="9602" y="2283"/>
                  <a:pt x="9631" y="2283"/>
                </a:cubicBezTo>
                <a:close/>
                <a:moveTo>
                  <a:pt x="3670" y="2601"/>
                </a:moveTo>
                <a:lnTo>
                  <a:pt x="3671" y="2601"/>
                </a:lnTo>
                <a:cubicBezTo>
                  <a:pt x="3672" y="2601"/>
                  <a:pt x="3673" y="2601"/>
                  <a:pt x="3674" y="2601"/>
                </a:cubicBezTo>
                <a:cubicBezTo>
                  <a:pt x="3693" y="2609"/>
                  <a:pt x="4325" y="2933"/>
                  <a:pt x="5078" y="3321"/>
                </a:cubicBezTo>
                <a:lnTo>
                  <a:pt x="6447" y="4025"/>
                </a:lnTo>
                <a:lnTo>
                  <a:pt x="6454" y="5525"/>
                </a:lnTo>
                <a:cubicBezTo>
                  <a:pt x="6459" y="6715"/>
                  <a:pt x="6454" y="7024"/>
                  <a:pt x="6425" y="7023"/>
                </a:cubicBezTo>
                <a:cubicBezTo>
                  <a:pt x="6406" y="7023"/>
                  <a:pt x="5771" y="6704"/>
                  <a:pt x="5014" y="6315"/>
                </a:cubicBezTo>
                <a:lnTo>
                  <a:pt x="3638" y="5608"/>
                </a:lnTo>
                <a:lnTo>
                  <a:pt x="3638" y="4097"/>
                </a:lnTo>
                <a:cubicBezTo>
                  <a:pt x="3638" y="2943"/>
                  <a:pt x="3645" y="2614"/>
                  <a:pt x="3670" y="2601"/>
                </a:cubicBezTo>
                <a:close/>
                <a:moveTo>
                  <a:pt x="9899" y="5681"/>
                </a:moveTo>
                <a:cubicBezTo>
                  <a:pt x="9924" y="5680"/>
                  <a:pt x="10556" y="5997"/>
                  <a:pt x="11303" y="6385"/>
                </a:cubicBezTo>
                <a:cubicBezTo>
                  <a:pt x="12312" y="6908"/>
                  <a:pt x="12654" y="7098"/>
                  <a:pt x="12629" y="7121"/>
                </a:cubicBezTo>
                <a:cubicBezTo>
                  <a:pt x="12611" y="7138"/>
                  <a:pt x="11984" y="7535"/>
                  <a:pt x="11237" y="8003"/>
                </a:cubicBezTo>
                <a:cubicBezTo>
                  <a:pt x="10490" y="8471"/>
                  <a:pt x="9862" y="8852"/>
                  <a:pt x="9840" y="8851"/>
                </a:cubicBezTo>
                <a:cubicBezTo>
                  <a:pt x="9804" y="8848"/>
                  <a:pt x="7127" y="7474"/>
                  <a:pt x="7097" y="7443"/>
                </a:cubicBezTo>
                <a:cubicBezTo>
                  <a:pt x="7078" y="7423"/>
                  <a:pt x="9843" y="5683"/>
                  <a:pt x="9899" y="5681"/>
                </a:cubicBezTo>
                <a:close/>
                <a:moveTo>
                  <a:pt x="3470" y="6052"/>
                </a:moveTo>
                <a:cubicBezTo>
                  <a:pt x="3495" y="6051"/>
                  <a:pt x="4127" y="6368"/>
                  <a:pt x="4875" y="6756"/>
                </a:cubicBezTo>
                <a:cubicBezTo>
                  <a:pt x="5883" y="7279"/>
                  <a:pt x="6225" y="7470"/>
                  <a:pt x="6201" y="7492"/>
                </a:cubicBezTo>
                <a:cubicBezTo>
                  <a:pt x="6182" y="7509"/>
                  <a:pt x="5556" y="7906"/>
                  <a:pt x="4809" y="8374"/>
                </a:cubicBezTo>
                <a:cubicBezTo>
                  <a:pt x="4062" y="8842"/>
                  <a:pt x="3433" y="9224"/>
                  <a:pt x="3412" y="9222"/>
                </a:cubicBezTo>
                <a:cubicBezTo>
                  <a:pt x="3376" y="9219"/>
                  <a:pt x="698" y="7845"/>
                  <a:pt x="669" y="7814"/>
                </a:cubicBezTo>
                <a:cubicBezTo>
                  <a:pt x="650" y="7794"/>
                  <a:pt x="3415" y="6054"/>
                  <a:pt x="3470" y="6052"/>
                </a:cubicBezTo>
                <a:close/>
                <a:moveTo>
                  <a:pt x="12846" y="7499"/>
                </a:moveTo>
                <a:cubicBezTo>
                  <a:pt x="12856" y="7499"/>
                  <a:pt x="12864" y="8157"/>
                  <a:pt x="12864" y="8961"/>
                </a:cubicBezTo>
                <a:lnTo>
                  <a:pt x="12864" y="10421"/>
                </a:lnTo>
                <a:lnTo>
                  <a:pt x="11502" y="11299"/>
                </a:lnTo>
                <a:cubicBezTo>
                  <a:pt x="10753" y="11781"/>
                  <a:pt x="10124" y="12185"/>
                  <a:pt x="10105" y="12196"/>
                </a:cubicBezTo>
                <a:cubicBezTo>
                  <a:pt x="10077" y="12212"/>
                  <a:pt x="10070" y="11913"/>
                  <a:pt x="10071" y="10740"/>
                </a:cubicBezTo>
                <a:cubicBezTo>
                  <a:pt x="10071" y="9928"/>
                  <a:pt x="10080" y="9250"/>
                  <a:pt x="10092" y="9233"/>
                </a:cubicBezTo>
                <a:cubicBezTo>
                  <a:pt x="10114" y="9201"/>
                  <a:pt x="12817" y="7499"/>
                  <a:pt x="12846" y="7499"/>
                </a:cubicBezTo>
                <a:close/>
                <a:moveTo>
                  <a:pt x="6885" y="7818"/>
                </a:moveTo>
                <a:cubicBezTo>
                  <a:pt x="6886" y="7818"/>
                  <a:pt x="6887" y="7817"/>
                  <a:pt x="6888" y="7818"/>
                </a:cubicBezTo>
                <a:cubicBezTo>
                  <a:pt x="6907" y="7826"/>
                  <a:pt x="7539" y="8150"/>
                  <a:pt x="8292" y="8538"/>
                </a:cubicBezTo>
                <a:lnTo>
                  <a:pt x="9660" y="9242"/>
                </a:lnTo>
                <a:lnTo>
                  <a:pt x="9667" y="10741"/>
                </a:lnTo>
                <a:cubicBezTo>
                  <a:pt x="9673" y="11932"/>
                  <a:pt x="9667" y="12241"/>
                  <a:pt x="9639" y="12240"/>
                </a:cubicBezTo>
                <a:cubicBezTo>
                  <a:pt x="9620" y="12239"/>
                  <a:pt x="8985" y="11921"/>
                  <a:pt x="8228" y="11532"/>
                </a:cubicBezTo>
                <a:lnTo>
                  <a:pt x="6858" y="10827"/>
                </a:lnTo>
                <a:lnTo>
                  <a:pt x="6859" y="9173"/>
                </a:lnTo>
                <a:cubicBezTo>
                  <a:pt x="6860" y="8723"/>
                  <a:pt x="6860" y="8395"/>
                  <a:pt x="6859" y="8134"/>
                </a:cubicBezTo>
                <a:lnTo>
                  <a:pt x="6859" y="8127"/>
                </a:lnTo>
                <a:cubicBezTo>
                  <a:pt x="6864" y="7906"/>
                  <a:pt x="6872" y="7822"/>
                  <a:pt x="6885" y="7818"/>
                </a:cubicBezTo>
                <a:close/>
                <a:moveTo>
                  <a:pt x="6417" y="7871"/>
                </a:moveTo>
                <a:cubicBezTo>
                  <a:pt x="6422" y="7871"/>
                  <a:pt x="6426" y="8027"/>
                  <a:pt x="6429" y="8273"/>
                </a:cubicBezTo>
                <a:cubicBezTo>
                  <a:pt x="6429" y="8284"/>
                  <a:pt x="6430" y="8288"/>
                  <a:pt x="6430" y="8299"/>
                </a:cubicBezTo>
                <a:lnTo>
                  <a:pt x="6430" y="9184"/>
                </a:lnTo>
                <a:cubicBezTo>
                  <a:pt x="6430" y="9763"/>
                  <a:pt x="6431" y="10165"/>
                  <a:pt x="6435" y="10449"/>
                </a:cubicBezTo>
                <a:lnTo>
                  <a:pt x="6435" y="10793"/>
                </a:lnTo>
                <a:lnTo>
                  <a:pt x="5073" y="11670"/>
                </a:lnTo>
                <a:cubicBezTo>
                  <a:pt x="4324" y="12153"/>
                  <a:pt x="3696" y="12556"/>
                  <a:pt x="3676" y="12567"/>
                </a:cubicBezTo>
                <a:cubicBezTo>
                  <a:pt x="3648" y="12583"/>
                  <a:pt x="3642" y="12284"/>
                  <a:pt x="3642" y="11111"/>
                </a:cubicBezTo>
                <a:cubicBezTo>
                  <a:pt x="3642" y="10299"/>
                  <a:pt x="3652" y="9621"/>
                  <a:pt x="3663" y="9605"/>
                </a:cubicBezTo>
                <a:cubicBezTo>
                  <a:pt x="3686" y="9572"/>
                  <a:pt x="6388" y="7871"/>
                  <a:pt x="6417" y="7871"/>
                </a:cubicBezTo>
                <a:close/>
                <a:moveTo>
                  <a:pt x="456" y="8189"/>
                </a:moveTo>
                <a:cubicBezTo>
                  <a:pt x="457" y="8189"/>
                  <a:pt x="458" y="8189"/>
                  <a:pt x="459" y="8189"/>
                </a:cubicBezTo>
                <a:cubicBezTo>
                  <a:pt x="478" y="8197"/>
                  <a:pt x="1110" y="8521"/>
                  <a:pt x="1863" y="8909"/>
                </a:cubicBezTo>
                <a:lnTo>
                  <a:pt x="3232" y="9613"/>
                </a:lnTo>
                <a:lnTo>
                  <a:pt x="3239" y="11113"/>
                </a:lnTo>
                <a:cubicBezTo>
                  <a:pt x="3245" y="12303"/>
                  <a:pt x="3239" y="12612"/>
                  <a:pt x="3211" y="12611"/>
                </a:cubicBezTo>
                <a:cubicBezTo>
                  <a:pt x="3191" y="12611"/>
                  <a:pt x="2556" y="12292"/>
                  <a:pt x="1800" y="11903"/>
                </a:cubicBezTo>
                <a:lnTo>
                  <a:pt x="424" y="11196"/>
                </a:lnTo>
                <a:lnTo>
                  <a:pt x="424" y="9685"/>
                </a:lnTo>
                <a:cubicBezTo>
                  <a:pt x="424" y="8525"/>
                  <a:pt x="431" y="8198"/>
                  <a:pt x="456" y="8189"/>
                </a:cubicBezTo>
                <a:close/>
              </a:path>
            </a:pathLst>
          </a:custGeom>
          <a:solidFill>
            <a:schemeClr val="accent1">
              <a:lumMod val="50000"/>
            </a:schemeClr>
          </a:solidFill>
          <a:ln w="9525" cap="flat" cmpd="sng" algn="ctr">
            <a:solidFill>
              <a:schemeClr val="accent1">
                <a:lumMod val="50000"/>
              </a:schemeClr>
            </a:solidFill>
            <a:prstDash val="solid"/>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black"/>
              </a:solidFill>
              <a:effectLst/>
              <a:uLnTx/>
              <a:uFillTx/>
              <a:latin typeface="Aptos" panose="020B0004020202020204" pitchFamily="34" charset="0"/>
            </a:endParaRPr>
          </a:p>
        </p:txBody>
      </p:sp>
      <p:sp>
        <p:nvSpPr>
          <p:cNvPr id="1056" name="Rectangle: Rounded Corners 1055">
            <a:extLst>
              <a:ext uri="{FF2B5EF4-FFF2-40B4-BE49-F238E27FC236}">
                <a16:creationId xmlns:a16="http://schemas.microsoft.com/office/drawing/2014/main" id="{7184BA3B-49FC-49E0-2EDA-31B6C70731C3}"/>
              </a:ext>
            </a:extLst>
          </p:cNvPr>
          <p:cNvSpPr/>
          <p:nvPr/>
        </p:nvSpPr>
        <p:spPr>
          <a:xfrm>
            <a:off x="5189560" y="4916017"/>
            <a:ext cx="2083438" cy="459906"/>
          </a:xfrm>
          <a:prstGeom prst="roundRect">
            <a:avLst>
              <a:gd name="adj" fmla="val 0"/>
            </a:avLst>
          </a:prstGeom>
          <a:solidFill>
            <a:srgbClr val="5B9BD5"/>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cxnSp>
        <p:nvCxnSpPr>
          <p:cNvPr id="1063" name="Straight Connector 1062">
            <a:extLst>
              <a:ext uri="{FF2B5EF4-FFF2-40B4-BE49-F238E27FC236}">
                <a16:creationId xmlns:a16="http://schemas.microsoft.com/office/drawing/2014/main" id="{981208C0-F645-9ADB-D743-8EDA7C1A82CB}"/>
              </a:ext>
            </a:extLst>
          </p:cNvPr>
          <p:cNvCxnSpPr>
            <a:cxnSpLocks/>
          </p:cNvCxnSpPr>
          <p:nvPr/>
        </p:nvCxnSpPr>
        <p:spPr>
          <a:xfrm>
            <a:off x="6174514" y="3758915"/>
            <a:ext cx="0" cy="326093"/>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57" name="Rectangle: Rounded Corners 1056">
            <a:extLst>
              <a:ext uri="{FF2B5EF4-FFF2-40B4-BE49-F238E27FC236}">
                <a16:creationId xmlns:a16="http://schemas.microsoft.com/office/drawing/2014/main" id="{C0BF52CD-9736-9EC8-CDE9-22DCCB434E1B}"/>
              </a:ext>
            </a:extLst>
          </p:cNvPr>
          <p:cNvSpPr/>
          <p:nvPr/>
        </p:nvSpPr>
        <p:spPr>
          <a:xfrm>
            <a:off x="5187678" y="4466314"/>
            <a:ext cx="2089858" cy="2203223"/>
          </a:xfrm>
          <a:prstGeom prst="roundRect">
            <a:avLst>
              <a:gd name="adj" fmla="val 8775"/>
            </a:avLst>
          </a:prstGeom>
          <a:no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058" name="TextBox 1057">
            <a:extLst>
              <a:ext uri="{FF2B5EF4-FFF2-40B4-BE49-F238E27FC236}">
                <a16:creationId xmlns:a16="http://schemas.microsoft.com/office/drawing/2014/main" id="{3622BE96-7A54-E974-9701-F15CEA992297}"/>
              </a:ext>
            </a:extLst>
          </p:cNvPr>
          <p:cNvSpPr txBox="1"/>
          <p:nvPr/>
        </p:nvSpPr>
        <p:spPr>
          <a:xfrm>
            <a:off x="5155486" y="5361266"/>
            <a:ext cx="2139554" cy="892552"/>
          </a:xfrm>
          <a:prstGeom prst="rect">
            <a:avLst/>
          </a:prstGeom>
          <a:noFill/>
        </p:spPr>
        <p:txBody>
          <a:bodyPr wrap="square" anchor="ctr">
            <a:spAutoFit/>
          </a:bodyPr>
          <a:lstStyle/>
          <a:p>
            <a:pPr marL="285750" indent="-285750" algn="just">
              <a:buFont typeface="Arial" panose="020B0604020202020204" pitchFamily="34" charset="0"/>
              <a:buChar char="•"/>
              <a:defRPr/>
            </a:pPr>
            <a:r>
              <a:rPr lang="en-US" sz="1300" kern="0" spc="50" dirty="0">
                <a:solidFill>
                  <a:prstClr val="black">
                    <a:lumMod val="65000"/>
                    <a:lumOff val="35000"/>
                  </a:prstClr>
                </a:solidFill>
                <a:latin typeface="Aptos" panose="020B0004020202020204" pitchFamily="34" charset="0"/>
                <a:cs typeface="Arial" panose="020B0604020202020204" pitchFamily="34" charset="0"/>
              </a:rPr>
              <a:t>39,360 TPA of API</a:t>
            </a:r>
          </a:p>
          <a:p>
            <a:pPr marL="285750" indent="-285750" algn="just">
              <a:buFont typeface="Arial" panose="020B0604020202020204" pitchFamily="34" charset="0"/>
              <a:buChar char="•"/>
              <a:defRPr/>
            </a:pPr>
            <a:r>
              <a:rPr lang="en-US" sz="1300" kern="0" spc="50" dirty="0">
                <a:solidFill>
                  <a:prstClr val="black">
                    <a:lumMod val="65000"/>
                    <a:lumOff val="35000"/>
                  </a:prstClr>
                </a:solidFill>
                <a:latin typeface="Aptos" panose="020B0004020202020204" pitchFamily="34" charset="0"/>
                <a:cs typeface="Arial" panose="020B0604020202020204" pitchFamily="34" charset="0"/>
              </a:rPr>
              <a:t>24,640 TPA of PFI</a:t>
            </a:r>
          </a:p>
          <a:p>
            <a:pPr marL="285750" indent="-285750" algn="just">
              <a:buFont typeface="Arial" panose="020B0604020202020204" pitchFamily="34" charset="0"/>
              <a:buChar char="•"/>
              <a:defRPr/>
            </a:pPr>
            <a:r>
              <a:rPr lang="en-US" sz="1300" kern="0" spc="50" dirty="0">
                <a:solidFill>
                  <a:prstClr val="black">
                    <a:lumMod val="65000"/>
                    <a:lumOff val="35000"/>
                  </a:prstClr>
                </a:solidFill>
                <a:latin typeface="Aptos" panose="020B0004020202020204" pitchFamily="34" charset="0"/>
                <a:cs typeface="Arial" panose="020B0604020202020204" pitchFamily="34" charset="0"/>
              </a:rPr>
              <a:t>28.3 Bn dosages of FD</a:t>
            </a:r>
          </a:p>
        </p:txBody>
      </p:sp>
      <p:sp>
        <p:nvSpPr>
          <p:cNvPr id="1059" name="TextBox 1058">
            <a:extLst>
              <a:ext uri="{FF2B5EF4-FFF2-40B4-BE49-F238E27FC236}">
                <a16:creationId xmlns:a16="http://schemas.microsoft.com/office/drawing/2014/main" id="{6F352EC9-9E35-AE94-8E3B-505FE17F0955}"/>
              </a:ext>
            </a:extLst>
          </p:cNvPr>
          <p:cNvSpPr txBox="1"/>
          <p:nvPr/>
        </p:nvSpPr>
        <p:spPr>
          <a:xfrm>
            <a:off x="5429239" y="4899453"/>
            <a:ext cx="1659089" cy="492443"/>
          </a:xfrm>
          <a:prstGeom prst="rect">
            <a:avLst/>
          </a:prstGeom>
          <a:noFill/>
        </p:spPr>
        <p:txBody>
          <a:bodyPr wrap="square" rtlCol="0" anchor="ctr">
            <a:spAutoFit/>
          </a:bodyPr>
          <a:lstStyle>
            <a:defPPr>
              <a:defRPr lang="en-US"/>
            </a:defPPr>
            <a:lvl1pPr marR="0" lvl="0" indent="0" algn="ctr" defTabSz="914377" fontAlgn="auto">
              <a:lnSpc>
                <a:spcPct val="100000"/>
              </a:lnSpc>
              <a:spcBef>
                <a:spcPts val="0"/>
              </a:spcBef>
              <a:spcAft>
                <a:spcPts val="0"/>
              </a:spcAft>
              <a:buClrTx/>
              <a:buSzTx/>
              <a:buFontTx/>
              <a:buNone/>
              <a:tabLst/>
              <a:defRPr kumimoji="0" sz="1400" b="1" i="0" u="none" strike="noStrike" cap="none" spc="0" normalizeH="0" baseline="0">
                <a:ln>
                  <a:noFill/>
                </a:ln>
                <a:solidFill>
                  <a:schemeClr val="tx2">
                    <a:lumMod val="75000"/>
                    <a:lumOff val="25000"/>
                  </a:schemeClr>
                </a:solidFill>
                <a:effectLst/>
                <a:uLnTx/>
                <a:uFillTx/>
                <a:latin typeface="Arial" panose="020B0604020202020204" pitchFamily="34" charset="0"/>
                <a:cs typeface="Arial" panose="020B0604020202020204" pitchFamily="34" charset="0"/>
              </a:defRPr>
            </a:lvl1pPr>
          </a:lstStyle>
          <a:p>
            <a:r>
              <a:rPr lang="en-US" sz="1300" kern="0" spc="50" dirty="0">
                <a:solidFill>
                  <a:schemeClr val="bg1"/>
                </a:solidFill>
                <a:latin typeface="Aptos" panose="020B0004020202020204" pitchFamily="34" charset="0"/>
              </a:rPr>
              <a:t>Installed Capacity</a:t>
            </a:r>
          </a:p>
        </p:txBody>
      </p:sp>
      <p:grpSp>
        <p:nvGrpSpPr>
          <p:cNvPr id="4" name="Group 3">
            <a:extLst>
              <a:ext uri="{FF2B5EF4-FFF2-40B4-BE49-F238E27FC236}">
                <a16:creationId xmlns:a16="http://schemas.microsoft.com/office/drawing/2014/main" id="{C6C6A53E-819F-FF5A-19EC-D7E641F228AC}"/>
              </a:ext>
            </a:extLst>
          </p:cNvPr>
          <p:cNvGrpSpPr/>
          <p:nvPr/>
        </p:nvGrpSpPr>
        <p:grpSpPr>
          <a:xfrm>
            <a:off x="5824333" y="4101176"/>
            <a:ext cx="700358" cy="748592"/>
            <a:chOff x="5824333" y="4058972"/>
            <a:chExt cx="700358" cy="748592"/>
          </a:xfrm>
        </p:grpSpPr>
        <p:sp>
          <p:nvSpPr>
            <p:cNvPr id="1062" name="Oval 1061">
              <a:extLst>
                <a:ext uri="{FF2B5EF4-FFF2-40B4-BE49-F238E27FC236}">
                  <a16:creationId xmlns:a16="http://schemas.microsoft.com/office/drawing/2014/main" id="{968CDE18-DBB1-07D3-0694-967D0CC108F9}"/>
                </a:ext>
              </a:extLst>
            </p:cNvPr>
            <p:cNvSpPr/>
            <p:nvPr/>
          </p:nvSpPr>
          <p:spPr>
            <a:xfrm>
              <a:off x="5824333" y="4058972"/>
              <a:ext cx="700358" cy="748592"/>
            </a:xfrm>
            <a:prstGeom prst="ellipse">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ptos" panose="020B0004020202020204" pitchFamily="34" charset="0"/>
              </a:endParaRPr>
            </a:p>
          </p:txBody>
        </p:sp>
        <p:sp>
          <p:nvSpPr>
            <p:cNvPr id="1064" name="Freeform 6">
              <a:extLst>
                <a:ext uri="{FF2B5EF4-FFF2-40B4-BE49-F238E27FC236}">
                  <a16:creationId xmlns:a16="http://schemas.microsoft.com/office/drawing/2014/main" id="{67D54E7F-CF21-909C-AABD-4DE51FE6D772}"/>
                </a:ext>
              </a:extLst>
            </p:cNvPr>
            <p:cNvSpPr>
              <a:spLocks noEditPoints="1"/>
            </p:cNvSpPr>
            <p:nvPr/>
          </p:nvSpPr>
          <p:spPr bwMode="auto">
            <a:xfrm>
              <a:off x="5966457" y="4226527"/>
              <a:ext cx="416114" cy="343680"/>
            </a:xfrm>
            <a:custGeom>
              <a:avLst/>
              <a:gdLst>
                <a:gd name="T0" fmla="*/ 1896 w 14708"/>
                <a:gd name="T1" fmla="*/ 11833 h 11872"/>
                <a:gd name="T2" fmla="*/ 1504 w 14708"/>
                <a:gd name="T3" fmla="*/ 11527 h 11872"/>
                <a:gd name="T4" fmla="*/ 368 w 14708"/>
                <a:gd name="T5" fmla="*/ 9455 h 11872"/>
                <a:gd name="T6" fmla="*/ 2 w 14708"/>
                <a:gd name="T7" fmla="*/ 7216 h 11872"/>
                <a:gd name="T8" fmla="*/ 773 w 14708"/>
                <a:gd name="T9" fmla="*/ 4009 h 11872"/>
                <a:gd name="T10" fmla="*/ 2043 w 14708"/>
                <a:gd name="T11" fmla="*/ 2276 h 11872"/>
                <a:gd name="T12" fmla="*/ 6143 w 14708"/>
                <a:gd name="T13" fmla="*/ 216 h 11872"/>
                <a:gd name="T14" fmla="*/ 10440 w 14708"/>
                <a:gd name="T15" fmla="*/ 895 h 11872"/>
                <a:gd name="T16" fmla="*/ 14182 w 14708"/>
                <a:gd name="T17" fmla="*/ 5382 h 11872"/>
                <a:gd name="T18" fmla="*/ 13281 w 14708"/>
                <a:gd name="T19" fmla="*/ 11012 h 11872"/>
                <a:gd name="T20" fmla="*/ 12490 w 14708"/>
                <a:gd name="T21" fmla="*/ 11844 h 11872"/>
                <a:gd name="T22" fmla="*/ 7195 w 14708"/>
                <a:gd name="T23" fmla="*/ 11872 h 11872"/>
                <a:gd name="T24" fmla="*/ 1896 w 14708"/>
                <a:gd name="T25" fmla="*/ 11833 h 11872"/>
                <a:gd name="T26" fmla="*/ 12168 w 14708"/>
                <a:gd name="T27" fmla="*/ 10257 h 11872"/>
                <a:gd name="T28" fmla="*/ 13071 w 14708"/>
                <a:gd name="T29" fmla="*/ 7019 h 11872"/>
                <a:gd name="T30" fmla="*/ 12484 w 14708"/>
                <a:gd name="T31" fmla="*/ 4697 h 11872"/>
                <a:gd name="T32" fmla="*/ 11307 w 14708"/>
                <a:gd name="T33" fmla="*/ 3122 h 11872"/>
                <a:gd name="T34" fmla="*/ 8225 w 14708"/>
                <a:gd name="T35" fmla="*/ 1566 h 11872"/>
                <a:gd name="T36" fmla="*/ 6275 w 14708"/>
                <a:gd name="T37" fmla="*/ 1552 h 11872"/>
                <a:gd name="T38" fmla="*/ 3554 w 14708"/>
                <a:gd name="T39" fmla="*/ 2726 h 11872"/>
                <a:gd name="T40" fmla="*/ 2566 w 14708"/>
                <a:gd name="T41" fmla="*/ 3703 h 11872"/>
                <a:gd name="T42" fmla="*/ 1347 w 14708"/>
                <a:gd name="T43" fmla="*/ 7372 h 11872"/>
                <a:gd name="T44" fmla="*/ 2264 w 14708"/>
                <a:gd name="T45" fmla="*/ 10286 h 11872"/>
                <a:gd name="T46" fmla="*/ 2418 w 14708"/>
                <a:gd name="T47" fmla="*/ 10518 h 11872"/>
                <a:gd name="T48" fmla="*/ 7207 w 14708"/>
                <a:gd name="T49" fmla="*/ 10518 h 11872"/>
                <a:gd name="T50" fmla="*/ 11996 w 14708"/>
                <a:gd name="T51" fmla="*/ 10518 h 11872"/>
                <a:gd name="T52" fmla="*/ 12168 w 14708"/>
                <a:gd name="T53" fmla="*/ 10257 h 11872"/>
                <a:gd name="T54" fmla="*/ 6983 w 14708"/>
                <a:gd name="T55" fmla="*/ 10067 h 11872"/>
                <a:gd name="T56" fmla="*/ 5992 w 14708"/>
                <a:gd name="T57" fmla="*/ 9291 h 11872"/>
                <a:gd name="T58" fmla="*/ 5430 w 14708"/>
                <a:gd name="T59" fmla="*/ 6981 h 11872"/>
                <a:gd name="T60" fmla="*/ 4966 w 14708"/>
                <a:gd name="T61" fmla="*/ 4787 h 11872"/>
                <a:gd name="T62" fmla="*/ 5220 w 14708"/>
                <a:gd name="T63" fmla="*/ 4672 h 11872"/>
                <a:gd name="T64" fmla="*/ 8304 w 14708"/>
                <a:gd name="T65" fmla="*/ 8077 h 11872"/>
                <a:gd name="T66" fmla="*/ 7649 w 14708"/>
                <a:gd name="T67" fmla="*/ 10006 h 11872"/>
                <a:gd name="T68" fmla="*/ 6983 w 14708"/>
                <a:gd name="T69" fmla="*/ 10067 h 11872"/>
                <a:gd name="T70" fmla="*/ 7435 w 14708"/>
                <a:gd name="T71" fmla="*/ 9100 h 11872"/>
                <a:gd name="T72" fmla="*/ 7651 w 14708"/>
                <a:gd name="T73" fmla="*/ 8750 h 11872"/>
                <a:gd name="T74" fmla="*/ 7406 w 14708"/>
                <a:gd name="T75" fmla="*/ 8322 h 11872"/>
                <a:gd name="T76" fmla="*/ 6818 w 14708"/>
                <a:gd name="T77" fmla="*/ 8489 h 11872"/>
                <a:gd name="T78" fmla="*/ 6835 w 14708"/>
                <a:gd name="T79" fmla="*/ 8985 h 11872"/>
                <a:gd name="T80" fmla="*/ 7435 w 14708"/>
                <a:gd name="T81" fmla="*/ 9100 h 11872"/>
                <a:gd name="T82" fmla="*/ 2347 w 14708"/>
                <a:gd name="T83" fmla="*/ 7752 h 11872"/>
                <a:gd name="T84" fmla="*/ 2268 w 14708"/>
                <a:gd name="T85" fmla="*/ 7016 h 11872"/>
                <a:gd name="T86" fmla="*/ 3013 w 14708"/>
                <a:gd name="T87" fmla="*/ 4653 h 11872"/>
                <a:gd name="T88" fmla="*/ 3633 w 14708"/>
                <a:gd name="T89" fmla="*/ 3890 h 11872"/>
                <a:gd name="T90" fmla="*/ 5762 w 14708"/>
                <a:gd name="T91" fmla="*/ 2616 h 11872"/>
                <a:gd name="T92" fmla="*/ 7614 w 14708"/>
                <a:gd name="T93" fmla="*/ 2422 h 11872"/>
                <a:gd name="T94" fmla="*/ 11026 w 14708"/>
                <a:gd name="T95" fmla="*/ 4055 h 11872"/>
                <a:gd name="T96" fmla="*/ 12149 w 14708"/>
                <a:gd name="T97" fmla="*/ 7160 h 11872"/>
                <a:gd name="T98" fmla="*/ 12085 w 14708"/>
                <a:gd name="T99" fmla="*/ 7752 h 11872"/>
                <a:gd name="T100" fmla="*/ 11521 w 14708"/>
                <a:gd name="T101" fmla="*/ 7809 h 11872"/>
                <a:gd name="T102" fmla="*/ 10867 w 14708"/>
                <a:gd name="T103" fmla="*/ 7273 h 11872"/>
                <a:gd name="T104" fmla="*/ 8279 w 14708"/>
                <a:gd name="T105" fmla="*/ 3863 h 11872"/>
                <a:gd name="T106" fmla="*/ 4614 w 14708"/>
                <a:gd name="T107" fmla="*/ 4321 h 11872"/>
                <a:gd name="T108" fmla="*/ 2705 w 14708"/>
                <a:gd name="T109" fmla="*/ 7436 h 11872"/>
                <a:gd name="T110" fmla="*/ 2615 w 14708"/>
                <a:gd name="T111" fmla="*/ 7753 h 11872"/>
                <a:gd name="T112" fmla="*/ 2347 w 14708"/>
                <a:gd name="T113" fmla="*/ 7752 h 118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708" h="11872">
                  <a:moveTo>
                    <a:pt x="1896" y="11833"/>
                  </a:moveTo>
                  <a:cubicBezTo>
                    <a:pt x="1736" y="11776"/>
                    <a:pt x="1665" y="11720"/>
                    <a:pt x="1504" y="11527"/>
                  </a:cubicBezTo>
                  <a:cubicBezTo>
                    <a:pt x="1089" y="11031"/>
                    <a:pt x="602" y="10142"/>
                    <a:pt x="368" y="9455"/>
                  </a:cubicBezTo>
                  <a:cubicBezTo>
                    <a:pt x="105" y="8681"/>
                    <a:pt x="4" y="8065"/>
                    <a:pt x="2" y="7216"/>
                  </a:cubicBezTo>
                  <a:cubicBezTo>
                    <a:pt x="0" y="6018"/>
                    <a:pt x="232" y="5051"/>
                    <a:pt x="773" y="4009"/>
                  </a:cubicBezTo>
                  <a:cubicBezTo>
                    <a:pt x="1120" y="3338"/>
                    <a:pt x="1502" y="2818"/>
                    <a:pt x="2043" y="2276"/>
                  </a:cubicBezTo>
                  <a:cubicBezTo>
                    <a:pt x="3158" y="1158"/>
                    <a:pt x="4575" y="446"/>
                    <a:pt x="6143" y="216"/>
                  </a:cubicBezTo>
                  <a:cubicBezTo>
                    <a:pt x="7615" y="0"/>
                    <a:pt x="9095" y="234"/>
                    <a:pt x="10440" y="895"/>
                  </a:cubicBezTo>
                  <a:cubicBezTo>
                    <a:pt x="12302" y="1810"/>
                    <a:pt x="13622" y="3393"/>
                    <a:pt x="14182" y="5382"/>
                  </a:cubicBezTo>
                  <a:cubicBezTo>
                    <a:pt x="14708" y="7252"/>
                    <a:pt x="14368" y="9379"/>
                    <a:pt x="13281" y="11012"/>
                  </a:cubicBezTo>
                  <a:cubicBezTo>
                    <a:pt x="12889" y="11602"/>
                    <a:pt x="12719" y="11781"/>
                    <a:pt x="12490" y="11844"/>
                  </a:cubicBezTo>
                  <a:cubicBezTo>
                    <a:pt x="12423" y="11863"/>
                    <a:pt x="10590" y="11872"/>
                    <a:pt x="7195" y="11872"/>
                  </a:cubicBezTo>
                  <a:cubicBezTo>
                    <a:pt x="2937" y="11871"/>
                    <a:pt x="1983" y="11864"/>
                    <a:pt x="1896" y="11833"/>
                  </a:cubicBezTo>
                  <a:close/>
                  <a:moveTo>
                    <a:pt x="12168" y="10257"/>
                  </a:moveTo>
                  <a:cubicBezTo>
                    <a:pt x="12805" y="9290"/>
                    <a:pt x="13111" y="8194"/>
                    <a:pt x="13071" y="7019"/>
                  </a:cubicBezTo>
                  <a:cubicBezTo>
                    <a:pt x="13041" y="6164"/>
                    <a:pt x="12860" y="5447"/>
                    <a:pt x="12484" y="4697"/>
                  </a:cubicBezTo>
                  <a:cubicBezTo>
                    <a:pt x="12184" y="4099"/>
                    <a:pt x="11829" y="3623"/>
                    <a:pt x="11307" y="3122"/>
                  </a:cubicBezTo>
                  <a:cubicBezTo>
                    <a:pt x="10458" y="2305"/>
                    <a:pt x="9432" y="1788"/>
                    <a:pt x="8225" y="1566"/>
                  </a:cubicBezTo>
                  <a:cubicBezTo>
                    <a:pt x="7779" y="1484"/>
                    <a:pt x="6723" y="1476"/>
                    <a:pt x="6275" y="1552"/>
                  </a:cubicBezTo>
                  <a:cubicBezTo>
                    <a:pt x="5255" y="1724"/>
                    <a:pt x="4375" y="2103"/>
                    <a:pt x="3554" y="2726"/>
                  </a:cubicBezTo>
                  <a:cubicBezTo>
                    <a:pt x="3302" y="2916"/>
                    <a:pt x="2767" y="3445"/>
                    <a:pt x="2566" y="3703"/>
                  </a:cubicBezTo>
                  <a:cubicBezTo>
                    <a:pt x="1708" y="4800"/>
                    <a:pt x="1307" y="6008"/>
                    <a:pt x="1347" y="7372"/>
                  </a:cubicBezTo>
                  <a:cubicBezTo>
                    <a:pt x="1379" y="8461"/>
                    <a:pt x="1671" y="9388"/>
                    <a:pt x="2264" y="10286"/>
                  </a:cubicBezTo>
                  <a:lnTo>
                    <a:pt x="2418" y="10518"/>
                  </a:lnTo>
                  <a:lnTo>
                    <a:pt x="7207" y="10518"/>
                  </a:lnTo>
                  <a:lnTo>
                    <a:pt x="11996" y="10518"/>
                  </a:lnTo>
                  <a:lnTo>
                    <a:pt x="12168" y="10257"/>
                  </a:lnTo>
                  <a:close/>
                  <a:moveTo>
                    <a:pt x="6983" y="10067"/>
                  </a:moveTo>
                  <a:cubicBezTo>
                    <a:pt x="6536" y="9982"/>
                    <a:pt x="6193" y="9714"/>
                    <a:pt x="5992" y="9291"/>
                  </a:cubicBezTo>
                  <a:cubicBezTo>
                    <a:pt x="5932" y="9165"/>
                    <a:pt x="5786" y="8564"/>
                    <a:pt x="5430" y="6981"/>
                  </a:cubicBezTo>
                  <a:cubicBezTo>
                    <a:pt x="5165" y="5804"/>
                    <a:pt x="4956" y="4816"/>
                    <a:pt x="4966" y="4787"/>
                  </a:cubicBezTo>
                  <a:cubicBezTo>
                    <a:pt x="4992" y="4704"/>
                    <a:pt x="5142" y="4636"/>
                    <a:pt x="5220" y="4672"/>
                  </a:cubicBezTo>
                  <a:cubicBezTo>
                    <a:pt x="5294" y="4705"/>
                    <a:pt x="8195" y="7909"/>
                    <a:pt x="8304" y="8077"/>
                  </a:cubicBezTo>
                  <a:cubicBezTo>
                    <a:pt x="8763" y="8788"/>
                    <a:pt x="8443" y="9731"/>
                    <a:pt x="7649" y="10006"/>
                  </a:cubicBezTo>
                  <a:cubicBezTo>
                    <a:pt x="7448" y="10076"/>
                    <a:pt x="7164" y="10102"/>
                    <a:pt x="6983" y="10067"/>
                  </a:cubicBezTo>
                  <a:close/>
                  <a:moveTo>
                    <a:pt x="7435" y="9100"/>
                  </a:moveTo>
                  <a:cubicBezTo>
                    <a:pt x="7575" y="9005"/>
                    <a:pt x="7639" y="8901"/>
                    <a:pt x="7651" y="8750"/>
                  </a:cubicBezTo>
                  <a:cubicBezTo>
                    <a:pt x="7667" y="8565"/>
                    <a:pt x="7578" y="8411"/>
                    <a:pt x="7406" y="8322"/>
                  </a:cubicBezTo>
                  <a:cubicBezTo>
                    <a:pt x="7184" y="8208"/>
                    <a:pt x="6969" y="8269"/>
                    <a:pt x="6818" y="8489"/>
                  </a:cubicBezTo>
                  <a:cubicBezTo>
                    <a:pt x="6733" y="8613"/>
                    <a:pt x="6742" y="8854"/>
                    <a:pt x="6835" y="8985"/>
                  </a:cubicBezTo>
                  <a:cubicBezTo>
                    <a:pt x="6963" y="9165"/>
                    <a:pt x="7257" y="9221"/>
                    <a:pt x="7435" y="9100"/>
                  </a:cubicBezTo>
                  <a:close/>
                  <a:moveTo>
                    <a:pt x="2347" y="7752"/>
                  </a:moveTo>
                  <a:cubicBezTo>
                    <a:pt x="2247" y="7674"/>
                    <a:pt x="2236" y="7564"/>
                    <a:pt x="2268" y="7016"/>
                  </a:cubicBezTo>
                  <a:cubicBezTo>
                    <a:pt x="2322" y="6080"/>
                    <a:pt x="2552" y="5351"/>
                    <a:pt x="3013" y="4653"/>
                  </a:cubicBezTo>
                  <a:cubicBezTo>
                    <a:pt x="3246" y="4299"/>
                    <a:pt x="3320" y="4208"/>
                    <a:pt x="3633" y="3890"/>
                  </a:cubicBezTo>
                  <a:cubicBezTo>
                    <a:pt x="4225" y="3288"/>
                    <a:pt x="4941" y="2860"/>
                    <a:pt x="5762" y="2616"/>
                  </a:cubicBezTo>
                  <a:cubicBezTo>
                    <a:pt x="6345" y="2443"/>
                    <a:pt x="6925" y="2383"/>
                    <a:pt x="7614" y="2422"/>
                  </a:cubicBezTo>
                  <a:cubicBezTo>
                    <a:pt x="9032" y="2504"/>
                    <a:pt x="10234" y="3080"/>
                    <a:pt x="11026" y="4055"/>
                  </a:cubicBezTo>
                  <a:cubicBezTo>
                    <a:pt x="11700" y="4886"/>
                    <a:pt x="12056" y="5871"/>
                    <a:pt x="12149" y="7160"/>
                  </a:cubicBezTo>
                  <a:cubicBezTo>
                    <a:pt x="12182" y="7611"/>
                    <a:pt x="12175" y="7668"/>
                    <a:pt x="12085" y="7752"/>
                  </a:cubicBezTo>
                  <a:cubicBezTo>
                    <a:pt x="12029" y="7805"/>
                    <a:pt x="11987" y="7809"/>
                    <a:pt x="11521" y="7809"/>
                  </a:cubicBezTo>
                  <a:cubicBezTo>
                    <a:pt x="10867" y="7809"/>
                    <a:pt x="10893" y="7831"/>
                    <a:pt x="10867" y="7273"/>
                  </a:cubicBezTo>
                  <a:cubicBezTo>
                    <a:pt x="10791" y="5657"/>
                    <a:pt x="9799" y="4349"/>
                    <a:pt x="8279" y="3863"/>
                  </a:cubicBezTo>
                  <a:cubicBezTo>
                    <a:pt x="6973" y="3445"/>
                    <a:pt x="5687" y="3606"/>
                    <a:pt x="4614" y="4321"/>
                  </a:cubicBezTo>
                  <a:cubicBezTo>
                    <a:pt x="3493" y="5069"/>
                    <a:pt x="2799" y="6201"/>
                    <a:pt x="2705" y="7436"/>
                  </a:cubicBezTo>
                  <a:cubicBezTo>
                    <a:pt x="2688" y="7670"/>
                    <a:pt x="2678" y="7704"/>
                    <a:pt x="2615" y="7753"/>
                  </a:cubicBezTo>
                  <a:cubicBezTo>
                    <a:pt x="2525" y="7824"/>
                    <a:pt x="2438" y="7824"/>
                    <a:pt x="2347" y="7752"/>
                  </a:cubicBezTo>
                  <a:close/>
                </a:path>
              </a:pathLst>
            </a:custGeom>
            <a:solidFill>
              <a:schemeClr val="accent1">
                <a:lumMod val="50000"/>
              </a:schemeClr>
            </a:solidFill>
            <a:ln w="9525" cap="flat" cmpd="sng" algn="ctr">
              <a:solidFill>
                <a:schemeClr val="accent1">
                  <a:lumMod val="50000"/>
                </a:schemeClr>
              </a:solidFill>
              <a:prstDash val="solid"/>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black"/>
                </a:solidFill>
                <a:effectLst/>
                <a:uLnTx/>
                <a:uFillTx/>
                <a:latin typeface="Aptos" panose="020B0004020202020204" pitchFamily="34" charset="0"/>
              </a:endParaRPr>
            </a:p>
          </p:txBody>
        </p:sp>
      </p:grpSp>
      <p:cxnSp>
        <p:nvCxnSpPr>
          <p:cNvPr id="1076" name="Straight Connector 1075">
            <a:extLst>
              <a:ext uri="{FF2B5EF4-FFF2-40B4-BE49-F238E27FC236}">
                <a16:creationId xmlns:a16="http://schemas.microsoft.com/office/drawing/2014/main" id="{0EBFE07C-36B1-E5C8-10A8-218EC46E4B25}"/>
              </a:ext>
            </a:extLst>
          </p:cNvPr>
          <p:cNvCxnSpPr>
            <a:cxnSpLocks/>
          </p:cNvCxnSpPr>
          <p:nvPr/>
        </p:nvCxnSpPr>
        <p:spPr>
          <a:xfrm>
            <a:off x="11047627" y="3752999"/>
            <a:ext cx="0" cy="326093"/>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42" name="TextBox 1041">
            <a:extLst>
              <a:ext uri="{FF2B5EF4-FFF2-40B4-BE49-F238E27FC236}">
                <a16:creationId xmlns:a16="http://schemas.microsoft.com/office/drawing/2014/main" id="{8B2AAFFD-AC88-50D9-DE2B-FA1DFE6403ED}"/>
              </a:ext>
            </a:extLst>
          </p:cNvPr>
          <p:cNvSpPr txBox="1"/>
          <p:nvPr/>
        </p:nvSpPr>
        <p:spPr>
          <a:xfrm>
            <a:off x="2653704" y="5285790"/>
            <a:ext cx="2349303" cy="1508105"/>
          </a:xfrm>
          <a:prstGeom prst="rect">
            <a:avLst/>
          </a:prstGeom>
          <a:noFill/>
        </p:spPr>
        <p:txBody>
          <a:bodyPr wrap="square" anchor="ctr">
            <a:spAutoFit/>
          </a:bodyPr>
          <a:lstStyle/>
          <a:p>
            <a:pPr marL="285750" indent="-285750">
              <a:buFont typeface="Arial" panose="020B0604020202020204" pitchFamily="34" charset="0"/>
              <a:buChar char="•"/>
              <a:defRPr/>
            </a:pPr>
            <a:r>
              <a:rPr lang="en-US" sz="1200" kern="0" spc="50" dirty="0">
                <a:solidFill>
                  <a:prstClr val="black">
                    <a:lumMod val="65000"/>
                    <a:lumOff val="35000"/>
                  </a:prstClr>
                </a:solidFill>
                <a:latin typeface="Aptos" panose="020B0004020202020204" pitchFamily="34" charset="0"/>
                <a:cs typeface="Arial" panose="020B0604020202020204" pitchFamily="34" charset="0"/>
              </a:rPr>
              <a:t>8 facilities; 6 in India, 2 in US (1 is packing unit)</a:t>
            </a:r>
          </a:p>
          <a:p>
            <a:pPr marL="285750" indent="-285750">
              <a:buFont typeface="Arial" panose="020B0604020202020204" pitchFamily="34" charset="0"/>
              <a:buChar char="•"/>
              <a:defRPr/>
            </a:pPr>
            <a:r>
              <a:rPr lang="en-US" sz="1200" kern="0" spc="50" dirty="0">
                <a:solidFill>
                  <a:prstClr val="black">
                    <a:lumMod val="65000"/>
                    <a:lumOff val="35000"/>
                  </a:prstClr>
                </a:solidFill>
                <a:latin typeface="Aptos" panose="020B0004020202020204" pitchFamily="34" charset="0"/>
                <a:cs typeface="Arial" panose="020B0604020202020204" pitchFamily="34" charset="0"/>
              </a:rPr>
              <a:t>One of the world’s largest paracetamol API facilities</a:t>
            </a:r>
          </a:p>
          <a:p>
            <a:pPr marL="285750" indent="-285750">
              <a:buFont typeface="Arial" panose="020B0604020202020204" pitchFamily="34" charset="0"/>
              <a:buChar char="•"/>
              <a:defRPr/>
            </a:pPr>
            <a:r>
              <a:rPr lang="en-US" sz="1200" kern="0" spc="50" dirty="0">
                <a:solidFill>
                  <a:prstClr val="black">
                    <a:lumMod val="65000"/>
                    <a:lumOff val="35000"/>
                  </a:prstClr>
                </a:solidFill>
                <a:latin typeface="Aptos" panose="020B0004020202020204" pitchFamily="34" charset="0"/>
                <a:cs typeface="Arial" panose="020B0604020202020204" pitchFamily="34" charset="0"/>
              </a:rPr>
              <a:t>World’s largest PFI facility</a:t>
            </a:r>
          </a:p>
          <a:p>
            <a:pPr marL="285750" indent="-285750">
              <a:buFont typeface="Arial" panose="020B0604020202020204" pitchFamily="34" charset="0"/>
              <a:buChar char="•"/>
              <a:defRPr/>
            </a:pPr>
            <a:r>
              <a:rPr lang="en-US" sz="1200" kern="0" spc="50" dirty="0">
                <a:solidFill>
                  <a:prstClr val="black">
                    <a:lumMod val="65000"/>
                    <a:lumOff val="35000"/>
                  </a:prstClr>
                </a:solidFill>
                <a:latin typeface="Aptos" panose="020B0004020202020204" pitchFamily="34" charset="0"/>
                <a:cs typeface="Arial" panose="020B0604020202020204" pitchFamily="34" charset="0"/>
              </a:rPr>
              <a:t>One of the largest single-site FD facilities</a:t>
            </a:r>
          </a:p>
          <a:p>
            <a:pPr marL="285750" indent="-285750" algn="just">
              <a:buFont typeface="Arial" panose="020B0604020202020204" pitchFamily="34" charset="0"/>
              <a:buChar char="•"/>
              <a:defRPr/>
            </a:pPr>
            <a:endParaRPr lang="en-US" sz="700" dirty="0">
              <a:solidFill>
                <a:schemeClr val="accent1">
                  <a:lumMod val="50000"/>
                </a:schemeClr>
              </a:solidFill>
              <a:latin typeface="Aptos" panose="020B0004020202020204" pitchFamily="34" charset="0"/>
              <a:cs typeface="Arial" panose="020B0604020202020204" pitchFamily="34" charset="0"/>
            </a:endParaRPr>
          </a:p>
        </p:txBody>
      </p:sp>
      <p:grpSp>
        <p:nvGrpSpPr>
          <p:cNvPr id="28" name="Group 27">
            <a:extLst>
              <a:ext uri="{FF2B5EF4-FFF2-40B4-BE49-F238E27FC236}">
                <a16:creationId xmlns:a16="http://schemas.microsoft.com/office/drawing/2014/main" id="{89589290-C1C6-03C5-96B4-A3E0933D91F2}"/>
              </a:ext>
            </a:extLst>
          </p:cNvPr>
          <p:cNvGrpSpPr/>
          <p:nvPr/>
        </p:nvGrpSpPr>
        <p:grpSpPr>
          <a:xfrm>
            <a:off x="2694098" y="4089205"/>
            <a:ext cx="2182332" cy="2593466"/>
            <a:chOff x="2595622" y="4103273"/>
            <a:chExt cx="2182332" cy="2593466"/>
          </a:xfrm>
        </p:grpSpPr>
        <p:sp>
          <p:nvSpPr>
            <p:cNvPr id="1040" name="Rectangle: Rounded Corners 1039">
              <a:extLst>
                <a:ext uri="{FF2B5EF4-FFF2-40B4-BE49-F238E27FC236}">
                  <a16:creationId xmlns:a16="http://schemas.microsoft.com/office/drawing/2014/main" id="{0D01C787-258F-A0AF-4CFF-A60F12C77BE1}"/>
                </a:ext>
              </a:extLst>
            </p:cNvPr>
            <p:cNvSpPr/>
            <p:nvPr/>
          </p:nvSpPr>
          <p:spPr>
            <a:xfrm>
              <a:off x="2595622" y="4875904"/>
              <a:ext cx="2182332" cy="459906"/>
            </a:xfrm>
            <a:prstGeom prst="roundRect">
              <a:avLst>
                <a:gd name="adj" fmla="val 0"/>
              </a:avLst>
            </a:prstGeom>
            <a:solidFill>
              <a:srgbClr val="DAE3F3"/>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043" name="TextBox 1042">
              <a:extLst>
                <a:ext uri="{FF2B5EF4-FFF2-40B4-BE49-F238E27FC236}">
                  <a16:creationId xmlns:a16="http://schemas.microsoft.com/office/drawing/2014/main" id="{25259668-DD49-0528-4575-BEC5E2BDE8EF}"/>
                </a:ext>
              </a:extLst>
            </p:cNvPr>
            <p:cNvSpPr txBox="1"/>
            <p:nvPr/>
          </p:nvSpPr>
          <p:spPr>
            <a:xfrm>
              <a:off x="2763377" y="4959662"/>
              <a:ext cx="1808508" cy="292388"/>
            </a:xfrm>
            <a:prstGeom prst="rect">
              <a:avLst/>
            </a:prstGeom>
            <a:noFill/>
          </p:spPr>
          <p:txBody>
            <a:bodyPr wrap="none" rtlCol="0" anchor="ctr">
              <a:spAutoFit/>
            </a:bodyPr>
            <a:lstStyle>
              <a:defPPr>
                <a:defRPr lang="en-US"/>
              </a:defPPr>
              <a:lvl1pPr marR="0" lvl="0" indent="0" algn="ctr" defTabSz="914377" fontAlgn="auto">
                <a:lnSpc>
                  <a:spcPct val="100000"/>
                </a:lnSpc>
                <a:spcBef>
                  <a:spcPts val="0"/>
                </a:spcBef>
                <a:spcAft>
                  <a:spcPts val="0"/>
                </a:spcAft>
                <a:buClrTx/>
                <a:buSzTx/>
                <a:buFontTx/>
                <a:buNone/>
                <a:tabLst/>
                <a:defRPr kumimoji="0" sz="1400" b="1" i="0" u="none" strike="noStrike" cap="none" spc="0" normalizeH="0" baseline="0">
                  <a:ln>
                    <a:noFill/>
                  </a:ln>
                  <a:solidFill>
                    <a:schemeClr val="tx2">
                      <a:lumMod val="75000"/>
                      <a:lumOff val="25000"/>
                    </a:schemeClr>
                  </a:solidFill>
                  <a:effectLst/>
                  <a:uLnTx/>
                  <a:uFillTx/>
                  <a:latin typeface="Arial" panose="020B0604020202020204" pitchFamily="34" charset="0"/>
                  <a:cs typeface="Arial" panose="020B0604020202020204" pitchFamily="34" charset="0"/>
                </a:defRPr>
              </a:lvl1pPr>
            </a:lstStyle>
            <a:p>
              <a:r>
                <a:rPr lang="en-US" sz="1300" kern="0" spc="50" dirty="0">
                  <a:solidFill>
                    <a:prstClr val="black">
                      <a:lumMod val="65000"/>
                      <a:lumOff val="35000"/>
                    </a:prstClr>
                  </a:solidFill>
                  <a:latin typeface="Aptos" panose="020B0004020202020204" pitchFamily="34" charset="0"/>
                </a:rPr>
                <a:t>Manufacturing Base</a:t>
              </a:r>
            </a:p>
          </p:txBody>
        </p:sp>
        <p:grpSp>
          <p:nvGrpSpPr>
            <p:cNvPr id="26" name="Group 25">
              <a:extLst>
                <a:ext uri="{FF2B5EF4-FFF2-40B4-BE49-F238E27FC236}">
                  <a16:creationId xmlns:a16="http://schemas.microsoft.com/office/drawing/2014/main" id="{6C6E8DF7-499D-7A00-6421-B51F105F961A}"/>
                </a:ext>
              </a:extLst>
            </p:cNvPr>
            <p:cNvGrpSpPr/>
            <p:nvPr/>
          </p:nvGrpSpPr>
          <p:grpSpPr>
            <a:xfrm>
              <a:off x="2595622" y="4103273"/>
              <a:ext cx="2182332" cy="2593466"/>
              <a:chOff x="2595622" y="4103273"/>
              <a:chExt cx="2182332" cy="2593466"/>
            </a:xfrm>
          </p:grpSpPr>
          <p:sp>
            <p:nvSpPr>
              <p:cNvPr id="1046" name="Oval 1045">
                <a:extLst>
                  <a:ext uri="{FF2B5EF4-FFF2-40B4-BE49-F238E27FC236}">
                    <a16:creationId xmlns:a16="http://schemas.microsoft.com/office/drawing/2014/main" id="{EA4E222E-6F94-D196-DA47-4E7CFF6D3303}"/>
                  </a:ext>
                </a:extLst>
              </p:cNvPr>
              <p:cNvSpPr/>
              <p:nvPr/>
            </p:nvSpPr>
            <p:spPr>
              <a:xfrm>
                <a:off x="3419070" y="4103273"/>
                <a:ext cx="711561" cy="718358"/>
              </a:xfrm>
              <a:prstGeom prst="ellipse">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ptos" panose="020B0004020202020204" pitchFamily="34" charset="0"/>
                </a:endParaRPr>
              </a:p>
            </p:txBody>
          </p:sp>
          <p:sp>
            <p:nvSpPr>
              <p:cNvPr id="1041" name="Rectangle: Rounded Corners 1040">
                <a:extLst>
                  <a:ext uri="{FF2B5EF4-FFF2-40B4-BE49-F238E27FC236}">
                    <a16:creationId xmlns:a16="http://schemas.microsoft.com/office/drawing/2014/main" id="{F0173958-1E1D-19AB-76FA-43F346043880}"/>
                  </a:ext>
                </a:extLst>
              </p:cNvPr>
              <p:cNvSpPr/>
              <p:nvPr/>
            </p:nvSpPr>
            <p:spPr>
              <a:xfrm>
                <a:off x="2595622" y="4493516"/>
                <a:ext cx="2182332" cy="2203223"/>
              </a:xfrm>
              <a:prstGeom prst="roundRect">
                <a:avLst>
                  <a:gd name="adj" fmla="val 8775"/>
                </a:avLst>
              </a:prstGeom>
              <a:no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047" name="Freeform 19">
                <a:extLst>
                  <a:ext uri="{FF2B5EF4-FFF2-40B4-BE49-F238E27FC236}">
                    <a16:creationId xmlns:a16="http://schemas.microsoft.com/office/drawing/2014/main" id="{4DCEFE2D-F753-6EC2-91A7-26593164408F}"/>
                  </a:ext>
                </a:extLst>
              </p:cNvPr>
              <p:cNvSpPr>
                <a:spLocks noEditPoints="1"/>
              </p:cNvSpPr>
              <p:nvPr/>
            </p:nvSpPr>
            <p:spPr bwMode="auto">
              <a:xfrm>
                <a:off x="3517383" y="4251143"/>
                <a:ext cx="456077" cy="374369"/>
              </a:xfrm>
              <a:custGeom>
                <a:avLst/>
                <a:gdLst>
                  <a:gd name="T0" fmla="*/ 11193 w 20078"/>
                  <a:gd name="T1" fmla="*/ 2877 h 14424"/>
                  <a:gd name="T2" fmla="*/ 10174 w 20078"/>
                  <a:gd name="T3" fmla="*/ 9606 h 14424"/>
                  <a:gd name="T4" fmla="*/ 9553 w 20078"/>
                  <a:gd name="T5" fmla="*/ 5117 h 14424"/>
                  <a:gd name="T6" fmla="*/ 7356 w 20078"/>
                  <a:gd name="T7" fmla="*/ 2612 h 14424"/>
                  <a:gd name="T8" fmla="*/ 4212 w 20078"/>
                  <a:gd name="T9" fmla="*/ 4884 h 14424"/>
                  <a:gd name="T10" fmla="*/ 2282 w 20078"/>
                  <a:gd name="T11" fmla="*/ 6695 h 14424"/>
                  <a:gd name="T12" fmla="*/ 476 w 20078"/>
                  <a:gd name="T13" fmla="*/ 9636 h 14424"/>
                  <a:gd name="T14" fmla="*/ 1710 w 20078"/>
                  <a:gd name="T15" fmla="*/ 13783 h 14424"/>
                  <a:gd name="T16" fmla="*/ 123 w 20078"/>
                  <a:gd name="T17" fmla="*/ 14414 h 14424"/>
                  <a:gd name="T18" fmla="*/ 19756 w 20078"/>
                  <a:gd name="T19" fmla="*/ 14396 h 14424"/>
                  <a:gd name="T20" fmla="*/ 19578 w 20078"/>
                  <a:gd name="T21" fmla="*/ 8368 h 14424"/>
                  <a:gd name="T22" fmla="*/ 19576 w 20078"/>
                  <a:gd name="T23" fmla="*/ 0 h 14424"/>
                  <a:gd name="T24" fmla="*/ 19097 w 20078"/>
                  <a:gd name="T25" fmla="*/ 3784 h 14424"/>
                  <a:gd name="T26" fmla="*/ 14779 w 20078"/>
                  <a:gd name="T27" fmla="*/ 2865 h 14424"/>
                  <a:gd name="T28" fmla="*/ 17264 w 20078"/>
                  <a:gd name="T29" fmla="*/ 4725 h 14424"/>
                  <a:gd name="T30" fmla="*/ 18374 w 20078"/>
                  <a:gd name="T31" fmla="*/ 1187 h 14424"/>
                  <a:gd name="T32" fmla="*/ 18575 w 20078"/>
                  <a:gd name="T33" fmla="*/ 5389 h 14424"/>
                  <a:gd name="T34" fmla="*/ 15458 w 20078"/>
                  <a:gd name="T35" fmla="*/ 1196 h 14424"/>
                  <a:gd name="T36" fmla="*/ 15724 w 20078"/>
                  <a:gd name="T37" fmla="*/ 2380 h 14424"/>
                  <a:gd name="T38" fmla="*/ 16219 w 20078"/>
                  <a:gd name="T39" fmla="*/ 2745 h 14424"/>
                  <a:gd name="T40" fmla="*/ 6810 w 20078"/>
                  <a:gd name="T41" fmla="*/ 2987 h 14424"/>
                  <a:gd name="T42" fmla="*/ 4688 w 20078"/>
                  <a:gd name="T43" fmla="*/ 4908 h 14424"/>
                  <a:gd name="T44" fmla="*/ 14300 w 20078"/>
                  <a:gd name="T45" fmla="*/ 3359 h 14424"/>
                  <a:gd name="T46" fmla="*/ 4664 w 20078"/>
                  <a:gd name="T47" fmla="*/ 5305 h 14424"/>
                  <a:gd name="T48" fmla="*/ 4680 w 20078"/>
                  <a:gd name="T49" fmla="*/ 10823 h 14424"/>
                  <a:gd name="T50" fmla="*/ 17341 w 20078"/>
                  <a:gd name="T51" fmla="*/ 6215 h 14424"/>
                  <a:gd name="T52" fmla="*/ 4241 w 20078"/>
                  <a:gd name="T53" fmla="*/ 7018 h 14424"/>
                  <a:gd name="T54" fmla="*/ 4279 w 20078"/>
                  <a:gd name="T55" fmla="*/ 11413 h 14424"/>
                  <a:gd name="T56" fmla="*/ 5173 w 20078"/>
                  <a:gd name="T57" fmla="*/ 12989 h 14424"/>
                  <a:gd name="T58" fmla="*/ 2140 w 20078"/>
                  <a:gd name="T59" fmla="*/ 13992 h 14424"/>
                  <a:gd name="T60" fmla="*/ 3417 w 20078"/>
                  <a:gd name="T61" fmla="*/ 11126 h 14424"/>
                  <a:gd name="T62" fmla="*/ 2297 w 20078"/>
                  <a:gd name="T63" fmla="*/ 7247 h 14424"/>
                  <a:gd name="T64" fmla="*/ 10772 w 20078"/>
                  <a:gd name="T65" fmla="*/ 12937 h 14424"/>
                  <a:gd name="T66" fmla="*/ 19098 w 20078"/>
                  <a:gd name="T67" fmla="*/ 8410 h 14424"/>
                  <a:gd name="T68" fmla="*/ 18364 w 20078"/>
                  <a:gd name="T69" fmla="*/ 9116 h 14424"/>
                  <a:gd name="T70" fmla="*/ 2996 w 20078"/>
                  <a:gd name="T71" fmla="*/ 10948 h 14424"/>
                  <a:gd name="T72" fmla="*/ 866 w 20078"/>
                  <a:gd name="T73" fmla="*/ 11023 h 14424"/>
                  <a:gd name="T74" fmla="*/ 12845 w 20078"/>
                  <a:gd name="T75" fmla="*/ 9610 h 14424"/>
                  <a:gd name="T76" fmla="*/ 11870 w 20078"/>
                  <a:gd name="T77" fmla="*/ 9594 h 14424"/>
                  <a:gd name="T78" fmla="*/ 13325 w 20078"/>
                  <a:gd name="T79" fmla="*/ 9963 h 14424"/>
                  <a:gd name="T80" fmla="*/ 16218 w 20078"/>
                  <a:gd name="T81" fmla="*/ 9596 h 14424"/>
                  <a:gd name="T82" fmla="*/ 15004 w 20078"/>
                  <a:gd name="T83" fmla="*/ 9596 h 14424"/>
                  <a:gd name="T84" fmla="*/ 17290 w 20078"/>
                  <a:gd name="T85" fmla="*/ 10330 h 14424"/>
                  <a:gd name="T86" fmla="*/ 10173 w 20078"/>
                  <a:gd name="T87" fmla="*/ 10195 h 14424"/>
                  <a:gd name="T88" fmla="*/ 10900 w 20078"/>
                  <a:gd name="T89" fmla="*/ 13523 h 14424"/>
                  <a:gd name="T90" fmla="*/ 8079 w 20078"/>
                  <a:gd name="T91" fmla="*/ 13725 h 14424"/>
                  <a:gd name="T92" fmla="*/ 9393 w 20078"/>
                  <a:gd name="T93" fmla="*/ 10816 h 14424"/>
                  <a:gd name="T94" fmla="*/ 12860 w 20078"/>
                  <a:gd name="T95" fmla="*/ 12362 h 14424"/>
                  <a:gd name="T96" fmla="*/ 13311 w 20078"/>
                  <a:gd name="T97" fmla="*/ 10809 h 14424"/>
                  <a:gd name="T98" fmla="*/ 13311 w 20078"/>
                  <a:gd name="T99" fmla="*/ 13914 h 14424"/>
                  <a:gd name="T100" fmla="*/ 16218 w 20078"/>
                  <a:gd name="T101" fmla="*/ 12362 h 14424"/>
                  <a:gd name="T102" fmla="*/ 16698 w 20078"/>
                  <a:gd name="T103" fmla="*/ 10809 h 14424"/>
                  <a:gd name="T104" fmla="*/ 16698 w 20078"/>
                  <a:gd name="T105" fmla="*/ 13914 h 14424"/>
                  <a:gd name="T106" fmla="*/ 8908 w 20078"/>
                  <a:gd name="T107" fmla="*/ 11309 h 14424"/>
                  <a:gd name="T108" fmla="*/ 4688 w 20078"/>
                  <a:gd name="T109" fmla="*/ 11237 h 14424"/>
                  <a:gd name="T110" fmla="*/ 7599 w 20078"/>
                  <a:gd name="T111" fmla="*/ 13454 h 14424"/>
                  <a:gd name="T112" fmla="*/ 5954 w 20078"/>
                  <a:gd name="T113" fmla="*/ 13445 h 14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0078" h="14424">
                    <a:moveTo>
                      <a:pt x="14300" y="0"/>
                    </a:moveTo>
                    <a:lnTo>
                      <a:pt x="14293" y="1433"/>
                    </a:lnTo>
                    <a:lnTo>
                      <a:pt x="14286" y="2865"/>
                    </a:lnTo>
                    <a:lnTo>
                      <a:pt x="11643" y="2870"/>
                    </a:lnTo>
                    <a:lnTo>
                      <a:pt x="11643" y="2877"/>
                    </a:lnTo>
                    <a:lnTo>
                      <a:pt x="11193" y="2877"/>
                    </a:lnTo>
                    <a:lnTo>
                      <a:pt x="11193" y="7230"/>
                    </a:lnTo>
                    <a:cubicBezTo>
                      <a:pt x="10986" y="7230"/>
                      <a:pt x="10960" y="7239"/>
                      <a:pt x="10788" y="7325"/>
                    </a:cubicBezTo>
                    <a:cubicBezTo>
                      <a:pt x="10536" y="7450"/>
                      <a:pt x="10413" y="7577"/>
                      <a:pt x="10288" y="7837"/>
                    </a:cubicBezTo>
                    <a:lnTo>
                      <a:pt x="10186" y="8048"/>
                    </a:lnTo>
                    <a:lnTo>
                      <a:pt x="10181" y="8755"/>
                    </a:lnTo>
                    <a:cubicBezTo>
                      <a:pt x="10178" y="9144"/>
                      <a:pt x="10175" y="9527"/>
                      <a:pt x="10174" y="9606"/>
                    </a:cubicBezTo>
                    <a:lnTo>
                      <a:pt x="10173" y="9748"/>
                    </a:lnTo>
                    <a:lnTo>
                      <a:pt x="9764" y="9748"/>
                    </a:lnTo>
                    <a:lnTo>
                      <a:pt x="9355" y="9748"/>
                    </a:lnTo>
                    <a:lnTo>
                      <a:pt x="9355" y="7527"/>
                    </a:lnTo>
                    <a:cubicBezTo>
                      <a:pt x="9355" y="6305"/>
                      <a:pt x="9363" y="5307"/>
                      <a:pt x="9373" y="5309"/>
                    </a:cubicBezTo>
                    <a:cubicBezTo>
                      <a:pt x="9468" y="5324"/>
                      <a:pt x="9553" y="5233"/>
                      <a:pt x="9553" y="5117"/>
                    </a:cubicBezTo>
                    <a:cubicBezTo>
                      <a:pt x="9553" y="4998"/>
                      <a:pt x="9515" y="4936"/>
                      <a:pt x="9418" y="4895"/>
                    </a:cubicBezTo>
                    <a:cubicBezTo>
                      <a:pt x="9344" y="4864"/>
                      <a:pt x="9335" y="4849"/>
                      <a:pt x="9323" y="4728"/>
                    </a:cubicBezTo>
                    <a:cubicBezTo>
                      <a:pt x="9292" y="4428"/>
                      <a:pt x="9107" y="3963"/>
                      <a:pt x="8895" y="3654"/>
                    </a:cubicBezTo>
                    <a:cubicBezTo>
                      <a:pt x="8754" y="3447"/>
                      <a:pt x="8457" y="3151"/>
                      <a:pt x="8251" y="3009"/>
                    </a:cubicBezTo>
                    <a:cubicBezTo>
                      <a:pt x="8079" y="2892"/>
                      <a:pt x="7710" y="2706"/>
                      <a:pt x="7582" y="2673"/>
                    </a:cubicBezTo>
                    <a:cubicBezTo>
                      <a:pt x="7540" y="2661"/>
                      <a:pt x="7438" y="2634"/>
                      <a:pt x="7356" y="2612"/>
                    </a:cubicBezTo>
                    <a:cubicBezTo>
                      <a:pt x="7248" y="2582"/>
                      <a:pt x="6993" y="2564"/>
                      <a:pt x="6763" y="2562"/>
                    </a:cubicBezTo>
                    <a:cubicBezTo>
                      <a:pt x="6625" y="2561"/>
                      <a:pt x="6495" y="2566"/>
                      <a:pt x="6412" y="2579"/>
                    </a:cubicBezTo>
                    <a:cubicBezTo>
                      <a:pt x="6218" y="2608"/>
                      <a:pt x="5839" y="2732"/>
                      <a:pt x="5648" y="2828"/>
                    </a:cubicBezTo>
                    <a:cubicBezTo>
                      <a:pt x="5185" y="3060"/>
                      <a:pt x="4811" y="3425"/>
                      <a:pt x="4555" y="3891"/>
                    </a:cubicBezTo>
                    <a:cubicBezTo>
                      <a:pt x="4445" y="4093"/>
                      <a:pt x="4295" y="4546"/>
                      <a:pt x="4275" y="4738"/>
                    </a:cubicBezTo>
                    <a:cubicBezTo>
                      <a:pt x="4262" y="4859"/>
                      <a:pt x="4251" y="4884"/>
                      <a:pt x="4212" y="4884"/>
                    </a:cubicBezTo>
                    <a:cubicBezTo>
                      <a:pt x="4129" y="4884"/>
                      <a:pt x="4043" y="4994"/>
                      <a:pt x="4043" y="5101"/>
                    </a:cubicBezTo>
                    <a:cubicBezTo>
                      <a:pt x="4043" y="5199"/>
                      <a:pt x="4092" y="5267"/>
                      <a:pt x="4204" y="5325"/>
                    </a:cubicBezTo>
                    <a:cubicBezTo>
                      <a:pt x="4252" y="5349"/>
                      <a:pt x="4254" y="5373"/>
                      <a:pt x="4250" y="5917"/>
                    </a:cubicBezTo>
                    <a:cubicBezTo>
                      <a:pt x="4248" y="6229"/>
                      <a:pt x="4245" y="6504"/>
                      <a:pt x="4244" y="6528"/>
                    </a:cubicBezTo>
                    <a:cubicBezTo>
                      <a:pt x="4242" y="6568"/>
                      <a:pt x="4188" y="6572"/>
                      <a:pt x="3478" y="6572"/>
                    </a:cubicBezTo>
                    <a:cubicBezTo>
                      <a:pt x="2662" y="6572"/>
                      <a:pt x="2489" y="6589"/>
                      <a:pt x="2282" y="6695"/>
                    </a:cubicBezTo>
                    <a:cubicBezTo>
                      <a:pt x="2046" y="6815"/>
                      <a:pt x="1802" y="7116"/>
                      <a:pt x="1744" y="7356"/>
                    </a:cubicBezTo>
                    <a:cubicBezTo>
                      <a:pt x="1735" y="7395"/>
                      <a:pt x="1722" y="7670"/>
                      <a:pt x="1716" y="7967"/>
                    </a:cubicBezTo>
                    <a:lnTo>
                      <a:pt x="1706" y="8506"/>
                    </a:lnTo>
                    <a:lnTo>
                      <a:pt x="1615" y="8521"/>
                    </a:lnTo>
                    <a:cubicBezTo>
                      <a:pt x="1334" y="8568"/>
                      <a:pt x="1008" y="8755"/>
                      <a:pt x="803" y="8986"/>
                    </a:cubicBezTo>
                    <a:cubicBezTo>
                      <a:pt x="667" y="9141"/>
                      <a:pt x="504" y="9465"/>
                      <a:pt x="476" y="9636"/>
                    </a:cubicBezTo>
                    <a:cubicBezTo>
                      <a:pt x="465" y="9705"/>
                      <a:pt x="457" y="10363"/>
                      <a:pt x="457" y="11100"/>
                    </a:cubicBezTo>
                    <a:cubicBezTo>
                      <a:pt x="457" y="12295"/>
                      <a:pt x="461" y="12451"/>
                      <a:pt x="497" y="12528"/>
                    </a:cubicBezTo>
                    <a:cubicBezTo>
                      <a:pt x="520" y="12576"/>
                      <a:pt x="550" y="12650"/>
                      <a:pt x="564" y="12693"/>
                    </a:cubicBezTo>
                    <a:cubicBezTo>
                      <a:pt x="630" y="12901"/>
                      <a:pt x="952" y="13254"/>
                      <a:pt x="1205" y="13396"/>
                    </a:cubicBezTo>
                    <a:cubicBezTo>
                      <a:pt x="1278" y="13438"/>
                      <a:pt x="1402" y="13489"/>
                      <a:pt x="1480" y="13509"/>
                    </a:cubicBezTo>
                    <a:cubicBezTo>
                      <a:pt x="1730" y="13574"/>
                      <a:pt x="1710" y="13550"/>
                      <a:pt x="1710" y="13783"/>
                    </a:cubicBezTo>
                    <a:lnTo>
                      <a:pt x="1710" y="13992"/>
                    </a:lnTo>
                    <a:lnTo>
                      <a:pt x="927" y="13992"/>
                    </a:lnTo>
                    <a:lnTo>
                      <a:pt x="144" y="13992"/>
                    </a:lnTo>
                    <a:lnTo>
                      <a:pt x="83" y="14053"/>
                    </a:lnTo>
                    <a:cubicBezTo>
                      <a:pt x="4" y="14132"/>
                      <a:pt x="0" y="14282"/>
                      <a:pt x="73" y="14360"/>
                    </a:cubicBezTo>
                    <a:lnTo>
                      <a:pt x="123" y="14414"/>
                    </a:lnTo>
                    <a:lnTo>
                      <a:pt x="6369" y="14414"/>
                    </a:lnTo>
                    <a:lnTo>
                      <a:pt x="11193" y="14414"/>
                    </a:lnTo>
                    <a:lnTo>
                      <a:pt x="11193" y="14424"/>
                    </a:lnTo>
                    <a:lnTo>
                      <a:pt x="11691" y="14424"/>
                    </a:lnTo>
                    <a:lnTo>
                      <a:pt x="11691" y="14414"/>
                    </a:lnTo>
                    <a:cubicBezTo>
                      <a:pt x="15277" y="14416"/>
                      <a:pt x="19591" y="14410"/>
                      <a:pt x="19756" y="14396"/>
                    </a:cubicBezTo>
                    <a:cubicBezTo>
                      <a:pt x="19913" y="14383"/>
                      <a:pt x="19959" y="14367"/>
                      <a:pt x="20002" y="14312"/>
                    </a:cubicBezTo>
                    <a:cubicBezTo>
                      <a:pt x="20078" y="14220"/>
                      <a:pt x="20071" y="14095"/>
                      <a:pt x="19987" y="14011"/>
                    </a:cubicBezTo>
                    <a:cubicBezTo>
                      <a:pt x="19928" y="13953"/>
                      <a:pt x="19890" y="13942"/>
                      <a:pt x="19747" y="13942"/>
                    </a:cubicBezTo>
                    <a:lnTo>
                      <a:pt x="19577" y="13942"/>
                    </a:lnTo>
                    <a:lnTo>
                      <a:pt x="19577" y="11155"/>
                    </a:lnTo>
                    <a:lnTo>
                      <a:pt x="19578" y="8368"/>
                    </a:lnTo>
                    <a:lnTo>
                      <a:pt x="19668" y="8312"/>
                    </a:lnTo>
                    <a:cubicBezTo>
                      <a:pt x="19780" y="8241"/>
                      <a:pt x="19844" y="8083"/>
                      <a:pt x="19817" y="7943"/>
                    </a:cubicBezTo>
                    <a:cubicBezTo>
                      <a:pt x="19806" y="7881"/>
                      <a:pt x="19754" y="7792"/>
                      <a:pt x="19688" y="7720"/>
                    </a:cubicBezTo>
                    <a:lnTo>
                      <a:pt x="19576" y="7600"/>
                    </a:lnTo>
                    <a:lnTo>
                      <a:pt x="19576" y="3800"/>
                    </a:lnTo>
                    <a:lnTo>
                      <a:pt x="19576" y="0"/>
                    </a:lnTo>
                    <a:lnTo>
                      <a:pt x="16939" y="0"/>
                    </a:lnTo>
                    <a:lnTo>
                      <a:pt x="14300" y="0"/>
                    </a:lnTo>
                    <a:close/>
                    <a:moveTo>
                      <a:pt x="14779" y="452"/>
                    </a:moveTo>
                    <a:lnTo>
                      <a:pt x="16938" y="452"/>
                    </a:lnTo>
                    <a:lnTo>
                      <a:pt x="19097" y="452"/>
                    </a:lnTo>
                    <a:lnTo>
                      <a:pt x="19097" y="3784"/>
                    </a:lnTo>
                    <a:cubicBezTo>
                      <a:pt x="19097" y="5718"/>
                      <a:pt x="19086" y="7112"/>
                      <a:pt x="19071" y="7107"/>
                    </a:cubicBezTo>
                    <a:cubicBezTo>
                      <a:pt x="19057" y="7102"/>
                      <a:pt x="18593" y="6689"/>
                      <a:pt x="18039" y="6188"/>
                    </a:cubicBezTo>
                    <a:lnTo>
                      <a:pt x="17032" y="5278"/>
                    </a:lnTo>
                    <a:lnTo>
                      <a:pt x="15905" y="5278"/>
                    </a:lnTo>
                    <a:lnTo>
                      <a:pt x="14779" y="5278"/>
                    </a:lnTo>
                    <a:lnTo>
                      <a:pt x="14779" y="2865"/>
                    </a:lnTo>
                    <a:lnTo>
                      <a:pt x="14779" y="452"/>
                    </a:lnTo>
                    <a:close/>
                    <a:moveTo>
                      <a:pt x="17414" y="1187"/>
                    </a:moveTo>
                    <a:cubicBezTo>
                      <a:pt x="17381" y="1188"/>
                      <a:pt x="17346" y="1198"/>
                      <a:pt x="17309" y="1218"/>
                    </a:cubicBezTo>
                    <a:cubicBezTo>
                      <a:pt x="17176" y="1289"/>
                      <a:pt x="17179" y="1248"/>
                      <a:pt x="17178" y="2996"/>
                    </a:cubicBezTo>
                    <a:lnTo>
                      <a:pt x="17178" y="4652"/>
                    </a:lnTo>
                    <a:lnTo>
                      <a:pt x="17264" y="4725"/>
                    </a:lnTo>
                    <a:cubicBezTo>
                      <a:pt x="17361" y="4806"/>
                      <a:pt x="17412" y="4814"/>
                      <a:pt x="17515" y="4762"/>
                    </a:cubicBezTo>
                    <a:cubicBezTo>
                      <a:pt x="17657" y="4690"/>
                      <a:pt x="17656" y="4698"/>
                      <a:pt x="17656" y="2968"/>
                    </a:cubicBezTo>
                    <a:lnTo>
                      <a:pt x="17657" y="1351"/>
                    </a:lnTo>
                    <a:lnTo>
                      <a:pt x="17574" y="1268"/>
                    </a:lnTo>
                    <a:cubicBezTo>
                      <a:pt x="17519" y="1213"/>
                      <a:pt x="17469" y="1186"/>
                      <a:pt x="17414" y="1187"/>
                    </a:cubicBezTo>
                    <a:close/>
                    <a:moveTo>
                      <a:pt x="18374" y="1187"/>
                    </a:moveTo>
                    <a:cubicBezTo>
                      <a:pt x="18341" y="1188"/>
                      <a:pt x="18306" y="1198"/>
                      <a:pt x="18269" y="1218"/>
                    </a:cubicBezTo>
                    <a:cubicBezTo>
                      <a:pt x="18134" y="1290"/>
                      <a:pt x="18139" y="1226"/>
                      <a:pt x="18138" y="3353"/>
                    </a:cubicBezTo>
                    <a:lnTo>
                      <a:pt x="18137" y="5365"/>
                    </a:lnTo>
                    <a:lnTo>
                      <a:pt x="18206" y="5434"/>
                    </a:lnTo>
                    <a:cubicBezTo>
                      <a:pt x="18272" y="5500"/>
                      <a:pt x="18401" y="5523"/>
                      <a:pt x="18497" y="5484"/>
                    </a:cubicBezTo>
                    <a:cubicBezTo>
                      <a:pt x="18517" y="5476"/>
                      <a:pt x="18552" y="5433"/>
                      <a:pt x="18575" y="5389"/>
                    </a:cubicBezTo>
                    <a:cubicBezTo>
                      <a:pt x="18610" y="5320"/>
                      <a:pt x="18617" y="5021"/>
                      <a:pt x="18617" y="3330"/>
                    </a:cubicBezTo>
                    <a:lnTo>
                      <a:pt x="18617" y="1351"/>
                    </a:lnTo>
                    <a:lnTo>
                      <a:pt x="18534" y="1268"/>
                    </a:lnTo>
                    <a:cubicBezTo>
                      <a:pt x="18479" y="1213"/>
                      <a:pt x="18428" y="1186"/>
                      <a:pt x="18374" y="1187"/>
                    </a:cubicBezTo>
                    <a:close/>
                    <a:moveTo>
                      <a:pt x="15512" y="1191"/>
                    </a:moveTo>
                    <a:cubicBezTo>
                      <a:pt x="15496" y="1191"/>
                      <a:pt x="15478" y="1193"/>
                      <a:pt x="15458" y="1196"/>
                    </a:cubicBezTo>
                    <a:cubicBezTo>
                      <a:pt x="15255" y="1229"/>
                      <a:pt x="15258" y="1207"/>
                      <a:pt x="15258" y="2389"/>
                    </a:cubicBezTo>
                    <a:lnTo>
                      <a:pt x="15258" y="3446"/>
                    </a:lnTo>
                    <a:lnTo>
                      <a:pt x="15327" y="3515"/>
                    </a:lnTo>
                    <a:cubicBezTo>
                      <a:pt x="15422" y="3610"/>
                      <a:pt x="15564" y="3608"/>
                      <a:pt x="15655" y="3511"/>
                    </a:cubicBezTo>
                    <a:lnTo>
                      <a:pt x="15724" y="3439"/>
                    </a:lnTo>
                    <a:lnTo>
                      <a:pt x="15724" y="2380"/>
                    </a:lnTo>
                    <a:lnTo>
                      <a:pt x="15724" y="1321"/>
                    </a:lnTo>
                    <a:lnTo>
                      <a:pt x="15641" y="1251"/>
                    </a:lnTo>
                    <a:cubicBezTo>
                      <a:pt x="15591" y="1208"/>
                      <a:pt x="15559" y="1191"/>
                      <a:pt x="15512" y="1191"/>
                    </a:cubicBezTo>
                    <a:close/>
                    <a:moveTo>
                      <a:pt x="16457" y="1194"/>
                    </a:moveTo>
                    <a:cubicBezTo>
                      <a:pt x="16393" y="1192"/>
                      <a:pt x="16328" y="1217"/>
                      <a:pt x="16274" y="1271"/>
                    </a:cubicBezTo>
                    <a:cubicBezTo>
                      <a:pt x="16220" y="1325"/>
                      <a:pt x="16218" y="1370"/>
                      <a:pt x="16219" y="2745"/>
                    </a:cubicBezTo>
                    <a:cubicBezTo>
                      <a:pt x="16220" y="4241"/>
                      <a:pt x="16217" y="4215"/>
                      <a:pt x="16349" y="4286"/>
                    </a:cubicBezTo>
                    <a:cubicBezTo>
                      <a:pt x="16427" y="4327"/>
                      <a:pt x="16468" y="4326"/>
                      <a:pt x="16556" y="4282"/>
                    </a:cubicBezTo>
                    <a:cubicBezTo>
                      <a:pt x="16696" y="4211"/>
                      <a:pt x="16697" y="4200"/>
                      <a:pt x="16697" y="2752"/>
                    </a:cubicBezTo>
                    <a:cubicBezTo>
                      <a:pt x="16697" y="1724"/>
                      <a:pt x="16688" y="1380"/>
                      <a:pt x="16662" y="1328"/>
                    </a:cubicBezTo>
                    <a:cubicBezTo>
                      <a:pt x="16618" y="1242"/>
                      <a:pt x="16539" y="1196"/>
                      <a:pt x="16457" y="1194"/>
                    </a:cubicBezTo>
                    <a:close/>
                    <a:moveTo>
                      <a:pt x="6810" y="2987"/>
                    </a:moveTo>
                    <a:cubicBezTo>
                      <a:pt x="7114" y="2989"/>
                      <a:pt x="7185" y="2998"/>
                      <a:pt x="7381" y="3057"/>
                    </a:cubicBezTo>
                    <a:cubicBezTo>
                      <a:pt x="7967" y="3234"/>
                      <a:pt x="8435" y="3624"/>
                      <a:pt x="8696" y="4152"/>
                    </a:cubicBezTo>
                    <a:cubicBezTo>
                      <a:pt x="8806" y="4373"/>
                      <a:pt x="8908" y="4705"/>
                      <a:pt x="8908" y="4839"/>
                    </a:cubicBezTo>
                    <a:lnTo>
                      <a:pt x="8908" y="4908"/>
                    </a:lnTo>
                    <a:lnTo>
                      <a:pt x="6798" y="4908"/>
                    </a:lnTo>
                    <a:lnTo>
                      <a:pt x="4688" y="4908"/>
                    </a:lnTo>
                    <a:lnTo>
                      <a:pt x="4688" y="4857"/>
                    </a:lnTo>
                    <a:cubicBezTo>
                      <a:pt x="4688" y="4756"/>
                      <a:pt x="4770" y="4449"/>
                      <a:pt x="4843" y="4277"/>
                    </a:cubicBezTo>
                    <a:cubicBezTo>
                      <a:pt x="5046" y="3797"/>
                      <a:pt x="5450" y="3381"/>
                      <a:pt x="5919" y="3168"/>
                    </a:cubicBezTo>
                    <a:cubicBezTo>
                      <a:pt x="6235" y="3025"/>
                      <a:pt x="6429" y="2986"/>
                      <a:pt x="6810" y="2987"/>
                    </a:cubicBezTo>
                    <a:close/>
                    <a:moveTo>
                      <a:pt x="11691" y="3359"/>
                    </a:moveTo>
                    <a:lnTo>
                      <a:pt x="14300" y="3359"/>
                    </a:lnTo>
                    <a:lnTo>
                      <a:pt x="14300" y="4318"/>
                    </a:lnTo>
                    <a:lnTo>
                      <a:pt x="14300" y="5278"/>
                    </a:lnTo>
                    <a:lnTo>
                      <a:pt x="11961" y="5278"/>
                    </a:lnTo>
                    <a:lnTo>
                      <a:pt x="11691" y="5278"/>
                    </a:lnTo>
                    <a:lnTo>
                      <a:pt x="11691" y="3359"/>
                    </a:lnTo>
                    <a:close/>
                    <a:moveTo>
                      <a:pt x="4664" y="5305"/>
                    </a:moveTo>
                    <a:lnTo>
                      <a:pt x="6798" y="5305"/>
                    </a:lnTo>
                    <a:lnTo>
                      <a:pt x="8932" y="5305"/>
                    </a:lnTo>
                    <a:lnTo>
                      <a:pt x="8926" y="8067"/>
                    </a:lnTo>
                    <a:lnTo>
                      <a:pt x="8920" y="10828"/>
                    </a:lnTo>
                    <a:lnTo>
                      <a:pt x="6809" y="10834"/>
                    </a:lnTo>
                    <a:cubicBezTo>
                      <a:pt x="5647" y="10838"/>
                      <a:pt x="4690" y="10833"/>
                      <a:pt x="4680" y="10823"/>
                    </a:cubicBezTo>
                    <a:cubicBezTo>
                      <a:pt x="4671" y="10814"/>
                      <a:pt x="4664" y="9569"/>
                      <a:pt x="4664" y="8056"/>
                    </a:cubicBezTo>
                    <a:lnTo>
                      <a:pt x="4664" y="5305"/>
                    </a:lnTo>
                    <a:close/>
                    <a:moveTo>
                      <a:pt x="11691" y="5758"/>
                    </a:moveTo>
                    <a:lnTo>
                      <a:pt x="13324" y="5758"/>
                    </a:lnTo>
                    <a:lnTo>
                      <a:pt x="16840" y="5758"/>
                    </a:lnTo>
                    <a:lnTo>
                      <a:pt x="17341" y="6215"/>
                    </a:lnTo>
                    <a:cubicBezTo>
                      <a:pt x="18484" y="7261"/>
                      <a:pt x="19182" y="7907"/>
                      <a:pt x="19182" y="7918"/>
                    </a:cubicBezTo>
                    <a:cubicBezTo>
                      <a:pt x="19182" y="7925"/>
                      <a:pt x="16566" y="7931"/>
                      <a:pt x="13368" y="7931"/>
                    </a:cubicBezTo>
                    <a:cubicBezTo>
                      <a:pt x="12648" y="7931"/>
                      <a:pt x="12232" y="7930"/>
                      <a:pt x="11691" y="7930"/>
                    </a:cubicBezTo>
                    <a:lnTo>
                      <a:pt x="11691" y="5758"/>
                    </a:lnTo>
                    <a:close/>
                    <a:moveTo>
                      <a:pt x="3429" y="7018"/>
                    </a:moveTo>
                    <a:lnTo>
                      <a:pt x="4241" y="7018"/>
                    </a:lnTo>
                    <a:lnTo>
                      <a:pt x="4243" y="7179"/>
                    </a:lnTo>
                    <a:cubicBezTo>
                      <a:pt x="4244" y="7268"/>
                      <a:pt x="4246" y="8039"/>
                      <a:pt x="4246" y="8892"/>
                    </a:cubicBezTo>
                    <a:cubicBezTo>
                      <a:pt x="4246" y="11038"/>
                      <a:pt x="4253" y="10807"/>
                      <a:pt x="4179" y="10825"/>
                    </a:cubicBezTo>
                    <a:cubicBezTo>
                      <a:pt x="4089" y="10848"/>
                      <a:pt x="4033" y="10947"/>
                      <a:pt x="4051" y="11055"/>
                    </a:cubicBezTo>
                    <a:cubicBezTo>
                      <a:pt x="4066" y="11146"/>
                      <a:pt x="4128" y="11237"/>
                      <a:pt x="4177" y="11238"/>
                    </a:cubicBezTo>
                    <a:cubicBezTo>
                      <a:pt x="4239" y="11239"/>
                      <a:pt x="4266" y="11285"/>
                      <a:pt x="4279" y="11413"/>
                    </a:cubicBezTo>
                    <a:cubicBezTo>
                      <a:pt x="4295" y="11573"/>
                      <a:pt x="4423" y="12000"/>
                      <a:pt x="4476" y="12070"/>
                    </a:cubicBezTo>
                    <a:cubicBezTo>
                      <a:pt x="4496" y="12097"/>
                      <a:pt x="4514" y="12135"/>
                      <a:pt x="4515" y="12155"/>
                    </a:cubicBezTo>
                    <a:cubicBezTo>
                      <a:pt x="4515" y="12176"/>
                      <a:pt x="4552" y="12248"/>
                      <a:pt x="4596" y="12315"/>
                    </a:cubicBezTo>
                    <a:cubicBezTo>
                      <a:pt x="4640" y="12382"/>
                      <a:pt x="4688" y="12458"/>
                      <a:pt x="4704" y="12485"/>
                    </a:cubicBezTo>
                    <a:cubicBezTo>
                      <a:pt x="4747" y="12557"/>
                      <a:pt x="5015" y="12876"/>
                      <a:pt x="5033" y="12876"/>
                    </a:cubicBezTo>
                    <a:cubicBezTo>
                      <a:pt x="5042" y="12876"/>
                      <a:pt x="5105" y="12927"/>
                      <a:pt x="5173" y="12989"/>
                    </a:cubicBezTo>
                    <a:cubicBezTo>
                      <a:pt x="5240" y="13051"/>
                      <a:pt x="5340" y="13126"/>
                      <a:pt x="5395" y="13156"/>
                    </a:cubicBezTo>
                    <a:cubicBezTo>
                      <a:pt x="5494" y="13211"/>
                      <a:pt x="5495" y="13213"/>
                      <a:pt x="5509" y="13385"/>
                    </a:cubicBezTo>
                    <a:cubicBezTo>
                      <a:pt x="5516" y="13480"/>
                      <a:pt x="5517" y="13656"/>
                      <a:pt x="5511" y="13775"/>
                    </a:cubicBezTo>
                    <a:lnTo>
                      <a:pt x="5501" y="13992"/>
                    </a:lnTo>
                    <a:lnTo>
                      <a:pt x="3821" y="13992"/>
                    </a:lnTo>
                    <a:lnTo>
                      <a:pt x="2140" y="13992"/>
                    </a:lnTo>
                    <a:lnTo>
                      <a:pt x="2152" y="13788"/>
                    </a:lnTo>
                    <a:cubicBezTo>
                      <a:pt x="2163" y="13584"/>
                      <a:pt x="2180" y="13547"/>
                      <a:pt x="2261" y="13546"/>
                    </a:cubicBezTo>
                    <a:cubicBezTo>
                      <a:pt x="2340" y="13545"/>
                      <a:pt x="2576" y="13444"/>
                      <a:pt x="2708" y="13355"/>
                    </a:cubicBezTo>
                    <a:cubicBezTo>
                      <a:pt x="3000" y="13158"/>
                      <a:pt x="3237" y="12865"/>
                      <a:pt x="3344" y="12571"/>
                    </a:cubicBezTo>
                    <a:lnTo>
                      <a:pt x="3410" y="12392"/>
                    </a:lnTo>
                    <a:lnTo>
                      <a:pt x="3417" y="11126"/>
                    </a:lnTo>
                    <a:cubicBezTo>
                      <a:pt x="3427" y="9713"/>
                      <a:pt x="3422" y="9653"/>
                      <a:pt x="3264" y="9316"/>
                    </a:cubicBezTo>
                    <a:cubicBezTo>
                      <a:pt x="3140" y="9052"/>
                      <a:pt x="2852" y="8766"/>
                      <a:pt x="2572" y="8631"/>
                    </a:cubicBezTo>
                    <a:cubicBezTo>
                      <a:pt x="2460" y="8577"/>
                      <a:pt x="2317" y="8525"/>
                      <a:pt x="2256" y="8517"/>
                    </a:cubicBezTo>
                    <a:lnTo>
                      <a:pt x="2144" y="8502"/>
                    </a:lnTo>
                    <a:lnTo>
                      <a:pt x="2150" y="7995"/>
                    </a:lnTo>
                    <a:cubicBezTo>
                      <a:pt x="2157" y="7454"/>
                      <a:pt x="2162" y="7429"/>
                      <a:pt x="2297" y="7247"/>
                    </a:cubicBezTo>
                    <a:cubicBezTo>
                      <a:pt x="2331" y="7203"/>
                      <a:pt x="2416" y="7133"/>
                      <a:pt x="2487" y="7093"/>
                    </a:cubicBezTo>
                    <a:lnTo>
                      <a:pt x="2616" y="7019"/>
                    </a:lnTo>
                    <a:lnTo>
                      <a:pt x="3429" y="7018"/>
                    </a:lnTo>
                    <a:close/>
                    <a:moveTo>
                      <a:pt x="11193" y="7642"/>
                    </a:moveTo>
                    <a:lnTo>
                      <a:pt x="11193" y="13147"/>
                    </a:lnTo>
                    <a:cubicBezTo>
                      <a:pt x="11021" y="13137"/>
                      <a:pt x="10901" y="13077"/>
                      <a:pt x="10772" y="12937"/>
                    </a:cubicBezTo>
                    <a:cubicBezTo>
                      <a:pt x="10587" y="12736"/>
                      <a:pt x="10593" y="12838"/>
                      <a:pt x="10601" y="10341"/>
                    </a:cubicBezTo>
                    <a:cubicBezTo>
                      <a:pt x="10609" y="7884"/>
                      <a:pt x="10597" y="8049"/>
                      <a:pt x="10772" y="7850"/>
                    </a:cubicBezTo>
                    <a:cubicBezTo>
                      <a:pt x="10881" y="7725"/>
                      <a:pt x="11035" y="7655"/>
                      <a:pt x="11193" y="7642"/>
                    </a:cubicBezTo>
                    <a:close/>
                    <a:moveTo>
                      <a:pt x="11691" y="8410"/>
                    </a:moveTo>
                    <a:lnTo>
                      <a:pt x="13326" y="8410"/>
                    </a:lnTo>
                    <a:lnTo>
                      <a:pt x="19098" y="8410"/>
                    </a:lnTo>
                    <a:lnTo>
                      <a:pt x="19098" y="11162"/>
                    </a:lnTo>
                    <a:lnTo>
                      <a:pt x="19098" y="13914"/>
                    </a:lnTo>
                    <a:lnTo>
                      <a:pt x="18731" y="13914"/>
                    </a:lnTo>
                    <a:lnTo>
                      <a:pt x="18364" y="13914"/>
                    </a:lnTo>
                    <a:lnTo>
                      <a:pt x="18364" y="11515"/>
                    </a:lnTo>
                    <a:lnTo>
                      <a:pt x="18364" y="9116"/>
                    </a:lnTo>
                    <a:lnTo>
                      <a:pt x="13326" y="9116"/>
                    </a:lnTo>
                    <a:lnTo>
                      <a:pt x="11691" y="9116"/>
                    </a:lnTo>
                    <a:lnTo>
                      <a:pt x="11691" y="8410"/>
                    </a:lnTo>
                    <a:close/>
                    <a:moveTo>
                      <a:pt x="1920" y="8910"/>
                    </a:moveTo>
                    <a:cubicBezTo>
                      <a:pt x="2339" y="8906"/>
                      <a:pt x="2751" y="9153"/>
                      <a:pt x="2932" y="9599"/>
                    </a:cubicBezTo>
                    <a:cubicBezTo>
                      <a:pt x="2987" y="9733"/>
                      <a:pt x="2988" y="9759"/>
                      <a:pt x="2996" y="10948"/>
                    </a:cubicBezTo>
                    <a:cubicBezTo>
                      <a:pt x="3001" y="11773"/>
                      <a:pt x="2995" y="12203"/>
                      <a:pt x="2976" y="12294"/>
                    </a:cubicBezTo>
                    <a:cubicBezTo>
                      <a:pt x="2909" y="12614"/>
                      <a:pt x="2676" y="12913"/>
                      <a:pt x="2380" y="13056"/>
                    </a:cubicBezTo>
                    <a:cubicBezTo>
                      <a:pt x="2238" y="13125"/>
                      <a:pt x="2190" y="13135"/>
                      <a:pt x="1970" y="13141"/>
                    </a:cubicBezTo>
                    <a:cubicBezTo>
                      <a:pt x="1813" y="13146"/>
                      <a:pt x="1686" y="13136"/>
                      <a:pt x="1623" y="13115"/>
                    </a:cubicBezTo>
                    <a:cubicBezTo>
                      <a:pt x="1268" y="12998"/>
                      <a:pt x="1021" y="12750"/>
                      <a:pt x="915" y="12408"/>
                    </a:cubicBezTo>
                    <a:cubicBezTo>
                      <a:pt x="869" y="12259"/>
                      <a:pt x="866" y="12174"/>
                      <a:pt x="866" y="11023"/>
                    </a:cubicBezTo>
                    <a:cubicBezTo>
                      <a:pt x="866" y="9854"/>
                      <a:pt x="868" y="9789"/>
                      <a:pt x="916" y="9646"/>
                    </a:cubicBezTo>
                    <a:cubicBezTo>
                      <a:pt x="982" y="9451"/>
                      <a:pt x="1055" y="9341"/>
                      <a:pt x="1207" y="9198"/>
                    </a:cubicBezTo>
                    <a:cubicBezTo>
                      <a:pt x="1415" y="9004"/>
                      <a:pt x="1669" y="8912"/>
                      <a:pt x="1920" y="8910"/>
                    </a:cubicBezTo>
                    <a:close/>
                    <a:moveTo>
                      <a:pt x="11870" y="9594"/>
                    </a:moveTo>
                    <a:lnTo>
                      <a:pt x="12358" y="9602"/>
                    </a:lnTo>
                    <a:lnTo>
                      <a:pt x="12845" y="9610"/>
                    </a:lnTo>
                    <a:lnTo>
                      <a:pt x="12853" y="9933"/>
                    </a:lnTo>
                    <a:cubicBezTo>
                      <a:pt x="12858" y="10110"/>
                      <a:pt x="12854" y="10273"/>
                      <a:pt x="12846" y="10293"/>
                    </a:cubicBezTo>
                    <a:cubicBezTo>
                      <a:pt x="12835" y="10323"/>
                      <a:pt x="12733" y="10330"/>
                      <a:pt x="12359" y="10323"/>
                    </a:cubicBezTo>
                    <a:lnTo>
                      <a:pt x="11886" y="10315"/>
                    </a:lnTo>
                    <a:lnTo>
                      <a:pt x="11878" y="9955"/>
                    </a:lnTo>
                    <a:lnTo>
                      <a:pt x="11870" y="9594"/>
                    </a:lnTo>
                    <a:close/>
                    <a:moveTo>
                      <a:pt x="14525" y="9595"/>
                    </a:moveTo>
                    <a:lnTo>
                      <a:pt x="14525" y="9963"/>
                    </a:lnTo>
                    <a:lnTo>
                      <a:pt x="14525" y="10330"/>
                    </a:lnTo>
                    <a:lnTo>
                      <a:pt x="13925" y="10323"/>
                    </a:lnTo>
                    <a:lnTo>
                      <a:pt x="13325" y="10315"/>
                    </a:lnTo>
                    <a:lnTo>
                      <a:pt x="13325" y="9963"/>
                    </a:lnTo>
                    <a:lnTo>
                      <a:pt x="13325" y="9610"/>
                    </a:lnTo>
                    <a:lnTo>
                      <a:pt x="13925" y="9602"/>
                    </a:lnTo>
                    <a:lnTo>
                      <a:pt x="14525" y="9595"/>
                    </a:lnTo>
                    <a:close/>
                    <a:moveTo>
                      <a:pt x="15004" y="9596"/>
                    </a:moveTo>
                    <a:lnTo>
                      <a:pt x="15611" y="9596"/>
                    </a:lnTo>
                    <a:lnTo>
                      <a:pt x="16218" y="9596"/>
                    </a:lnTo>
                    <a:lnTo>
                      <a:pt x="16218" y="9963"/>
                    </a:lnTo>
                    <a:lnTo>
                      <a:pt x="16218" y="10330"/>
                    </a:lnTo>
                    <a:lnTo>
                      <a:pt x="15611" y="10330"/>
                    </a:lnTo>
                    <a:lnTo>
                      <a:pt x="15004" y="10330"/>
                    </a:lnTo>
                    <a:lnTo>
                      <a:pt x="15004" y="9963"/>
                    </a:lnTo>
                    <a:lnTo>
                      <a:pt x="15004" y="9596"/>
                    </a:lnTo>
                    <a:close/>
                    <a:moveTo>
                      <a:pt x="16698" y="9596"/>
                    </a:moveTo>
                    <a:lnTo>
                      <a:pt x="17290" y="9596"/>
                    </a:lnTo>
                    <a:lnTo>
                      <a:pt x="17883" y="9596"/>
                    </a:lnTo>
                    <a:lnTo>
                      <a:pt x="17883" y="9963"/>
                    </a:lnTo>
                    <a:lnTo>
                      <a:pt x="17883" y="10330"/>
                    </a:lnTo>
                    <a:lnTo>
                      <a:pt x="17290" y="10330"/>
                    </a:lnTo>
                    <a:lnTo>
                      <a:pt x="16698" y="10330"/>
                    </a:lnTo>
                    <a:lnTo>
                      <a:pt x="16698" y="9963"/>
                    </a:lnTo>
                    <a:lnTo>
                      <a:pt x="16698" y="9596"/>
                    </a:lnTo>
                    <a:close/>
                    <a:moveTo>
                      <a:pt x="9355" y="10195"/>
                    </a:moveTo>
                    <a:lnTo>
                      <a:pt x="9764" y="10195"/>
                    </a:lnTo>
                    <a:lnTo>
                      <a:pt x="10173" y="10195"/>
                    </a:lnTo>
                    <a:lnTo>
                      <a:pt x="10175" y="10276"/>
                    </a:lnTo>
                    <a:cubicBezTo>
                      <a:pt x="10176" y="10320"/>
                      <a:pt x="10178" y="10887"/>
                      <a:pt x="10181" y="11535"/>
                    </a:cubicBezTo>
                    <a:cubicBezTo>
                      <a:pt x="10186" y="12625"/>
                      <a:pt x="10190" y="12724"/>
                      <a:pt x="10234" y="12850"/>
                    </a:cubicBezTo>
                    <a:cubicBezTo>
                      <a:pt x="10277" y="12975"/>
                      <a:pt x="10336" y="13092"/>
                      <a:pt x="10373" y="13124"/>
                    </a:cubicBezTo>
                    <a:cubicBezTo>
                      <a:pt x="10380" y="13130"/>
                      <a:pt x="10412" y="13172"/>
                      <a:pt x="10443" y="13216"/>
                    </a:cubicBezTo>
                    <a:cubicBezTo>
                      <a:pt x="10513" y="13317"/>
                      <a:pt x="10739" y="13469"/>
                      <a:pt x="10900" y="13523"/>
                    </a:cubicBezTo>
                    <a:lnTo>
                      <a:pt x="11022" y="13565"/>
                    </a:lnTo>
                    <a:lnTo>
                      <a:pt x="11025" y="13778"/>
                    </a:lnTo>
                    <a:lnTo>
                      <a:pt x="11030" y="13992"/>
                    </a:lnTo>
                    <a:lnTo>
                      <a:pt x="9553" y="13992"/>
                    </a:lnTo>
                    <a:lnTo>
                      <a:pt x="8076" y="13992"/>
                    </a:lnTo>
                    <a:lnTo>
                      <a:pt x="8079" y="13725"/>
                    </a:lnTo>
                    <a:cubicBezTo>
                      <a:pt x="8086" y="13189"/>
                      <a:pt x="8068" y="13250"/>
                      <a:pt x="8256" y="13124"/>
                    </a:cubicBezTo>
                    <a:cubicBezTo>
                      <a:pt x="8553" y="12923"/>
                      <a:pt x="8897" y="12538"/>
                      <a:pt x="9063" y="12218"/>
                    </a:cubicBezTo>
                    <a:cubicBezTo>
                      <a:pt x="9185" y="11982"/>
                      <a:pt x="9329" y="11504"/>
                      <a:pt x="9329" y="11331"/>
                    </a:cubicBezTo>
                    <a:cubicBezTo>
                      <a:pt x="9329" y="11248"/>
                      <a:pt x="9337" y="11237"/>
                      <a:pt x="9391" y="11237"/>
                    </a:cubicBezTo>
                    <a:cubicBezTo>
                      <a:pt x="9545" y="11237"/>
                      <a:pt x="9612" y="10996"/>
                      <a:pt x="9492" y="10876"/>
                    </a:cubicBezTo>
                    <a:cubicBezTo>
                      <a:pt x="9459" y="10843"/>
                      <a:pt x="9414" y="10816"/>
                      <a:pt x="9393" y="10816"/>
                    </a:cubicBezTo>
                    <a:cubicBezTo>
                      <a:pt x="9360" y="10816"/>
                      <a:pt x="9355" y="10768"/>
                      <a:pt x="9355" y="10505"/>
                    </a:cubicBezTo>
                    <a:lnTo>
                      <a:pt x="9355" y="10195"/>
                    </a:lnTo>
                    <a:close/>
                    <a:moveTo>
                      <a:pt x="11872" y="10809"/>
                    </a:moveTo>
                    <a:lnTo>
                      <a:pt x="12366" y="10809"/>
                    </a:lnTo>
                    <a:lnTo>
                      <a:pt x="12860" y="10809"/>
                    </a:lnTo>
                    <a:lnTo>
                      <a:pt x="12860" y="12362"/>
                    </a:lnTo>
                    <a:lnTo>
                      <a:pt x="12860" y="13914"/>
                    </a:lnTo>
                    <a:lnTo>
                      <a:pt x="12366" y="13914"/>
                    </a:lnTo>
                    <a:lnTo>
                      <a:pt x="11872" y="13914"/>
                    </a:lnTo>
                    <a:lnTo>
                      <a:pt x="11872" y="12362"/>
                    </a:lnTo>
                    <a:lnTo>
                      <a:pt x="11872" y="10809"/>
                    </a:lnTo>
                    <a:close/>
                    <a:moveTo>
                      <a:pt x="13311" y="10809"/>
                    </a:moveTo>
                    <a:lnTo>
                      <a:pt x="13918" y="10809"/>
                    </a:lnTo>
                    <a:lnTo>
                      <a:pt x="14525" y="10809"/>
                    </a:lnTo>
                    <a:lnTo>
                      <a:pt x="14525" y="12362"/>
                    </a:lnTo>
                    <a:lnTo>
                      <a:pt x="14525" y="13914"/>
                    </a:lnTo>
                    <a:lnTo>
                      <a:pt x="13918" y="13914"/>
                    </a:lnTo>
                    <a:lnTo>
                      <a:pt x="13311" y="13914"/>
                    </a:lnTo>
                    <a:lnTo>
                      <a:pt x="13311" y="12362"/>
                    </a:lnTo>
                    <a:lnTo>
                      <a:pt x="13311" y="10809"/>
                    </a:lnTo>
                    <a:close/>
                    <a:moveTo>
                      <a:pt x="15004" y="10809"/>
                    </a:moveTo>
                    <a:lnTo>
                      <a:pt x="15611" y="10809"/>
                    </a:lnTo>
                    <a:lnTo>
                      <a:pt x="16218" y="10809"/>
                    </a:lnTo>
                    <a:lnTo>
                      <a:pt x="16218" y="12362"/>
                    </a:lnTo>
                    <a:lnTo>
                      <a:pt x="16218" y="13914"/>
                    </a:lnTo>
                    <a:lnTo>
                      <a:pt x="15611" y="13914"/>
                    </a:lnTo>
                    <a:lnTo>
                      <a:pt x="15004" y="13914"/>
                    </a:lnTo>
                    <a:lnTo>
                      <a:pt x="15004" y="12362"/>
                    </a:lnTo>
                    <a:lnTo>
                      <a:pt x="15004" y="10809"/>
                    </a:lnTo>
                    <a:close/>
                    <a:moveTo>
                      <a:pt x="16698" y="10809"/>
                    </a:moveTo>
                    <a:lnTo>
                      <a:pt x="17290" y="10809"/>
                    </a:lnTo>
                    <a:lnTo>
                      <a:pt x="17883" y="10809"/>
                    </a:lnTo>
                    <a:lnTo>
                      <a:pt x="17883" y="12362"/>
                    </a:lnTo>
                    <a:lnTo>
                      <a:pt x="17883" y="13914"/>
                    </a:lnTo>
                    <a:lnTo>
                      <a:pt x="17290" y="13914"/>
                    </a:lnTo>
                    <a:lnTo>
                      <a:pt x="16698" y="13914"/>
                    </a:lnTo>
                    <a:lnTo>
                      <a:pt x="16698" y="12362"/>
                    </a:lnTo>
                    <a:lnTo>
                      <a:pt x="16698" y="10809"/>
                    </a:lnTo>
                    <a:close/>
                    <a:moveTo>
                      <a:pt x="4688" y="11237"/>
                    </a:moveTo>
                    <a:lnTo>
                      <a:pt x="6798" y="11237"/>
                    </a:lnTo>
                    <a:lnTo>
                      <a:pt x="8908" y="11237"/>
                    </a:lnTo>
                    <a:lnTo>
                      <a:pt x="8908" y="11309"/>
                    </a:lnTo>
                    <a:cubicBezTo>
                      <a:pt x="8908" y="11419"/>
                      <a:pt x="8793" y="11792"/>
                      <a:pt x="8706" y="11965"/>
                    </a:cubicBezTo>
                    <a:cubicBezTo>
                      <a:pt x="8416" y="12540"/>
                      <a:pt x="7901" y="12952"/>
                      <a:pt x="7290" y="13099"/>
                    </a:cubicBezTo>
                    <a:cubicBezTo>
                      <a:pt x="7021" y="13163"/>
                      <a:pt x="6564" y="13164"/>
                      <a:pt x="6314" y="13101"/>
                    </a:cubicBezTo>
                    <a:cubicBezTo>
                      <a:pt x="5525" y="12901"/>
                      <a:pt x="4943" y="12327"/>
                      <a:pt x="4740" y="11548"/>
                    </a:cubicBezTo>
                    <a:cubicBezTo>
                      <a:pt x="4711" y="11440"/>
                      <a:pt x="4688" y="11326"/>
                      <a:pt x="4688" y="11294"/>
                    </a:cubicBezTo>
                    <a:lnTo>
                      <a:pt x="4688" y="11237"/>
                    </a:lnTo>
                    <a:close/>
                    <a:moveTo>
                      <a:pt x="5954" y="13445"/>
                    </a:moveTo>
                    <a:lnTo>
                      <a:pt x="6023" y="13460"/>
                    </a:lnTo>
                    <a:cubicBezTo>
                      <a:pt x="6060" y="13469"/>
                      <a:pt x="6136" y="13491"/>
                      <a:pt x="6192" y="13509"/>
                    </a:cubicBezTo>
                    <a:cubicBezTo>
                      <a:pt x="6248" y="13527"/>
                      <a:pt x="6371" y="13549"/>
                      <a:pt x="6465" y="13557"/>
                    </a:cubicBezTo>
                    <a:cubicBezTo>
                      <a:pt x="6560" y="13565"/>
                      <a:pt x="6671" y="13577"/>
                      <a:pt x="6712" y="13585"/>
                    </a:cubicBezTo>
                    <a:cubicBezTo>
                      <a:pt x="6859" y="13611"/>
                      <a:pt x="7309" y="13545"/>
                      <a:pt x="7599" y="13454"/>
                    </a:cubicBezTo>
                    <a:cubicBezTo>
                      <a:pt x="7638" y="13442"/>
                      <a:pt x="7642" y="13465"/>
                      <a:pt x="7642" y="13716"/>
                    </a:cubicBezTo>
                    <a:lnTo>
                      <a:pt x="7642" y="13992"/>
                    </a:lnTo>
                    <a:lnTo>
                      <a:pt x="6798" y="13992"/>
                    </a:lnTo>
                    <a:lnTo>
                      <a:pt x="5954" y="13992"/>
                    </a:lnTo>
                    <a:lnTo>
                      <a:pt x="5954" y="13719"/>
                    </a:lnTo>
                    <a:lnTo>
                      <a:pt x="5954" y="13445"/>
                    </a:lnTo>
                    <a:close/>
                  </a:path>
                </a:pathLst>
              </a:custGeom>
              <a:solidFill>
                <a:schemeClr val="accent1">
                  <a:lumMod val="50000"/>
                </a:schemeClr>
              </a:solidFill>
              <a:ln w="9525" cap="flat" cmpd="sng" algn="ctr">
                <a:solidFill>
                  <a:schemeClr val="accent1">
                    <a:lumMod val="50000"/>
                  </a:schemeClr>
                </a:solidFill>
                <a:prstDash val="solid"/>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black"/>
                  </a:solidFill>
                  <a:effectLst/>
                  <a:uLnTx/>
                  <a:uFillTx/>
                  <a:latin typeface="Aptos" panose="020B0004020202020204" pitchFamily="34" charset="0"/>
                </a:endParaRPr>
              </a:p>
            </p:txBody>
          </p:sp>
        </p:grpSp>
      </p:grpSp>
      <p:sp>
        <p:nvSpPr>
          <p:cNvPr id="1078" name="Rectangle: Rounded Corners 1077">
            <a:extLst>
              <a:ext uri="{FF2B5EF4-FFF2-40B4-BE49-F238E27FC236}">
                <a16:creationId xmlns:a16="http://schemas.microsoft.com/office/drawing/2014/main" id="{FEF17DAF-7326-660D-F9B6-8EA501BFE5D5}"/>
              </a:ext>
            </a:extLst>
          </p:cNvPr>
          <p:cNvSpPr/>
          <p:nvPr/>
        </p:nvSpPr>
        <p:spPr>
          <a:xfrm>
            <a:off x="173560" y="4852777"/>
            <a:ext cx="2204976" cy="459907"/>
          </a:xfrm>
          <a:prstGeom prst="roundRect">
            <a:avLst>
              <a:gd name="adj" fmla="val 0"/>
            </a:avLst>
          </a:prstGeom>
          <a:solidFill>
            <a:srgbClr val="5B9BD5"/>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079" name="Rectangle: Rounded Corners 1078">
            <a:extLst>
              <a:ext uri="{FF2B5EF4-FFF2-40B4-BE49-F238E27FC236}">
                <a16:creationId xmlns:a16="http://schemas.microsoft.com/office/drawing/2014/main" id="{47AAA297-C21A-C26D-4EBF-7017D47CAAFA}"/>
              </a:ext>
            </a:extLst>
          </p:cNvPr>
          <p:cNvSpPr/>
          <p:nvPr/>
        </p:nvSpPr>
        <p:spPr>
          <a:xfrm>
            <a:off x="173560" y="4470389"/>
            <a:ext cx="2204976" cy="2203226"/>
          </a:xfrm>
          <a:prstGeom prst="roundRect">
            <a:avLst>
              <a:gd name="adj" fmla="val 8775"/>
            </a:avLst>
          </a:prstGeom>
          <a:no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080" name="TextBox 1079">
            <a:extLst>
              <a:ext uri="{FF2B5EF4-FFF2-40B4-BE49-F238E27FC236}">
                <a16:creationId xmlns:a16="http://schemas.microsoft.com/office/drawing/2014/main" id="{93616711-41B1-DD48-6C52-9C83E13E2996}"/>
              </a:ext>
            </a:extLst>
          </p:cNvPr>
          <p:cNvSpPr txBox="1"/>
          <p:nvPr/>
        </p:nvSpPr>
        <p:spPr>
          <a:xfrm>
            <a:off x="100556" y="5260662"/>
            <a:ext cx="2147058" cy="1492716"/>
          </a:xfrm>
          <a:prstGeom prst="rect">
            <a:avLst/>
          </a:prstGeom>
          <a:noFill/>
        </p:spPr>
        <p:txBody>
          <a:bodyPr wrap="square" anchor="ctr">
            <a:spAutoFit/>
          </a:bodyPr>
          <a:lstStyle/>
          <a:p>
            <a:pPr marL="285750" indent="-285750">
              <a:buFont typeface="Arial" panose="020B0604020202020204" pitchFamily="34" charset="0"/>
              <a:buChar char="•"/>
              <a:defRPr/>
            </a:pPr>
            <a:r>
              <a:rPr lang="en-US" sz="1300" kern="0" spc="50" dirty="0">
                <a:solidFill>
                  <a:prstClr val="black">
                    <a:lumMod val="65000"/>
                    <a:lumOff val="35000"/>
                  </a:prstClr>
                </a:solidFill>
                <a:latin typeface="Aptos" panose="020B0004020202020204" pitchFamily="34" charset="0"/>
                <a:cs typeface="Arial" panose="020B0604020202020204" pitchFamily="34" charset="0"/>
              </a:rPr>
              <a:t>Inaugurated a new 20,000 </a:t>
            </a:r>
            <a:r>
              <a:rPr lang="en-US" sz="1300" kern="0" spc="50" dirty="0" err="1">
                <a:solidFill>
                  <a:prstClr val="black">
                    <a:lumMod val="65000"/>
                    <a:lumOff val="35000"/>
                  </a:prstClr>
                </a:solidFill>
                <a:latin typeface="Aptos" panose="020B0004020202020204" pitchFamily="34" charset="0"/>
                <a:cs typeface="Arial" panose="020B0604020202020204" pitchFamily="34" charset="0"/>
              </a:rPr>
              <a:t>sqft</a:t>
            </a:r>
            <a:r>
              <a:rPr lang="en-US" sz="1300" kern="0" spc="50" dirty="0">
                <a:solidFill>
                  <a:prstClr val="black">
                    <a:lumMod val="65000"/>
                    <a:lumOff val="35000"/>
                  </a:prstClr>
                </a:solidFill>
                <a:latin typeface="Aptos" panose="020B0004020202020204" pitchFamily="34" charset="0"/>
                <a:cs typeface="Arial" panose="020B0604020202020204" pitchFamily="34" charset="0"/>
              </a:rPr>
              <a:t> state of the art R&amp;D facility at Genome Valley with more than 170 scientists across both divisions </a:t>
            </a:r>
          </a:p>
        </p:txBody>
      </p:sp>
      <p:sp>
        <p:nvSpPr>
          <p:cNvPr id="1081" name="TextBox 1080">
            <a:extLst>
              <a:ext uri="{FF2B5EF4-FFF2-40B4-BE49-F238E27FC236}">
                <a16:creationId xmlns:a16="http://schemas.microsoft.com/office/drawing/2014/main" id="{55D32F54-B11D-632D-909D-50055D84FF19}"/>
              </a:ext>
            </a:extLst>
          </p:cNvPr>
          <p:cNvSpPr txBox="1"/>
          <p:nvPr/>
        </p:nvSpPr>
        <p:spPr>
          <a:xfrm>
            <a:off x="872252" y="4931636"/>
            <a:ext cx="542136" cy="307777"/>
          </a:xfrm>
          <a:prstGeom prst="rect">
            <a:avLst/>
          </a:prstGeom>
          <a:noFill/>
        </p:spPr>
        <p:txBody>
          <a:bodyPr wrap="none" rtlCol="0" anchor="ctr">
            <a:spAutoFit/>
          </a:bodyPr>
          <a:lstStyle>
            <a:defPPr>
              <a:defRPr lang="en-US"/>
            </a:defPPr>
            <a:lvl1pPr marR="0" lvl="0" indent="0" algn="ctr" defTabSz="914377" fontAlgn="auto">
              <a:lnSpc>
                <a:spcPct val="100000"/>
              </a:lnSpc>
              <a:spcBef>
                <a:spcPts val="0"/>
              </a:spcBef>
              <a:spcAft>
                <a:spcPts val="0"/>
              </a:spcAft>
              <a:buClrTx/>
              <a:buSzTx/>
              <a:buFontTx/>
              <a:buNone/>
              <a:tabLst/>
              <a:defRPr kumimoji="0" sz="1400" b="1" i="0" u="none" strike="noStrike" cap="none" spc="0" normalizeH="0" baseline="0">
                <a:ln>
                  <a:noFill/>
                </a:ln>
                <a:solidFill>
                  <a:schemeClr val="tx2">
                    <a:lumMod val="75000"/>
                    <a:lumOff val="25000"/>
                  </a:schemeClr>
                </a:solidFill>
                <a:effectLst/>
                <a:uLnTx/>
                <a:uFillTx/>
                <a:latin typeface="Arial" panose="020B0604020202020204" pitchFamily="34" charset="0"/>
                <a:cs typeface="Arial" panose="020B0604020202020204" pitchFamily="34" charset="0"/>
              </a:defRPr>
            </a:lvl1pPr>
          </a:lstStyle>
          <a:p>
            <a:r>
              <a:rPr lang="en-US" dirty="0">
                <a:solidFill>
                  <a:schemeClr val="bg1"/>
                </a:solidFill>
                <a:latin typeface="Aptos" panose="020B0004020202020204" pitchFamily="34" charset="0"/>
              </a:rPr>
              <a:t>R</a:t>
            </a:r>
            <a:r>
              <a:rPr lang="en-US" sz="1300" kern="0" spc="50" dirty="0">
                <a:solidFill>
                  <a:schemeClr val="bg1"/>
                </a:solidFill>
                <a:latin typeface="Aptos" panose="020B0004020202020204" pitchFamily="34" charset="0"/>
              </a:rPr>
              <a:t>&amp;D</a:t>
            </a:r>
          </a:p>
        </p:txBody>
      </p:sp>
      <p:grpSp>
        <p:nvGrpSpPr>
          <p:cNvPr id="2" name="Group 1">
            <a:extLst>
              <a:ext uri="{FF2B5EF4-FFF2-40B4-BE49-F238E27FC236}">
                <a16:creationId xmlns:a16="http://schemas.microsoft.com/office/drawing/2014/main" id="{9E3BAB67-AF94-DD82-330D-8EFE77976AC3}"/>
              </a:ext>
            </a:extLst>
          </p:cNvPr>
          <p:cNvGrpSpPr/>
          <p:nvPr/>
        </p:nvGrpSpPr>
        <p:grpSpPr>
          <a:xfrm>
            <a:off x="839226" y="4152124"/>
            <a:ext cx="706207" cy="665190"/>
            <a:chOff x="853925" y="4222720"/>
            <a:chExt cx="706207" cy="665190"/>
          </a:xfrm>
        </p:grpSpPr>
        <p:sp>
          <p:nvSpPr>
            <p:cNvPr id="1084" name="Oval 1083">
              <a:extLst>
                <a:ext uri="{FF2B5EF4-FFF2-40B4-BE49-F238E27FC236}">
                  <a16:creationId xmlns:a16="http://schemas.microsoft.com/office/drawing/2014/main" id="{20ACA2D9-9990-01BE-9FEF-369C8E370834}"/>
                </a:ext>
              </a:extLst>
            </p:cNvPr>
            <p:cNvSpPr/>
            <p:nvPr/>
          </p:nvSpPr>
          <p:spPr>
            <a:xfrm>
              <a:off x="853925" y="4222720"/>
              <a:ext cx="706207" cy="665190"/>
            </a:xfrm>
            <a:prstGeom prst="ellipse">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ptos" panose="020B0004020202020204" pitchFamily="34" charset="0"/>
              </a:endParaRPr>
            </a:p>
          </p:txBody>
        </p:sp>
        <p:sp>
          <p:nvSpPr>
            <p:cNvPr id="1085" name="Freeform 12">
              <a:extLst>
                <a:ext uri="{FF2B5EF4-FFF2-40B4-BE49-F238E27FC236}">
                  <a16:creationId xmlns:a16="http://schemas.microsoft.com/office/drawing/2014/main" id="{0647E161-7A3B-036B-42C4-8F1A89D84BB8}"/>
                </a:ext>
              </a:extLst>
            </p:cNvPr>
            <p:cNvSpPr>
              <a:spLocks noEditPoints="1"/>
            </p:cNvSpPr>
            <p:nvPr/>
          </p:nvSpPr>
          <p:spPr bwMode="auto">
            <a:xfrm>
              <a:off x="1027604" y="4354244"/>
              <a:ext cx="369522" cy="384101"/>
            </a:xfrm>
            <a:custGeom>
              <a:avLst/>
              <a:gdLst>
                <a:gd name="T0" fmla="*/ 6971 w 14491"/>
                <a:gd name="T1" fmla="*/ 13147 h 14478"/>
                <a:gd name="T2" fmla="*/ 7535 w 14491"/>
                <a:gd name="T3" fmla="*/ 13147 h 14478"/>
                <a:gd name="T4" fmla="*/ 7106 w 14491"/>
                <a:gd name="T5" fmla="*/ 14433 h 14478"/>
                <a:gd name="T6" fmla="*/ 4533 w 14491"/>
                <a:gd name="T7" fmla="*/ 12505 h 14478"/>
                <a:gd name="T8" fmla="*/ 10497 w 14491"/>
                <a:gd name="T9" fmla="*/ 13443 h 14478"/>
                <a:gd name="T10" fmla="*/ 10911 w 14491"/>
                <a:gd name="T11" fmla="*/ 13450 h 14478"/>
                <a:gd name="T12" fmla="*/ 5693 w 14491"/>
                <a:gd name="T13" fmla="*/ 12784 h 14478"/>
                <a:gd name="T14" fmla="*/ 8703 w 14491"/>
                <a:gd name="T15" fmla="*/ 13335 h 14478"/>
                <a:gd name="T16" fmla="*/ 4854 w 14491"/>
                <a:gd name="T17" fmla="*/ 9602 h 14478"/>
                <a:gd name="T18" fmla="*/ 3168 w 14491"/>
                <a:gd name="T19" fmla="*/ 5418 h 14478"/>
                <a:gd name="T20" fmla="*/ 11338 w 14491"/>
                <a:gd name="T21" fmla="*/ 5418 h 14478"/>
                <a:gd name="T22" fmla="*/ 9655 w 14491"/>
                <a:gd name="T23" fmla="*/ 9597 h 14478"/>
                <a:gd name="T24" fmla="*/ 8411 w 14491"/>
                <a:gd name="T25" fmla="*/ 7245 h 14478"/>
                <a:gd name="T26" fmla="*/ 7840 w 14491"/>
                <a:gd name="T27" fmla="*/ 8896 h 14478"/>
                <a:gd name="T28" fmla="*/ 3203 w 14491"/>
                <a:gd name="T29" fmla="*/ 7224 h 14478"/>
                <a:gd name="T30" fmla="*/ 9722 w 14491"/>
                <a:gd name="T31" fmla="*/ 8720 h 14478"/>
                <a:gd name="T32" fmla="*/ 8509 w 14491"/>
                <a:gd name="T33" fmla="*/ 8776 h 14478"/>
                <a:gd name="T34" fmla="*/ 4581 w 14491"/>
                <a:gd name="T35" fmla="*/ 5854 h 14478"/>
                <a:gd name="T36" fmla="*/ 5080 w 14491"/>
                <a:gd name="T37" fmla="*/ 6617 h 14478"/>
                <a:gd name="T38" fmla="*/ 7251 w 14491"/>
                <a:gd name="T39" fmla="*/ 6632 h 14478"/>
                <a:gd name="T40" fmla="*/ 9925 w 14491"/>
                <a:gd name="T41" fmla="*/ 5854 h 14478"/>
                <a:gd name="T42" fmla="*/ 6180 w 14491"/>
                <a:gd name="T43" fmla="*/ 5630 h 14478"/>
                <a:gd name="T44" fmla="*/ 5672 w 14491"/>
                <a:gd name="T45" fmla="*/ 6364 h 14478"/>
                <a:gd name="T46" fmla="*/ 7818 w 14491"/>
                <a:gd name="T47" fmla="*/ 4840 h 14478"/>
                <a:gd name="T48" fmla="*/ 2933 w 14491"/>
                <a:gd name="T49" fmla="*/ 11218 h 14478"/>
                <a:gd name="T50" fmla="*/ 11385 w 14491"/>
                <a:gd name="T51" fmla="*/ 11245 h 14478"/>
                <a:gd name="T52" fmla="*/ 968 w 14491"/>
                <a:gd name="T53" fmla="*/ 10693 h 14478"/>
                <a:gd name="T54" fmla="*/ 1765 w 14491"/>
                <a:gd name="T55" fmla="*/ 10763 h 14478"/>
                <a:gd name="T56" fmla="*/ 12506 w 14491"/>
                <a:gd name="T57" fmla="*/ 9972 h 14478"/>
                <a:gd name="T58" fmla="*/ 12742 w 14491"/>
                <a:gd name="T59" fmla="*/ 10763 h 14478"/>
                <a:gd name="T60" fmla="*/ 1534 w 14491"/>
                <a:gd name="T61" fmla="*/ 9089 h 14478"/>
                <a:gd name="T62" fmla="*/ 13337 w 14491"/>
                <a:gd name="T63" fmla="*/ 8705 h 14478"/>
                <a:gd name="T64" fmla="*/ 127 w 14491"/>
                <a:gd name="T65" fmla="*/ 7038 h 14478"/>
                <a:gd name="T66" fmla="*/ 1442 w 14491"/>
                <a:gd name="T67" fmla="*/ 7452 h 14478"/>
                <a:gd name="T68" fmla="*/ 13065 w 14491"/>
                <a:gd name="T69" fmla="*/ 7452 h 14478"/>
                <a:gd name="T70" fmla="*/ 13729 w 14491"/>
                <a:gd name="T71" fmla="*/ 6970 h 14478"/>
                <a:gd name="T72" fmla="*/ 13729 w 14491"/>
                <a:gd name="T73" fmla="*/ 7535 h 14478"/>
                <a:gd name="T74" fmla="*/ 1340 w 14491"/>
                <a:gd name="T75" fmla="*/ 5418 h 14478"/>
                <a:gd name="T76" fmla="*/ 12867 w 14491"/>
                <a:gd name="T77" fmla="*/ 5900 h 14478"/>
                <a:gd name="T78" fmla="*/ 1947 w 14491"/>
                <a:gd name="T79" fmla="*/ 4523 h 14478"/>
                <a:gd name="T80" fmla="*/ 1765 w 14491"/>
                <a:gd name="T81" fmla="*/ 3742 h 14478"/>
                <a:gd name="T82" fmla="*/ 12256 w 14491"/>
                <a:gd name="T83" fmla="*/ 4042 h 14478"/>
                <a:gd name="T84" fmla="*/ 12326 w 14491"/>
                <a:gd name="T85" fmla="*/ 4500 h 14478"/>
                <a:gd name="T86" fmla="*/ 3121 w 14491"/>
                <a:gd name="T87" fmla="*/ 3260 h 14478"/>
                <a:gd name="T88" fmla="*/ 11714 w 14491"/>
                <a:gd name="T89" fmla="*/ 2791 h 14478"/>
                <a:gd name="T90" fmla="*/ 3599 w 14491"/>
                <a:gd name="T91" fmla="*/ 1051 h 14478"/>
                <a:gd name="T92" fmla="*/ 4135 w 14491"/>
                <a:gd name="T93" fmla="*/ 2315 h 14478"/>
                <a:gd name="T94" fmla="*/ 10693 w 14491"/>
                <a:gd name="T95" fmla="*/ 967 h 14478"/>
                <a:gd name="T96" fmla="*/ 10115 w 14491"/>
                <a:gd name="T97" fmla="*/ 2290 h 14478"/>
                <a:gd name="T98" fmla="*/ 5496 w 14491"/>
                <a:gd name="T99" fmla="*/ 1649 h 14478"/>
                <a:gd name="T100" fmla="*/ 8606 w 14491"/>
                <a:gd name="T101" fmla="*/ 1638 h 14478"/>
                <a:gd name="T102" fmla="*/ 7039 w 14491"/>
                <a:gd name="T103" fmla="*/ 126 h 14478"/>
                <a:gd name="T104" fmla="*/ 7453 w 14491"/>
                <a:gd name="T105" fmla="*/ 1441 h 14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91" h="14478">
                  <a:moveTo>
                    <a:pt x="7106" y="14433"/>
                  </a:moveTo>
                  <a:cubicBezTo>
                    <a:pt x="7063" y="14410"/>
                    <a:pt x="7016" y="14367"/>
                    <a:pt x="7000" y="14338"/>
                  </a:cubicBezTo>
                  <a:cubicBezTo>
                    <a:pt x="6983" y="14306"/>
                    <a:pt x="6971" y="14049"/>
                    <a:pt x="6971" y="13715"/>
                  </a:cubicBezTo>
                  <a:lnTo>
                    <a:pt x="6971" y="13147"/>
                  </a:lnTo>
                  <a:lnTo>
                    <a:pt x="7053" y="13064"/>
                  </a:lnTo>
                  <a:cubicBezTo>
                    <a:pt x="7118" y="12999"/>
                    <a:pt x="7161" y="12982"/>
                    <a:pt x="7253" y="12982"/>
                  </a:cubicBezTo>
                  <a:cubicBezTo>
                    <a:pt x="7345" y="12982"/>
                    <a:pt x="7388" y="12999"/>
                    <a:pt x="7453" y="13064"/>
                  </a:cubicBezTo>
                  <a:lnTo>
                    <a:pt x="7535" y="13147"/>
                  </a:lnTo>
                  <a:lnTo>
                    <a:pt x="7535" y="13715"/>
                  </a:lnTo>
                  <a:cubicBezTo>
                    <a:pt x="7535" y="14051"/>
                    <a:pt x="7523" y="14306"/>
                    <a:pt x="7506" y="14338"/>
                  </a:cubicBezTo>
                  <a:cubicBezTo>
                    <a:pt x="7470" y="14405"/>
                    <a:pt x="7334" y="14478"/>
                    <a:pt x="7247" y="14476"/>
                  </a:cubicBezTo>
                  <a:cubicBezTo>
                    <a:pt x="7212" y="14476"/>
                    <a:pt x="7148" y="14456"/>
                    <a:pt x="7106" y="14433"/>
                  </a:cubicBezTo>
                  <a:close/>
                  <a:moveTo>
                    <a:pt x="3636" y="13499"/>
                  </a:moveTo>
                  <a:cubicBezTo>
                    <a:pt x="3549" y="13443"/>
                    <a:pt x="3500" y="13350"/>
                    <a:pt x="3500" y="13241"/>
                  </a:cubicBezTo>
                  <a:cubicBezTo>
                    <a:pt x="3500" y="13162"/>
                    <a:pt x="3935" y="12373"/>
                    <a:pt x="4043" y="12255"/>
                  </a:cubicBezTo>
                  <a:cubicBezTo>
                    <a:pt x="4222" y="12061"/>
                    <a:pt x="4585" y="12246"/>
                    <a:pt x="4533" y="12505"/>
                  </a:cubicBezTo>
                  <a:cubicBezTo>
                    <a:pt x="4514" y="12600"/>
                    <a:pt x="4051" y="13410"/>
                    <a:pt x="3978" y="13476"/>
                  </a:cubicBezTo>
                  <a:cubicBezTo>
                    <a:pt x="3902" y="13545"/>
                    <a:pt x="3726" y="13557"/>
                    <a:pt x="3636" y="13499"/>
                  </a:cubicBezTo>
                  <a:close/>
                  <a:moveTo>
                    <a:pt x="10597" y="13519"/>
                  </a:moveTo>
                  <a:cubicBezTo>
                    <a:pt x="10566" y="13507"/>
                    <a:pt x="10521" y="13472"/>
                    <a:pt x="10497" y="13443"/>
                  </a:cubicBezTo>
                  <a:cubicBezTo>
                    <a:pt x="10411" y="13342"/>
                    <a:pt x="9989" y="12587"/>
                    <a:pt x="9973" y="12506"/>
                  </a:cubicBezTo>
                  <a:cubicBezTo>
                    <a:pt x="9937" y="12327"/>
                    <a:pt x="10129" y="12140"/>
                    <a:pt x="10314" y="12175"/>
                  </a:cubicBezTo>
                  <a:cubicBezTo>
                    <a:pt x="10440" y="12199"/>
                    <a:pt x="10486" y="12257"/>
                    <a:pt x="10764" y="12741"/>
                  </a:cubicBezTo>
                  <a:cubicBezTo>
                    <a:pt x="11047" y="13233"/>
                    <a:pt x="11061" y="13300"/>
                    <a:pt x="10911" y="13450"/>
                  </a:cubicBezTo>
                  <a:cubicBezTo>
                    <a:pt x="10813" y="13548"/>
                    <a:pt x="10719" y="13569"/>
                    <a:pt x="10597" y="13519"/>
                  </a:cubicBezTo>
                  <a:close/>
                  <a:moveTo>
                    <a:pt x="5632" y="13356"/>
                  </a:moveTo>
                  <a:cubicBezTo>
                    <a:pt x="5528" y="13330"/>
                    <a:pt x="5450" y="13259"/>
                    <a:pt x="5419" y="13166"/>
                  </a:cubicBezTo>
                  <a:cubicBezTo>
                    <a:pt x="5353" y="12966"/>
                    <a:pt x="5483" y="12784"/>
                    <a:pt x="5693" y="12784"/>
                  </a:cubicBezTo>
                  <a:cubicBezTo>
                    <a:pt x="6020" y="12784"/>
                    <a:pt x="6100" y="13211"/>
                    <a:pt x="5797" y="13337"/>
                  </a:cubicBezTo>
                  <a:cubicBezTo>
                    <a:pt x="5745" y="13359"/>
                    <a:pt x="5699" y="13375"/>
                    <a:pt x="5695" y="13373"/>
                  </a:cubicBezTo>
                  <a:cubicBezTo>
                    <a:pt x="5690" y="13372"/>
                    <a:pt x="5662" y="13364"/>
                    <a:pt x="5632" y="13356"/>
                  </a:cubicBezTo>
                  <a:close/>
                  <a:moveTo>
                    <a:pt x="8703" y="13335"/>
                  </a:moveTo>
                  <a:cubicBezTo>
                    <a:pt x="8508" y="13252"/>
                    <a:pt x="8458" y="13014"/>
                    <a:pt x="8606" y="12866"/>
                  </a:cubicBezTo>
                  <a:cubicBezTo>
                    <a:pt x="8765" y="12707"/>
                    <a:pt x="9046" y="12782"/>
                    <a:pt x="9100" y="13000"/>
                  </a:cubicBezTo>
                  <a:cubicBezTo>
                    <a:pt x="9157" y="13225"/>
                    <a:pt x="8918" y="13427"/>
                    <a:pt x="8703" y="13335"/>
                  </a:cubicBezTo>
                  <a:close/>
                  <a:moveTo>
                    <a:pt x="4854" y="9602"/>
                  </a:moveTo>
                  <a:lnTo>
                    <a:pt x="2469" y="7355"/>
                  </a:lnTo>
                  <a:lnTo>
                    <a:pt x="2462" y="6958"/>
                  </a:lnTo>
                  <a:lnTo>
                    <a:pt x="2454" y="6560"/>
                  </a:lnTo>
                  <a:lnTo>
                    <a:pt x="3168" y="5418"/>
                  </a:lnTo>
                  <a:lnTo>
                    <a:pt x="3883" y="4275"/>
                  </a:lnTo>
                  <a:lnTo>
                    <a:pt x="7253" y="4275"/>
                  </a:lnTo>
                  <a:lnTo>
                    <a:pt x="10624" y="4275"/>
                  </a:lnTo>
                  <a:lnTo>
                    <a:pt x="11338" y="5418"/>
                  </a:lnTo>
                  <a:lnTo>
                    <a:pt x="12052" y="6560"/>
                  </a:lnTo>
                  <a:lnTo>
                    <a:pt x="12045" y="6958"/>
                  </a:lnTo>
                  <a:lnTo>
                    <a:pt x="12037" y="7356"/>
                  </a:lnTo>
                  <a:lnTo>
                    <a:pt x="9655" y="9597"/>
                  </a:lnTo>
                  <a:cubicBezTo>
                    <a:pt x="8346" y="10830"/>
                    <a:pt x="7266" y="11841"/>
                    <a:pt x="7256" y="11844"/>
                  </a:cubicBezTo>
                  <a:cubicBezTo>
                    <a:pt x="7247" y="11847"/>
                    <a:pt x="6166" y="10838"/>
                    <a:pt x="4854" y="9602"/>
                  </a:cubicBezTo>
                  <a:close/>
                  <a:moveTo>
                    <a:pt x="7840" y="8896"/>
                  </a:moveTo>
                  <a:cubicBezTo>
                    <a:pt x="8155" y="8000"/>
                    <a:pt x="8412" y="7257"/>
                    <a:pt x="8411" y="7245"/>
                  </a:cubicBezTo>
                  <a:cubicBezTo>
                    <a:pt x="8411" y="7234"/>
                    <a:pt x="7890" y="7224"/>
                    <a:pt x="7253" y="7224"/>
                  </a:cubicBezTo>
                  <a:cubicBezTo>
                    <a:pt x="6617" y="7224"/>
                    <a:pt x="6096" y="7234"/>
                    <a:pt x="6095" y="7245"/>
                  </a:cubicBezTo>
                  <a:cubicBezTo>
                    <a:pt x="6093" y="7282"/>
                    <a:pt x="7238" y="10526"/>
                    <a:pt x="7253" y="10526"/>
                  </a:cubicBezTo>
                  <a:cubicBezTo>
                    <a:pt x="7261" y="10526"/>
                    <a:pt x="7525" y="9792"/>
                    <a:pt x="7840" y="8896"/>
                  </a:cubicBezTo>
                  <a:close/>
                  <a:moveTo>
                    <a:pt x="6000" y="8788"/>
                  </a:moveTo>
                  <a:lnTo>
                    <a:pt x="5454" y="7238"/>
                  </a:lnTo>
                  <a:lnTo>
                    <a:pt x="4328" y="7231"/>
                  </a:lnTo>
                  <a:lnTo>
                    <a:pt x="3203" y="7224"/>
                  </a:lnTo>
                  <a:lnTo>
                    <a:pt x="3344" y="7362"/>
                  </a:lnTo>
                  <a:cubicBezTo>
                    <a:pt x="3699" y="7711"/>
                    <a:pt x="6529" y="10357"/>
                    <a:pt x="6537" y="10348"/>
                  </a:cubicBezTo>
                  <a:cubicBezTo>
                    <a:pt x="6543" y="10343"/>
                    <a:pt x="6301" y="9641"/>
                    <a:pt x="6000" y="8788"/>
                  </a:cubicBezTo>
                  <a:close/>
                  <a:moveTo>
                    <a:pt x="9722" y="8720"/>
                  </a:moveTo>
                  <a:lnTo>
                    <a:pt x="11295" y="7238"/>
                  </a:lnTo>
                  <a:lnTo>
                    <a:pt x="10186" y="7231"/>
                  </a:lnTo>
                  <a:cubicBezTo>
                    <a:pt x="9576" y="7227"/>
                    <a:pt x="9069" y="7233"/>
                    <a:pt x="9058" y="7245"/>
                  </a:cubicBezTo>
                  <a:cubicBezTo>
                    <a:pt x="9048" y="7257"/>
                    <a:pt x="8801" y="7946"/>
                    <a:pt x="8509" y="8776"/>
                  </a:cubicBezTo>
                  <a:cubicBezTo>
                    <a:pt x="8218" y="9607"/>
                    <a:pt x="7972" y="10305"/>
                    <a:pt x="7963" y="10328"/>
                  </a:cubicBezTo>
                  <a:cubicBezTo>
                    <a:pt x="7938" y="10396"/>
                    <a:pt x="8068" y="10277"/>
                    <a:pt x="9722" y="8720"/>
                  </a:cubicBezTo>
                  <a:close/>
                  <a:moveTo>
                    <a:pt x="5080" y="6617"/>
                  </a:moveTo>
                  <a:cubicBezTo>
                    <a:pt x="5080" y="6610"/>
                    <a:pt x="4855" y="6266"/>
                    <a:pt x="4581" y="5854"/>
                  </a:cubicBezTo>
                  <a:cubicBezTo>
                    <a:pt x="4189" y="5267"/>
                    <a:pt x="4075" y="5114"/>
                    <a:pt x="4049" y="5142"/>
                  </a:cubicBezTo>
                  <a:cubicBezTo>
                    <a:pt x="4005" y="5190"/>
                    <a:pt x="3133" y="6592"/>
                    <a:pt x="3133" y="6614"/>
                  </a:cubicBezTo>
                  <a:cubicBezTo>
                    <a:pt x="3133" y="6624"/>
                    <a:pt x="3571" y="6632"/>
                    <a:pt x="4106" y="6632"/>
                  </a:cubicBezTo>
                  <a:cubicBezTo>
                    <a:pt x="4642" y="6632"/>
                    <a:pt x="5080" y="6625"/>
                    <a:pt x="5080" y="6617"/>
                  </a:cubicBezTo>
                  <a:close/>
                  <a:moveTo>
                    <a:pt x="8269" y="6617"/>
                  </a:moveTo>
                  <a:cubicBezTo>
                    <a:pt x="8269" y="6591"/>
                    <a:pt x="7272" y="5108"/>
                    <a:pt x="7256" y="5109"/>
                  </a:cubicBezTo>
                  <a:cubicBezTo>
                    <a:pt x="7240" y="5110"/>
                    <a:pt x="6262" y="6556"/>
                    <a:pt x="6242" y="6607"/>
                  </a:cubicBezTo>
                  <a:cubicBezTo>
                    <a:pt x="6237" y="6621"/>
                    <a:pt x="6691" y="6632"/>
                    <a:pt x="7251" y="6632"/>
                  </a:cubicBezTo>
                  <a:cubicBezTo>
                    <a:pt x="7811" y="6632"/>
                    <a:pt x="8269" y="6625"/>
                    <a:pt x="8269" y="6617"/>
                  </a:cubicBezTo>
                  <a:close/>
                  <a:moveTo>
                    <a:pt x="11374" y="6614"/>
                  </a:moveTo>
                  <a:cubicBezTo>
                    <a:pt x="11374" y="6592"/>
                    <a:pt x="10501" y="5190"/>
                    <a:pt x="10457" y="5142"/>
                  </a:cubicBezTo>
                  <a:cubicBezTo>
                    <a:pt x="10431" y="5114"/>
                    <a:pt x="10317" y="5267"/>
                    <a:pt x="9925" y="5854"/>
                  </a:cubicBezTo>
                  <a:cubicBezTo>
                    <a:pt x="9651" y="6266"/>
                    <a:pt x="9426" y="6610"/>
                    <a:pt x="9426" y="6617"/>
                  </a:cubicBezTo>
                  <a:cubicBezTo>
                    <a:pt x="9426" y="6625"/>
                    <a:pt x="9864" y="6632"/>
                    <a:pt x="10400" y="6632"/>
                  </a:cubicBezTo>
                  <a:cubicBezTo>
                    <a:pt x="10935" y="6632"/>
                    <a:pt x="11374" y="6624"/>
                    <a:pt x="11374" y="6614"/>
                  </a:cubicBezTo>
                  <a:close/>
                  <a:moveTo>
                    <a:pt x="6180" y="5630"/>
                  </a:moveTo>
                  <a:cubicBezTo>
                    <a:pt x="6445" y="5235"/>
                    <a:pt x="6669" y="4892"/>
                    <a:pt x="6678" y="4868"/>
                  </a:cubicBezTo>
                  <a:cubicBezTo>
                    <a:pt x="6693" y="4830"/>
                    <a:pt x="6576" y="4825"/>
                    <a:pt x="5662" y="4825"/>
                  </a:cubicBezTo>
                  <a:cubicBezTo>
                    <a:pt x="5093" y="4825"/>
                    <a:pt x="4628" y="4832"/>
                    <a:pt x="4628" y="4840"/>
                  </a:cubicBezTo>
                  <a:cubicBezTo>
                    <a:pt x="4628" y="4884"/>
                    <a:pt x="5651" y="6377"/>
                    <a:pt x="5672" y="6364"/>
                  </a:cubicBezTo>
                  <a:cubicBezTo>
                    <a:pt x="5686" y="6355"/>
                    <a:pt x="5914" y="6025"/>
                    <a:pt x="6180" y="5630"/>
                  </a:cubicBezTo>
                  <a:close/>
                  <a:moveTo>
                    <a:pt x="9368" y="5619"/>
                  </a:moveTo>
                  <a:cubicBezTo>
                    <a:pt x="9646" y="5201"/>
                    <a:pt x="9867" y="4852"/>
                    <a:pt x="9857" y="4842"/>
                  </a:cubicBezTo>
                  <a:cubicBezTo>
                    <a:pt x="9837" y="4822"/>
                    <a:pt x="7818" y="4819"/>
                    <a:pt x="7818" y="4840"/>
                  </a:cubicBezTo>
                  <a:cubicBezTo>
                    <a:pt x="7818" y="4863"/>
                    <a:pt x="8832" y="6378"/>
                    <a:pt x="8848" y="6378"/>
                  </a:cubicBezTo>
                  <a:cubicBezTo>
                    <a:pt x="8855" y="6378"/>
                    <a:pt x="9089" y="6036"/>
                    <a:pt x="9368" y="5619"/>
                  </a:cubicBezTo>
                  <a:close/>
                  <a:moveTo>
                    <a:pt x="2792" y="11714"/>
                  </a:moveTo>
                  <a:cubicBezTo>
                    <a:pt x="2636" y="11558"/>
                    <a:pt x="2719" y="11265"/>
                    <a:pt x="2933" y="11218"/>
                  </a:cubicBezTo>
                  <a:cubicBezTo>
                    <a:pt x="3059" y="11190"/>
                    <a:pt x="3212" y="11268"/>
                    <a:pt x="3260" y="11384"/>
                  </a:cubicBezTo>
                  <a:cubicBezTo>
                    <a:pt x="3386" y="11684"/>
                    <a:pt x="3019" y="11941"/>
                    <a:pt x="2792" y="11714"/>
                  </a:cubicBezTo>
                  <a:close/>
                  <a:moveTo>
                    <a:pt x="11323" y="11726"/>
                  </a:moveTo>
                  <a:cubicBezTo>
                    <a:pt x="11160" y="11589"/>
                    <a:pt x="11194" y="11325"/>
                    <a:pt x="11385" y="11245"/>
                  </a:cubicBezTo>
                  <a:cubicBezTo>
                    <a:pt x="11590" y="11159"/>
                    <a:pt x="11797" y="11296"/>
                    <a:pt x="11797" y="11518"/>
                  </a:cubicBezTo>
                  <a:cubicBezTo>
                    <a:pt x="11797" y="11762"/>
                    <a:pt x="11513" y="11886"/>
                    <a:pt x="11323" y="11726"/>
                  </a:cubicBezTo>
                  <a:close/>
                  <a:moveTo>
                    <a:pt x="1052" y="10906"/>
                  </a:moveTo>
                  <a:cubicBezTo>
                    <a:pt x="962" y="10817"/>
                    <a:pt x="954" y="10795"/>
                    <a:pt x="968" y="10693"/>
                  </a:cubicBezTo>
                  <a:cubicBezTo>
                    <a:pt x="976" y="10630"/>
                    <a:pt x="1004" y="10555"/>
                    <a:pt x="1029" y="10527"/>
                  </a:cubicBezTo>
                  <a:cubicBezTo>
                    <a:pt x="1095" y="10454"/>
                    <a:pt x="1906" y="9991"/>
                    <a:pt x="2001" y="9972"/>
                  </a:cubicBezTo>
                  <a:cubicBezTo>
                    <a:pt x="2179" y="9937"/>
                    <a:pt x="2365" y="10129"/>
                    <a:pt x="2330" y="10313"/>
                  </a:cubicBezTo>
                  <a:cubicBezTo>
                    <a:pt x="2307" y="10439"/>
                    <a:pt x="2248" y="10485"/>
                    <a:pt x="1765" y="10763"/>
                  </a:cubicBezTo>
                  <a:cubicBezTo>
                    <a:pt x="1270" y="11047"/>
                    <a:pt x="1206" y="11060"/>
                    <a:pt x="1052" y="10906"/>
                  </a:cubicBezTo>
                  <a:close/>
                  <a:moveTo>
                    <a:pt x="12742" y="10763"/>
                  </a:moveTo>
                  <a:cubicBezTo>
                    <a:pt x="12258" y="10485"/>
                    <a:pt x="12199" y="10439"/>
                    <a:pt x="12176" y="10313"/>
                  </a:cubicBezTo>
                  <a:cubicBezTo>
                    <a:pt x="12141" y="10129"/>
                    <a:pt x="12327" y="9937"/>
                    <a:pt x="12506" y="9972"/>
                  </a:cubicBezTo>
                  <a:cubicBezTo>
                    <a:pt x="12601" y="9991"/>
                    <a:pt x="13411" y="10454"/>
                    <a:pt x="13477" y="10527"/>
                  </a:cubicBezTo>
                  <a:cubicBezTo>
                    <a:pt x="13503" y="10555"/>
                    <a:pt x="13530" y="10630"/>
                    <a:pt x="13539" y="10693"/>
                  </a:cubicBezTo>
                  <a:cubicBezTo>
                    <a:pt x="13552" y="10795"/>
                    <a:pt x="13544" y="10817"/>
                    <a:pt x="13454" y="10906"/>
                  </a:cubicBezTo>
                  <a:cubicBezTo>
                    <a:pt x="13301" y="11060"/>
                    <a:pt x="13236" y="11047"/>
                    <a:pt x="12742" y="10763"/>
                  </a:cubicBezTo>
                  <a:close/>
                  <a:moveTo>
                    <a:pt x="1298" y="9066"/>
                  </a:moveTo>
                  <a:cubicBezTo>
                    <a:pt x="1167" y="9000"/>
                    <a:pt x="1111" y="8846"/>
                    <a:pt x="1169" y="8708"/>
                  </a:cubicBezTo>
                  <a:cubicBezTo>
                    <a:pt x="1220" y="8585"/>
                    <a:pt x="1314" y="8522"/>
                    <a:pt x="1448" y="8522"/>
                  </a:cubicBezTo>
                  <a:cubicBezTo>
                    <a:pt x="1762" y="8522"/>
                    <a:pt x="1831" y="8976"/>
                    <a:pt x="1534" y="9089"/>
                  </a:cubicBezTo>
                  <a:cubicBezTo>
                    <a:pt x="1438" y="9125"/>
                    <a:pt x="1412" y="9122"/>
                    <a:pt x="1298" y="9066"/>
                  </a:cubicBezTo>
                  <a:close/>
                  <a:moveTo>
                    <a:pt x="12943" y="9072"/>
                  </a:moveTo>
                  <a:cubicBezTo>
                    <a:pt x="12824" y="9010"/>
                    <a:pt x="12787" y="8948"/>
                    <a:pt x="12786" y="8810"/>
                  </a:cubicBezTo>
                  <a:cubicBezTo>
                    <a:pt x="12783" y="8488"/>
                    <a:pt x="13212" y="8407"/>
                    <a:pt x="13337" y="8705"/>
                  </a:cubicBezTo>
                  <a:cubicBezTo>
                    <a:pt x="13400" y="8856"/>
                    <a:pt x="13324" y="9032"/>
                    <a:pt x="13174" y="9085"/>
                  </a:cubicBezTo>
                  <a:cubicBezTo>
                    <a:pt x="13061" y="9124"/>
                    <a:pt x="13041" y="9123"/>
                    <a:pt x="12943" y="9072"/>
                  </a:cubicBezTo>
                  <a:close/>
                  <a:moveTo>
                    <a:pt x="127" y="7467"/>
                  </a:moveTo>
                  <a:cubicBezTo>
                    <a:pt x="0" y="7340"/>
                    <a:pt x="0" y="7165"/>
                    <a:pt x="127" y="7038"/>
                  </a:cubicBezTo>
                  <a:cubicBezTo>
                    <a:pt x="195" y="6971"/>
                    <a:pt x="199" y="6970"/>
                    <a:pt x="777" y="6970"/>
                  </a:cubicBezTo>
                  <a:lnTo>
                    <a:pt x="1359" y="6970"/>
                  </a:lnTo>
                  <a:lnTo>
                    <a:pt x="1442" y="7053"/>
                  </a:lnTo>
                  <a:cubicBezTo>
                    <a:pt x="1558" y="7169"/>
                    <a:pt x="1558" y="7336"/>
                    <a:pt x="1442" y="7452"/>
                  </a:cubicBezTo>
                  <a:lnTo>
                    <a:pt x="1359" y="7535"/>
                  </a:lnTo>
                  <a:lnTo>
                    <a:pt x="777" y="7535"/>
                  </a:lnTo>
                  <a:cubicBezTo>
                    <a:pt x="199" y="7535"/>
                    <a:pt x="195" y="7534"/>
                    <a:pt x="127" y="7467"/>
                  </a:cubicBezTo>
                  <a:close/>
                  <a:moveTo>
                    <a:pt x="13065" y="7452"/>
                  </a:moveTo>
                  <a:cubicBezTo>
                    <a:pt x="13000" y="7387"/>
                    <a:pt x="12982" y="7344"/>
                    <a:pt x="12982" y="7252"/>
                  </a:cubicBezTo>
                  <a:cubicBezTo>
                    <a:pt x="12982" y="7160"/>
                    <a:pt x="13000" y="7117"/>
                    <a:pt x="13065" y="7053"/>
                  </a:cubicBezTo>
                  <a:lnTo>
                    <a:pt x="13147" y="6970"/>
                  </a:lnTo>
                  <a:lnTo>
                    <a:pt x="13729" y="6970"/>
                  </a:lnTo>
                  <a:cubicBezTo>
                    <a:pt x="14307" y="6970"/>
                    <a:pt x="14312" y="6971"/>
                    <a:pt x="14379" y="7038"/>
                  </a:cubicBezTo>
                  <a:cubicBezTo>
                    <a:pt x="14417" y="7076"/>
                    <a:pt x="14456" y="7139"/>
                    <a:pt x="14466" y="7179"/>
                  </a:cubicBezTo>
                  <a:cubicBezTo>
                    <a:pt x="14491" y="7281"/>
                    <a:pt x="14460" y="7386"/>
                    <a:pt x="14379" y="7467"/>
                  </a:cubicBezTo>
                  <a:cubicBezTo>
                    <a:pt x="14312" y="7534"/>
                    <a:pt x="14307" y="7535"/>
                    <a:pt x="13729" y="7535"/>
                  </a:cubicBezTo>
                  <a:lnTo>
                    <a:pt x="13147" y="7535"/>
                  </a:lnTo>
                  <a:lnTo>
                    <a:pt x="13065" y="7452"/>
                  </a:lnTo>
                  <a:close/>
                  <a:moveTo>
                    <a:pt x="1273" y="5936"/>
                  </a:moveTo>
                  <a:cubicBezTo>
                    <a:pt x="1080" y="5801"/>
                    <a:pt x="1120" y="5491"/>
                    <a:pt x="1340" y="5418"/>
                  </a:cubicBezTo>
                  <a:cubicBezTo>
                    <a:pt x="1540" y="5352"/>
                    <a:pt x="1722" y="5482"/>
                    <a:pt x="1722" y="5692"/>
                  </a:cubicBezTo>
                  <a:cubicBezTo>
                    <a:pt x="1722" y="5793"/>
                    <a:pt x="1706" y="5834"/>
                    <a:pt x="1639" y="5900"/>
                  </a:cubicBezTo>
                  <a:cubicBezTo>
                    <a:pt x="1543" y="5996"/>
                    <a:pt x="1381" y="6012"/>
                    <a:pt x="1273" y="5936"/>
                  </a:cubicBezTo>
                  <a:close/>
                  <a:moveTo>
                    <a:pt x="12867" y="5900"/>
                  </a:moveTo>
                  <a:cubicBezTo>
                    <a:pt x="12707" y="5740"/>
                    <a:pt x="12783" y="5460"/>
                    <a:pt x="13000" y="5405"/>
                  </a:cubicBezTo>
                  <a:cubicBezTo>
                    <a:pt x="13225" y="5349"/>
                    <a:pt x="13426" y="5585"/>
                    <a:pt x="13337" y="5800"/>
                  </a:cubicBezTo>
                  <a:cubicBezTo>
                    <a:pt x="13254" y="5997"/>
                    <a:pt x="13015" y="6048"/>
                    <a:pt x="12867" y="5900"/>
                  </a:cubicBezTo>
                  <a:close/>
                  <a:moveTo>
                    <a:pt x="1947" y="4523"/>
                  </a:moveTo>
                  <a:cubicBezTo>
                    <a:pt x="1846" y="4484"/>
                    <a:pt x="1073" y="4026"/>
                    <a:pt x="1030" y="3979"/>
                  </a:cubicBezTo>
                  <a:cubicBezTo>
                    <a:pt x="1004" y="3950"/>
                    <a:pt x="976" y="3875"/>
                    <a:pt x="968" y="3812"/>
                  </a:cubicBezTo>
                  <a:cubicBezTo>
                    <a:pt x="954" y="3710"/>
                    <a:pt x="962" y="3688"/>
                    <a:pt x="1052" y="3598"/>
                  </a:cubicBezTo>
                  <a:cubicBezTo>
                    <a:pt x="1206" y="3445"/>
                    <a:pt x="1270" y="3457"/>
                    <a:pt x="1765" y="3742"/>
                  </a:cubicBezTo>
                  <a:cubicBezTo>
                    <a:pt x="2248" y="4020"/>
                    <a:pt x="2307" y="4066"/>
                    <a:pt x="2330" y="4191"/>
                  </a:cubicBezTo>
                  <a:cubicBezTo>
                    <a:pt x="2370" y="4400"/>
                    <a:pt x="2143" y="4596"/>
                    <a:pt x="1947" y="4523"/>
                  </a:cubicBezTo>
                  <a:close/>
                  <a:moveTo>
                    <a:pt x="12326" y="4500"/>
                  </a:moveTo>
                  <a:cubicBezTo>
                    <a:pt x="12158" y="4406"/>
                    <a:pt x="12121" y="4166"/>
                    <a:pt x="12256" y="4042"/>
                  </a:cubicBezTo>
                  <a:cubicBezTo>
                    <a:pt x="12374" y="3934"/>
                    <a:pt x="13162" y="3499"/>
                    <a:pt x="13241" y="3499"/>
                  </a:cubicBezTo>
                  <a:cubicBezTo>
                    <a:pt x="13506" y="3499"/>
                    <a:pt x="13646" y="3827"/>
                    <a:pt x="13455" y="3998"/>
                  </a:cubicBezTo>
                  <a:cubicBezTo>
                    <a:pt x="13340" y="4099"/>
                    <a:pt x="12585" y="4519"/>
                    <a:pt x="12493" y="4531"/>
                  </a:cubicBezTo>
                  <a:cubicBezTo>
                    <a:pt x="12443" y="4538"/>
                    <a:pt x="12370" y="4525"/>
                    <a:pt x="12326" y="4500"/>
                  </a:cubicBezTo>
                  <a:close/>
                  <a:moveTo>
                    <a:pt x="2890" y="3274"/>
                  </a:moveTo>
                  <a:cubicBezTo>
                    <a:pt x="2703" y="3198"/>
                    <a:pt x="2649" y="2934"/>
                    <a:pt x="2792" y="2791"/>
                  </a:cubicBezTo>
                  <a:cubicBezTo>
                    <a:pt x="2948" y="2635"/>
                    <a:pt x="3240" y="2718"/>
                    <a:pt x="3287" y="2932"/>
                  </a:cubicBezTo>
                  <a:cubicBezTo>
                    <a:pt x="3315" y="3059"/>
                    <a:pt x="3238" y="3211"/>
                    <a:pt x="3121" y="3260"/>
                  </a:cubicBezTo>
                  <a:cubicBezTo>
                    <a:pt x="3010" y="3306"/>
                    <a:pt x="2975" y="3308"/>
                    <a:pt x="2890" y="3274"/>
                  </a:cubicBezTo>
                  <a:close/>
                  <a:moveTo>
                    <a:pt x="11380" y="3259"/>
                  </a:moveTo>
                  <a:cubicBezTo>
                    <a:pt x="11269" y="3211"/>
                    <a:pt x="11192" y="3055"/>
                    <a:pt x="11219" y="2932"/>
                  </a:cubicBezTo>
                  <a:cubicBezTo>
                    <a:pt x="11266" y="2718"/>
                    <a:pt x="11558" y="2635"/>
                    <a:pt x="11714" y="2791"/>
                  </a:cubicBezTo>
                  <a:cubicBezTo>
                    <a:pt x="11941" y="3018"/>
                    <a:pt x="11676" y="3389"/>
                    <a:pt x="11380" y="3259"/>
                  </a:cubicBezTo>
                  <a:close/>
                  <a:moveTo>
                    <a:pt x="4135" y="2315"/>
                  </a:moveTo>
                  <a:cubicBezTo>
                    <a:pt x="4047" y="2279"/>
                    <a:pt x="4003" y="2217"/>
                    <a:pt x="3742" y="1764"/>
                  </a:cubicBezTo>
                  <a:cubicBezTo>
                    <a:pt x="3458" y="1269"/>
                    <a:pt x="3445" y="1205"/>
                    <a:pt x="3599" y="1051"/>
                  </a:cubicBezTo>
                  <a:cubicBezTo>
                    <a:pt x="3689" y="962"/>
                    <a:pt x="3710" y="953"/>
                    <a:pt x="3813" y="967"/>
                  </a:cubicBezTo>
                  <a:cubicBezTo>
                    <a:pt x="3876" y="975"/>
                    <a:pt x="3951" y="1004"/>
                    <a:pt x="3979" y="1030"/>
                  </a:cubicBezTo>
                  <a:cubicBezTo>
                    <a:pt x="4054" y="1097"/>
                    <a:pt x="4514" y="1902"/>
                    <a:pt x="4533" y="1999"/>
                  </a:cubicBezTo>
                  <a:cubicBezTo>
                    <a:pt x="4575" y="2206"/>
                    <a:pt x="4334" y="2397"/>
                    <a:pt x="4135" y="2315"/>
                  </a:cubicBezTo>
                  <a:close/>
                  <a:moveTo>
                    <a:pt x="10115" y="2290"/>
                  </a:moveTo>
                  <a:cubicBezTo>
                    <a:pt x="10012" y="2225"/>
                    <a:pt x="9949" y="2089"/>
                    <a:pt x="9975" y="1987"/>
                  </a:cubicBezTo>
                  <a:cubicBezTo>
                    <a:pt x="9999" y="1890"/>
                    <a:pt x="10462" y="1088"/>
                    <a:pt x="10528" y="1028"/>
                  </a:cubicBezTo>
                  <a:cubicBezTo>
                    <a:pt x="10556" y="1003"/>
                    <a:pt x="10630" y="975"/>
                    <a:pt x="10693" y="967"/>
                  </a:cubicBezTo>
                  <a:cubicBezTo>
                    <a:pt x="10796" y="953"/>
                    <a:pt x="10818" y="962"/>
                    <a:pt x="10907" y="1051"/>
                  </a:cubicBezTo>
                  <a:cubicBezTo>
                    <a:pt x="11061" y="1205"/>
                    <a:pt x="11048" y="1269"/>
                    <a:pt x="10764" y="1764"/>
                  </a:cubicBezTo>
                  <a:cubicBezTo>
                    <a:pt x="10631" y="1996"/>
                    <a:pt x="10494" y="2216"/>
                    <a:pt x="10459" y="2251"/>
                  </a:cubicBezTo>
                  <a:cubicBezTo>
                    <a:pt x="10372" y="2341"/>
                    <a:pt x="10224" y="2358"/>
                    <a:pt x="10115" y="2290"/>
                  </a:cubicBezTo>
                  <a:close/>
                  <a:moveTo>
                    <a:pt x="5496" y="1649"/>
                  </a:moveTo>
                  <a:cubicBezTo>
                    <a:pt x="5265" y="1418"/>
                    <a:pt x="5502" y="1044"/>
                    <a:pt x="5800" y="1169"/>
                  </a:cubicBezTo>
                  <a:cubicBezTo>
                    <a:pt x="5998" y="1252"/>
                    <a:pt x="6049" y="1490"/>
                    <a:pt x="5901" y="1638"/>
                  </a:cubicBezTo>
                  <a:cubicBezTo>
                    <a:pt x="5789" y="1750"/>
                    <a:pt x="5602" y="1755"/>
                    <a:pt x="5496" y="1649"/>
                  </a:cubicBezTo>
                  <a:close/>
                  <a:moveTo>
                    <a:pt x="8606" y="1638"/>
                  </a:moveTo>
                  <a:cubicBezTo>
                    <a:pt x="8388" y="1421"/>
                    <a:pt x="8615" y="1068"/>
                    <a:pt x="8910" y="1164"/>
                  </a:cubicBezTo>
                  <a:cubicBezTo>
                    <a:pt x="9040" y="1206"/>
                    <a:pt x="9131" y="1361"/>
                    <a:pt x="9102" y="1493"/>
                  </a:cubicBezTo>
                  <a:cubicBezTo>
                    <a:pt x="9052" y="1720"/>
                    <a:pt x="8770" y="1802"/>
                    <a:pt x="8606" y="1638"/>
                  </a:cubicBezTo>
                  <a:close/>
                  <a:moveTo>
                    <a:pt x="7053" y="1441"/>
                  </a:moveTo>
                  <a:lnTo>
                    <a:pt x="6971" y="1358"/>
                  </a:lnTo>
                  <a:lnTo>
                    <a:pt x="6971" y="776"/>
                  </a:lnTo>
                  <a:cubicBezTo>
                    <a:pt x="6971" y="199"/>
                    <a:pt x="6971" y="194"/>
                    <a:pt x="7039" y="126"/>
                  </a:cubicBezTo>
                  <a:cubicBezTo>
                    <a:pt x="7166" y="0"/>
                    <a:pt x="7341" y="0"/>
                    <a:pt x="7467" y="126"/>
                  </a:cubicBezTo>
                  <a:cubicBezTo>
                    <a:pt x="7535" y="194"/>
                    <a:pt x="7535" y="199"/>
                    <a:pt x="7535" y="776"/>
                  </a:cubicBezTo>
                  <a:lnTo>
                    <a:pt x="7535" y="1358"/>
                  </a:lnTo>
                  <a:lnTo>
                    <a:pt x="7453" y="1441"/>
                  </a:lnTo>
                  <a:cubicBezTo>
                    <a:pt x="7388" y="1506"/>
                    <a:pt x="7345" y="1523"/>
                    <a:pt x="7253" y="1523"/>
                  </a:cubicBezTo>
                  <a:cubicBezTo>
                    <a:pt x="7161" y="1523"/>
                    <a:pt x="7118" y="1506"/>
                    <a:pt x="7053" y="1441"/>
                  </a:cubicBezTo>
                  <a:close/>
                </a:path>
              </a:pathLst>
            </a:custGeom>
            <a:solidFill>
              <a:schemeClr val="accent1">
                <a:lumMod val="50000"/>
              </a:schemeClr>
            </a:solidFill>
            <a:ln w="9525" cap="flat" cmpd="sng" algn="ctr">
              <a:solidFill>
                <a:schemeClr val="accent1">
                  <a:lumMod val="50000"/>
                </a:schemeClr>
              </a:solidFill>
              <a:prstDash val="solid"/>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black"/>
                </a:solidFill>
                <a:effectLst/>
                <a:uLnTx/>
                <a:uFillTx/>
                <a:latin typeface="Aptos" panose="020B0004020202020204" pitchFamily="34" charset="0"/>
              </a:endParaRPr>
            </a:p>
          </p:txBody>
        </p:sp>
      </p:grpSp>
      <p:grpSp>
        <p:nvGrpSpPr>
          <p:cNvPr id="23" name="Group 22">
            <a:extLst>
              <a:ext uri="{FF2B5EF4-FFF2-40B4-BE49-F238E27FC236}">
                <a16:creationId xmlns:a16="http://schemas.microsoft.com/office/drawing/2014/main" id="{9D86D07B-E192-4278-1806-D89CC8C844A0}"/>
              </a:ext>
            </a:extLst>
          </p:cNvPr>
          <p:cNvGrpSpPr/>
          <p:nvPr/>
        </p:nvGrpSpPr>
        <p:grpSpPr>
          <a:xfrm>
            <a:off x="7492533" y="4125022"/>
            <a:ext cx="2211320" cy="2560847"/>
            <a:chOff x="7588785" y="4125022"/>
            <a:chExt cx="2211320" cy="2560847"/>
          </a:xfrm>
        </p:grpSpPr>
        <p:sp>
          <p:nvSpPr>
            <p:cNvPr id="8" name="Rectangle: Rounded Corners 7">
              <a:extLst>
                <a:ext uri="{FF2B5EF4-FFF2-40B4-BE49-F238E27FC236}">
                  <a16:creationId xmlns:a16="http://schemas.microsoft.com/office/drawing/2014/main" id="{D2205E04-B9E3-7281-E4CC-A0320DFDCBCA}"/>
                </a:ext>
              </a:extLst>
            </p:cNvPr>
            <p:cNvSpPr/>
            <p:nvPr/>
          </p:nvSpPr>
          <p:spPr>
            <a:xfrm>
              <a:off x="7655068" y="4907238"/>
              <a:ext cx="2145036" cy="459906"/>
            </a:xfrm>
            <a:prstGeom prst="roundRect">
              <a:avLst>
                <a:gd name="adj" fmla="val 0"/>
              </a:avLst>
            </a:prstGeom>
            <a:solidFill>
              <a:srgbClr val="DAE3F3"/>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9" name="Rectangle: Rounded Corners 8">
              <a:extLst>
                <a:ext uri="{FF2B5EF4-FFF2-40B4-BE49-F238E27FC236}">
                  <a16:creationId xmlns:a16="http://schemas.microsoft.com/office/drawing/2014/main" id="{B43A6A47-0507-7D55-CE07-122B6C2B0211}"/>
                </a:ext>
              </a:extLst>
            </p:cNvPr>
            <p:cNvSpPr/>
            <p:nvPr/>
          </p:nvSpPr>
          <p:spPr>
            <a:xfrm>
              <a:off x="7655068" y="4482646"/>
              <a:ext cx="2145036" cy="2203223"/>
            </a:xfrm>
            <a:prstGeom prst="roundRect">
              <a:avLst>
                <a:gd name="adj" fmla="val 8775"/>
              </a:avLst>
            </a:prstGeom>
            <a:no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0" name="TextBox 9">
              <a:extLst>
                <a:ext uri="{FF2B5EF4-FFF2-40B4-BE49-F238E27FC236}">
                  <a16:creationId xmlns:a16="http://schemas.microsoft.com/office/drawing/2014/main" id="{F96FBA04-F9D6-C2E1-12A7-4F145C36E377}"/>
                </a:ext>
              </a:extLst>
            </p:cNvPr>
            <p:cNvSpPr txBox="1"/>
            <p:nvPr/>
          </p:nvSpPr>
          <p:spPr>
            <a:xfrm>
              <a:off x="7588785" y="5379646"/>
              <a:ext cx="2211320" cy="1092607"/>
            </a:xfrm>
            <a:prstGeom prst="rect">
              <a:avLst/>
            </a:prstGeom>
            <a:noFill/>
          </p:spPr>
          <p:txBody>
            <a:bodyPr wrap="square" anchor="ctr">
              <a:spAutoFit/>
            </a:bodyPr>
            <a:lstStyle/>
            <a:p>
              <a:pPr marL="285750" indent="-285750">
                <a:buFont typeface="Arial" panose="020B0604020202020204" pitchFamily="34" charset="0"/>
                <a:buChar char="•"/>
                <a:defRPr/>
              </a:pPr>
              <a:r>
                <a:rPr lang="en-US" sz="1300" kern="0" spc="50" dirty="0">
                  <a:solidFill>
                    <a:prstClr val="black">
                      <a:lumMod val="65000"/>
                      <a:lumOff val="35000"/>
                    </a:prstClr>
                  </a:solidFill>
                  <a:latin typeface="Aptos" panose="020B0004020202020204" pitchFamily="34" charset="0"/>
                  <a:cs typeface="Arial" panose="020B0604020202020204" pitchFamily="34" charset="0"/>
                </a:rPr>
                <a:t>USFDA, EDQM, EU GMP,  COFEPRIS, WHO GMP, TGA, KFDA, DEA, MCC, HALAL </a:t>
              </a:r>
            </a:p>
          </p:txBody>
        </p:sp>
        <p:sp>
          <p:nvSpPr>
            <p:cNvPr id="11" name="TextBox 10">
              <a:extLst>
                <a:ext uri="{FF2B5EF4-FFF2-40B4-BE49-F238E27FC236}">
                  <a16:creationId xmlns:a16="http://schemas.microsoft.com/office/drawing/2014/main" id="{BAF03AC0-145F-67BD-E413-EAEFF36205FD}"/>
                </a:ext>
              </a:extLst>
            </p:cNvPr>
            <p:cNvSpPr txBox="1"/>
            <p:nvPr/>
          </p:nvSpPr>
          <p:spPr>
            <a:xfrm>
              <a:off x="7713083" y="4990996"/>
              <a:ext cx="2021147" cy="292388"/>
            </a:xfrm>
            <a:prstGeom prst="rect">
              <a:avLst/>
            </a:prstGeom>
            <a:noFill/>
          </p:spPr>
          <p:txBody>
            <a:bodyPr wrap="square" rtlCol="0" anchor="ctr">
              <a:spAutoFit/>
            </a:bodyPr>
            <a:lstStyle>
              <a:defPPr>
                <a:defRPr lang="en-US"/>
              </a:defPPr>
              <a:lvl1pPr marR="0" lvl="0" indent="0" algn="ctr" defTabSz="914377" fontAlgn="auto">
                <a:lnSpc>
                  <a:spcPct val="100000"/>
                </a:lnSpc>
                <a:spcBef>
                  <a:spcPts val="0"/>
                </a:spcBef>
                <a:spcAft>
                  <a:spcPts val="0"/>
                </a:spcAft>
                <a:buClrTx/>
                <a:buSzTx/>
                <a:buFontTx/>
                <a:buNone/>
                <a:tabLst/>
                <a:defRPr kumimoji="0" sz="1400" b="1" i="0" u="none" strike="noStrike" cap="none" spc="0" normalizeH="0" baseline="0">
                  <a:ln>
                    <a:noFill/>
                  </a:ln>
                  <a:solidFill>
                    <a:schemeClr val="tx2">
                      <a:lumMod val="75000"/>
                      <a:lumOff val="25000"/>
                    </a:schemeClr>
                  </a:solidFill>
                  <a:effectLst/>
                  <a:uLnTx/>
                  <a:uFillTx/>
                  <a:latin typeface="Arial" panose="020B0604020202020204" pitchFamily="34" charset="0"/>
                  <a:cs typeface="Arial" panose="020B0604020202020204" pitchFamily="34" charset="0"/>
                </a:defRPr>
              </a:lvl1pPr>
            </a:lstStyle>
            <a:p>
              <a:r>
                <a:rPr lang="en-US" sz="1300" kern="0" spc="50" dirty="0">
                  <a:solidFill>
                    <a:prstClr val="black">
                      <a:lumMod val="65000"/>
                      <a:lumOff val="35000"/>
                    </a:prstClr>
                  </a:solidFill>
                  <a:latin typeface="Aptos" panose="020B0004020202020204" pitchFamily="34" charset="0"/>
                </a:rPr>
                <a:t>Regulatory Approvals</a:t>
              </a:r>
            </a:p>
          </p:txBody>
        </p:sp>
        <p:sp>
          <p:nvSpPr>
            <p:cNvPr id="12" name="Oval 11">
              <a:extLst>
                <a:ext uri="{FF2B5EF4-FFF2-40B4-BE49-F238E27FC236}">
                  <a16:creationId xmlns:a16="http://schemas.microsoft.com/office/drawing/2014/main" id="{ABB7DEA7-75E5-0590-3152-D0C9AF9B6B7A}"/>
                </a:ext>
              </a:extLst>
            </p:cNvPr>
            <p:cNvSpPr/>
            <p:nvPr/>
          </p:nvSpPr>
          <p:spPr>
            <a:xfrm>
              <a:off x="8357647" y="4125022"/>
              <a:ext cx="765120" cy="762888"/>
            </a:xfrm>
            <a:prstGeom prst="ellipse">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ptos" panose="020B0004020202020204" pitchFamily="34" charset="0"/>
              </a:endParaRPr>
            </a:p>
          </p:txBody>
        </p:sp>
        <p:sp>
          <p:nvSpPr>
            <p:cNvPr id="13" name="Freeform 7">
              <a:extLst>
                <a:ext uri="{FF2B5EF4-FFF2-40B4-BE49-F238E27FC236}">
                  <a16:creationId xmlns:a16="http://schemas.microsoft.com/office/drawing/2014/main" id="{DC486230-6785-C47B-15C9-7F2B7B7B2D9E}"/>
                </a:ext>
              </a:extLst>
            </p:cNvPr>
            <p:cNvSpPr>
              <a:spLocks noEditPoints="1"/>
            </p:cNvSpPr>
            <p:nvPr/>
          </p:nvSpPr>
          <p:spPr bwMode="auto">
            <a:xfrm>
              <a:off x="8490692" y="4328944"/>
              <a:ext cx="453703" cy="340237"/>
            </a:xfrm>
            <a:custGeom>
              <a:avLst/>
              <a:gdLst>
                <a:gd name="T0" fmla="*/ 4875 w 16840"/>
                <a:gd name="T1" fmla="*/ 1299 h 14473"/>
                <a:gd name="T2" fmla="*/ 4450 w 16840"/>
                <a:gd name="T3" fmla="*/ 6050 h 14473"/>
                <a:gd name="T4" fmla="*/ 3652 w 16840"/>
                <a:gd name="T5" fmla="*/ 4922 h 14473"/>
                <a:gd name="T6" fmla="*/ 1314 w 16840"/>
                <a:gd name="T7" fmla="*/ 2874 h 14473"/>
                <a:gd name="T8" fmla="*/ 1947 w 16840"/>
                <a:gd name="T9" fmla="*/ 6450 h 14473"/>
                <a:gd name="T10" fmla="*/ 2527 w 16840"/>
                <a:gd name="T11" fmla="*/ 9473 h 14473"/>
                <a:gd name="T12" fmla="*/ 2991 w 16840"/>
                <a:gd name="T13" fmla="*/ 10976 h 14473"/>
                <a:gd name="T14" fmla="*/ 4319 w 16840"/>
                <a:gd name="T15" fmla="*/ 10526 h 14473"/>
                <a:gd name="T16" fmla="*/ 4891 w 16840"/>
                <a:gd name="T17" fmla="*/ 12944 h 14473"/>
                <a:gd name="T18" fmla="*/ 7796 w 16840"/>
                <a:gd name="T19" fmla="*/ 12856 h 14473"/>
                <a:gd name="T20" fmla="*/ 5312 w 16840"/>
                <a:gd name="T21" fmla="*/ 9537 h 14473"/>
                <a:gd name="T22" fmla="*/ 11860 w 16840"/>
                <a:gd name="T23" fmla="*/ 8114 h 14473"/>
                <a:gd name="T24" fmla="*/ 7185 w 16840"/>
                <a:gd name="T25" fmla="*/ 7663 h 14473"/>
                <a:gd name="T26" fmla="*/ 11860 w 16840"/>
                <a:gd name="T27" fmla="*/ 6985 h 14473"/>
                <a:gd name="T28" fmla="*/ 8438 w 16840"/>
                <a:gd name="T29" fmla="*/ 6312 h 14473"/>
                <a:gd name="T30" fmla="*/ 11860 w 16840"/>
                <a:gd name="T31" fmla="*/ 6082 h 14473"/>
                <a:gd name="T32" fmla="*/ 7679 w 16840"/>
                <a:gd name="T33" fmla="*/ 5508 h 14473"/>
                <a:gd name="T34" fmla="*/ 6051 w 16840"/>
                <a:gd name="T35" fmla="*/ 5106 h 14473"/>
                <a:gd name="T36" fmla="*/ 10084 w 16840"/>
                <a:gd name="T37" fmla="*/ 438 h 14473"/>
                <a:gd name="T38" fmla="*/ 13440 w 16840"/>
                <a:gd name="T39" fmla="*/ 7061 h 14473"/>
                <a:gd name="T40" fmla="*/ 10957 w 16840"/>
                <a:gd name="T41" fmla="*/ 12856 h 14473"/>
                <a:gd name="T42" fmla="*/ 13892 w 16840"/>
                <a:gd name="T43" fmla="*/ 7098 h 14473"/>
                <a:gd name="T44" fmla="*/ 15021 w 16840"/>
                <a:gd name="T45" fmla="*/ 454 h 14473"/>
                <a:gd name="T46" fmla="*/ 14777 w 16840"/>
                <a:gd name="T47" fmla="*/ 2696 h 14473"/>
                <a:gd name="T48" fmla="*/ 14569 w 16840"/>
                <a:gd name="T49" fmla="*/ 10598 h 14473"/>
                <a:gd name="T50" fmla="*/ 15042 w 16840"/>
                <a:gd name="T51" fmla="*/ 3139 h 14473"/>
                <a:gd name="T52" fmla="*/ 15261 w 16840"/>
                <a:gd name="T53" fmla="*/ 0 h 14473"/>
                <a:gd name="T54" fmla="*/ 8247 w 16840"/>
                <a:gd name="T55" fmla="*/ 2921 h 14473"/>
                <a:gd name="T56" fmla="*/ 8699 w 16840"/>
                <a:gd name="T57" fmla="*/ 2921 h 14473"/>
                <a:gd name="T58" fmla="*/ 9151 w 16840"/>
                <a:gd name="T59" fmla="*/ 2696 h 14473"/>
                <a:gd name="T60" fmla="*/ 9602 w 16840"/>
                <a:gd name="T61" fmla="*/ 3147 h 14473"/>
                <a:gd name="T62" fmla="*/ 9151 w 16840"/>
                <a:gd name="T63" fmla="*/ 2696 h 14473"/>
                <a:gd name="T64" fmla="*/ 10279 w 16840"/>
                <a:gd name="T65" fmla="*/ 3147 h 14473"/>
                <a:gd name="T66" fmla="*/ 10279 w 16840"/>
                <a:gd name="T67" fmla="*/ 2696 h 14473"/>
                <a:gd name="T68" fmla="*/ 3220 w 16840"/>
                <a:gd name="T69" fmla="*/ 5138 h 14473"/>
                <a:gd name="T70" fmla="*/ 799 w 16840"/>
                <a:gd name="T71" fmla="*/ 5028 h 14473"/>
                <a:gd name="T72" fmla="*/ 1397 w 16840"/>
                <a:gd name="T73" fmla="*/ 3308 h 14473"/>
                <a:gd name="T74" fmla="*/ 9263 w 16840"/>
                <a:gd name="T75" fmla="*/ 4502 h 14473"/>
                <a:gd name="T76" fmla="*/ 9263 w 16840"/>
                <a:gd name="T77" fmla="*/ 4050 h 14473"/>
                <a:gd name="T78" fmla="*/ 6667 w 16840"/>
                <a:gd name="T79" fmla="*/ 5405 h 14473"/>
                <a:gd name="T80" fmla="*/ 11860 w 16840"/>
                <a:gd name="T81" fmla="*/ 4953 h 14473"/>
                <a:gd name="T82" fmla="*/ 6294 w 16840"/>
                <a:gd name="T83" fmla="*/ 5762 h 14473"/>
                <a:gd name="T84" fmla="*/ 2885 w 16840"/>
                <a:gd name="T85" fmla="*/ 9155 h 14473"/>
                <a:gd name="T86" fmla="*/ 7352 w 16840"/>
                <a:gd name="T87" fmla="*/ 5889 h 14473"/>
                <a:gd name="T88" fmla="*/ 3443 w 16840"/>
                <a:gd name="T89" fmla="*/ 10715 h 14473"/>
                <a:gd name="T90" fmla="*/ 7352 w 16840"/>
                <a:gd name="T91" fmla="*/ 5889 h 14473"/>
                <a:gd name="T92" fmla="*/ 8132 w 16840"/>
                <a:gd name="T93" fmla="*/ 11532 h 14473"/>
                <a:gd name="T94" fmla="*/ 9002 w 16840"/>
                <a:gd name="T95" fmla="*/ 14004 h 14473"/>
                <a:gd name="T96" fmla="*/ 10474 w 16840"/>
                <a:gd name="T97" fmla="*/ 14305 h 14473"/>
                <a:gd name="T98" fmla="*/ 10189 w 16840"/>
                <a:gd name="T99" fmla="*/ 9270 h 14473"/>
                <a:gd name="T100" fmla="*/ 10499 w 16840"/>
                <a:gd name="T101" fmla="*/ 10530 h 14473"/>
                <a:gd name="T102" fmla="*/ 8263 w 16840"/>
                <a:gd name="T103" fmla="*/ 10598 h 14473"/>
                <a:gd name="T104" fmla="*/ 6667 w 16840"/>
                <a:gd name="T105" fmla="*/ 10598 h 14473"/>
                <a:gd name="T106" fmla="*/ 7119 w 16840"/>
                <a:gd name="T107" fmla="*/ 10598 h 14473"/>
                <a:gd name="T108" fmla="*/ 11408 w 16840"/>
                <a:gd name="T109" fmla="*/ 10372 h 14473"/>
                <a:gd name="T110" fmla="*/ 11860 w 16840"/>
                <a:gd name="T111" fmla="*/ 10824 h 14473"/>
                <a:gd name="T112" fmla="*/ 11408 w 16840"/>
                <a:gd name="T113" fmla="*/ 10372 h 14473"/>
                <a:gd name="T114" fmla="*/ 9849 w 16840"/>
                <a:gd name="T115" fmla="*/ 12090 h 14473"/>
                <a:gd name="T116" fmla="*/ 9778 w 16840"/>
                <a:gd name="T117" fmla="*/ 13386 h 14473"/>
                <a:gd name="T118" fmla="*/ 8699 w 16840"/>
                <a:gd name="T119" fmla="*/ 12839 h 14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840" h="14473">
                  <a:moveTo>
                    <a:pt x="6201" y="0"/>
                  </a:moveTo>
                  <a:lnTo>
                    <a:pt x="6003" y="63"/>
                  </a:lnTo>
                  <a:cubicBezTo>
                    <a:pt x="5519" y="215"/>
                    <a:pt x="5105" y="624"/>
                    <a:pt x="4938" y="1113"/>
                  </a:cubicBezTo>
                  <a:lnTo>
                    <a:pt x="4875" y="1299"/>
                  </a:lnTo>
                  <a:lnTo>
                    <a:pt x="4869" y="5915"/>
                  </a:lnTo>
                  <a:cubicBezTo>
                    <a:pt x="4699" y="6082"/>
                    <a:pt x="4576" y="6199"/>
                    <a:pt x="4570" y="6199"/>
                  </a:cubicBezTo>
                  <a:cubicBezTo>
                    <a:pt x="4568" y="6199"/>
                    <a:pt x="4565" y="6196"/>
                    <a:pt x="4561" y="6192"/>
                  </a:cubicBezTo>
                  <a:cubicBezTo>
                    <a:pt x="4541" y="6174"/>
                    <a:pt x="4497" y="6118"/>
                    <a:pt x="4450" y="6050"/>
                  </a:cubicBezTo>
                  <a:lnTo>
                    <a:pt x="4346" y="5899"/>
                  </a:lnTo>
                  <a:lnTo>
                    <a:pt x="4346" y="5893"/>
                  </a:lnTo>
                  <a:lnTo>
                    <a:pt x="3653" y="4933"/>
                  </a:lnTo>
                  <a:lnTo>
                    <a:pt x="3652" y="4922"/>
                  </a:lnTo>
                  <a:cubicBezTo>
                    <a:pt x="3541" y="4766"/>
                    <a:pt x="3384" y="4544"/>
                    <a:pt x="3188" y="4266"/>
                  </a:cubicBezTo>
                  <a:cubicBezTo>
                    <a:pt x="2904" y="3863"/>
                    <a:pt x="2628" y="3478"/>
                    <a:pt x="2574" y="3412"/>
                  </a:cubicBezTo>
                  <a:cubicBezTo>
                    <a:pt x="2447" y="3255"/>
                    <a:pt x="2113" y="3034"/>
                    <a:pt x="1887" y="2956"/>
                  </a:cubicBezTo>
                  <a:cubicBezTo>
                    <a:pt x="1731" y="2902"/>
                    <a:pt x="1512" y="2873"/>
                    <a:pt x="1314" y="2874"/>
                  </a:cubicBezTo>
                  <a:cubicBezTo>
                    <a:pt x="1194" y="2874"/>
                    <a:pt x="1083" y="2885"/>
                    <a:pt x="995" y="2907"/>
                  </a:cubicBezTo>
                  <a:cubicBezTo>
                    <a:pt x="374" y="3067"/>
                    <a:pt x="0" y="3562"/>
                    <a:pt x="0" y="4224"/>
                  </a:cubicBezTo>
                  <a:cubicBezTo>
                    <a:pt x="0" y="4639"/>
                    <a:pt x="172" y="5072"/>
                    <a:pt x="447" y="5348"/>
                  </a:cubicBezTo>
                  <a:cubicBezTo>
                    <a:pt x="539" y="5440"/>
                    <a:pt x="1177" y="5908"/>
                    <a:pt x="1947" y="6450"/>
                  </a:cubicBezTo>
                  <a:cubicBezTo>
                    <a:pt x="2684" y="6968"/>
                    <a:pt x="3300" y="7404"/>
                    <a:pt x="3315" y="7417"/>
                  </a:cubicBezTo>
                  <a:cubicBezTo>
                    <a:pt x="3332" y="7433"/>
                    <a:pt x="3144" y="7641"/>
                    <a:pt x="2829" y="7957"/>
                  </a:cubicBezTo>
                  <a:cubicBezTo>
                    <a:pt x="2273" y="8514"/>
                    <a:pt x="2229" y="8580"/>
                    <a:pt x="2229" y="8859"/>
                  </a:cubicBezTo>
                  <a:cubicBezTo>
                    <a:pt x="2229" y="9110"/>
                    <a:pt x="2279" y="9214"/>
                    <a:pt x="2527" y="9473"/>
                  </a:cubicBezTo>
                  <a:lnTo>
                    <a:pt x="2756" y="9713"/>
                  </a:lnTo>
                  <a:lnTo>
                    <a:pt x="2691" y="9808"/>
                  </a:lnTo>
                  <a:cubicBezTo>
                    <a:pt x="2562" y="9996"/>
                    <a:pt x="2533" y="10262"/>
                    <a:pt x="2615" y="10505"/>
                  </a:cubicBezTo>
                  <a:cubicBezTo>
                    <a:pt x="2653" y="10617"/>
                    <a:pt x="2727" y="10710"/>
                    <a:pt x="2991" y="10976"/>
                  </a:cubicBezTo>
                  <a:cubicBezTo>
                    <a:pt x="3301" y="11289"/>
                    <a:pt x="3326" y="11308"/>
                    <a:pt x="3432" y="11308"/>
                  </a:cubicBezTo>
                  <a:cubicBezTo>
                    <a:pt x="3529" y="11308"/>
                    <a:pt x="3562" y="11289"/>
                    <a:pt x="3683" y="11167"/>
                  </a:cubicBezTo>
                  <a:cubicBezTo>
                    <a:pt x="3733" y="11116"/>
                    <a:pt x="3779" y="11073"/>
                    <a:pt x="3810" y="11048"/>
                  </a:cubicBezTo>
                  <a:lnTo>
                    <a:pt x="4319" y="10526"/>
                  </a:lnTo>
                  <a:lnTo>
                    <a:pt x="4346" y="10505"/>
                  </a:lnTo>
                  <a:lnTo>
                    <a:pt x="4346" y="10503"/>
                  </a:lnTo>
                  <a:lnTo>
                    <a:pt x="4866" y="9983"/>
                  </a:lnTo>
                  <a:cubicBezTo>
                    <a:pt x="4867" y="11994"/>
                    <a:pt x="4875" y="12906"/>
                    <a:pt x="4891" y="12944"/>
                  </a:cubicBezTo>
                  <a:cubicBezTo>
                    <a:pt x="4908" y="12985"/>
                    <a:pt x="4950" y="13031"/>
                    <a:pt x="4983" y="13048"/>
                  </a:cubicBezTo>
                  <a:cubicBezTo>
                    <a:pt x="5024" y="13067"/>
                    <a:pt x="5518" y="13078"/>
                    <a:pt x="6420" y="13080"/>
                  </a:cubicBezTo>
                  <a:lnTo>
                    <a:pt x="7796" y="13081"/>
                  </a:lnTo>
                  <a:lnTo>
                    <a:pt x="7796" y="12856"/>
                  </a:lnTo>
                  <a:lnTo>
                    <a:pt x="7796" y="12630"/>
                  </a:lnTo>
                  <a:lnTo>
                    <a:pt x="6554" y="12630"/>
                  </a:lnTo>
                  <a:lnTo>
                    <a:pt x="5312" y="12630"/>
                  </a:lnTo>
                  <a:lnTo>
                    <a:pt x="5312" y="9537"/>
                  </a:lnTo>
                  <a:lnTo>
                    <a:pt x="6392" y="8457"/>
                  </a:lnTo>
                  <a:cubicBezTo>
                    <a:pt x="6521" y="8329"/>
                    <a:pt x="6621" y="8227"/>
                    <a:pt x="6734" y="8114"/>
                  </a:cubicBezTo>
                  <a:lnTo>
                    <a:pt x="9263" y="8114"/>
                  </a:lnTo>
                  <a:lnTo>
                    <a:pt x="11860" y="8114"/>
                  </a:lnTo>
                  <a:lnTo>
                    <a:pt x="11860" y="7888"/>
                  </a:lnTo>
                  <a:lnTo>
                    <a:pt x="11860" y="7663"/>
                  </a:lnTo>
                  <a:lnTo>
                    <a:pt x="9263" y="7663"/>
                  </a:lnTo>
                  <a:lnTo>
                    <a:pt x="7185" y="7663"/>
                  </a:lnTo>
                  <a:cubicBezTo>
                    <a:pt x="7356" y="7490"/>
                    <a:pt x="7507" y="7340"/>
                    <a:pt x="7635" y="7211"/>
                  </a:cubicBezTo>
                  <a:lnTo>
                    <a:pt x="9263" y="7211"/>
                  </a:lnTo>
                  <a:lnTo>
                    <a:pt x="11860" y="7211"/>
                  </a:lnTo>
                  <a:lnTo>
                    <a:pt x="11860" y="6985"/>
                  </a:lnTo>
                  <a:lnTo>
                    <a:pt x="11860" y="6760"/>
                  </a:lnTo>
                  <a:lnTo>
                    <a:pt x="9263" y="6760"/>
                  </a:lnTo>
                  <a:lnTo>
                    <a:pt x="8077" y="6760"/>
                  </a:lnTo>
                  <a:cubicBezTo>
                    <a:pt x="8397" y="6428"/>
                    <a:pt x="8438" y="6362"/>
                    <a:pt x="8438" y="6312"/>
                  </a:cubicBezTo>
                  <a:cubicBezTo>
                    <a:pt x="8438" y="6311"/>
                    <a:pt x="8438" y="6309"/>
                    <a:pt x="8438" y="6308"/>
                  </a:cubicBezTo>
                  <a:lnTo>
                    <a:pt x="9263" y="6308"/>
                  </a:lnTo>
                  <a:lnTo>
                    <a:pt x="11860" y="6308"/>
                  </a:lnTo>
                  <a:lnTo>
                    <a:pt x="11860" y="6082"/>
                  </a:lnTo>
                  <a:lnTo>
                    <a:pt x="11860" y="5856"/>
                  </a:lnTo>
                  <a:lnTo>
                    <a:pt x="9263" y="5856"/>
                  </a:lnTo>
                  <a:lnTo>
                    <a:pt x="8077" y="5856"/>
                  </a:lnTo>
                  <a:cubicBezTo>
                    <a:pt x="7904" y="5687"/>
                    <a:pt x="7729" y="5533"/>
                    <a:pt x="7679" y="5508"/>
                  </a:cubicBezTo>
                  <a:cubicBezTo>
                    <a:pt x="7467" y="5402"/>
                    <a:pt x="7136" y="5426"/>
                    <a:pt x="6935" y="5562"/>
                  </a:cubicBezTo>
                  <a:lnTo>
                    <a:pt x="6836" y="5629"/>
                  </a:lnTo>
                  <a:lnTo>
                    <a:pt x="6642" y="5432"/>
                  </a:lnTo>
                  <a:cubicBezTo>
                    <a:pt x="6409" y="5195"/>
                    <a:pt x="6280" y="5124"/>
                    <a:pt x="6051" y="5106"/>
                  </a:cubicBezTo>
                  <a:cubicBezTo>
                    <a:pt x="5776" y="5084"/>
                    <a:pt x="5689" y="5109"/>
                    <a:pt x="5312" y="5475"/>
                  </a:cubicBezTo>
                  <a:cubicBezTo>
                    <a:pt x="5313" y="1705"/>
                    <a:pt x="5320" y="1351"/>
                    <a:pt x="5369" y="1196"/>
                  </a:cubicBezTo>
                  <a:cubicBezTo>
                    <a:pt x="5475" y="859"/>
                    <a:pt x="5733" y="601"/>
                    <a:pt x="6071" y="494"/>
                  </a:cubicBezTo>
                  <a:cubicBezTo>
                    <a:pt x="6247" y="439"/>
                    <a:pt x="6325" y="438"/>
                    <a:pt x="10084" y="438"/>
                  </a:cubicBezTo>
                  <a:lnTo>
                    <a:pt x="13918" y="438"/>
                  </a:lnTo>
                  <a:lnTo>
                    <a:pt x="13766" y="650"/>
                  </a:lnTo>
                  <a:cubicBezTo>
                    <a:pt x="13601" y="880"/>
                    <a:pt x="13519" y="1068"/>
                    <a:pt x="13471" y="1327"/>
                  </a:cubicBezTo>
                  <a:cubicBezTo>
                    <a:pt x="13450" y="1443"/>
                    <a:pt x="13440" y="3174"/>
                    <a:pt x="13440" y="7061"/>
                  </a:cubicBezTo>
                  <a:lnTo>
                    <a:pt x="13440" y="12630"/>
                  </a:lnTo>
                  <a:lnTo>
                    <a:pt x="12199" y="12630"/>
                  </a:lnTo>
                  <a:lnTo>
                    <a:pt x="10957" y="12630"/>
                  </a:lnTo>
                  <a:lnTo>
                    <a:pt x="10957" y="12856"/>
                  </a:lnTo>
                  <a:lnTo>
                    <a:pt x="10957" y="13081"/>
                  </a:lnTo>
                  <a:lnTo>
                    <a:pt x="12325" y="13081"/>
                  </a:lnTo>
                  <a:cubicBezTo>
                    <a:pt x="13724" y="13081"/>
                    <a:pt x="13804" y="13076"/>
                    <a:pt x="13856" y="12972"/>
                  </a:cubicBezTo>
                  <a:cubicBezTo>
                    <a:pt x="13868" y="12947"/>
                    <a:pt x="13884" y="10304"/>
                    <a:pt x="13892" y="7098"/>
                  </a:cubicBezTo>
                  <a:lnTo>
                    <a:pt x="13906" y="1270"/>
                  </a:lnTo>
                  <a:lnTo>
                    <a:pt x="13975" y="1101"/>
                  </a:lnTo>
                  <a:cubicBezTo>
                    <a:pt x="14068" y="868"/>
                    <a:pt x="14324" y="612"/>
                    <a:pt x="14555" y="521"/>
                  </a:cubicBezTo>
                  <a:cubicBezTo>
                    <a:pt x="14696" y="465"/>
                    <a:pt x="14775" y="454"/>
                    <a:pt x="15021" y="454"/>
                  </a:cubicBezTo>
                  <a:cubicBezTo>
                    <a:pt x="15415" y="454"/>
                    <a:pt x="15586" y="518"/>
                    <a:pt x="15828" y="760"/>
                  </a:cubicBezTo>
                  <a:cubicBezTo>
                    <a:pt x="16040" y="972"/>
                    <a:pt x="16124" y="1168"/>
                    <a:pt x="16144" y="1499"/>
                  </a:cubicBezTo>
                  <a:cubicBezTo>
                    <a:pt x="16177" y="2059"/>
                    <a:pt x="15879" y="2497"/>
                    <a:pt x="15362" y="2651"/>
                  </a:cubicBezTo>
                  <a:cubicBezTo>
                    <a:pt x="15250" y="2684"/>
                    <a:pt x="15092" y="2696"/>
                    <a:pt x="14777" y="2696"/>
                  </a:cubicBezTo>
                  <a:lnTo>
                    <a:pt x="14343" y="2696"/>
                  </a:lnTo>
                  <a:lnTo>
                    <a:pt x="14343" y="6647"/>
                  </a:lnTo>
                  <a:lnTo>
                    <a:pt x="14343" y="10598"/>
                  </a:lnTo>
                  <a:lnTo>
                    <a:pt x="14569" y="10598"/>
                  </a:lnTo>
                  <a:lnTo>
                    <a:pt x="14795" y="10598"/>
                  </a:lnTo>
                  <a:lnTo>
                    <a:pt x="14795" y="6877"/>
                  </a:lnTo>
                  <a:lnTo>
                    <a:pt x="14795" y="3156"/>
                  </a:lnTo>
                  <a:lnTo>
                    <a:pt x="15042" y="3139"/>
                  </a:lnTo>
                  <a:cubicBezTo>
                    <a:pt x="15352" y="3118"/>
                    <a:pt x="15611" y="3039"/>
                    <a:pt x="15833" y="2896"/>
                  </a:cubicBezTo>
                  <a:cubicBezTo>
                    <a:pt x="16840" y="2245"/>
                    <a:pt x="16839" y="888"/>
                    <a:pt x="15832" y="238"/>
                  </a:cubicBezTo>
                  <a:cubicBezTo>
                    <a:pt x="15737" y="176"/>
                    <a:pt x="15569" y="97"/>
                    <a:pt x="15460" y="63"/>
                  </a:cubicBezTo>
                  <a:lnTo>
                    <a:pt x="15261" y="0"/>
                  </a:lnTo>
                  <a:lnTo>
                    <a:pt x="10731" y="0"/>
                  </a:lnTo>
                  <a:lnTo>
                    <a:pt x="6201" y="0"/>
                  </a:lnTo>
                  <a:close/>
                  <a:moveTo>
                    <a:pt x="8247" y="2696"/>
                  </a:moveTo>
                  <a:lnTo>
                    <a:pt x="8247" y="2921"/>
                  </a:lnTo>
                  <a:lnTo>
                    <a:pt x="8247" y="3147"/>
                  </a:lnTo>
                  <a:lnTo>
                    <a:pt x="8473" y="3147"/>
                  </a:lnTo>
                  <a:lnTo>
                    <a:pt x="8699" y="3147"/>
                  </a:lnTo>
                  <a:lnTo>
                    <a:pt x="8699" y="2921"/>
                  </a:lnTo>
                  <a:lnTo>
                    <a:pt x="8699" y="2696"/>
                  </a:lnTo>
                  <a:lnTo>
                    <a:pt x="8473" y="2696"/>
                  </a:lnTo>
                  <a:lnTo>
                    <a:pt x="8247" y="2696"/>
                  </a:lnTo>
                  <a:close/>
                  <a:moveTo>
                    <a:pt x="9151" y="2696"/>
                  </a:moveTo>
                  <a:lnTo>
                    <a:pt x="9151" y="2921"/>
                  </a:lnTo>
                  <a:lnTo>
                    <a:pt x="9151" y="3147"/>
                  </a:lnTo>
                  <a:lnTo>
                    <a:pt x="9376" y="3147"/>
                  </a:lnTo>
                  <a:lnTo>
                    <a:pt x="9602" y="3147"/>
                  </a:lnTo>
                  <a:lnTo>
                    <a:pt x="9602" y="2921"/>
                  </a:lnTo>
                  <a:lnTo>
                    <a:pt x="9602" y="2696"/>
                  </a:lnTo>
                  <a:lnTo>
                    <a:pt x="9376" y="2696"/>
                  </a:lnTo>
                  <a:lnTo>
                    <a:pt x="9151" y="2696"/>
                  </a:lnTo>
                  <a:close/>
                  <a:moveTo>
                    <a:pt x="10054" y="2696"/>
                  </a:moveTo>
                  <a:lnTo>
                    <a:pt x="10054" y="2921"/>
                  </a:lnTo>
                  <a:lnTo>
                    <a:pt x="10054" y="3147"/>
                  </a:lnTo>
                  <a:lnTo>
                    <a:pt x="10279" y="3147"/>
                  </a:lnTo>
                  <a:lnTo>
                    <a:pt x="10505" y="3147"/>
                  </a:lnTo>
                  <a:lnTo>
                    <a:pt x="10505" y="2921"/>
                  </a:lnTo>
                  <a:lnTo>
                    <a:pt x="10505" y="2696"/>
                  </a:lnTo>
                  <a:lnTo>
                    <a:pt x="10279" y="2696"/>
                  </a:lnTo>
                  <a:lnTo>
                    <a:pt x="10054" y="2696"/>
                  </a:lnTo>
                  <a:close/>
                  <a:moveTo>
                    <a:pt x="1397" y="3308"/>
                  </a:moveTo>
                  <a:cubicBezTo>
                    <a:pt x="1637" y="3313"/>
                    <a:pt x="1886" y="3412"/>
                    <a:pt x="2097" y="3608"/>
                  </a:cubicBezTo>
                  <a:cubicBezTo>
                    <a:pt x="2169" y="3675"/>
                    <a:pt x="2674" y="4364"/>
                    <a:pt x="3220" y="5138"/>
                  </a:cubicBezTo>
                  <a:lnTo>
                    <a:pt x="4212" y="6545"/>
                  </a:lnTo>
                  <a:lnTo>
                    <a:pt x="3948" y="6810"/>
                  </a:lnTo>
                  <a:cubicBezTo>
                    <a:pt x="3803" y="6955"/>
                    <a:pt x="3677" y="7074"/>
                    <a:pt x="3669" y="7073"/>
                  </a:cubicBezTo>
                  <a:cubicBezTo>
                    <a:pt x="3635" y="7071"/>
                    <a:pt x="932" y="5145"/>
                    <a:pt x="799" y="5028"/>
                  </a:cubicBezTo>
                  <a:cubicBezTo>
                    <a:pt x="694" y="4937"/>
                    <a:pt x="620" y="4837"/>
                    <a:pt x="545" y="4684"/>
                  </a:cubicBezTo>
                  <a:cubicBezTo>
                    <a:pt x="449" y="4492"/>
                    <a:pt x="438" y="4445"/>
                    <a:pt x="438" y="4253"/>
                  </a:cubicBezTo>
                  <a:cubicBezTo>
                    <a:pt x="438" y="4067"/>
                    <a:pt x="450" y="4013"/>
                    <a:pt x="530" y="3850"/>
                  </a:cubicBezTo>
                  <a:cubicBezTo>
                    <a:pt x="709" y="3487"/>
                    <a:pt x="1045" y="3299"/>
                    <a:pt x="1397" y="3308"/>
                  </a:cubicBezTo>
                  <a:close/>
                  <a:moveTo>
                    <a:pt x="6667" y="4050"/>
                  </a:moveTo>
                  <a:lnTo>
                    <a:pt x="6667" y="4276"/>
                  </a:lnTo>
                  <a:lnTo>
                    <a:pt x="6667" y="4502"/>
                  </a:lnTo>
                  <a:lnTo>
                    <a:pt x="9263" y="4502"/>
                  </a:lnTo>
                  <a:lnTo>
                    <a:pt x="11860" y="4502"/>
                  </a:lnTo>
                  <a:lnTo>
                    <a:pt x="11860" y="4276"/>
                  </a:lnTo>
                  <a:lnTo>
                    <a:pt x="11860" y="4050"/>
                  </a:lnTo>
                  <a:lnTo>
                    <a:pt x="9263" y="4050"/>
                  </a:lnTo>
                  <a:lnTo>
                    <a:pt x="6667" y="4050"/>
                  </a:lnTo>
                  <a:close/>
                  <a:moveTo>
                    <a:pt x="6667" y="4953"/>
                  </a:moveTo>
                  <a:lnTo>
                    <a:pt x="6667" y="5179"/>
                  </a:lnTo>
                  <a:lnTo>
                    <a:pt x="6667" y="5405"/>
                  </a:lnTo>
                  <a:lnTo>
                    <a:pt x="9263" y="5405"/>
                  </a:lnTo>
                  <a:lnTo>
                    <a:pt x="11860" y="5405"/>
                  </a:lnTo>
                  <a:lnTo>
                    <a:pt x="11860" y="5179"/>
                  </a:lnTo>
                  <a:lnTo>
                    <a:pt x="11860" y="4953"/>
                  </a:lnTo>
                  <a:lnTo>
                    <a:pt x="9263" y="4953"/>
                  </a:lnTo>
                  <a:lnTo>
                    <a:pt x="6667" y="4953"/>
                  </a:lnTo>
                  <a:close/>
                  <a:moveTo>
                    <a:pt x="5998" y="5550"/>
                  </a:moveTo>
                  <a:cubicBezTo>
                    <a:pt x="6066" y="5550"/>
                    <a:pt x="6124" y="5591"/>
                    <a:pt x="6294" y="5762"/>
                  </a:cubicBezTo>
                  <a:lnTo>
                    <a:pt x="6505" y="5975"/>
                  </a:lnTo>
                  <a:lnTo>
                    <a:pt x="4811" y="7667"/>
                  </a:lnTo>
                  <a:cubicBezTo>
                    <a:pt x="3880" y="8598"/>
                    <a:pt x="3112" y="9360"/>
                    <a:pt x="3104" y="9360"/>
                  </a:cubicBezTo>
                  <a:cubicBezTo>
                    <a:pt x="3096" y="9360"/>
                    <a:pt x="2997" y="9268"/>
                    <a:pt x="2885" y="9155"/>
                  </a:cubicBezTo>
                  <a:cubicBezTo>
                    <a:pt x="2724" y="8992"/>
                    <a:pt x="2681" y="8932"/>
                    <a:pt x="2681" y="8866"/>
                  </a:cubicBezTo>
                  <a:cubicBezTo>
                    <a:pt x="2681" y="8792"/>
                    <a:pt x="2884" y="8579"/>
                    <a:pt x="4296" y="7166"/>
                  </a:cubicBezTo>
                  <a:cubicBezTo>
                    <a:pt x="5719" y="5744"/>
                    <a:pt x="5923" y="5550"/>
                    <a:pt x="5998" y="5550"/>
                  </a:cubicBezTo>
                  <a:close/>
                  <a:moveTo>
                    <a:pt x="7352" y="5889"/>
                  </a:moveTo>
                  <a:cubicBezTo>
                    <a:pt x="7421" y="5889"/>
                    <a:pt x="7479" y="5930"/>
                    <a:pt x="7649" y="6101"/>
                  </a:cubicBezTo>
                  <a:lnTo>
                    <a:pt x="7859" y="6313"/>
                  </a:lnTo>
                  <a:lnTo>
                    <a:pt x="5658" y="8514"/>
                  </a:lnTo>
                  <a:cubicBezTo>
                    <a:pt x="4448" y="9724"/>
                    <a:pt x="3451" y="10715"/>
                    <a:pt x="3443" y="10715"/>
                  </a:cubicBezTo>
                  <a:cubicBezTo>
                    <a:pt x="3434" y="10715"/>
                    <a:pt x="3336" y="10622"/>
                    <a:pt x="3224" y="10510"/>
                  </a:cubicBezTo>
                  <a:cubicBezTo>
                    <a:pt x="3063" y="10347"/>
                    <a:pt x="3019" y="10287"/>
                    <a:pt x="3019" y="10220"/>
                  </a:cubicBezTo>
                  <a:cubicBezTo>
                    <a:pt x="3019" y="10147"/>
                    <a:pt x="3285" y="9872"/>
                    <a:pt x="5144" y="8013"/>
                  </a:cubicBezTo>
                  <a:cubicBezTo>
                    <a:pt x="7019" y="6138"/>
                    <a:pt x="7277" y="5889"/>
                    <a:pt x="7352" y="5889"/>
                  </a:cubicBezTo>
                  <a:close/>
                  <a:moveTo>
                    <a:pt x="9395" y="9031"/>
                  </a:moveTo>
                  <a:cubicBezTo>
                    <a:pt x="9377" y="9030"/>
                    <a:pt x="9358" y="9031"/>
                    <a:pt x="9340" y="9031"/>
                  </a:cubicBezTo>
                  <a:cubicBezTo>
                    <a:pt x="8855" y="9045"/>
                    <a:pt x="8378" y="9293"/>
                    <a:pt x="8080" y="9740"/>
                  </a:cubicBezTo>
                  <a:cubicBezTo>
                    <a:pt x="7697" y="10311"/>
                    <a:pt x="7717" y="10977"/>
                    <a:pt x="8132" y="11532"/>
                  </a:cubicBezTo>
                  <a:lnTo>
                    <a:pt x="8250" y="11689"/>
                  </a:lnTo>
                  <a:lnTo>
                    <a:pt x="8248" y="12961"/>
                  </a:lnTo>
                  <a:cubicBezTo>
                    <a:pt x="8247" y="14294"/>
                    <a:pt x="8251" y="14345"/>
                    <a:pt x="8371" y="14403"/>
                  </a:cubicBezTo>
                  <a:cubicBezTo>
                    <a:pt x="8515" y="14473"/>
                    <a:pt x="8554" y="14448"/>
                    <a:pt x="9002" y="14004"/>
                  </a:cubicBezTo>
                  <a:lnTo>
                    <a:pt x="9375" y="13633"/>
                  </a:lnTo>
                  <a:lnTo>
                    <a:pt x="9764" y="14017"/>
                  </a:lnTo>
                  <a:cubicBezTo>
                    <a:pt x="9978" y="14228"/>
                    <a:pt x="10183" y="14410"/>
                    <a:pt x="10219" y="14421"/>
                  </a:cubicBezTo>
                  <a:cubicBezTo>
                    <a:pt x="10308" y="14448"/>
                    <a:pt x="10435" y="14391"/>
                    <a:pt x="10474" y="14305"/>
                  </a:cubicBezTo>
                  <a:cubicBezTo>
                    <a:pt x="10497" y="14254"/>
                    <a:pt x="10506" y="13863"/>
                    <a:pt x="10505" y="12961"/>
                  </a:cubicBezTo>
                  <a:lnTo>
                    <a:pt x="10503" y="11689"/>
                  </a:lnTo>
                  <a:lnTo>
                    <a:pt x="10621" y="11532"/>
                  </a:lnTo>
                  <a:cubicBezTo>
                    <a:pt x="11184" y="10779"/>
                    <a:pt x="10996" y="9791"/>
                    <a:pt x="10189" y="9270"/>
                  </a:cubicBezTo>
                  <a:cubicBezTo>
                    <a:pt x="9943" y="9111"/>
                    <a:pt x="9668" y="9033"/>
                    <a:pt x="9395" y="9031"/>
                  </a:cubicBezTo>
                  <a:close/>
                  <a:moveTo>
                    <a:pt x="9376" y="9485"/>
                  </a:moveTo>
                  <a:cubicBezTo>
                    <a:pt x="9771" y="9485"/>
                    <a:pt x="9942" y="9549"/>
                    <a:pt x="10183" y="9791"/>
                  </a:cubicBezTo>
                  <a:cubicBezTo>
                    <a:pt x="10396" y="10003"/>
                    <a:pt x="10480" y="10199"/>
                    <a:pt x="10499" y="10530"/>
                  </a:cubicBezTo>
                  <a:cubicBezTo>
                    <a:pt x="10532" y="11089"/>
                    <a:pt x="10233" y="11530"/>
                    <a:pt x="9718" y="11682"/>
                  </a:cubicBezTo>
                  <a:cubicBezTo>
                    <a:pt x="9417" y="11770"/>
                    <a:pt x="9001" y="11718"/>
                    <a:pt x="8745" y="11560"/>
                  </a:cubicBezTo>
                  <a:cubicBezTo>
                    <a:pt x="8589" y="11464"/>
                    <a:pt x="8398" y="11233"/>
                    <a:pt x="8328" y="11055"/>
                  </a:cubicBezTo>
                  <a:cubicBezTo>
                    <a:pt x="8275" y="10924"/>
                    <a:pt x="8263" y="10840"/>
                    <a:pt x="8263" y="10598"/>
                  </a:cubicBezTo>
                  <a:cubicBezTo>
                    <a:pt x="8263" y="10203"/>
                    <a:pt x="8329" y="10032"/>
                    <a:pt x="8570" y="9791"/>
                  </a:cubicBezTo>
                  <a:cubicBezTo>
                    <a:pt x="8812" y="9549"/>
                    <a:pt x="8982" y="9485"/>
                    <a:pt x="9376" y="9485"/>
                  </a:cubicBezTo>
                  <a:close/>
                  <a:moveTo>
                    <a:pt x="6667" y="10372"/>
                  </a:moveTo>
                  <a:lnTo>
                    <a:pt x="6667" y="10598"/>
                  </a:lnTo>
                  <a:lnTo>
                    <a:pt x="6667" y="10824"/>
                  </a:lnTo>
                  <a:lnTo>
                    <a:pt x="6893" y="10824"/>
                  </a:lnTo>
                  <a:lnTo>
                    <a:pt x="7119" y="10824"/>
                  </a:lnTo>
                  <a:lnTo>
                    <a:pt x="7119" y="10598"/>
                  </a:lnTo>
                  <a:lnTo>
                    <a:pt x="7119" y="10372"/>
                  </a:lnTo>
                  <a:lnTo>
                    <a:pt x="6893" y="10372"/>
                  </a:lnTo>
                  <a:lnTo>
                    <a:pt x="6667" y="10372"/>
                  </a:lnTo>
                  <a:close/>
                  <a:moveTo>
                    <a:pt x="11408" y="10372"/>
                  </a:moveTo>
                  <a:lnTo>
                    <a:pt x="11408" y="10598"/>
                  </a:lnTo>
                  <a:lnTo>
                    <a:pt x="11408" y="10824"/>
                  </a:lnTo>
                  <a:lnTo>
                    <a:pt x="11634" y="10824"/>
                  </a:lnTo>
                  <a:lnTo>
                    <a:pt x="11860" y="10824"/>
                  </a:lnTo>
                  <a:lnTo>
                    <a:pt x="11860" y="10598"/>
                  </a:lnTo>
                  <a:lnTo>
                    <a:pt x="11860" y="10372"/>
                  </a:lnTo>
                  <a:lnTo>
                    <a:pt x="11634" y="10372"/>
                  </a:lnTo>
                  <a:lnTo>
                    <a:pt x="11408" y="10372"/>
                  </a:lnTo>
                  <a:close/>
                  <a:moveTo>
                    <a:pt x="8699" y="12019"/>
                  </a:moveTo>
                  <a:lnTo>
                    <a:pt x="8904" y="12090"/>
                  </a:lnTo>
                  <a:cubicBezTo>
                    <a:pt x="9066" y="12146"/>
                    <a:pt x="9164" y="12161"/>
                    <a:pt x="9376" y="12161"/>
                  </a:cubicBezTo>
                  <a:cubicBezTo>
                    <a:pt x="9589" y="12161"/>
                    <a:pt x="9687" y="12146"/>
                    <a:pt x="9849" y="12090"/>
                  </a:cubicBezTo>
                  <a:lnTo>
                    <a:pt x="10054" y="12019"/>
                  </a:lnTo>
                  <a:lnTo>
                    <a:pt x="10054" y="12838"/>
                  </a:lnTo>
                  <a:lnTo>
                    <a:pt x="10054" y="13656"/>
                  </a:lnTo>
                  <a:lnTo>
                    <a:pt x="9778" y="13386"/>
                  </a:lnTo>
                  <a:cubicBezTo>
                    <a:pt x="9492" y="13105"/>
                    <a:pt x="9400" y="13053"/>
                    <a:pt x="9287" y="13110"/>
                  </a:cubicBezTo>
                  <a:cubicBezTo>
                    <a:pt x="9251" y="13129"/>
                    <a:pt x="9104" y="13260"/>
                    <a:pt x="8960" y="13401"/>
                  </a:cubicBezTo>
                  <a:lnTo>
                    <a:pt x="8699" y="13659"/>
                  </a:lnTo>
                  <a:lnTo>
                    <a:pt x="8699" y="12839"/>
                  </a:lnTo>
                  <a:lnTo>
                    <a:pt x="8699" y="12019"/>
                  </a:lnTo>
                  <a:close/>
                </a:path>
              </a:pathLst>
            </a:custGeom>
            <a:solidFill>
              <a:schemeClr val="accent1">
                <a:lumMod val="50000"/>
              </a:schemeClr>
            </a:solidFill>
            <a:ln w="9525" cap="flat" cmpd="sng" algn="ctr">
              <a:solidFill>
                <a:schemeClr val="accent1">
                  <a:lumMod val="50000"/>
                </a:schemeClr>
              </a:solidFill>
              <a:prstDash val="solid"/>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black"/>
                </a:solidFill>
                <a:effectLst/>
                <a:uLnTx/>
                <a:uFillTx/>
                <a:latin typeface="Aptos" panose="020B0004020202020204" pitchFamily="34" charset="0"/>
              </a:endParaRPr>
            </a:p>
          </p:txBody>
        </p:sp>
      </p:grpSp>
      <p:grpSp>
        <p:nvGrpSpPr>
          <p:cNvPr id="36" name="Group 35">
            <a:extLst>
              <a:ext uri="{FF2B5EF4-FFF2-40B4-BE49-F238E27FC236}">
                <a16:creationId xmlns:a16="http://schemas.microsoft.com/office/drawing/2014/main" id="{10DB276F-27A5-5FD4-61CF-725A176BBCF6}"/>
              </a:ext>
            </a:extLst>
          </p:cNvPr>
          <p:cNvGrpSpPr/>
          <p:nvPr/>
        </p:nvGrpSpPr>
        <p:grpSpPr>
          <a:xfrm>
            <a:off x="9925321" y="4016365"/>
            <a:ext cx="2066601" cy="2653172"/>
            <a:chOff x="10053657" y="4016365"/>
            <a:chExt cx="2066601" cy="2653172"/>
          </a:xfrm>
        </p:grpSpPr>
        <p:sp>
          <p:nvSpPr>
            <p:cNvPr id="24" name="Rectangle: Rounded Corners 23">
              <a:extLst>
                <a:ext uri="{FF2B5EF4-FFF2-40B4-BE49-F238E27FC236}">
                  <a16:creationId xmlns:a16="http://schemas.microsoft.com/office/drawing/2014/main" id="{A241F5ED-FF8F-161D-B09A-5B6119EE685F}"/>
                </a:ext>
              </a:extLst>
            </p:cNvPr>
            <p:cNvSpPr/>
            <p:nvPr/>
          </p:nvSpPr>
          <p:spPr>
            <a:xfrm>
              <a:off x="10081338" y="4466314"/>
              <a:ext cx="2038920" cy="2203223"/>
            </a:xfrm>
            <a:prstGeom prst="roundRect">
              <a:avLst>
                <a:gd name="adj" fmla="val 8775"/>
              </a:avLst>
            </a:prstGeom>
            <a:no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27" name="TextBox 26">
              <a:extLst>
                <a:ext uri="{FF2B5EF4-FFF2-40B4-BE49-F238E27FC236}">
                  <a16:creationId xmlns:a16="http://schemas.microsoft.com/office/drawing/2014/main" id="{A5E56C8B-4602-3C7D-243A-84A051146562}"/>
                </a:ext>
              </a:extLst>
            </p:cNvPr>
            <p:cNvSpPr txBox="1"/>
            <p:nvPr/>
          </p:nvSpPr>
          <p:spPr>
            <a:xfrm>
              <a:off x="10053657" y="5461293"/>
              <a:ext cx="2037787" cy="692497"/>
            </a:xfrm>
            <a:prstGeom prst="rect">
              <a:avLst/>
            </a:prstGeom>
            <a:noFill/>
          </p:spPr>
          <p:txBody>
            <a:bodyPr wrap="square" anchor="ctr">
              <a:spAutoFit/>
            </a:bodyPr>
            <a:lstStyle/>
            <a:p>
              <a:pPr marL="285750" indent="-285750" algn="just">
                <a:buFont typeface="Arial" panose="020B0604020202020204" pitchFamily="34" charset="0"/>
                <a:buChar char="•"/>
                <a:defRPr/>
              </a:pPr>
              <a:r>
                <a:rPr lang="en-US" sz="1300" kern="0" spc="50" dirty="0">
                  <a:solidFill>
                    <a:prstClr val="black">
                      <a:lumMod val="65000"/>
                      <a:lumOff val="35000"/>
                    </a:prstClr>
                  </a:solidFill>
                  <a:latin typeface="Aptos" panose="020B0004020202020204" pitchFamily="34" charset="0"/>
                  <a:cs typeface="Arial" panose="020B0604020202020204" pitchFamily="34" charset="0"/>
                </a:rPr>
                <a:t>5,000+ people</a:t>
              </a:r>
            </a:p>
            <a:p>
              <a:pPr marL="285750" indent="-285750" algn="just">
                <a:buFont typeface="Arial" panose="020B0604020202020204" pitchFamily="34" charset="0"/>
                <a:buChar char="•"/>
                <a:defRPr/>
              </a:pPr>
              <a:r>
                <a:rPr lang="en-US" sz="1300" kern="0" spc="50" dirty="0">
                  <a:solidFill>
                    <a:prstClr val="black">
                      <a:lumMod val="65000"/>
                      <a:lumOff val="35000"/>
                    </a:prstClr>
                  </a:solidFill>
                  <a:latin typeface="Aptos" panose="020B0004020202020204" pitchFamily="34" charset="0"/>
                  <a:cs typeface="Arial" panose="020B0604020202020204" pitchFamily="34" charset="0"/>
                </a:rPr>
                <a:t>90+ people at GPI, Chantilly, USA</a:t>
              </a:r>
            </a:p>
          </p:txBody>
        </p:sp>
        <p:grpSp>
          <p:nvGrpSpPr>
            <p:cNvPr id="29" name="Group 28">
              <a:extLst>
                <a:ext uri="{FF2B5EF4-FFF2-40B4-BE49-F238E27FC236}">
                  <a16:creationId xmlns:a16="http://schemas.microsoft.com/office/drawing/2014/main" id="{3B8015C3-8B72-BB77-F965-EEAC089695AD}"/>
                </a:ext>
              </a:extLst>
            </p:cNvPr>
            <p:cNvGrpSpPr/>
            <p:nvPr/>
          </p:nvGrpSpPr>
          <p:grpSpPr>
            <a:xfrm>
              <a:off x="10081338" y="4890906"/>
              <a:ext cx="2037787" cy="459906"/>
              <a:chOff x="10081338" y="4848702"/>
              <a:chExt cx="2037787" cy="459906"/>
            </a:xfrm>
            <a:solidFill>
              <a:srgbClr val="5B9BD5"/>
            </a:solidFill>
          </p:grpSpPr>
          <p:sp>
            <p:nvSpPr>
              <p:cNvPr id="32" name="Rectangle: Rounded Corners 31">
                <a:extLst>
                  <a:ext uri="{FF2B5EF4-FFF2-40B4-BE49-F238E27FC236}">
                    <a16:creationId xmlns:a16="http://schemas.microsoft.com/office/drawing/2014/main" id="{BA4EAFD1-A79D-4E24-3CCC-B3FE8F5F5640}"/>
                  </a:ext>
                </a:extLst>
              </p:cNvPr>
              <p:cNvSpPr/>
              <p:nvPr/>
            </p:nvSpPr>
            <p:spPr>
              <a:xfrm>
                <a:off x="10081338" y="4848702"/>
                <a:ext cx="2037787" cy="459906"/>
              </a:xfrm>
              <a:prstGeom prst="roundRect">
                <a:avLst>
                  <a:gd name="adj" fmla="val 0"/>
                </a:avLst>
              </a:prstGeom>
              <a:grp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33" name="TextBox 32">
                <a:extLst>
                  <a:ext uri="{FF2B5EF4-FFF2-40B4-BE49-F238E27FC236}">
                    <a16:creationId xmlns:a16="http://schemas.microsoft.com/office/drawing/2014/main" id="{20E612CF-8F2F-9193-674E-A7C453989C46}"/>
                  </a:ext>
                </a:extLst>
              </p:cNvPr>
              <p:cNvSpPr txBox="1"/>
              <p:nvPr/>
            </p:nvSpPr>
            <p:spPr>
              <a:xfrm>
                <a:off x="10342358" y="4932460"/>
                <a:ext cx="1482631" cy="292388"/>
              </a:xfrm>
              <a:prstGeom prst="rect">
                <a:avLst/>
              </a:prstGeom>
              <a:grpFill/>
            </p:spPr>
            <p:txBody>
              <a:bodyPr wrap="square" rtlCol="0" anchor="ctr">
                <a:spAutoFit/>
              </a:bodyPr>
              <a:lstStyle>
                <a:defPPr>
                  <a:defRPr lang="en-US"/>
                </a:defPPr>
                <a:lvl1pPr marR="0" lvl="0" indent="0" algn="ctr" defTabSz="914377" fontAlgn="auto">
                  <a:lnSpc>
                    <a:spcPct val="100000"/>
                  </a:lnSpc>
                  <a:spcBef>
                    <a:spcPts val="0"/>
                  </a:spcBef>
                  <a:spcAft>
                    <a:spcPts val="0"/>
                  </a:spcAft>
                  <a:buClrTx/>
                  <a:buSzTx/>
                  <a:buFontTx/>
                  <a:buNone/>
                  <a:tabLst/>
                  <a:defRPr kumimoji="0" sz="1400" b="1" i="0" u="none" strike="noStrike" cap="none" spc="0" normalizeH="0" baseline="0">
                    <a:ln>
                      <a:noFill/>
                    </a:ln>
                    <a:solidFill>
                      <a:schemeClr val="tx2">
                        <a:lumMod val="75000"/>
                        <a:lumOff val="25000"/>
                      </a:schemeClr>
                    </a:solidFill>
                    <a:effectLst/>
                    <a:uLnTx/>
                    <a:uFillTx/>
                    <a:latin typeface="Arial" panose="020B0604020202020204" pitchFamily="34" charset="0"/>
                    <a:cs typeface="Arial" panose="020B0604020202020204" pitchFamily="34" charset="0"/>
                  </a:defRPr>
                </a:lvl1pPr>
              </a:lstStyle>
              <a:p>
                <a:r>
                  <a:rPr lang="en-US" sz="1300" kern="0" spc="50" dirty="0">
                    <a:solidFill>
                      <a:schemeClr val="bg1"/>
                    </a:solidFill>
                    <a:latin typeface="Aptos" panose="020B0004020202020204" pitchFamily="34" charset="0"/>
                  </a:rPr>
                  <a:t>People Strength</a:t>
                </a:r>
              </a:p>
            </p:txBody>
          </p:sp>
        </p:grpSp>
        <p:sp>
          <p:nvSpPr>
            <p:cNvPr id="34" name="Oval 33">
              <a:extLst>
                <a:ext uri="{FF2B5EF4-FFF2-40B4-BE49-F238E27FC236}">
                  <a16:creationId xmlns:a16="http://schemas.microsoft.com/office/drawing/2014/main" id="{33A08C18-3ECB-8D55-CC4D-816227A76FF9}"/>
                </a:ext>
              </a:extLst>
            </p:cNvPr>
            <p:cNvSpPr/>
            <p:nvPr/>
          </p:nvSpPr>
          <p:spPr>
            <a:xfrm>
              <a:off x="10786296" y="4016365"/>
              <a:ext cx="765118" cy="790781"/>
            </a:xfrm>
            <a:prstGeom prst="ellipse">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ptos" panose="020B0004020202020204" pitchFamily="34" charset="0"/>
              </a:endParaRPr>
            </a:p>
          </p:txBody>
        </p:sp>
        <p:sp>
          <p:nvSpPr>
            <p:cNvPr id="35" name="Freeform 13">
              <a:extLst>
                <a:ext uri="{FF2B5EF4-FFF2-40B4-BE49-F238E27FC236}">
                  <a16:creationId xmlns:a16="http://schemas.microsoft.com/office/drawing/2014/main" id="{F5CA5600-9BAA-9D70-B3FC-D9D23B3650B9}"/>
                </a:ext>
              </a:extLst>
            </p:cNvPr>
            <p:cNvSpPr>
              <a:spLocks noEditPoints="1"/>
            </p:cNvSpPr>
            <p:nvPr/>
          </p:nvSpPr>
          <p:spPr bwMode="auto">
            <a:xfrm>
              <a:off x="10880321" y="4203908"/>
              <a:ext cx="577067" cy="379018"/>
            </a:xfrm>
            <a:custGeom>
              <a:avLst/>
              <a:gdLst>
                <a:gd name="T0" fmla="*/ 4240 w 11143"/>
                <a:gd name="T1" fmla="*/ 2081 h 7956"/>
                <a:gd name="T2" fmla="*/ 2998 w 11143"/>
                <a:gd name="T3" fmla="*/ 1987 h 7956"/>
                <a:gd name="T4" fmla="*/ 2492 w 11143"/>
                <a:gd name="T5" fmla="*/ 1567 h 7956"/>
                <a:gd name="T6" fmla="*/ 1169 w 11143"/>
                <a:gd name="T7" fmla="*/ 2136 h 7956"/>
                <a:gd name="T8" fmla="*/ 14 w 11143"/>
                <a:gd name="T9" fmla="*/ 4905 h 7956"/>
                <a:gd name="T10" fmla="*/ 1329 w 11143"/>
                <a:gd name="T11" fmla="*/ 4930 h 7956"/>
                <a:gd name="T12" fmla="*/ 2576 w 11143"/>
                <a:gd name="T13" fmla="*/ 6518 h 7956"/>
                <a:gd name="T14" fmla="*/ 4045 w 11143"/>
                <a:gd name="T15" fmla="*/ 5303 h 7956"/>
                <a:gd name="T16" fmla="*/ 4770 w 11143"/>
                <a:gd name="T17" fmla="*/ 5708 h 7956"/>
                <a:gd name="T18" fmla="*/ 6489 w 11143"/>
                <a:gd name="T19" fmla="*/ 3769 h 7956"/>
                <a:gd name="T20" fmla="*/ 7076 w 11143"/>
                <a:gd name="T21" fmla="*/ 5445 h 7956"/>
                <a:gd name="T22" fmla="*/ 8483 w 11143"/>
                <a:gd name="T23" fmla="*/ 5296 h 7956"/>
                <a:gd name="T24" fmla="*/ 10110 w 11143"/>
                <a:gd name="T25" fmla="*/ 6100 h 7956"/>
                <a:gd name="T26" fmla="*/ 10920 w 11143"/>
                <a:gd name="T27" fmla="*/ 2579 h 7956"/>
                <a:gd name="T28" fmla="*/ 9326 w 11143"/>
                <a:gd name="T29" fmla="*/ 2249 h 7956"/>
                <a:gd name="T30" fmla="*/ 8221 w 11143"/>
                <a:gd name="T31" fmla="*/ 2034 h 7956"/>
                <a:gd name="T32" fmla="*/ 7067 w 11143"/>
                <a:gd name="T33" fmla="*/ 1990 h 7956"/>
                <a:gd name="T34" fmla="*/ 5765 w 11143"/>
                <a:gd name="T35" fmla="*/ 200 h 7956"/>
                <a:gd name="T36" fmla="*/ 5367 w 11143"/>
                <a:gd name="T37" fmla="*/ 1137 h 7956"/>
                <a:gd name="T38" fmla="*/ 3903 w 11143"/>
                <a:gd name="T39" fmla="*/ 1533 h 7956"/>
                <a:gd name="T40" fmla="*/ 3131 w 11143"/>
                <a:gd name="T41" fmla="*/ 1481 h 7956"/>
                <a:gd name="T42" fmla="*/ 7954 w 11143"/>
                <a:gd name="T43" fmla="*/ 2102 h 7956"/>
                <a:gd name="T44" fmla="*/ 5485 w 11143"/>
                <a:gd name="T45" fmla="*/ 1376 h 7956"/>
                <a:gd name="T46" fmla="*/ 5684 w 11143"/>
                <a:gd name="T47" fmla="*/ 3126 h 7956"/>
                <a:gd name="T48" fmla="*/ 5043 w 11143"/>
                <a:gd name="T49" fmla="*/ 2405 h 7956"/>
                <a:gd name="T50" fmla="*/ 4635 w 11143"/>
                <a:gd name="T51" fmla="*/ 1745 h 7956"/>
                <a:gd name="T52" fmla="*/ 2370 w 11143"/>
                <a:gd name="T53" fmla="*/ 1965 h 7956"/>
                <a:gd name="T54" fmla="*/ 1823 w 11143"/>
                <a:gd name="T55" fmla="*/ 1830 h 7956"/>
                <a:gd name="T56" fmla="*/ 8670 w 11143"/>
                <a:gd name="T57" fmla="*/ 2441 h 7956"/>
                <a:gd name="T58" fmla="*/ 762 w 11143"/>
                <a:gd name="T59" fmla="*/ 1911 h 7956"/>
                <a:gd name="T60" fmla="*/ 639 w 11143"/>
                <a:gd name="T61" fmla="*/ 2540 h 7956"/>
                <a:gd name="T62" fmla="*/ 10763 w 11143"/>
                <a:gd name="T63" fmla="*/ 2687 h 7956"/>
                <a:gd name="T64" fmla="*/ 7204 w 11143"/>
                <a:gd name="T65" fmla="*/ 2084 h 7956"/>
                <a:gd name="T66" fmla="*/ 8159 w 11143"/>
                <a:gd name="T67" fmla="*/ 3194 h 7956"/>
                <a:gd name="T68" fmla="*/ 6949 w 11143"/>
                <a:gd name="T69" fmla="*/ 2192 h 7956"/>
                <a:gd name="T70" fmla="*/ 4130 w 11143"/>
                <a:gd name="T71" fmla="*/ 3022 h 7956"/>
                <a:gd name="T72" fmla="*/ 2800 w 11143"/>
                <a:gd name="T73" fmla="*/ 2222 h 7956"/>
                <a:gd name="T74" fmla="*/ 2650 w 11143"/>
                <a:gd name="T75" fmla="*/ 4026 h 7956"/>
                <a:gd name="T76" fmla="*/ 1503 w 11143"/>
                <a:gd name="T77" fmla="*/ 2594 h 7956"/>
                <a:gd name="T78" fmla="*/ 9706 w 11143"/>
                <a:gd name="T79" fmla="*/ 3787 h 7956"/>
                <a:gd name="T80" fmla="*/ 8509 w 11143"/>
                <a:gd name="T81" fmla="*/ 2737 h 7956"/>
                <a:gd name="T82" fmla="*/ 10882 w 11143"/>
                <a:gd name="T83" fmla="*/ 4323 h 7956"/>
                <a:gd name="T84" fmla="*/ 1193 w 11143"/>
                <a:gd name="T85" fmla="*/ 2712 h 7956"/>
                <a:gd name="T86" fmla="*/ 195 w 11143"/>
                <a:gd name="T87" fmla="*/ 3167 h 7956"/>
                <a:gd name="T88" fmla="*/ 5571 w 11143"/>
                <a:gd name="T89" fmla="*/ 3660 h 7956"/>
                <a:gd name="T90" fmla="*/ 8366 w 11143"/>
                <a:gd name="T91" fmla="*/ 3817 h 7956"/>
                <a:gd name="T92" fmla="*/ 5614 w 11143"/>
                <a:gd name="T93" fmla="*/ 6108 h 7956"/>
                <a:gd name="T94" fmla="*/ 4938 w 11143"/>
                <a:gd name="T95" fmla="*/ 5822 h 7956"/>
                <a:gd name="T96" fmla="*/ 6872 w 11143"/>
                <a:gd name="T97" fmla="*/ 4534 h 7956"/>
                <a:gd name="T98" fmla="*/ 4139 w 11143"/>
                <a:gd name="T99" fmla="*/ 3914 h 7956"/>
                <a:gd name="T100" fmla="*/ 2170 w 11143"/>
                <a:gd name="T101" fmla="*/ 5748 h 7956"/>
                <a:gd name="T102" fmla="*/ 9536 w 11143"/>
                <a:gd name="T103" fmla="*/ 4168 h 7956"/>
                <a:gd name="T104" fmla="*/ 8912 w 11143"/>
                <a:gd name="T105" fmla="*/ 6698 h 7956"/>
                <a:gd name="T106" fmla="*/ 9669 w 11143"/>
                <a:gd name="T107" fmla="*/ 4605 h 7956"/>
                <a:gd name="T108" fmla="*/ 10586 w 11143"/>
                <a:gd name="T109" fmla="*/ 4929 h 7956"/>
                <a:gd name="T110" fmla="*/ 929 w 11143"/>
                <a:gd name="T111" fmla="*/ 4930 h 7956"/>
                <a:gd name="T112" fmla="*/ 10273 w 11143"/>
                <a:gd name="T113" fmla="*/ 6108 h 7956"/>
                <a:gd name="T114" fmla="*/ 3233 w 11143"/>
                <a:gd name="T115" fmla="*/ 6050 h 7956"/>
                <a:gd name="T116" fmla="*/ 3629 w 11143"/>
                <a:gd name="T117" fmla="*/ 7225 h 7956"/>
                <a:gd name="T118" fmla="*/ 7377 w 11143"/>
                <a:gd name="T119" fmla="*/ 5268 h 7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143" h="7956">
                  <a:moveTo>
                    <a:pt x="5539" y="0"/>
                  </a:moveTo>
                  <a:cubicBezTo>
                    <a:pt x="5398" y="2"/>
                    <a:pt x="5279" y="64"/>
                    <a:pt x="5135" y="198"/>
                  </a:cubicBezTo>
                  <a:cubicBezTo>
                    <a:pt x="4993" y="329"/>
                    <a:pt x="4976" y="370"/>
                    <a:pt x="4950" y="644"/>
                  </a:cubicBezTo>
                  <a:cubicBezTo>
                    <a:pt x="4931" y="848"/>
                    <a:pt x="4934" y="862"/>
                    <a:pt x="5004" y="940"/>
                  </a:cubicBezTo>
                  <a:cubicBezTo>
                    <a:pt x="5088" y="1033"/>
                    <a:pt x="5226" y="1235"/>
                    <a:pt x="5213" y="1247"/>
                  </a:cubicBezTo>
                  <a:cubicBezTo>
                    <a:pt x="5209" y="1252"/>
                    <a:pt x="5069" y="1320"/>
                    <a:pt x="4904" y="1399"/>
                  </a:cubicBezTo>
                  <a:cubicBezTo>
                    <a:pt x="4680" y="1506"/>
                    <a:pt x="4577" y="1573"/>
                    <a:pt x="4501" y="1661"/>
                  </a:cubicBezTo>
                  <a:cubicBezTo>
                    <a:pt x="4408" y="1770"/>
                    <a:pt x="4384" y="1826"/>
                    <a:pt x="4331" y="2060"/>
                  </a:cubicBezTo>
                  <a:lnTo>
                    <a:pt x="4314" y="2138"/>
                  </a:lnTo>
                  <a:lnTo>
                    <a:pt x="4240" y="2081"/>
                  </a:lnTo>
                  <a:cubicBezTo>
                    <a:pt x="4200" y="2049"/>
                    <a:pt x="4144" y="2023"/>
                    <a:pt x="4116" y="2023"/>
                  </a:cubicBezTo>
                  <a:cubicBezTo>
                    <a:pt x="4043" y="2023"/>
                    <a:pt x="4023" y="1976"/>
                    <a:pt x="4090" y="1958"/>
                  </a:cubicBezTo>
                  <a:cubicBezTo>
                    <a:pt x="4163" y="1939"/>
                    <a:pt x="4192" y="1860"/>
                    <a:pt x="4150" y="1792"/>
                  </a:cubicBezTo>
                  <a:cubicBezTo>
                    <a:pt x="4132" y="1763"/>
                    <a:pt x="4092" y="1617"/>
                    <a:pt x="4062" y="1469"/>
                  </a:cubicBezTo>
                  <a:cubicBezTo>
                    <a:pt x="3987" y="1095"/>
                    <a:pt x="3876" y="958"/>
                    <a:pt x="3606" y="908"/>
                  </a:cubicBezTo>
                  <a:cubicBezTo>
                    <a:pt x="3406" y="870"/>
                    <a:pt x="3122" y="1001"/>
                    <a:pt x="3035" y="1171"/>
                  </a:cubicBezTo>
                  <a:cubicBezTo>
                    <a:pt x="3013" y="1213"/>
                    <a:pt x="2980" y="1342"/>
                    <a:pt x="2962" y="1458"/>
                  </a:cubicBezTo>
                  <a:cubicBezTo>
                    <a:pt x="2945" y="1575"/>
                    <a:pt x="2905" y="1712"/>
                    <a:pt x="2875" y="1763"/>
                  </a:cubicBezTo>
                  <a:cubicBezTo>
                    <a:pt x="2802" y="1888"/>
                    <a:pt x="2805" y="1906"/>
                    <a:pt x="2909" y="1949"/>
                  </a:cubicBezTo>
                  <a:lnTo>
                    <a:pt x="2998" y="1987"/>
                  </a:lnTo>
                  <a:lnTo>
                    <a:pt x="2888" y="2023"/>
                  </a:lnTo>
                  <a:cubicBezTo>
                    <a:pt x="2748" y="2068"/>
                    <a:pt x="2658" y="2149"/>
                    <a:pt x="2635" y="2252"/>
                  </a:cubicBezTo>
                  <a:cubicBezTo>
                    <a:pt x="2615" y="2344"/>
                    <a:pt x="2595" y="2350"/>
                    <a:pt x="2484" y="2293"/>
                  </a:cubicBezTo>
                  <a:cubicBezTo>
                    <a:pt x="2483" y="2291"/>
                    <a:pt x="2484" y="2290"/>
                    <a:pt x="2484" y="2289"/>
                  </a:cubicBezTo>
                  <a:cubicBezTo>
                    <a:pt x="2483" y="2290"/>
                    <a:pt x="2483" y="2291"/>
                    <a:pt x="2483" y="2292"/>
                  </a:cubicBezTo>
                  <a:cubicBezTo>
                    <a:pt x="2481" y="2291"/>
                    <a:pt x="2480" y="2291"/>
                    <a:pt x="2479" y="2290"/>
                  </a:cubicBezTo>
                  <a:cubicBezTo>
                    <a:pt x="2405" y="2251"/>
                    <a:pt x="2399" y="2240"/>
                    <a:pt x="2428" y="2184"/>
                  </a:cubicBezTo>
                  <a:cubicBezTo>
                    <a:pt x="2446" y="2150"/>
                    <a:pt x="2486" y="2093"/>
                    <a:pt x="2517" y="2059"/>
                  </a:cubicBezTo>
                  <a:cubicBezTo>
                    <a:pt x="2567" y="2005"/>
                    <a:pt x="2571" y="1974"/>
                    <a:pt x="2553" y="1821"/>
                  </a:cubicBezTo>
                  <a:cubicBezTo>
                    <a:pt x="2542" y="1724"/>
                    <a:pt x="2515" y="1610"/>
                    <a:pt x="2492" y="1567"/>
                  </a:cubicBezTo>
                  <a:cubicBezTo>
                    <a:pt x="2418" y="1423"/>
                    <a:pt x="2151" y="1338"/>
                    <a:pt x="1964" y="1400"/>
                  </a:cubicBezTo>
                  <a:cubicBezTo>
                    <a:pt x="1851" y="1437"/>
                    <a:pt x="1662" y="1630"/>
                    <a:pt x="1662" y="1709"/>
                  </a:cubicBezTo>
                  <a:cubicBezTo>
                    <a:pt x="1662" y="1738"/>
                    <a:pt x="1654" y="1818"/>
                    <a:pt x="1645" y="1889"/>
                  </a:cubicBezTo>
                  <a:cubicBezTo>
                    <a:pt x="1630" y="1994"/>
                    <a:pt x="1638" y="2026"/>
                    <a:pt x="1685" y="2074"/>
                  </a:cubicBezTo>
                  <a:cubicBezTo>
                    <a:pt x="1825" y="2213"/>
                    <a:pt x="1819" y="2235"/>
                    <a:pt x="1618" y="2337"/>
                  </a:cubicBezTo>
                  <a:cubicBezTo>
                    <a:pt x="1515" y="2388"/>
                    <a:pt x="1404" y="2462"/>
                    <a:pt x="1371" y="2502"/>
                  </a:cubicBezTo>
                  <a:cubicBezTo>
                    <a:pt x="1330" y="2549"/>
                    <a:pt x="1288" y="2569"/>
                    <a:pt x="1244" y="2563"/>
                  </a:cubicBezTo>
                  <a:cubicBezTo>
                    <a:pt x="1184" y="2555"/>
                    <a:pt x="1182" y="2552"/>
                    <a:pt x="1228" y="2518"/>
                  </a:cubicBezTo>
                  <a:cubicBezTo>
                    <a:pt x="1273" y="2485"/>
                    <a:pt x="1273" y="2474"/>
                    <a:pt x="1233" y="2373"/>
                  </a:cubicBezTo>
                  <a:cubicBezTo>
                    <a:pt x="1209" y="2312"/>
                    <a:pt x="1181" y="2205"/>
                    <a:pt x="1169" y="2136"/>
                  </a:cubicBezTo>
                  <a:cubicBezTo>
                    <a:pt x="1117" y="1812"/>
                    <a:pt x="848" y="1655"/>
                    <a:pt x="572" y="1786"/>
                  </a:cubicBezTo>
                  <a:cubicBezTo>
                    <a:pt x="439" y="1850"/>
                    <a:pt x="375" y="1952"/>
                    <a:pt x="337" y="2161"/>
                  </a:cubicBezTo>
                  <a:cubicBezTo>
                    <a:pt x="319" y="2259"/>
                    <a:pt x="289" y="2364"/>
                    <a:pt x="271" y="2393"/>
                  </a:cubicBezTo>
                  <a:cubicBezTo>
                    <a:pt x="246" y="2433"/>
                    <a:pt x="246" y="2459"/>
                    <a:pt x="270" y="2497"/>
                  </a:cubicBezTo>
                  <a:cubicBezTo>
                    <a:pt x="297" y="2540"/>
                    <a:pt x="290" y="2553"/>
                    <a:pt x="221" y="2584"/>
                  </a:cubicBezTo>
                  <a:cubicBezTo>
                    <a:pt x="157" y="2612"/>
                    <a:pt x="130" y="2652"/>
                    <a:pt x="98" y="2766"/>
                  </a:cubicBezTo>
                  <a:cubicBezTo>
                    <a:pt x="0" y="3111"/>
                    <a:pt x="15" y="3480"/>
                    <a:pt x="139" y="3788"/>
                  </a:cubicBezTo>
                  <a:lnTo>
                    <a:pt x="198" y="3931"/>
                  </a:lnTo>
                  <a:lnTo>
                    <a:pt x="98" y="4406"/>
                  </a:lnTo>
                  <a:cubicBezTo>
                    <a:pt x="43" y="4667"/>
                    <a:pt x="6" y="4891"/>
                    <a:pt x="14" y="4905"/>
                  </a:cubicBezTo>
                  <a:cubicBezTo>
                    <a:pt x="23" y="4918"/>
                    <a:pt x="104" y="4930"/>
                    <a:pt x="197" y="4930"/>
                  </a:cubicBezTo>
                  <a:cubicBezTo>
                    <a:pt x="312" y="4930"/>
                    <a:pt x="364" y="4941"/>
                    <a:pt x="364" y="4965"/>
                  </a:cubicBezTo>
                  <a:cubicBezTo>
                    <a:pt x="364" y="4984"/>
                    <a:pt x="391" y="5229"/>
                    <a:pt x="423" y="5508"/>
                  </a:cubicBezTo>
                  <a:cubicBezTo>
                    <a:pt x="457" y="5796"/>
                    <a:pt x="475" y="6083"/>
                    <a:pt x="466" y="6171"/>
                  </a:cubicBezTo>
                  <a:cubicBezTo>
                    <a:pt x="457" y="6257"/>
                    <a:pt x="459" y="6340"/>
                    <a:pt x="470" y="6357"/>
                  </a:cubicBezTo>
                  <a:cubicBezTo>
                    <a:pt x="515" y="6424"/>
                    <a:pt x="621" y="6452"/>
                    <a:pt x="797" y="6444"/>
                  </a:cubicBezTo>
                  <a:cubicBezTo>
                    <a:pt x="1042" y="6433"/>
                    <a:pt x="1081" y="6398"/>
                    <a:pt x="1060" y="6215"/>
                  </a:cubicBezTo>
                  <a:cubicBezTo>
                    <a:pt x="1051" y="6136"/>
                    <a:pt x="1072" y="5815"/>
                    <a:pt x="1106" y="5501"/>
                  </a:cubicBezTo>
                  <a:lnTo>
                    <a:pt x="1168" y="4930"/>
                  </a:lnTo>
                  <a:lnTo>
                    <a:pt x="1329" y="4930"/>
                  </a:lnTo>
                  <a:cubicBezTo>
                    <a:pt x="1418" y="4930"/>
                    <a:pt x="1497" y="4918"/>
                    <a:pt x="1506" y="4903"/>
                  </a:cubicBezTo>
                  <a:cubicBezTo>
                    <a:pt x="1515" y="4889"/>
                    <a:pt x="1498" y="4768"/>
                    <a:pt x="1468" y="4635"/>
                  </a:cubicBezTo>
                  <a:cubicBezTo>
                    <a:pt x="1439" y="4502"/>
                    <a:pt x="1426" y="4393"/>
                    <a:pt x="1440" y="4393"/>
                  </a:cubicBezTo>
                  <a:cubicBezTo>
                    <a:pt x="1454" y="4393"/>
                    <a:pt x="1478" y="4422"/>
                    <a:pt x="1492" y="4457"/>
                  </a:cubicBezTo>
                  <a:cubicBezTo>
                    <a:pt x="1532" y="4557"/>
                    <a:pt x="1672" y="6411"/>
                    <a:pt x="1651" y="6567"/>
                  </a:cubicBezTo>
                  <a:cubicBezTo>
                    <a:pt x="1637" y="6673"/>
                    <a:pt x="1644" y="6724"/>
                    <a:pt x="1679" y="6777"/>
                  </a:cubicBezTo>
                  <a:cubicBezTo>
                    <a:pt x="1739" y="6868"/>
                    <a:pt x="1910" y="6923"/>
                    <a:pt x="2020" y="6885"/>
                  </a:cubicBezTo>
                  <a:cubicBezTo>
                    <a:pt x="2069" y="6868"/>
                    <a:pt x="2127" y="6867"/>
                    <a:pt x="2170" y="6882"/>
                  </a:cubicBezTo>
                  <a:cubicBezTo>
                    <a:pt x="2248" y="6911"/>
                    <a:pt x="2382" y="6888"/>
                    <a:pt x="2469" y="6830"/>
                  </a:cubicBezTo>
                  <a:cubicBezTo>
                    <a:pt x="2559" y="6772"/>
                    <a:pt x="2594" y="6669"/>
                    <a:pt x="2576" y="6518"/>
                  </a:cubicBezTo>
                  <a:cubicBezTo>
                    <a:pt x="2559" y="6371"/>
                    <a:pt x="2669" y="5325"/>
                    <a:pt x="2705" y="5288"/>
                  </a:cubicBezTo>
                  <a:cubicBezTo>
                    <a:pt x="2731" y="5261"/>
                    <a:pt x="3022" y="5295"/>
                    <a:pt x="3005" y="5323"/>
                  </a:cubicBezTo>
                  <a:cubicBezTo>
                    <a:pt x="2998" y="5333"/>
                    <a:pt x="3031" y="5672"/>
                    <a:pt x="3076" y="6074"/>
                  </a:cubicBezTo>
                  <a:cubicBezTo>
                    <a:pt x="3171" y="6912"/>
                    <a:pt x="3168" y="6860"/>
                    <a:pt x="3142" y="7107"/>
                  </a:cubicBezTo>
                  <a:cubicBezTo>
                    <a:pt x="3123" y="7294"/>
                    <a:pt x="3123" y="7295"/>
                    <a:pt x="3206" y="7338"/>
                  </a:cubicBezTo>
                  <a:cubicBezTo>
                    <a:pt x="3305" y="7389"/>
                    <a:pt x="3697" y="7398"/>
                    <a:pt x="3815" y="7352"/>
                  </a:cubicBezTo>
                  <a:cubicBezTo>
                    <a:pt x="3913" y="7314"/>
                    <a:pt x="3936" y="7225"/>
                    <a:pt x="3902" y="7034"/>
                  </a:cubicBezTo>
                  <a:cubicBezTo>
                    <a:pt x="3882" y="6927"/>
                    <a:pt x="3889" y="6785"/>
                    <a:pt x="3924" y="6508"/>
                  </a:cubicBezTo>
                  <a:cubicBezTo>
                    <a:pt x="3950" y="6300"/>
                    <a:pt x="3989" y="5943"/>
                    <a:pt x="4008" y="5716"/>
                  </a:cubicBezTo>
                  <a:lnTo>
                    <a:pt x="4045" y="5303"/>
                  </a:lnTo>
                  <a:lnTo>
                    <a:pt x="4170" y="5286"/>
                  </a:lnTo>
                  <a:cubicBezTo>
                    <a:pt x="4239" y="5276"/>
                    <a:pt x="4345" y="5268"/>
                    <a:pt x="4405" y="5268"/>
                  </a:cubicBezTo>
                  <a:cubicBezTo>
                    <a:pt x="4469" y="5268"/>
                    <a:pt x="4521" y="5253"/>
                    <a:pt x="4529" y="5232"/>
                  </a:cubicBezTo>
                  <a:cubicBezTo>
                    <a:pt x="4537" y="5212"/>
                    <a:pt x="4499" y="4993"/>
                    <a:pt x="4446" y="4745"/>
                  </a:cubicBezTo>
                  <a:cubicBezTo>
                    <a:pt x="4268" y="3921"/>
                    <a:pt x="4267" y="3912"/>
                    <a:pt x="4352" y="3724"/>
                  </a:cubicBezTo>
                  <a:cubicBezTo>
                    <a:pt x="4392" y="3634"/>
                    <a:pt x="4441" y="3472"/>
                    <a:pt x="4460" y="3363"/>
                  </a:cubicBezTo>
                  <a:cubicBezTo>
                    <a:pt x="4479" y="3255"/>
                    <a:pt x="4498" y="3161"/>
                    <a:pt x="4501" y="3156"/>
                  </a:cubicBezTo>
                  <a:cubicBezTo>
                    <a:pt x="4505" y="3151"/>
                    <a:pt x="4535" y="3162"/>
                    <a:pt x="4568" y="3179"/>
                  </a:cubicBezTo>
                  <a:cubicBezTo>
                    <a:pt x="4624" y="3209"/>
                    <a:pt x="4626" y="3232"/>
                    <a:pt x="4626" y="3682"/>
                  </a:cubicBezTo>
                  <a:cubicBezTo>
                    <a:pt x="4626" y="4030"/>
                    <a:pt x="4663" y="4560"/>
                    <a:pt x="4770" y="5708"/>
                  </a:cubicBezTo>
                  <a:lnTo>
                    <a:pt x="4915" y="7263"/>
                  </a:lnTo>
                  <a:lnTo>
                    <a:pt x="4827" y="7385"/>
                  </a:lnTo>
                  <a:cubicBezTo>
                    <a:pt x="4690" y="7573"/>
                    <a:pt x="4720" y="7796"/>
                    <a:pt x="4890" y="7865"/>
                  </a:cubicBezTo>
                  <a:cubicBezTo>
                    <a:pt x="5032" y="7922"/>
                    <a:pt x="5220" y="7855"/>
                    <a:pt x="5416" y="7678"/>
                  </a:cubicBezTo>
                  <a:cubicBezTo>
                    <a:pt x="5533" y="7572"/>
                    <a:pt x="5536" y="7571"/>
                    <a:pt x="5582" y="7627"/>
                  </a:cubicBezTo>
                  <a:cubicBezTo>
                    <a:pt x="5661" y="7724"/>
                    <a:pt x="5831" y="7839"/>
                    <a:pt x="5937" y="7868"/>
                  </a:cubicBezTo>
                  <a:cubicBezTo>
                    <a:pt x="6256" y="7956"/>
                    <a:pt x="6431" y="7631"/>
                    <a:pt x="6205" y="7373"/>
                  </a:cubicBezTo>
                  <a:lnTo>
                    <a:pt x="6122" y="7280"/>
                  </a:lnTo>
                  <a:lnTo>
                    <a:pt x="6308" y="5773"/>
                  </a:lnTo>
                  <a:cubicBezTo>
                    <a:pt x="6474" y="4412"/>
                    <a:pt x="6492" y="4218"/>
                    <a:pt x="6489" y="3769"/>
                  </a:cubicBezTo>
                  <a:cubicBezTo>
                    <a:pt x="6487" y="3328"/>
                    <a:pt x="6492" y="3269"/>
                    <a:pt x="6534" y="3253"/>
                  </a:cubicBezTo>
                  <a:cubicBezTo>
                    <a:pt x="6560" y="3243"/>
                    <a:pt x="6583" y="3238"/>
                    <a:pt x="6586" y="3242"/>
                  </a:cubicBezTo>
                  <a:cubicBezTo>
                    <a:pt x="6588" y="3247"/>
                    <a:pt x="6606" y="3314"/>
                    <a:pt x="6626" y="3391"/>
                  </a:cubicBezTo>
                  <a:cubicBezTo>
                    <a:pt x="6646" y="3469"/>
                    <a:pt x="6701" y="3613"/>
                    <a:pt x="6749" y="3711"/>
                  </a:cubicBezTo>
                  <a:lnTo>
                    <a:pt x="6837" y="3888"/>
                  </a:lnTo>
                  <a:lnTo>
                    <a:pt x="6746" y="4346"/>
                  </a:lnTo>
                  <a:cubicBezTo>
                    <a:pt x="6696" y="4597"/>
                    <a:pt x="6635" y="4902"/>
                    <a:pt x="6608" y="5023"/>
                  </a:cubicBezTo>
                  <a:cubicBezTo>
                    <a:pt x="6550" y="5291"/>
                    <a:pt x="6554" y="5296"/>
                    <a:pt x="6856" y="5296"/>
                  </a:cubicBezTo>
                  <a:lnTo>
                    <a:pt x="7069" y="5296"/>
                  </a:lnTo>
                  <a:lnTo>
                    <a:pt x="7076" y="5445"/>
                  </a:lnTo>
                  <a:cubicBezTo>
                    <a:pt x="7079" y="5526"/>
                    <a:pt x="7110" y="5821"/>
                    <a:pt x="7144" y="6101"/>
                  </a:cubicBezTo>
                  <a:cubicBezTo>
                    <a:pt x="7178" y="6380"/>
                    <a:pt x="7207" y="6767"/>
                    <a:pt x="7207" y="6961"/>
                  </a:cubicBezTo>
                  <a:cubicBezTo>
                    <a:pt x="7208" y="7307"/>
                    <a:pt x="7209" y="7313"/>
                    <a:pt x="7279" y="7349"/>
                  </a:cubicBezTo>
                  <a:cubicBezTo>
                    <a:pt x="7325" y="7372"/>
                    <a:pt x="7445" y="7382"/>
                    <a:pt x="7627" y="7377"/>
                  </a:cubicBezTo>
                  <a:cubicBezTo>
                    <a:pt x="7969" y="7368"/>
                    <a:pt x="8001" y="7343"/>
                    <a:pt x="7968" y="7103"/>
                  </a:cubicBezTo>
                  <a:cubicBezTo>
                    <a:pt x="7940" y="6895"/>
                    <a:pt x="7941" y="6874"/>
                    <a:pt x="8025" y="6153"/>
                  </a:cubicBezTo>
                  <a:cubicBezTo>
                    <a:pt x="8065" y="5809"/>
                    <a:pt x="8097" y="5475"/>
                    <a:pt x="8097" y="5412"/>
                  </a:cubicBezTo>
                  <a:lnTo>
                    <a:pt x="8097" y="5296"/>
                  </a:lnTo>
                  <a:lnTo>
                    <a:pt x="8290" y="5296"/>
                  </a:lnTo>
                  <a:lnTo>
                    <a:pt x="8483" y="5296"/>
                  </a:lnTo>
                  <a:lnTo>
                    <a:pt x="8530" y="5896"/>
                  </a:lnTo>
                  <a:cubicBezTo>
                    <a:pt x="8557" y="6226"/>
                    <a:pt x="8570" y="6543"/>
                    <a:pt x="8560" y="6601"/>
                  </a:cubicBezTo>
                  <a:cubicBezTo>
                    <a:pt x="8526" y="6797"/>
                    <a:pt x="8711" y="6941"/>
                    <a:pt x="8922" y="6883"/>
                  </a:cubicBezTo>
                  <a:cubicBezTo>
                    <a:pt x="8977" y="6868"/>
                    <a:pt x="9044" y="6867"/>
                    <a:pt x="9084" y="6882"/>
                  </a:cubicBezTo>
                  <a:cubicBezTo>
                    <a:pt x="9277" y="6953"/>
                    <a:pt x="9565" y="6725"/>
                    <a:pt x="9481" y="6567"/>
                  </a:cubicBezTo>
                  <a:cubicBezTo>
                    <a:pt x="9442" y="6495"/>
                    <a:pt x="9621" y="4866"/>
                    <a:pt x="9663" y="4901"/>
                  </a:cubicBezTo>
                  <a:cubicBezTo>
                    <a:pt x="9680" y="4915"/>
                    <a:pt x="9763" y="4930"/>
                    <a:pt x="9848" y="4935"/>
                  </a:cubicBezTo>
                  <a:lnTo>
                    <a:pt x="10002" y="4944"/>
                  </a:lnTo>
                  <a:lnTo>
                    <a:pt x="10053" y="5381"/>
                  </a:lnTo>
                  <a:cubicBezTo>
                    <a:pt x="10082" y="5622"/>
                    <a:pt x="10107" y="5945"/>
                    <a:pt x="10110" y="6100"/>
                  </a:cubicBezTo>
                  <a:cubicBezTo>
                    <a:pt x="10115" y="6368"/>
                    <a:pt x="10118" y="6383"/>
                    <a:pt x="10184" y="6416"/>
                  </a:cubicBezTo>
                  <a:cubicBezTo>
                    <a:pt x="10279" y="6463"/>
                    <a:pt x="10601" y="6445"/>
                    <a:pt x="10657" y="6390"/>
                  </a:cubicBezTo>
                  <a:cubicBezTo>
                    <a:pt x="10683" y="6364"/>
                    <a:pt x="10697" y="6305"/>
                    <a:pt x="10694" y="6238"/>
                  </a:cubicBezTo>
                  <a:cubicBezTo>
                    <a:pt x="10682" y="6023"/>
                    <a:pt x="10686" y="5954"/>
                    <a:pt x="10732" y="5536"/>
                  </a:cubicBezTo>
                  <a:cubicBezTo>
                    <a:pt x="10807" y="4867"/>
                    <a:pt x="10783" y="4930"/>
                    <a:pt x="10964" y="4930"/>
                  </a:cubicBezTo>
                  <a:cubicBezTo>
                    <a:pt x="11073" y="4930"/>
                    <a:pt x="11124" y="4917"/>
                    <a:pt x="11135" y="4889"/>
                  </a:cubicBezTo>
                  <a:cubicBezTo>
                    <a:pt x="11143" y="4867"/>
                    <a:pt x="11111" y="4664"/>
                    <a:pt x="11063" y="4437"/>
                  </a:cubicBezTo>
                  <a:cubicBezTo>
                    <a:pt x="10964" y="3968"/>
                    <a:pt x="10960" y="3903"/>
                    <a:pt x="11019" y="3762"/>
                  </a:cubicBezTo>
                  <a:cubicBezTo>
                    <a:pt x="11105" y="3556"/>
                    <a:pt x="11122" y="3395"/>
                    <a:pt x="11090" y="3105"/>
                  </a:cubicBezTo>
                  <a:cubicBezTo>
                    <a:pt x="11045" y="2705"/>
                    <a:pt x="11016" y="2615"/>
                    <a:pt x="10920" y="2579"/>
                  </a:cubicBezTo>
                  <a:cubicBezTo>
                    <a:pt x="10852" y="2553"/>
                    <a:pt x="10845" y="2541"/>
                    <a:pt x="10873" y="2497"/>
                  </a:cubicBezTo>
                  <a:cubicBezTo>
                    <a:pt x="10896" y="2459"/>
                    <a:pt x="10897" y="2433"/>
                    <a:pt x="10874" y="2396"/>
                  </a:cubicBezTo>
                  <a:cubicBezTo>
                    <a:pt x="10856" y="2368"/>
                    <a:pt x="10833" y="2289"/>
                    <a:pt x="10822" y="2219"/>
                  </a:cubicBezTo>
                  <a:cubicBezTo>
                    <a:pt x="10790" y="2008"/>
                    <a:pt x="10750" y="1914"/>
                    <a:pt x="10663" y="1841"/>
                  </a:cubicBezTo>
                  <a:cubicBezTo>
                    <a:pt x="10405" y="1624"/>
                    <a:pt x="10023" y="1789"/>
                    <a:pt x="9977" y="2136"/>
                  </a:cubicBezTo>
                  <a:cubicBezTo>
                    <a:pt x="9966" y="2219"/>
                    <a:pt x="9937" y="2324"/>
                    <a:pt x="9913" y="2371"/>
                  </a:cubicBezTo>
                  <a:cubicBezTo>
                    <a:pt x="9880" y="2435"/>
                    <a:pt x="9876" y="2469"/>
                    <a:pt x="9899" y="2505"/>
                  </a:cubicBezTo>
                  <a:cubicBezTo>
                    <a:pt x="9951" y="2588"/>
                    <a:pt x="9857" y="2594"/>
                    <a:pt x="9776" y="2513"/>
                  </a:cubicBezTo>
                  <a:cubicBezTo>
                    <a:pt x="9737" y="2474"/>
                    <a:pt x="9623" y="2405"/>
                    <a:pt x="9524" y="2360"/>
                  </a:cubicBezTo>
                  <a:cubicBezTo>
                    <a:pt x="9425" y="2315"/>
                    <a:pt x="9336" y="2265"/>
                    <a:pt x="9326" y="2249"/>
                  </a:cubicBezTo>
                  <a:cubicBezTo>
                    <a:pt x="9316" y="2233"/>
                    <a:pt x="9347" y="2164"/>
                    <a:pt x="9396" y="2096"/>
                  </a:cubicBezTo>
                  <a:cubicBezTo>
                    <a:pt x="9485" y="1973"/>
                    <a:pt x="9486" y="1971"/>
                    <a:pt x="9456" y="1782"/>
                  </a:cubicBezTo>
                  <a:cubicBezTo>
                    <a:pt x="9421" y="1555"/>
                    <a:pt x="9341" y="1454"/>
                    <a:pt x="9155" y="1402"/>
                  </a:cubicBezTo>
                  <a:cubicBezTo>
                    <a:pt x="8978" y="1352"/>
                    <a:pt x="8848" y="1385"/>
                    <a:pt x="8705" y="1517"/>
                  </a:cubicBezTo>
                  <a:cubicBezTo>
                    <a:pt x="8590" y="1623"/>
                    <a:pt x="8581" y="1641"/>
                    <a:pt x="8563" y="1826"/>
                  </a:cubicBezTo>
                  <a:cubicBezTo>
                    <a:pt x="8544" y="2011"/>
                    <a:pt x="8547" y="2027"/>
                    <a:pt x="8618" y="2111"/>
                  </a:cubicBezTo>
                  <a:cubicBezTo>
                    <a:pt x="8708" y="2218"/>
                    <a:pt x="8701" y="2247"/>
                    <a:pt x="8575" y="2312"/>
                  </a:cubicBezTo>
                  <a:lnTo>
                    <a:pt x="8478" y="2362"/>
                  </a:lnTo>
                  <a:lnTo>
                    <a:pt x="8450" y="2265"/>
                  </a:lnTo>
                  <a:cubicBezTo>
                    <a:pt x="8411" y="2134"/>
                    <a:pt x="8334" y="2055"/>
                    <a:pt x="8221" y="2034"/>
                  </a:cubicBezTo>
                  <a:cubicBezTo>
                    <a:pt x="8107" y="2013"/>
                    <a:pt x="8076" y="1979"/>
                    <a:pt x="8154" y="1958"/>
                  </a:cubicBezTo>
                  <a:cubicBezTo>
                    <a:pt x="8227" y="1939"/>
                    <a:pt x="8256" y="1860"/>
                    <a:pt x="8214" y="1792"/>
                  </a:cubicBezTo>
                  <a:cubicBezTo>
                    <a:pt x="8195" y="1763"/>
                    <a:pt x="8155" y="1615"/>
                    <a:pt x="8124" y="1464"/>
                  </a:cubicBezTo>
                  <a:cubicBezTo>
                    <a:pt x="8056" y="1135"/>
                    <a:pt x="7978" y="1019"/>
                    <a:pt x="7770" y="940"/>
                  </a:cubicBezTo>
                  <a:cubicBezTo>
                    <a:pt x="7652" y="895"/>
                    <a:pt x="7609" y="891"/>
                    <a:pt x="7480" y="918"/>
                  </a:cubicBezTo>
                  <a:cubicBezTo>
                    <a:pt x="7310" y="952"/>
                    <a:pt x="7158" y="1054"/>
                    <a:pt x="7095" y="1176"/>
                  </a:cubicBezTo>
                  <a:cubicBezTo>
                    <a:pt x="7072" y="1221"/>
                    <a:pt x="7041" y="1350"/>
                    <a:pt x="7025" y="1463"/>
                  </a:cubicBezTo>
                  <a:cubicBezTo>
                    <a:pt x="7009" y="1575"/>
                    <a:pt x="6970" y="1711"/>
                    <a:pt x="6939" y="1762"/>
                  </a:cubicBezTo>
                  <a:cubicBezTo>
                    <a:pt x="6865" y="1889"/>
                    <a:pt x="6868" y="1906"/>
                    <a:pt x="6975" y="1951"/>
                  </a:cubicBezTo>
                  <a:lnTo>
                    <a:pt x="7067" y="1990"/>
                  </a:lnTo>
                  <a:lnTo>
                    <a:pt x="6996" y="2016"/>
                  </a:lnTo>
                  <a:cubicBezTo>
                    <a:pt x="6801" y="2090"/>
                    <a:pt x="6800" y="2090"/>
                    <a:pt x="6799" y="1989"/>
                  </a:cubicBezTo>
                  <a:cubicBezTo>
                    <a:pt x="6797" y="1760"/>
                    <a:pt x="6607" y="1535"/>
                    <a:pt x="6325" y="1429"/>
                  </a:cubicBezTo>
                  <a:cubicBezTo>
                    <a:pt x="6193" y="1380"/>
                    <a:pt x="5957" y="1270"/>
                    <a:pt x="5928" y="1245"/>
                  </a:cubicBezTo>
                  <a:cubicBezTo>
                    <a:pt x="5913" y="1231"/>
                    <a:pt x="6038" y="1030"/>
                    <a:pt x="6115" y="945"/>
                  </a:cubicBezTo>
                  <a:cubicBezTo>
                    <a:pt x="6182" y="872"/>
                    <a:pt x="6184" y="859"/>
                    <a:pt x="6165" y="620"/>
                  </a:cubicBezTo>
                  <a:cubicBezTo>
                    <a:pt x="6132" y="220"/>
                    <a:pt x="6065" y="126"/>
                    <a:pt x="5749" y="34"/>
                  </a:cubicBezTo>
                  <a:cubicBezTo>
                    <a:pt x="5671" y="11"/>
                    <a:pt x="5603" y="0"/>
                    <a:pt x="5539" y="0"/>
                  </a:cubicBezTo>
                  <a:close/>
                  <a:moveTo>
                    <a:pt x="5572" y="165"/>
                  </a:moveTo>
                  <a:cubicBezTo>
                    <a:pt x="5637" y="165"/>
                    <a:pt x="5703" y="176"/>
                    <a:pt x="5765" y="200"/>
                  </a:cubicBezTo>
                  <a:cubicBezTo>
                    <a:pt x="5944" y="268"/>
                    <a:pt x="5987" y="327"/>
                    <a:pt x="5995" y="519"/>
                  </a:cubicBezTo>
                  <a:cubicBezTo>
                    <a:pt x="5998" y="609"/>
                    <a:pt x="6010" y="710"/>
                    <a:pt x="6022" y="745"/>
                  </a:cubicBezTo>
                  <a:cubicBezTo>
                    <a:pt x="6040" y="796"/>
                    <a:pt x="6030" y="813"/>
                    <a:pt x="5970" y="836"/>
                  </a:cubicBezTo>
                  <a:cubicBezTo>
                    <a:pt x="5929" y="852"/>
                    <a:pt x="5896" y="886"/>
                    <a:pt x="5896" y="914"/>
                  </a:cubicBezTo>
                  <a:cubicBezTo>
                    <a:pt x="5896" y="942"/>
                    <a:pt x="5870" y="1006"/>
                    <a:pt x="5839" y="1057"/>
                  </a:cubicBezTo>
                  <a:cubicBezTo>
                    <a:pt x="5808" y="1108"/>
                    <a:pt x="5783" y="1167"/>
                    <a:pt x="5783" y="1189"/>
                  </a:cubicBezTo>
                  <a:cubicBezTo>
                    <a:pt x="5783" y="1211"/>
                    <a:pt x="5770" y="1237"/>
                    <a:pt x="5755" y="1247"/>
                  </a:cubicBezTo>
                  <a:cubicBezTo>
                    <a:pt x="5739" y="1256"/>
                    <a:pt x="5726" y="1252"/>
                    <a:pt x="5726" y="1238"/>
                  </a:cubicBezTo>
                  <a:cubicBezTo>
                    <a:pt x="5726" y="1223"/>
                    <a:pt x="5671" y="1218"/>
                    <a:pt x="5603" y="1225"/>
                  </a:cubicBezTo>
                  <a:cubicBezTo>
                    <a:pt x="5492" y="1238"/>
                    <a:pt x="5469" y="1229"/>
                    <a:pt x="5367" y="1137"/>
                  </a:cubicBezTo>
                  <a:cubicBezTo>
                    <a:pt x="5302" y="1078"/>
                    <a:pt x="5247" y="998"/>
                    <a:pt x="5237" y="949"/>
                  </a:cubicBezTo>
                  <a:cubicBezTo>
                    <a:pt x="5226" y="893"/>
                    <a:pt x="5196" y="855"/>
                    <a:pt x="5149" y="837"/>
                  </a:cubicBezTo>
                  <a:cubicBezTo>
                    <a:pt x="5076" y="810"/>
                    <a:pt x="5054" y="742"/>
                    <a:pt x="5107" y="709"/>
                  </a:cubicBezTo>
                  <a:cubicBezTo>
                    <a:pt x="5124" y="699"/>
                    <a:pt x="5134" y="627"/>
                    <a:pt x="5130" y="549"/>
                  </a:cubicBezTo>
                  <a:cubicBezTo>
                    <a:pt x="5125" y="435"/>
                    <a:pt x="5134" y="399"/>
                    <a:pt x="5178" y="369"/>
                  </a:cubicBezTo>
                  <a:cubicBezTo>
                    <a:pt x="5208" y="348"/>
                    <a:pt x="5264" y="300"/>
                    <a:pt x="5303" y="261"/>
                  </a:cubicBezTo>
                  <a:cubicBezTo>
                    <a:pt x="5364" y="199"/>
                    <a:pt x="5465" y="166"/>
                    <a:pt x="5572" y="165"/>
                  </a:cubicBezTo>
                  <a:close/>
                  <a:moveTo>
                    <a:pt x="3472" y="1066"/>
                  </a:moveTo>
                  <a:cubicBezTo>
                    <a:pt x="3529" y="1064"/>
                    <a:pt x="3592" y="1079"/>
                    <a:pt x="3667" y="1109"/>
                  </a:cubicBezTo>
                  <a:cubicBezTo>
                    <a:pt x="3807" y="1165"/>
                    <a:pt x="3846" y="1236"/>
                    <a:pt x="3903" y="1533"/>
                  </a:cubicBezTo>
                  <a:cubicBezTo>
                    <a:pt x="3926" y="1658"/>
                    <a:pt x="3950" y="1778"/>
                    <a:pt x="3955" y="1800"/>
                  </a:cubicBezTo>
                  <a:cubicBezTo>
                    <a:pt x="3961" y="1827"/>
                    <a:pt x="3925" y="1843"/>
                    <a:pt x="3836" y="1853"/>
                  </a:cubicBezTo>
                  <a:cubicBezTo>
                    <a:pt x="3733" y="1865"/>
                    <a:pt x="3708" y="1879"/>
                    <a:pt x="3701" y="1927"/>
                  </a:cubicBezTo>
                  <a:cubicBezTo>
                    <a:pt x="3694" y="1972"/>
                    <a:pt x="3762" y="2035"/>
                    <a:pt x="3867" y="2091"/>
                  </a:cubicBezTo>
                  <a:cubicBezTo>
                    <a:pt x="3826" y="2285"/>
                    <a:pt x="3676" y="2429"/>
                    <a:pt x="3496" y="2429"/>
                  </a:cubicBezTo>
                  <a:cubicBezTo>
                    <a:pt x="3316" y="2429"/>
                    <a:pt x="3164" y="2285"/>
                    <a:pt x="3123" y="2091"/>
                  </a:cubicBezTo>
                  <a:cubicBezTo>
                    <a:pt x="3228" y="2035"/>
                    <a:pt x="3328" y="1972"/>
                    <a:pt x="3328" y="1955"/>
                  </a:cubicBezTo>
                  <a:cubicBezTo>
                    <a:pt x="3328" y="1887"/>
                    <a:pt x="3281" y="1853"/>
                    <a:pt x="3188" y="1853"/>
                  </a:cubicBezTo>
                  <a:cubicBezTo>
                    <a:pt x="3058" y="1853"/>
                    <a:pt x="3042" y="1838"/>
                    <a:pt x="3076" y="1748"/>
                  </a:cubicBezTo>
                  <a:cubicBezTo>
                    <a:pt x="3091" y="1709"/>
                    <a:pt x="3116" y="1589"/>
                    <a:pt x="3131" y="1481"/>
                  </a:cubicBezTo>
                  <a:cubicBezTo>
                    <a:pt x="3165" y="1244"/>
                    <a:pt x="3191" y="1189"/>
                    <a:pt x="3308" y="1118"/>
                  </a:cubicBezTo>
                  <a:cubicBezTo>
                    <a:pt x="3363" y="1084"/>
                    <a:pt x="3415" y="1067"/>
                    <a:pt x="3472" y="1066"/>
                  </a:cubicBezTo>
                  <a:close/>
                  <a:moveTo>
                    <a:pt x="7536" y="1066"/>
                  </a:moveTo>
                  <a:cubicBezTo>
                    <a:pt x="7593" y="1064"/>
                    <a:pt x="7656" y="1079"/>
                    <a:pt x="7731" y="1109"/>
                  </a:cubicBezTo>
                  <a:cubicBezTo>
                    <a:pt x="7870" y="1165"/>
                    <a:pt x="7909" y="1234"/>
                    <a:pt x="7965" y="1529"/>
                  </a:cubicBezTo>
                  <a:cubicBezTo>
                    <a:pt x="7988" y="1653"/>
                    <a:pt x="8012" y="1774"/>
                    <a:pt x="8017" y="1797"/>
                  </a:cubicBezTo>
                  <a:cubicBezTo>
                    <a:pt x="8024" y="1828"/>
                    <a:pt x="7994" y="1843"/>
                    <a:pt x="7900" y="1853"/>
                  </a:cubicBezTo>
                  <a:cubicBezTo>
                    <a:pt x="7796" y="1865"/>
                    <a:pt x="7771" y="1879"/>
                    <a:pt x="7764" y="1929"/>
                  </a:cubicBezTo>
                  <a:cubicBezTo>
                    <a:pt x="7757" y="1977"/>
                    <a:pt x="7786" y="2008"/>
                    <a:pt x="7889" y="2069"/>
                  </a:cubicBezTo>
                  <a:cubicBezTo>
                    <a:pt x="7908" y="2080"/>
                    <a:pt x="7931" y="2091"/>
                    <a:pt x="7954" y="2102"/>
                  </a:cubicBezTo>
                  <a:cubicBezTo>
                    <a:pt x="7908" y="2286"/>
                    <a:pt x="7760" y="2420"/>
                    <a:pt x="7587" y="2420"/>
                  </a:cubicBezTo>
                  <a:cubicBezTo>
                    <a:pt x="7406" y="2420"/>
                    <a:pt x="7254" y="2275"/>
                    <a:pt x="7214" y="2079"/>
                  </a:cubicBezTo>
                  <a:cubicBezTo>
                    <a:pt x="7283" y="2043"/>
                    <a:pt x="7342" y="2007"/>
                    <a:pt x="7357" y="1988"/>
                  </a:cubicBezTo>
                  <a:cubicBezTo>
                    <a:pt x="7418" y="1915"/>
                    <a:pt x="7370" y="1857"/>
                    <a:pt x="7242" y="1848"/>
                  </a:cubicBezTo>
                  <a:cubicBezTo>
                    <a:pt x="7154" y="1842"/>
                    <a:pt x="7127" y="1828"/>
                    <a:pt x="7134" y="1797"/>
                  </a:cubicBezTo>
                  <a:cubicBezTo>
                    <a:pt x="7140" y="1774"/>
                    <a:pt x="7163" y="1646"/>
                    <a:pt x="7186" y="1515"/>
                  </a:cubicBezTo>
                  <a:cubicBezTo>
                    <a:pt x="7236" y="1230"/>
                    <a:pt x="7254" y="1190"/>
                    <a:pt x="7372" y="1118"/>
                  </a:cubicBezTo>
                  <a:cubicBezTo>
                    <a:pt x="7427" y="1084"/>
                    <a:pt x="7479" y="1067"/>
                    <a:pt x="7536" y="1066"/>
                  </a:cubicBezTo>
                  <a:close/>
                  <a:moveTo>
                    <a:pt x="5360" y="1358"/>
                  </a:moveTo>
                  <a:cubicBezTo>
                    <a:pt x="5389" y="1357"/>
                    <a:pt x="5431" y="1363"/>
                    <a:pt x="5485" y="1376"/>
                  </a:cubicBezTo>
                  <a:cubicBezTo>
                    <a:pt x="5579" y="1400"/>
                    <a:pt x="5635" y="1400"/>
                    <a:pt x="5703" y="1376"/>
                  </a:cubicBezTo>
                  <a:cubicBezTo>
                    <a:pt x="5839" y="1329"/>
                    <a:pt x="5878" y="1388"/>
                    <a:pt x="5747" y="1443"/>
                  </a:cubicBezTo>
                  <a:cubicBezTo>
                    <a:pt x="5615" y="1498"/>
                    <a:pt x="5541" y="1496"/>
                    <a:pt x="5403" y="1434"/>
                  </a:cubicBezTo>
                  <a:cubicBezTo>
                    <a:pt x="5304" y="1390"/>
                    <a:pt x="5299" y="1359"/>
                    <a:pt x="5360" y="1358"/>
                  </a:cubicBezTo>
                  <a:close/>
                  <a:moveTo>
                    <a:pt x="5993" y="1481"/>
                  </a:moveTo>
                  <a:cubicBezTo>
                    <a:pt x="6095" y="1485"/>
                    <a:pt x="6426" y="1639"/>
                    <a:pt x="6520" y="1737"/>
                  </a:cubicBezTo>
                  <a:cubicBezTo>
                    <a:pt x="6613" y="1833"/>
                    <a:pt x="6626" y="1867"/>
                    <a:pt x="6658" y="2094"/>
                  </a:cubicBezTo>
                  <a:cubicBezTo>
                    <a:pt x="6691" y="2329"/>
                    <a:pt x="6685" y="2682"/>
                    <a:pt x="6643" y="2884"/>
                  </a:cubicBezTo>
                  <a:cubicBezTo>
                    <a:pt x="6616" y="3015"/>
                    <a:pt x="6540" y="3096"/>
                    <a:pt x="6417" y="3124"/>
                  </a:cubicBezTo>
                  <a:cubicBezTo>
                    <a:pt x="6291" y="3153"/>
                    <a:pt x="5812" y="3155"/>
                    <a:pt x="5684" y="3126"/>
                  </a:cubicBezTo>
                  <a:cubicBezTo>
                    <a:pt x="5606" y="3108"/>
                    <a:pt x="5614" y="3102"/>
                    <a:pt x="5797" y="3047"/>
                  </a:cubicBezTo>
                  <a:cubicBezTo>
                    <a:pt x="5906" y="3014"/>
                    <a:pt x="6052" y="2971"/>
                    <a:pt x="6122" y="2951"/>
                  </a:cubicBezTo>
                  <a:cubicBezTo>
                    <a:pt x="6191" y="2932"/>
                    <a:pt x="6261" y="2905"/>
                    <a:pt x="6277" y="2891"/>
                  </a:cubicBezTo>
                  <a:cubicBezTo>
                    <a:pt x="6305" y="2867"/>
                    <a:pt x="6302" y="2339"/>
                    <a:pt x="6273" y="2240"/>
                  </a:cubicBezTo>
                  <a:cubicBezTo>
                    <a:pt x="6264" y="2207"/>
                    <a:pt x="6237" y="2192"/>
                    <a:pt x="6197" y="2197"/>
                  </a:cubicBezTo>
                  <a:cubicBezTo>
                    <a:pt x="6147" y="2205"/>
                    <a:pt x="6133" y="2229"/>
                    <a:pt x="6122" y="2346"/>
                  </a:cubicBezTo>
                  <a:lnTo>
                    <a:pt x="6107" y="2487"/>
                  </a:lnTo>
                  <a:lnTo>
                    <a:pt x="5633" y="2539"/>
                  </a:lnTo>
                  <a:cubicBezTo>
                    <a:pt x="5372" y="2569"/>
                    <a:pt x="5129" y="2585"/>
                    <a:pt x="5094" y="2577"/>
                  </a:cubicBezTo>
                  <a:cubicBezTo>
                    <a:pt x="5036" y="2562"/>
                    <a:pt x="5031" y="2547"/>
                    <a:pt x="5043" y="2405"/>
                  </a:cubicBezTo>
                  <a:cubicBezTo>
                    <a:pt x="5061" y="2189"/>
                    <a:pt x="5035" y="2101"/>
                    <a:pt x="4957" y="2113"/>
                  </a:cubicBezTo>
                  <a:cubicBezTo>
                    <a:pt x="4898" y="2121"/>
                    <a:pt x="4894" y="2138"/>
                    <a:pt x="4886" y="2372"/>
                  </a:cubicBezTo>
                  <a:cubicBezTo>
                    <a:pt x="4875" y="2708"/>
                    <a:pt x="4893" y="2728"/>
                    <a:pt x="5202" y="2727"/>
                  </a:cubicBezTo>
                  <a:cubicBezTo>
                    <a:pt x="5327" y="2727"/>
                    <a:pt x="5551" y="2709"/>
                    <a:pt x="5698" y="2686"/>
                  </a:cubicBezTo>
                  <a:cubicBezTo>
                    <a:pt x="6093" y="2625"/>
                    <a:pt x="6150" y="2628"/>
                    <a:pt x="6150" y="2712"/>
                  </a:cubicBezTo>
                  <a:cubicBezTo>
                    <a:pt x="6150" y="2753"/>
                    <a:pt x="6130" y="2787"/>
                    <a:pt x="6100" y="2795"/>
                  </a:cubicBezTo>
                  <a:cubicBezTo>
                    <a:pt x="6073" y="2803"/>
                    <a:pt x="5918" y="2848"/>
                    <a:pt x="5755" y="2895"/>
                  </a:cubicBezTo>
                  <a:cubicBezTo>
                    <a:pt x="5423" y="2991"/>
                    <a:pt x="4995" y="3067"/>
                    <a:pt x="4778" y="3067"/>
                  </a:cubicBezTo>
                  <a:cubicBezTo>
                    <a:pt x="4581" y="3067"/>
                    <a:pt x="4556" y="3030"/>
                    <a:pt x="4517" y="2678"/>
                  </a:cubicBezTo>
                  <a:cubicBezTo>
                    <a:pt x="4456" y="2123"/>
                    <a:pt x="4483" y="1908"/>
                    <a:pt x="4635" y="1745"/>
                  </a:cubicBezTo>
                  <a:cubicBezTo>
                    <a:pt x="4698" y="1677"/>
                    <a:pt x="5048" y="1486"/>
                    <a:pt x="5110" y="1486"/>
                  </a:cubicBezTo>
                  <a:cubicBezTo>
                    <a:pt x="5129" y="1486"/>
                    <a:pt x="5203" y="1515"/>
                    <a:pt x="5273" y="1549"/>
                  </a:cubicBezTo>
                  <a:cubicBezTo>
                    <a:pt x="5458" y="1639"/>
                    <a:pt x="5687" y="1649"/>
                    <a:pt x="5833" y="1575"/>
                  </a:cubicBezTo>
                  <a:cubicBezTo>
                    <a:pt x="5897" y="1542"/>
                    <a:pt x="5956" y="1504"/>
                    <a:pt x="5965" y="1490"/>
                  </a:cubicBezTo>
                  <a:cubicBezTo>
                    <a:pt x="5968" y="1484"/>
                    <a:pt x="5978" y="1481"/>
                    <a:pt x="5993" y="1481"/>
                  </a:cubicBezTo>
                  <a:close/>
                  <a:moveTo>
                    <a:pt x="2125" y="1542"/>
                  </a:moveTo>
                  <a:cubicBezTo>
                    <a:pt x="2175" y="1543"/>
                    <a:pt x="2230" y="1557"/>
                    <a:pt x="2283" y="1585"/>
                  </a:cubicBezTo>
                  <a:cubicBezTo>
                    <a:pt x="2374" y="1632"/>
                    <a:pt x="2410" y="1711"/>
                    <a:pt x="2382" y="1799"/>
                  </a:cubicBezTo>
                  <a:cubicBezTo>
                    <a:pt x="2372" y="1830"/>
                    <a:pt x="2378" y="1873"/>
                    <a:pt x="2396" y="1895"/>
                  </a:cubicBezTo>
                  <a:cubicBezTo>
                    <a:pt x="2422" y="1925"/>
                    <a:pt x="2415" y="1941"/>
                    <a:pt x="2370" y="1965"/>
                  </a:cubicBezTo>
                  <a:cubicBezTo>
                    <a:pt x="2338" y="1982"/>
                    <a:pt x="2312" y="2019"/>
                    <a:pt x="2312" y="2047"/>
                  </a:cubicBezTo>
                  <a:cubicBezTo>
                    <a:pt x="2312" y="2075"/>
                    <a:pt x="2286" y="2122"/>
                    <a:pt x="2255" y="2150"/>
                  </a:cubicBezTo>
                  <a:cubicBezTo>
                    <a:pt x="2224" y="2178"/>
                    <a:pt x="2199" y="2218"/>
                    <a:pt x="2199" y="2238"/>
                  </a:cubicBezTo>
                  <a:cubicBezTo>
                    <a:pt x="2199" y="2289"/>
                    <a:pt x="2295" y="2375"/>
                    <a:pt x="2416" y="2436"/>
                  </a:cubicBezTo>
                  <a:cubicBezTo>
                    <a:pt x="2346" y="2517"/>
                    <a:pt x="2232" y="2570"/>
                    <a:pt x="2103" y="2570"/>
                  </a:cubicBezTo>
                  <a:cubicBezTo>
                    <a:pt x="1969" y="2570"/>
                    <a:pt x="1851" y="2512"/>
                    <a:pt x="1782" y="2425"/>
                  </a:cubicBezTo>
                  <a:cubicBezTo>
                    <a:pt x="2006" y="2304"/>
                    <a:pt x="2045" y="2239"/>
                    <a:pt x="1946" y="2151"/>
                  </a:cubicBezTo>
                  <a:cubicBezTo>
                    <a:pt x="1915" y="2122"/>
                    <a:pt x="1888" y="2075"/>
                    <a:pt x="1888" y="2046"/>
                  </a:cubicBezTo>
                  <a:cubicBezTo>
                    <a:pt x="1888" y="2016"/>
                    <a:pt x="1870" y="1986"/>
                    <a:pt x="1847" y="1977"/>
                  </a:cubicBezTo>
                  <a:cubicBezTo>
                    <a:pt x="1815" y="1965"/>
                    <a:pt x="1810" y="1930"/>
                    <a:pt x="1823" y="1830"/>
                  </a:cubicBezTo>
                  <a:cubicBezTo>
                    <a:pt x="1846" y="1648"/>
                    <a:pt x="1972" y="1538"/>
                    <a:pt x="2125" y="1542"/>
                  </a:cubicBezTo>
                  <a:close/>
                  <a:moveTo>
                    <a:pt x="9032" y="1547"/>
                  </a:moveTo>
                  <a:cubicBezTo>
                    <a:pt x="9197" y="1542"/>
                    <a:pt x="9278" y="1626"/>
                    <a:pt x="9296" y="1818"/>
                  </a:cubicBezTo>
                  <a:cubicBezTo>
                    <a:pt x="9303" y="1902"/>
                    <a:pt x="9298" y="1966"/>
                    <a:pt x="9282" y="1966"/>
                  </a:cubicBezTo>
                  <a:cubicBezTo>
                    <a:pt x="9268" y="1966"/>
                    <a:pt x="9237" y="2009"/>
                    <a:pt x="9215" y="2061"/>
                  </a:cubicBezTo>
                  <a:cubicBezTo>
                    <a:pt x="9194" y="2114"/>
                    <a:pt x="9162" y="2166"/>
                    <a:pt x="9145" y="2176"/>
                  </a:cubicBezTo>
                  <a:cubicBezTo>
                    <a:pt x="9094" y="2208"/>
                    <a:pt x="9109" y="2291"/>
                    <a:pt x="9177" y="2352"/>
                  </a:cubicBezTo>
                  <a:cubicBezTo>
                    <a:pt x="9205" y="2377"/>
                    <a:pt x="9288" y="2423"/>
                    <a:pt x="9374" y="2463"/>
                  </a:cubicBezTo>
                  <a:cubicBezTo>
                    <a:pt x="9313" y="2571"/>
                    <a:pt x="9181" y="2645"/>
                    <a:pt x="9028" y="2645"/>
                  </a:cubicBezTo>
                  <a:cubicBezTo>
                    <a:pt x="8864" y="2645"/>
                    <a:pt x="8724" y="2561"/>
                    <a:pt x="8670" y="2441"/>
                  </a:cubicBezTo>
                  <a:lnTo>
                    <a:pt x="8692" y="2428"/>
                  </a:lnTo>
                  <a:cubicBezTo>
                    <a:pt x="8803" y="2370"/>
                    <a:pt x="8900" y="2306"/>
                    <a:pt x="8908" y="2286"/>
                  </a:cubicBezTo>
                  <a:cubicBezTo>
                    <a:pt x="8915" y="2266"/>
                    <a:pt x="8894" y="2217"/>
                    <a:pt x="8862" y="2175"/>
                  </a:cubicBezTo>
                  <a:cubicBezTo>
                    <a:pt x="8829" y="2134"/>
                    <a:pt x="8803" y="2084"/>
                    <a:pt x="8803" y="2063"/>
                  </a:cubicBezTo>
                  <a:cubicBezTo>
                    <a:pt x="8803" y="2043"/>
                    <a:pt x="8775" y="2006"/>
                    <a:pt x="8742" y="1983"/>
                  </a:cubicBezTo>
                  <a:cubicBezTo>
                    <a:pt x="8693" y="1949"/>
                    <a:pt x="8688" y="1933"/>
                    <a:pt x="8715" y="1900"/>
                  </a:cubicBezTo>
                  <a:cubicBezTo>
                    <a:pt x="8734" y="1878"/>
                    <a:pt x="8742" y="1829"/>
                    <a:pt x="8734" y="1792"/>
                  </a:cubicBezTo>
                  <a:cubicBezTo>
                    <a:pt x="8709" y="1683"/>
                    <a:pt x="8836" y="1565"/>
                    <a:pt x="8998" y="1550"/>
                  </a:cubicBezTo>
                  <a:cubicBezTo>
                    <a:pt x="9009" y="1549"/>
                    <a:pt x="9021" y="1548"/>
                    <a:pt x="9032" y="1547"/>
                  </a:cubicBezTo>
                  <a:close/>
                  <a:moveTo>
                    <a:pt x="762" y="1911"/>
                  </a:moveTo>
                  <a:cubicBezTo>
                    <a:pt x="812" y="1913"/>
                    <a:pt x="864" y="1931"/>
                    <a:pt x="908" y="1966"/>
                  </a:cubicBezTo>
                  <a:cubicBezTo>
                    <a:pt x="963" y="2009"/>
                    <a:pt x="987" y="2065"/>
                    <a:pt x="1011" y="2201"/>
                  </a:cubicBezTo>
                  <a:cubicBezTo>
                    <a:pt x="1051" y="2431"/>
                    <a:pt x="1053" y="2418"/>
                    <a:pt x="972" y="2418"/>
                  </a:cubicBezTo>
                  <a:cubicBezTo>
                    <a:pt x="932" y="2418"/>
                    <a:pt x="890" y="2441"/>
                    <a:pt x="873" y="2472"/>
                  </a:cubicBezTo>
                  <a:cubicBezTo>
                    <a:pt x="850" y="2517"/>
                    <a:pt x="858" y="2537"/>
                    <a:pt x="914" y="2581"/>
                  </a:cubicBezTo>
                  <a:cubicBezTo>
                    <a:pt x="964" y="2620"/>
                    <a:pt x="1022" y="2650"/>
                    <a:pt x="1114" y="2684"/>
                  </a:cubicBezTo>
                  <a:cubicBezTo>
                    <a:pt x="1062" y="2858"/>
                    <a:pt x="920" y="2983"/>
                    <a:pt x="752" y="2983"/>
                  </a:cubicBezTo>
                  <a:cubicBezTo>
                    <a:pt x="583" y="2983"/>
                    <a:pt x="441" y="2857"/>
                    <a:pt x="390" y="2681"/>
                  </a:cubicBezTo>
                  <a:lnTo>
                    <a:pt x="440" y="2659"/>
                  </a:lnTo>
                  <a:cubicBezTo>
                    <a:pt x="541" y="2615"/>
                    <a:pt x="630" y="2562"/>
                    <a:pt x="639" y="2540"/>
                  </a:cubicBezTo>
                  <a:cubicBezTo>
                    <a:pt x="660" y="2485"/>
                    <a:pt x="595" y="2418"/>
                    <a:pt x="520" y="2418"/>
                  </a:cubicBezTo>
                  <a:cubicBezTo>
                    <a:pt x="460" y="2418"/>
                    <a:pt x="459" y="2412"/>
                    <a:pt x="484" y="2284"/>
                  </a:cubicBezTo>
                  <a:cubicBezTo>
                    <a:pt x="499" y="2210"/>
                    <a:pt x="516" y="2121"/>
                    <a:pt x="523" y="2085"/>
                  </a:cubicBezTo>
                  <a:cubicBezTo>
                    <a:pt x="545" y="1972"/>
                    <a:pt x="651" y="1905"/>
                    <a:pt x="762" y="1911"/>
                  </a:cubicBezTo>
                  <a:close/>
                  <a:moveTo>
                    <a:pt x="10358" y="1914"/>
                  </a:moveTo>
                  <a:cubicBezTo>
                    <a:pt x="10376" y="1914"/>
                    <a:pt x="10394" y="1915"/>
                    <a:pt x="10414" y="1918"/>
                  </a:cubicBezTo>
                  <a:cubicBezTo>
                    <a:pt x="10479" y="1926"/>
                    <a:pt x="10550" y="1951"/>
                    <a:pt x="10571" y="1972"/>
                  </a:cubicBezTo>
                  <a:cubicBezTo>
                    <a:pt x="10592" y="1994"/>
                    <a:pt x="10627" y="2103"/>
                    <a:pt x="10649" y="2215"/>
                  </a:cubicBezTo>
                  <a:cubicBezTo>
                    <a:pt x="10685" y="2406"/>
                    <a:pt x="10684" y="2418"/>
                    <a:pt x="10636" y="2418"/>
                  </a:cubicBezTo>
                  <a:cubicBezTo>
                    <a:pt x="10393" y="2418"/>
                    <a:pt x="10480" y="2603"/>
                    <a:pt x="10763" y="2687"/>
                  </a:cubicBezTo>
                  <a:cubicBezTo>
                    <a:pt x="10774" y="2690"/>
                    <a:pt x="10783" y="2693"/>
                    <a:pt x="10792" y="2696"/>
                  </a:cubicBezTo>
                  <a:cubicBezTo>
                    <a:pt x="10738" y="2865"/>
                    <a:pt x="10598" y="2984"/>
                    <a:pt x="10434" y="2984"/>
                  </a:cubicBezTo>
                  <a:cubicBezTo>
                    <a:pt x="10260" y="2984"/>
                    <a:pt x="10113" y="2849"/>
                    <a:pt x="10067" y="2664"/>
                  </a:cubicBezTo>
                  <a:cubicBezTo>
                    <a:pt x="10071" y="2662"/>
                    <a:pt x="10074" y="2660"/>
                    <a:pt x="10079" y="2658"/>
                  </a:cubicBezTo>
                  <a:cubicBezTo>
                    <a:pt x="10227" y="2587"/>
                    <a:pt x="10256" y="2561"/>
                    <a:pt x="10256" y="2502"/>
                  </a:cubicBezTo>
                  <a:cubicBezTo>
                    <a:pt x="10256" y="2446"/>
                    <a:pt x="10240" y="2430"/>
                    <a:pt x="10176" y="2423"/>
                  </a:cubicBezTo>
                  <a:cubicBezTo>
                    <a:pt x="10110" y="2415"/>
                    <a:pt x="10099" y="2403"/>
                    <a:pt x="10111" y="2352"/>
                  </a:cubicBezTo>
                  <a:cubicBezTo>
                    <a:pt x="10119" y="2319"/>
                    <a:pt x="10134" y="2232"/>
                    <a:pt x="10144" y="2159"/>
                  </a:cubicBezTo>
                  <a:cubicBezTo>
                    <a:pt x="10167" y="1998"/>
                    <a:pt x="10236" y="1917"/>
                    <a:pt x="10358" y="1914"/>
                  </a:cubicBezTo>
                  <a:close/>
                  <a:moveTo>
                    <a:pt x="7204" y="2084"/>
                  </a:moveTo>
                  <a:cubicBezTo>
                    <a:pt x="7206" y="2328"/>
                    <a:pt x="7376" y="2524"/>
                    <a:pt x="7587" y="2524"/>
                  </a:cubicBezTo>
                  <a:cubicBezTo>
                    <a:pt x="7789" y="2524"/>
                    <a:pt x="7955" y="2341"/>
                    <a:pt x="7968" y="2109"/>
                  </a:cubicBezTo>
                  <a:cubicBezTo>
                    <a:pt x="8032" y="2139"/>
                    <a:pt x="8103" y="2167"/>
                    <a:pt x="8152" y="2180"/>
                  </a:cubicBezTo>
                  <a:lnTo>
                    <a:pt x="8281" y="2212"/>
                  </a:lnTo>
                  <a:lnTo>
                    <a:pt x="8314" y="2406"/>
                  </a:lnTo>
                  <a:cubicBezTo>
                    <a:pt x="8365" y="2699"/>
                    <a:pt x="8390" y="3153"/>
                    <a:pt x="8364" y="3309"/>
                  </a:cubicBezTo>
                  <a:lnTo>
                    <a:pt x="8342" y="3448"/>
                  </a:lnTo>
                  <a:lnTo>
                    <a:pt x="8311" y="3236"/>
                  </a:lnTo>
                  <a:cubicBezTo>
                    <a:pt x="8285" y="3054"/>
                    <a:pt x="8273" y="3025"/>
                    <a:pt x="8224" y="3025"/>
                  </a:cubicBezTo>
                  <a:cubicBezTo>
                    <a:pt x="8175" y="3025"/>
                    <a:pt x="8167" y="3046"/>
                    <a:pt x="8159" y="3194"/>
                  </a:cubicBezTo>
                  <a:cubicBezTo>
                    <a:pt x="8150" y="3355"/>
                    <a:pt x="8165" y="3599"/>
                    <a:pt x="8196" y="3866"/>
                  </a:cubicBezTo>
                  <a:cubicBezTo>
                    <a:pt x="8067" y="3929"/>
                    <a:pt x="7846" y="3970"/>
                    <a:pt x="7594" y="3970"/>
                  </a:cubicBezTo>
                  <a:cubicBezTo>
                    <a:pt x="7332" y="3970"/>
                    <a:pt x="7104" y="3925"/>
                    <a:pt x="6977" y="3857"/>
                  </a:cubicBezTo>
                  <a:cubicBezTo>
                    <a:pt x="6983" y="3771"/>
                    <a:pt x="6986" y="3677"/>
                    <a:pt x="6989" y="3560"/>
                  </a:cubicBezTo>
                  <a:cubicBezTo>
                    <a:pt x="7001" y="3143"/>
                    <a:pt x="6997" y="3074"/>
                    <a:pt x="6958" y="3041"/>
                  </a:cubicBezTo>
                  <a:cubicBezTo>
                    <a:pt x="6864" y="2964"/>
                    <a:pt x="6828" y="3023"/>
                    <a:pt x="6825" y="3256"/>
                  </a:cubicBezTo>
                  <a:cubicBezTo>
                    <a:pt x="6823" y="3472"/>
                    <a:pt x="6822" y="3474"/>
                    <a:pt x="6785" y="3377"/>
                  </a:cubicBezTo>
                  <a:cubicBezTo>
                    <a:pt x="6734" y="3245"/>
                    <a:pt x="6734" y="3131"/>
                    <a:pt x="6785" y="2935"/>
                  </a:cubicBezTo>
                  <a:cubicBezTo>
                    <a:pt x="6808" y="2846"/>
                    <a:pt x="6827" y="2670"/>
                    <a:pt x="6827" y="2545"/>
                  </a:cubicBezTo>
                  <a:cubicBezTo>
                    <a:pt x="6827" y="2316"/>
                    <a:pt x="6870" y="2192"/>
                    <a:pt x="6949" y="2192"/>
                  </a:cubicBezTo>
                  <a:cubicBezTo>
                    <a:pt x="6981" y="2192"/>
                    <a:pt x="7101" y="2138"/>
                    <a:pt x="7204" y="2084"/>
                  </a:cubicBezTo>
                  <a:close/>
                  <a:moveTo>
                    <a:pt x="3112" y="2096"/>
                  </a:moveTo>
                  <a:cubicBezTo>
                    <a:pt x="3117" y="2337"/>
                    <a:pt x="3287" y="2532"/>
                    <a:pt x="3496" y="2532"/>
                  </a:cubicBezTo>
                  <a:cubicBezTo>
                    <a:pt x="3705" y="2532"/>
                    <a:pt x="3874" y="2337"/>
                    <a:pt x="3878" y="2096"/>
                  </a:cubicBezTo>
                  <a:cubicBezTo>
                    <a:pt x="3931" y="2123"/>
                    <a:pt x="3993" y="2149"/>
                    <a:pt x="4060" y="2169"/>
                  </a:cubicBezTo>
                  <a:cubicBezTo>
                    <a:pt x="4197" y="2211"/>
                    <a:pt x="4266" y="2293"/>
                    <a:pt x="4317" y="2474"/>
                  </a:cubicBezTo>
                  <a:cubicBezTo>
                    <a:pt x="4364" y="2639"/>
                    <a:pt x="4363" y="3053"/>
                    <a:pt x="4315" y="3321"/>
                  </a:cubicBezTo>
                  <a:lnTo>
                    <a:pt x="4276" y="3533"/>
                  </a:lnTo>
                  <a:lnTo>
                    <a:pt x="4253" y="3294"/>
                  </a:lnTo>
                  <a:cubicBezTo>
                    <a:pt x="4228" y="3039"/>
                    <a:pt x="4207" y="2992"/>
                    <a:pt x="4130" y="3022"/>
                  </a:cubicBezTo>
                  <a:cubicBezTo>
                    <a:pt x="4086" y="3039"/>
                    <a:pt x="4083" y="3078"/>
                    <a:pt x="4100" y="3465"/>
                  </a:cubicBezTo>
                  <a:cubicBezTo>
                    <a:pt x="4106" y="3591"/>
                    <a:pt x="4118" y="3724"/>
                    <a:pt x="4134" y="3863"/>
                  </a:cubicBezTo>
                  <a:cubicBezTo>
                    <a:pt x="4007" y="3930"/>
                    <a:pt x="3780" y="3974"/>
                    <a:pt x="3521" y="3974"/>
                  </a:cubicBezTo>
                  <a:cubicBezTo>
                    <a:pt x="3264" y="3974"/>
                    <a:pt x="3038" y="3931"/>
                    <a:pt x="2910" y="3865"/>
                  </a:cubicBezTo>
                  <a:cubicBezTo>
                    <a:pt x="2917" y="3776"/>
                    <a:pt x="2921" y="3680"/>
                    <a:pt x="2925" y="3560"/>
                  </a:cubicBezTo>
                  <a:cubicBezTo>
                    <a:pt x="2937" y="3143"/>
                    <a:pt x="2933" y="3074"/>
                    <a:pt x="2894" y="3041"/>
                  </a:cubicBezTo>
                  <a:cubicBezTo>
                    <a:pt x="2802" y="2965"/>
                    <a:pt x="2764" y="3024"/>
                    <a:pt x="2761" y="3242"/>
                  </a:cubicBezTo>
                  <a:cubicBezTo>
                    <a:pt x="2758" y="3397"/>
                    <a:pt x="2751" y="3427"/>
                    <a:pt x="2735" y="3363"/>
                  </a:cubicBezTo>
                  <a:cubicBezTo>
                    <a:pt x="2695" y="3207"/>
                    <a:pt x="2706" y="2703"/>
                    <a:pt x="2753" y="2459"/>
                  </a:cubicBezTo>
                  <a:lnTo>
                    <a:pt x="2800" y="2222"/>
                  </a:lnTo>
                  <a:lnTo>
                    <a:pt x="2932" y="2178"/>
                  </a:lnTo>
                  <a:cubicBezTo>
                    <a:pt x="2979" y="2162"/>
                    <a:pt x="3046" y="2131"/>
                    <a:pt x="3112" y="2096"/>
                  </a:cubicBezTo>
                  <a:close/>
                  <a:moveTo>
                    <a:pt x="1747" y="2444"/>
                  </a:moveTo>
                  <a:cubicBezTo>
                    <a:pt x="1804" y="2561"/>
                    <a:pt x="1942" y="2644"/>
                    <a:pt x="2103" y="2644"/>
                  </a:cubicBezTo>
                  <a:cubicBezTo>
                    <a:pt x="2260" y="2644"/>
                    <a:pt x="2394" y="2566"/>
                    <a:pt x="2454" y="2455"/>
                  </a:cubicBezTo>
                  <a:lnTo>
                    <a:pt x="2566" y="2505"/>
                  </a:lnTo>
                  <a:lnTo>
                    <a:pt x="2549" y="2822"/>
                  </a:lnTo>
                  <a:cubicBezTo>
                    <a:pt x="2535" y="3082"/>
                    <a:pt x="2542" y="3187"/>
                    <a:pt x="2591" y="3417"/>
                  </a:cubicBezTo>
                  <a:cubicBezTo>
                    <a:pt x="2624" y="3571"/>
                    <a:pt x="2650" y="3771"/>
                    <a:pt x="2650" y="3862"/>
                  </a:cubicBezTo>
                  <a:lnTo>
                    <a:pt x="2650" y="4026"/>
                  </a:lnTo>
                  <a:lnTo>
                    <a:pt x="2141" y="4026"/>
                  </a:lnTo>
                  <a:lnTo>
                    <a:pt x="1633" y="4026"/>
                  </a:lnTo>
                  <a:lnTo>
                    <a:pt x="1652" y="3544"/>
                  </a:lnTo>
                  <a:lnTo>
                    <a:pt x="1671" y="3062"/>
                  </a:lnTo>
                  <a:lnTo>
                    <a:pt x="1603" y="3071"/>
                  </a:lnTo>
                  <a:cubicBezTo>
                    <a:pt x="1543" y="3080"/>
                    <a:pt x="1533" y="3099"/>
                    <a:pt x="1516" y="3250"/>
                  </a:cubicBezTo>
                  <a:cubicBezTo>
                    <a:pt x="1505" y="3343"/>
                    <a:pt x="1496" y="3594"/>
                    <a:pt x="1493" y="3808"/>
                  </a:cubicBezTo>
                  <a:cubicBezTo>
                    <a:pt x="1491" y="4021"/>
                    <a:pt x="1483" y="4196"/>
                    <a:pt x="1476" y="4196"/>
                  </a:cubicBezTo>
                  <a:cubicBezTo>
                    <a:pt x="1417" y="4196"/>
                    <a:pt x="1337" y="3442"/>
                    <a:pt x="1367" y="3166"/>
                  </a:cubicBezTo>
                  <a:cubicBezTo>
                    <a:pt x="1398" y="2889"/>
                    <a:pt x="1457" y="2640"/>
                    <a:pt x="1503" y="2594"/>
                  </a:cubicBezTo>
                  <a:cubicBezTo>
                    <a:pt x="1525" y="2572"/>
                    <a:pt x="1633" y="2506"/>
                    <a:pt x="1747" y="2444"/>
                  </a:cubicBezTo>
                  <a:close/>
                  <a:moveTo>
                    <a:pt x="8649" y="2451"/>
                  </a:moveTo>
                  <a:cubicBezTo>
                    <a:pt x="8678" y="2603"/>
                    <a:pt x="8837" y="2719"/>
                    <a:pt x="9028" y="2719"/>
                  </a:cubicBezTo>
                  <a:cubicBezTo>
                    <a:pt x="9209" y="2719"/>
                    <a:pt x="9361" y="2615"/>
                    <a:pt x="9401" y="2474"/>
                  </a:cubicBezTo>
                  <a:cubicBezTo>
                    <a:pt x="9410" y="2479"/>
                    <a:pt x="9420" y="2483"/>
                    <a:pt x="9430" y="2487"/>
                  </a:cubicBezTo>
                  <a:cubicBezTo>
                    <a:pt x="9534" y="2531"/>
                    <a:pt x="9638" y="2587"/>
                    <a:pt x="9660" y="2612"/>
                  </a:cubicBezTo>
                  <a:cubicBezTo>
                    <a:pt x="9682" y="2637"/>
                    <a:pt x="9728" y="2772"/>
                    <a:pt x="9763" y="2912"/>
                  </a:cubicBezTo>
                  <a:cubicBezTo>
                    <a:pt x="9818" y="3133"/>
                    <a:pt x="9824" y="3211"/>
                    <a:pt x="9809" y="3518"/>
                  </a:cubicBezTo>
                  <a:cubicBezTo>
                    <a:pt x="9800" y="3712"/>
                    <a:pt x="9774" y="3928"/>
                    <a:pt x="9752" y="3998"/>
                  </a:cubicBezTo>
                  <a:cubicBezTo>
                    <a:pt x="9711" y="4125"/>
                    <a:pt x="9712" y="4124"/>
                    <a:pt x="9706" y="3787"/>
                  </a:cubicBezTo>
                  <a:cubicBezTo>
                    <a:pt x="9702" y="3600"/>
                    <a:pt x="9692" y="3365"/>
                    <a:pt x="9682" y="3264"/>
                  </a:cubicBezTo>
                  <a:cubicBezTo>
                    <a:pt x="9666" y="3099"/>
                    <a:pt x="9657" y="3080"/>
                    <a:pt x="9596" y="3071"/>
                  </a:cubicBezTo>
                  <a:lnTo>
                    <a:pt x="9529" y="3062"/>
                  </a:lnTo>
                  <a:lnTo>
                    <a:pt x="9540" y="3537"/>
                  </a:lnTo>
                  <a:lnTo>
                    <a:pt x="9551" y="4012"/>
                  </a:lnTo>
                  <a:lnTo>
                    <a:pt x="9045" y="4020"/>
                  </a:lnTo>
                  <a:lnTo>
                    <a:pt x="8541" y="4028"/>
                  </a:lnTo>
                  <a:lnTo>
                    <a:pt x="8560" y="3590"/>
                  </a:lnTo>
                  <a:cubicBezTo>
                    <a:pt x="8571" y="3338"/>
                    <a:pt x="8568" y="3107"/>
                    <a:pt x="8553" y="3046"/>
                  </a:cubicBezTo>
                  <a:cubicBezTo>
                    <a:pt x="8539" y="2987"/>
                    <a:pt x="8518" y="2849"/>
                    <a:pt x="8509" y="2737"/>
                  </a:cubicBezTo>
                  <a:lnTo>
                    <a:pt x="8492" y="2534"/>
                  </a:lnTo>
                  <a:lnTo>
                    <a:pt x="8649" y="2451"/>
                  </a:lnTo>
                  <a:close/>
                  <a:moveTo>
                    <a:pt x="10052" y="2671"/>
                  </a:moveTo>
                  <a:cubicBezTo>
                    <a:pt x="10064" y="2903"/>
                    <a:pt x="10231" y="3087"/>
                    <a:pt x="10434" y="3087"/>
                  </a:cubicBezTo>
                  <a:cubicBezTo>
                    <a:pt x="10628" y="3087"/>
                    <a:pt x="10787" y="2920"/>
                    <a:pt x="10813" y="2704"/>
                  </a:cubicBezTo>
                  <a:cubicBezTo>
                    <a:pt x="10867" y="2726"/>
                    <a:pt x="10882" y="2751"/>
                    <a:pt x="10896" y="2816"/>
                  </a:cubicBezTo>
                  <a:cubicBezTo>
                    <a:pt x="10932" y="2991"/>
                    <a:pt x="10954" y="3337"/>
                    <a:pt x="10926" y="3297"/>
                  </a:cubicBezTo>
                  <a:cubicBezTo>
                    <a:pt x="10911" y="3276"/>
                    <a:pt x="10874" y="3264"/>
                    <a:pt x="10845" y="3270"/>
                  </a:cubicBezTo>
                  <a:cubicBezTo>
                    <a:pt x="10796" y="3280"/>
                    <a:pt x="10794" y="3306"/>
                    <a:pt x="10801" y="3618"/>
                  </a:cubicBezTo>
                  <a:cubicBezTo>
                    <a:pt x="10807" y="3838"/>
                    <a:pt x="10835" y="4084"/>
                    <a:pt x="10882" y="4323"/>
                  </a:cubicBezTo>
                  <a:cubicBezTo>
                    <a:pt x="10923" y="4525"/>
                    <a:pt x="10957" y="4708"/>
                    <a:pt x="10959" y="4731"/>
                  </a:cubicBezTo>
                  <a:cubicBezTo>
                    <a:pt x="10962" y="4766"/>
                    <a:pt x="10876" y="4773"/>
                    <a:pt x="10403" y="4774"/>
                  </a:cubicBezTo>
                  <a:cubicBezTo>
                    <a:pt x="10095" y="4775"/>
                    <a:pt x="9841" y="4772"/>
                    <a:pt x="9836" y="4768"/>
                  </a:cubicBezTo>
                  <a:cubicBezTo>
                    <a:pt x="9832" y="4764"/>
                    <a:pt x="9865" y="4586"/>
                    <a:pt x="9909" y="4372"/>
                  </a:cubicBezTo>
                  <a:cubicBezTo>
                    <a:pt x="10012" y="3868"/>
                    <a:pt x="10015" y="3396"/>
                    <a:pt x="9918" y="2841"/>
                  </a:cubicBezTo>
                  <a:cubicBezTo>
                    <a:pt x="9902" y="2749"/>
                    <a:pt x="9904" y="2741"/>
                    <a:pt x="10052" y="2671"/>
                  </a:cubicBezTo>
                  <a:close/>
                  <a:moveTo>
                    <a:pt x="371" y="2689"/>
                  </a:moveTo>
                  <a:cubicBezTo>
                    <a:pt x="392" y="2912"/>
                    <a:pt x="554" y="3086"/>
                    <a:pt x="752" y="3086"/>
                  </a:cubicBezTo>
                  <a:cubicBezTo>
                    <a:pt x="949" y="3086"/>
                    <a:pt x="1111" y="2913"/>
                    <a:pt x="1132" y="2691"/>
                  </a:cubicBezTo>
                  <a:cubicBezTo>
                    <a:pt x="1152" y="2698"/>
                    <a:pt x="1170" y="2705"/>
                    <a:pt x="1193" y="2712"/>
                  </a:cubicBezTo>
                  <a:cubicBezTo>
                    <a:pt x="1242" y="2728"/>
                    <a:pt x="1245" y="2750"/>
                    <a:pt x="1227" y="2990"/>
                  </a:cubicBezTo>
                  <a:cubicBezTo>
                    <a:pt x="1216" y="3133"/>
                    <a:pt x="1195" y="3262"/>
                    <a:pt x="1181" y="3277"/>
                  </a:cubicBezTo>
                  <a:cubicBezTo>
                    <a:pt x="1124" y="3336"/>
                    <a:pt x="1155" y="3865"/>
                    <a:pt x="1240" y="4295"/>
                  </a:cubicBezTo>
                  <a:cubicBezTo>
                    <a:pt x="1286" y="4527"/>
                    <a:pt x="1324" y="4731"/>
                    <a:pt x="1324" y="4747"/>
                  </a:cubicBezTo>
                  <a:cubicBezTo>
                    <a:pt x="1324" y="4766"/>
                    <a:pt x="1127" y="4776"/>
                    <a:pt x="759" y="4776"/>
                  </a:cubicBezTo>
                  <a:cubicBezTo>
                    <a:pt x="384" y="4776"/>
                    <a:pt x="195" y="4766"/>
                    <a:pt x="195" y="4746"/>
                  </a:cubicBezTo>
                  <a:cubicBezTo>
                    <a:pt x="195" y="4730"/>
                    <a:pt x="227" y="4564"/>
                    <a:pt x="267" y="4378"/>
                  </a:cubicBezTo>
                  <a:cubicBezTo>
                    <a:pt x="341" y="4033"/>
                    <a:pt x="387" y="3472"/>
                    <a:pt x="353" y="3335"/>
                  </a:cubicBezTo>
                  <a:cubicBezTo>
                    <a:pt x="337" y="3272"/>
                    <a:pt x="321" y="3261"/>
                    <a:pt x="265" y="3271"/>
                  </a:cubicBezTo>
                  <a:cubicBezTo>
                    <a:pt x="200" y="3284"/>
                    <a:pt x="195" y="3277"/>
                    <a:pt x="195" y="3167"/>
                  </a:cubicBezTo>
                  <a:cubicBezTo>
                    <a:pt x="195" y="3101"/>
                    <a:pt x="210" y="2978"/>
                    <a:pt x="227" y="2893"/>
                  </a:cubicBezTo>
                  <a:lnTo>
                    <a:pt x="258" y="2738"/>
                  </a:lnTo>
                  <a:lnTo>
                    <a:pt x="371" y="2689"/>
                  </a:lnTo>
                  <a:close/>
                  <a:moveTo>
                    <a:pt x="5039" y="3204"/>
                  </a:moveTo>
                  <a:cubicBezTo>
                    <a:pt x="5151" y="3201"/>
                    <a:pt x="5285" y="3214"/>
                    <a:pt x="5430" y="3243"/>
                  </a:cubicBezTo>
                  <a:cubicBezTo>
                    <a:pt x="5570" y="3271"/>
                    <a:pt x="5830" y="3297"/>
                    <a:pt x="6009" y="3301"/>
                  </a:cubicBezTo>
                  <a:lnTo>
                    <a:pt x="6333" y="3310"/>
                  </a:lnTo>
                  <a:lnTo>
                    <a:pt x="6342" y="3485"/>
                  </a:lnTo>
                  <a:lnTo>
                    <a:pt x="6350" y="3660"/>
                  </a:lnTo>
                  <a:lnTo>
                    <a:pt x="5571" y="3660"/>
                  </a:lnTo>
                  <a:lnTo>
                    <a:pt x="4793" y="3660"/>
                  </a:lnTo>
                  <a:lnTo>
                    <a:pt x="4801" y="3441"/>
                  </a:lnTo>
                  <a:lnTo>
                    <a:pt x="4809" y="3222"/>
                  </a:lnTo>
                  <a:lnTo>
                    <a:pt x="4993" y="3207"/>
                  </a:lnTo>
                  <a:cubicBezTo>
                    <a:pt x="5008" y="3206"/>
                    <a:pt x="5024" y="3205"/>
                    <a:pt x="5039" y="3204"/>
                  </a:cubicBezTo>
                  <a:close/>
                  <a:moveTo>
                    <a:pt x="8366" y="3817"/>
                  </a:moveTo>
                  <a:cubicBezTo>
                    <a:pt x="8368" y="3816"/>
                    <a:pt x="8369" y="3823"/>
                    <a:pt x="8371" y="3836"/>
                  </a:cubicBezTo>
                  <a:cubicBezTo>
                    <a:pt x="8378" y="3879"/>
                    <a:pt x="8378" y="3948"/>
                    <a:pt x="8371" y="3991"/>
                  </a:cubicBezTo>
                  <a:cubicBezTo>
                    <a:pt x="8365" y="4034"/>
                    <a:pt x="8360" y="3999"/>
                    <a:pt x="8360" y="3914"/>
                  </a:cubicBezTo>
                  <a:cubicBezTo>
                    <a:pt x="8360" y="3855"/>
                    <a:pt x="8362" y="3820"/>
                    <a:pt x="8366" y="3817"/>
                  </a:cubicBezTo>
                  <a:close/>
                  <a:moveTo>
                    <a:pt x="4795" y="3829"/>
                  </a:moveTo>
                  <a:lnTo>
                    <a:pt x="5571" y="3829"/>
                  </a:lnTo>
                  <a:lnTo>
                    <a:pt x="6347" y="3829"/>
                  </a:lnTo>
                  <a:lnTo>
                    <a:pt x="6347" y="3980"/>
                  </a:lnTo>
                  <a:cubicBezTo>
                    <a:pt x="6347" y="4106"/>
                    <a:pt x="6010" y="7018"/>
                    <a:pt x="5968" y="7249"/>
                  </a:cubicBezTo>
                  <a:cubicBezTo>
                    <a:pt x="5958" y="7307"/>
                    <a:pt x="5978" y="7354"/>
                    <a:pt x="6054" y="7444"/>
                  </a:cubicBezTo>
                  <a:cubicBezTo>
                    <a:pt x="6176" y="7590"/>
                    <a:pt x="6178" y="7705"/>
                    <a:pt x="6060" y="7718"/>
                  </a:cubicBezTo>
                  <a:cubicBezTo>
                    <a:pt x="5965" y="7729"/>
                    <a:pt x="5856" y="7673"/>
                    <a:pt x="5719" y="7543"/>
                  </a:cubicBezTo>
                  <a:lnTo>
                    <a:pt x="5614" y="7441"/>
                  </a:lnTo>
                  <a:lnTo>
                    <a:pt x="5614" y="6108"/>
                  </a:lnTo>
                  <a:cubicBezTo>
                    <a:pt x="5613" y="5374"/>
                    <a:pt x="5602" y="4757"/>
                    <a:pt x="5589" y="4736"/>
                  </a:cubicBezTo>
                  <a:cubicBezTo>
                    <a:pt x="5576" y="4715"/>
                    <a:pt x="5540" y="4703"/>
                    <a:pt x="5511" y="4708"/>
                  </a:cubicBezTo>
                  <a:cubicBezTo>
                    <a:pt x="5460" y="4718"/>
                    <a:pt x="5458" y="4773"/>
                    <a:pt x="5451" y="6072"/>
                  </a:cubicBezTo>
                  <a:lnTo>
                    <a:pt x="5444" y="7425"/>
                  </a:lnTo>
                  <a:lnTo>
                    <a:pt x="5381" y="7493"/>
                  </a:lnTo>
                  <a:cubicBezTo>
                    <a:pt x="5346" y="7531"/>
                    <a:pt x="5268" y="7598"/>
                    <a:pt x="5207" y="7642"/>
                  </a:cubicBezTo>
                  <a:cubicBezTo>
                    <a:pt x="5074" y="7740"/>
                    <a:pt x="4922" y="7753"/>
                    <a:pt x="4895" y="7668"/>
                  </a:cubicBezTo>
                  <a:cubicBezTo>
                    <a:pt x="4874" y="7604"/>
                    <a:pt x="4915" y="7514"/>
                    <a:pt x="5012" y="7410"/>
                  </a:cubicBezTo>
                  <a:lnTo>
                    <a:pt x="5081" y="7336"/>
                  </a:lnTo>
                  <a:lnTo>
                    <a:pt x="4938" y="5822"/>
                  </a:lnTo>
                  <a:cubicBezTo>
                    <a:pt x="4860" y="4989"/>
                    <a:pt x="4795" y="4199"/>
                    <a:pt x="4795" y="4068"/>
                  </a:cubicBezTo>
                  <a:lnTo>
                    <a:pt x="4795" y="3829"/>
                  </a:lnTo>
                  <a:close/>
                  <a:moveTo>
                    <a:pt x="6973" y="3909"/>
                  </a:moveTo>
                  <a:cubicBezTo>
                    <a:pt x="7098" y="3978"/>
                    <a:pt x="7329" y="4024"/>
                    <a:pt x="7594" y="4024"/>
                  </a:cubicBezTo>
                  <a:cubicBezTo>
                    <a:pt x="7849" y="4024"/>
                    <a:pt x="8074" y="3982"/>
                    <a:pt x="8202" y="3917"/>
                  </a:cubicBezTo>
                  <a:cubicBezTo>
                    <a:pt x="8228" y="4135"/>
                    <a:pt x="8264" y="4365"/>
                    <a:pt x="8308" y="4577"/>
                  </a:cubicBezTo>
                  <a:cubicBezTo>
                    <a:pt x="8362" y="4841"/>
                    <a:pt x="8407" y="5072"/>
                    <a:pt x="8408" y="5092"/>
                  </a:cubicBezTo>
                  <a:cubicBezTo>
                    <a:pt x="8408" y="5119"/>
                    <a:pt x="8222" y="5127"/>
                    <a:pt x="7573" y="5127"/>
                  </a:cubicBezTo>
                  <a:cubicBezTo>
                    <a:pt x="6792" y="5127"/>
                    <a:pt x="6740" y="5124"/>
                    <a:pt x="6754" y="5078"/>
                  </a:cubicBezTo>
                  <a:cubicBezTo>
                    <a:pt x="6762" y="5051"/>
                    <a:pt x="6815" y="4806"/>
                    <a:pt x="6872" y="4534"/>
                  </a:cubicBezTo>
                  <a:cubicBezTo>
                    <a:pt x="6931" y="4255"/>
                    <a:pt x="6958" y="4100"/>
                    <a:pt x="6973" y="3909"/>
                  </a:cubicBezTo>
                  <a:close/>
                  <a:moveTo>
                    <a:pt x="4139" y="3914"/>
                  </a:moveTo>
                  <a:cubicBezTo>
                    <a:pt x="4175" y="4210"/>
                    <a:pt x="4233" y="4532"/>
                    <a:pt x="4312" y="4870"/>
                  </a:cubicBezTo>
                  <a:cubicBezTo>
                    <a:pt x="4341" y="4995"/>
                    <a:pt x="4358" y="5104"/>
                    <a:pt x="4350" y="5112"/>
                  </a:cubicBezTo>
                  <a:cubicBezTo>
                    <a:pt x="4342" y="5120"/>
                    <a:pt x="3961" y="5127"/>
                    <a:pt x="3505" y="5127"/>
                  </a:cubicBezTo>
                  <a:cubicBezTo>
                    <a:pt x="2701" y="5127"/>
                    <a:pt x="2675" y="5126"/>
                    <a:pt x="2692" y="5073"/>
                  </a:cubicBezTo>
                  <a:cubicBezTo>
                    <a:pt x="2701" y="5044"/>
                    <a:pt x="2755" y="4799"/>
                    <a:pt x="2810" y="4530"/>
                  </a:cubicBezTo>
                  <a:cubicBezTo>
                    <a:pt x="2864" y="4265"/>
                    <a:pt x="2891" y="4105"/>
                    <a:pt x="2907" y="3917"/>
                  </a:cubicBezTo>
                  <a:cubicBezTo>
                    <a:pt x="3034" y="3984"/>
                    <a:pt x="3261" y="4028"/>
                    <a:pt x="3521" y="4028"/>
                  </a:cubicBezTo>
                  <a:cubicBezTo>
                    <a:pt x="3784" y="4028"/>
                    <a:pt x="4013" y="3983"/>
                    <a:pt x="4139" y="3914"/>
                  </a:cubicBezTo>
                  <a:close/>
                  <a:moveTo>
                    <a:pt x="2158" y="4168"/>
                  </a:moveTo>
                  <a:cubicBezTo>
                    <a:pt x="2533" y="4168"/>
                    <a:pt x="2651" y="4176"/>
                    <a:pt x="2650" y="4203"/>
                  </a:cubicBezTo>
                  <a:cubicBezTo>
                    <a:pt x="2650" y="4222"/>
                    <a:pt x="2623" y="4429"/>
                    <a:pt x="2590" y="4661"/>
                  </a:cubicBezTo>
                  <a:cubicBezTo>
                    <a:pt x="2558" y="4894"/>
                    <a:pt x="2527" y="5162"/>
                    <a:pt x="2522" y="5256"/>
                  </a:cubicBezTo>
                  <a:cubicBezTo>
                    <a:pt x="2518" y="5350"/>
                    <a:pt x="2486" y="5666"/>
                    <a:pt x="2453" y="5958"/>
                  </a:cubicBezTo>
                  <a:cubicBezTo>
                    <a:pt x="2419" y="6250"/>
                    <a:pt x="2400" y="6532"/>
                    <a:pt x="2409" y="6583"/>
                  </a:cubicBezTo>
                  <a:cubicBezTo>
                    <a:pt x="2424" y="6660"/>
                    <a:pt x="2416" y="6682"/>
                    <a:pt x="2368" y="6708"/>
                  </a:cubicBezTo>
                  <a:cubicBezTo>
                    <a:pt x="2336" y="6725"/>
                    <a:pt x="2281" y="6735"/>
                    <a:pt x="2247" y="6730"/>
                  </a:cubicBezTo>
                  <a:lnTo>
                    <a:pt x="2185" y="6722"/>
                  </a:lnTo>
                  <a:lnTo>
                    <a:pt x="2170" y="5748"/>
                  </a:lnTo>
                  <a:cubicBezTo>
                    <a:pt x="2157" y="4798"/>
                    <a:pt x="2155" y="4774"/>
                    <a:pt x="2100" y="4774"/>
                  </a:cubicBezTo>
                  <a:cubicBezTo>
                    <a:pt x="2045" y="4774"/>
                    <a:pt x="2043" y="4798"/>
                    <a:pt x="2029" y="5748"/>
                  </a:cubicBezTo>
                  <a:lnTo>
                    <a:pt x="2015" y="6722"/>
                  </a:lnTo>
                  <a:lnTo>
                    <a:pt x="1926" y="6730"/>
                  </a:lnTo>
                  <a:cubicBezTo>
                    <a:pt x="1817" y="6741"/>
                    <a:pt x="1798" y="6714"/>
                    <a:pt x="1818" y="6575"/>
                  </a:cubicBezTo>
                  <a:cubicBezTo>
                    <a:pt x="1826" y="6516"/>
                    <a:pt x="1790" y="5960"/>
                    <a:pt x="1737" y="5339"/>
                  </a:cubicBezTo>
                  <a:cubicBezTo>
                    <a:pt x="1685" y="4718"/>
                    <a:pt x="1647" y="4200"/>
                    <a:pt x="1654" y="4189"/>
                  </a:cubicBezTo>
                  <a:cubicBezTo>
                    <a:pt x="1661" y="4177"/>
                    <a:pt x="1887" y="4168"/>
                    <a:pt x="2158" y="4168"/>
                  </a:cubicBezTo>
                  <a:close/>
                  <a:moveTo>
                    <a:pt x="9043" y="4168"/>
                  </a:moveTo>
                  <a:lnTo>
                    <a:pt x="9536" y="4168"/>
                  </a:lnTo>
                  <a:lnTo>
                    <a:pt x="9536" y="4263"/>
                  </a:lnTo>
                  <a:cubicBezTo>
                    <a:pt x="9536" y="4365"/>
                    <a:pt x="9320" y="6349"/>
                    <a:pt x="9299" y="6433"/>
                  </a:cubicBezTo>
                  <a:cubicBezTo>
                    <a:pt x="9292" y="6461"/>
                    <a:pt x="9299" y="6525"/>
                    <a:pt x="9313" y="6574"/>
                  </a:cubicBezTo>
                  <a:cubicBezTo>
                    <a:pt x="9335" y="6648"/>
                    <a:pt x="9331" y="6672"/>
                    <a:pt x="9290" y="6701"/>
                  </a:cubicBezTo>
                  <a:cubicBezTo>
                    <a:pt x="9263" y="6721"/>
                    <a:pt x="9208" y="6734"/>
                    <a:pt x="9170" y="6730"/>
                  </a:cubicBezTo>
                  <a:lnTo>
                    <a:pt x="9099" y="6722"/>
                  </a:lnTo>
                  <a:lnTo>
                    <a:pt x="9085" y="5748"/>
                  </a:lnTo>
                  <a:cubicBezTo>
                    <a:pt x="9071" y="4798"/>
                    <a:pt x="9069" y="4774"/>
                    <a:pt x="9014" y="4774"/>
                  </a:cubicBezTo>
                  <a:cubicBezTo>
                    <a:pt x="8959" y="4774"/>
                    <a:pt x="8958" y="4795"/>
                    <a:pt x="8951" y="5717"/>
                  </a:cubicBezTo>
                  <a:cubicBezTo>
                    <a:pt x="8946" y="6356"/>
                    <a:pt x="8933" y="6672"/>
                    <a:pt x="8912" y="6698"/>
                  </a:cubicBezTo>
                  <a:cubicBezTo>
                    <a:pt x="8874" y="6744"/>
                    <a:pt x="8769" y="6747"/>
                    <a:pt x="8726" y="6704"/>
                  </a:cubicBezTo>
                  <a:cubicBezTo>
                    <a:pt x="8706" y="6684"/>
                    <a:pt x="8703" y="6649"/>
                    <a:pt x="8719" y="6608"/>
                  </a:cubicBezTo>
                  <a:cubicBezTo>
                    <a:pt x="8734" y="6567"/>
                    <a:pt x="8707" y="6115"/>
                    <a:pt x="8646" y="5391"/>
                  </a:cubicBezTo>
                  <a:cubicBezTo>
                    <a:pt x="8592" y="4757"/>
                    <a:pt x="8549" y="4222"/>
                    <a:pt x="8549" y="4203"/>
                  </a:cubicBezTo>
                  <a:cubicBezTo>
                    <a:pt x="8549" y="4176"/>
                    <a:pt x="8666" y="4168"/>
                    <a:pt x="9043" y="4168"/>
                  </a:cubicBezTo>
                  <a:close/>
                  <a:moveTo>
                    <a:pt x="9719" y="4402"/>
                  </a:moveTo>
                  <a:cubicBezTo>
                    <a:pt x="9728" y="4400"/>
                    <a:pt x="9733" y="4412"/>
                    <a:pt x="9731" y="4437"/>
                  </a:cubicBezTo>
                  <a:cubicBezTo>
                    <a:pt x="9730" y="4468"/>
                    <a:pt x="9712" y="4556"/>
                    <a:pt x="9691" y="4633"/>
                  </a:cubicBezTo>
                  <a:lnTo>
                    <a:pt x="9654" y="4774"/>
                  </a:lnTo>
                  <a:lnTo>
                    <a:pt x="9669" y="4605"/>
                  </a:lnTo>
                  <a:cubicBezTo>
                    <a:pt x="9677" y="4512"/>
                    <a:pt x="9696" y="4424"/>
                    <a:pt x="9709" y="4409"/>
                  </a:cubicBezTo>
                  <a:cubicBezTo>
                    <a:pt x="9713" y="4405"/>
                    <a:pt x="9716" y="4403"/>
                    <a:pt x="9719" y="4402"/>
                  </a:cubicBezTo>
                  <a:close/>
                  <a:moveTo>
                    <a:pt x="10586" y="4929"/>
                  </a:moveTo>
                  <a:cubicBezTo>
                    <a:pt x="10653" y="4930"/>
                    <a:pt x="10644" y="4970"/>
                    <a:pt x="10579" y="5536"/>
                  </a:cubicBezTo>
                  <a:cubicBezTo>
                    <a:pt x="10547" y="5816"/>
                    <a:pt x="10527" y="6098"/>
                    <a:pt x="10536" y="6164"/>
                  </a:cubicBezTo>
                  <a:cubicBezTo>
                    <a:pt x="10548" y="6258"/>
                    <a:pt x="10543" y="6284"/>
                    <a:pt x="10510" y="6284"/>
                  </a:cubicBezTo>
                  <a:cubicBezTo>
                    <a:pt x="10474" y="6284"/>
                    <a:pt x="10468" y="6186"/>
                    <a:pt x="10468" y="5607"/>
                  </a:cubicBezTo>
                  <a:lnTo>
                    <a:pt x="10468" y="4930"/>
                  </a:lnTo>
                  <a:lnTo>
                    <a:pt x="10552" y="4930"/>
                  </a:lnTo>
                  <a:cubicBezTo>
                    <a:pt x="10565" y="4930"/>
                    <a:pt x="10576" y="4929"/>
                    <a:pt x="10586" y="4929"/>
                  </a:cubicBezTo>
                  <a:close/>
                  <a:moveTo>
                    <a:pt x="604" y="4930"/>
                  </a:moveTo>
                  <a:lnTo>
                    <a:pt x="675" y="4930"/>
                  </a:lnTo>
                  <a:lnTo>
                    <a:pt x="675" y="5607"/>
                  </a:lnTo>
                  <a:cubicBezTo>
                    <a:pt x="675" y="6091"/>
                    <a:pt x="666" y="6284"/>
                    <a:pt x="643" y="6284"/>
                  </a:cubicBezTo>
                  <a:cubicBezTo>
                    <a:pt x="622" y="6284"/>
                    <a:pt x="617" y="6247"/>
                    <a:pt x="629" y="6172"/>
                  </a:cubicBezTo>
                  <a:cubicBezTo>
                    <a:pt x="639" y="6110"/>
                    <a:pt x="622" y="5853"/>
                    <a:pt x="591" y="5602"/>
                  </a:cubicBezTo>
                  <a:cubicBezTo>
                    <a:pt x="560" y="5350"/>
                    <a:pt x="534" y="5096"/>
                    <a:pt x="534" y="5037"/>
                  </a:cubicBezTo>
                  <a:cubicBezTo>
                    <a:pt x="534" y="4941"/>
                    <a:pt x="541" y="4930"/>
                    <a:pt x="604" y="4930"/>
                  </a:cubicBezTo>
                  <a:close/>
                  <a:moveTo>
                    <a:pt x="844" y="4930"/>
                  </a:moveTo>
                  <a:lnTo>
                    <a:pt x="929" y="4930"/>
                  </a:lnTo>
                  <a:cubicBezTo>
                    <a:pt x="1011" y="4930"/>
                    <a:pt x="1012" y="4932"/>
                    <a:pt x="998" y="5049"/>
                  </a:cubicBezTo>
                  <a:cubicBezTo>
                    <a:pt x="902" y="5867"/>
                    <a:pt x="880" y="6115"/>
                    <a:pt x="893" y="6192"/>
                  </a:cubicBezTo>
                  <a:cubicBezTo>
                    <a:pt x="902" y="6250"/>
                    <a:pt x="896" y="6284"/>
                    <a:pt x="876" y="6284"/>
                  </a:cubicBezTo>
                  <a:cubicBezTo>
                    <a:pt x="854" y="6284"/>
                    <a:pt x="844" y="6086"/>
                    <a:pt x="844" y="5607"/>
                  </a:cubicBezTo>
                  <a:lnTo>
                    <a:pt x="844" y="4930"/>
                  </a:lnTo>
                  <a:close/>
                  <a:moveTo>
                    <a:pt x="10242" y="4930"/>
                  </a:moveTo>
                  <a:lnTo>
                    <a:pt x="10327" y="4930"/>
                  </a:lnTo>
                  <a:lnTo>
                    <a:pt x="10327" y="5607"/>
                  </a:lnTo>
                  <a:cubicBezTo>
                    <a:pt x="10327" y="6022"/>
                    <a:pt x="10316" y="6284"/>
                    <a:pt x="10299" y="6284"/>
                  </a:cubicBezTo>
                  <a:cubicBezTo>
                    <a:pt x="10284" y="6284"/>
                    <a:pt x="10273" y="6205"/>
                    <a:pt x="10273" y="6108"/>
                  </a:cubicBezTo>
                  <a:cubicBezTo>
                    <a:pt x="10273" y="6011"/>
                    <a:pt x="10247" y="5716"/>
                    <a:pt x="10216" y="5452"/>
                  </a:cubicBezTo>
                  <a:cubicBezTo>
                    <a:pt x="10184" y="5188"/>
                    <a:pt x="10157" y="4962"/>
                    <a:pt x="10157" y="4951"/>
                  </a:cubicBezTo>
                  <a:cubicBezTo>
                    <a:pt x="10157" y="4939"/>
                    <a:pt x="10195" y="4930"/>
                    <a:pt x="10242" y="4930"/>
                  </a:cubicBezTo>
                  <a:close/>
                  <a:moveTo>
                    <a:pt x="3313" y="5268"/>
                  </a:moveTo>
                  <a:lnTo>
                    <a:pt x="3441" y="5268"/>
                  </a:lnTo>
                  <a:lnTo>
                    <a:pt x="3434" y="6246"/>
                  </a:lnTo>
                  <a:cubicBezTo>
                    <a:pt x="3430" y="6870"/>
                    <a:pt x="3416" y="7227"/>
                    <a:pt x="3398" y="7231"/>
                  </a:cubicBezTo>
                  <a:cubicBezTo>
                    <a:pt x="3383" y="7234"/>
                    <a:pt x="3347" y="7231"/>
                    <a:pt x="3320" y="7224"/>
                  </a:cubicBezTo>
                  <a:cubicBezTo>
                    <a:pt x="3278" y="7214"/>
                    <a:pt x="3273" y="7194"/>
                    <a:pt x="3291" y="7107"/>
                  </a:cubicBezTo>
                  <a:cubicBezTo>
                    <a:pt x="3326" y="6945"/>
                    <a:pt x="3318" y="6800"/>
                    <a:pt x="3233" y="6050"/>
                  </a:cubicBezTo>
                  <a:cubicBezTo>
                    <a:pt x="3190" y="5665"/>
                    <a:pt x="3160" y="5331"/>
                    <a:pt x="3169" y="5309"/>
                  </a:cubicBezTo>
                  <a:cubicBezTo>
                    <a:pt x="3179" y="5281"/>
                    <a:pt x="3227" y="5268"/>
                    <a:pt x="3313" y="5268"/>
                  </a:cubicBezTo>
                  <a:close/>
                  <a:moveTo>
                    <a:pt x="3610" y="5268"/>
                  </a:moveTo>
                  <a:lnTo>
                    <a:pt x="3738" y="5268"/>
                  </a:lnTo>
                  <a:cubicBezTo>
                    <a:pt x="3821" y="5268"/>
                    <a:pt x="3871" y="5282"/>
                    <a:pt x="3881" y="5308"/>
                  </a:cubicBezTo>
                  <a:cubicBezTo>
                    <a:pt x="3889" y="5330"/>
                    <a:pt x="3862" y="5644"/>
                    <a:pt x="3821" y="6006"/>
                  </a:cubicBezTo>
                  <a:cubicBezTo>
                    <a:pt x="3781" y="6369"/>
                    <a:pt x="3740" y="6729"/>
                    <a:pt x="3732" y="6806"/>
                  </a:cubicBezTo>
                  <a:cubicBezTo>
                    <a:pt x="3724" y="6884"/>
                    <a:pt x="3731" y="7004"/>
                    <a:pt x="3747" y="7074"/>
                  </a:cubicBezTo>
                  <a:cubicBezTo>
                    <a:pt x="3763" y="7143"/>
                    <a:pt x="3773" y="7202"/>
                    <a:pt x="3770" y="7204"/>
                  </a:cubicBezTo>
                  <a:cubicBezTo>
                    <a:pt x="3743" y="7225"/>
                    <a:pt x="3644" y="7240"/>
                    <a:pt x="3629" y="7225"/>
                  </a:cubicBezTo>
                  <a:cubicBezTo>
                    <a:pt x="3619" y="7215"/>
                    <a:pt x="3610" y="6770"/>
                    <a:pt x="3610" y="6237"/>
                  </a:cubicBezTo>
                  <a:lnTo>
                    <a:pt x="3610" y="5268"/>
                  </a:lnTo>
                  <a:close/>
                  <a:moveTo>
                    <a:pt x="7377" y="5268"/>
                  </a:moveTo>
                  <a:lnTo>
                    <a:pt x="7505" y="5268"/>
                  </a:lnTo>
                  <a:lnTo>
                    <a:pt x="7498" y="6249"/>
                  </a:lnTo>
                  <a:cubicBezTo>
                    <a:pt x="7492" y="7094"/>
                    <a:pt x="7485" y="7230"/>
                    <a:pt x="7448" y="7237"/>
                  </a:cubicBezTo>
                  <a:cubicBezTo>
                    <a:pt x="7354" y="7253"/>
                    <a:pt x="7333" y="7204"/>
                    <a:pt x="7365" y="7053"/>
                  </a:cubicBezTo>
                  <a:cubicBezTo>
                    <a:pt x="7390" y="6938"/>
                    <a:pt x="7384" y="6819"/>
                    <a:pt x="7339" y="6449"/>
                  </a:cubicBezTo>
                  <a:cubicBezTo>
                    <a:pt x="7252" y="5743"/>
                    <a:pt x="7216" y="5354"/>
                    <a:pt x="7234" y="5309"/>
                  </a:cubicBezTo>
                  <a:cubicBezTo>
                    <a:pt x="7244" y="5281"/>
                    <a:pt x="7292" y="5268"/>
                    <a:pt x="7377" y="5268"/>
                  </a:cubicBezTo>
                  <a:close/>
                  <a:moveTo>
                    <a:pt x="7674" y="5268"/>
                  </a:moveTo>
                  <a:lnTo>
                    <a:pt x="7799" y="5268"/>
                  </a:lnTo>
                  <a:cubicBezTo>
                    <a:pt x="7868" y="5268"/>
                    <a:pt x="7932" y="5280"/>
                    <a:pt x="7940" y="5294"/>
                  </a:cubicBezTo>
                  <a:cubicBezTo>
                    <a:pt x="7956" y="5319"/>
                    <a:pt x="7911" y="5794"/>
                    <a:pt x="7826" y="6506"/>
                  </a:cubicBezTo>
                  <a:cubicBezTo>
                    <a:pt x="7792" y="6781"/>
                    <a:pt x="7788" y="6927"/>
                    <a:pt x="7807" y="7048"/>
                  </a:cubicBezTo>
                  <a:cubicBezTo>
                    <a:pt x="7829" y="7182"/>
                    <a:pt x="7826" y="7216"/>
                    <a:pt x="7794" y="7229"/>
                  </a:cubicBezTo>
                  <a:cubicBezTo>
                    <a:pt x="7672" y="7276"/>
                    <a:pt x="7674" y="7296"/>
                    <a:pt x="7674" y="6256"/>
                  </a:cubicBezTo>
                  <a:lnTo>
                    <a:pt x="7674" y="5268"/>
                  </a:lnTo>
                  <a:close/>
                </a:path>
              </a:pathLst>
            </a:custGeom>
            <a:solidFill>
              <a:schemeClr val="accent1">
                <a:lumMod val="50000"/>
              </a:schemeClr>
            </a:solidFill>
            <a:ln w="9525" cap="flat" cmpd="sng" algn="ctr">
              <a:solidFill>
                <a:schemeClr val="accent1">
                  <a:lumMod val="50000"/>
                </a:schemeClr>
              </a:solidFill>
              <a:prstDash val="solid"/>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black"/>
                </a:solidFill>
                <a:effectLst/>
                <a:uLnTx/>
                <a:uFillTx/>
                <a:latin typeface="Aptos" panose="020B0004020202020204" pitchFamily="34" charset="0"/>
              </a:endParaRPr>
            </a:p>
          </p:txBody>
        </p:sp>
      </p:grpSp>
      <p:sp>
        <p:nvSpPr>
          <p:cNvPr id="7" name="TextBox 6">
            <a:extLst>
              <a:ext uri="{FF2B5EF4-FFF2-40B4-BE49-F238E27FC236}">
                <a16:creationId xmlns:a16="http://schemas.microsoft.com/office/drawing/2014/main" id="{93B14924-00FF-E518-A20A-78E0F5C624D5}"/>
              </a:ext>
            </a:extLst>
          </p:cNvPr>
          <p:cNvSpPr txBox="1"/>
          <p:nvPr/>
        </p:nvSpPr>
        <p:spPr>
          <a:xfrm>
            <a:off x="117248" y="197891"/>
            <a:ext cx="11129499" cy="646331"/>
          </a:xfrm>
          <a:prstGeom prst="rect">
            <a:avLst/>
          </a:prstGeom>
          <a:noFill/>
        </p:spPr>
        <p:txBody>
          <a:bodyPr wrap="square" rtlCol="0">
            <a:spAutoFit/>
          </a:bodyPr>
          <a:lstStyle/>
          <a:p>
            <a:r>
              <a:rPr lang="en-US" sz="3600" b="1" dirty="0">
                <a:solidFill>
                  <a:srgbClr val="00B0F0"/>
                </a:solidFill>
                <a:latin typeface="Aptos" panose="020B0004020202020204" pitchFamily="34" charset="0"/>
                <a:cs typeface="Arial" panose="020B0604020202020204" pitchFamily="34" charset="0"/>
              </a:rPr>
              <a:t>Company overview</a:t>
            </a:r>
          </a:p>
        </p:txBody>
      </p:sp>
    </p:spTree>
    <p:extLst>
      <p:ext uri="{BB962C8B-B14F-4D97-AF65-F5344CB8AC3E}">
        <p14:creationId xmlns:p14="http://schemas.microsoft.com/office/powerpoint/2010/main" val="4104434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0DA7DF2-AF5B-BEA5-D7A6-96A7C65A2FE7}"/>
              </a:ext>
            </a:extLst>
          </p:cNvPr>
          <p:cNvPicPr>
            <a:picLocks noChangeAspect="1"/>
          </p:cNvPicPr>
          <p:nvPr/>
        </p:nvPicPr>
        <p:blipFill>
          <a:blip r:embed="rId7">
            <a:alphaModFix amt="7000"/>
          </a:blip>
          <a:stretch>
            <a:fillRect/>
          </a:stretch>
        </p:blipFill>
        <p:spPr>
          <a:xfrm>
            <a:off x="240519" y="35563"/>
            <a:ext cx="6620344" cy="6578620"/>
          </a:xfrm>
          <a:prstGeom prst="rect">
            <a:avLst/>
          </a:prstGeom>
        </p:spPr>
      </p:pic>
      <p:sp>
        <p:nvSpPr>
          <p:cNvPr id="3" name="Slide Number Placeholder 2">
            <a:extLst>
              <a:ext uri="{FF2B5EF4-FFF2-40B4-BE49-F238E27FC236}">
                <a16:creationId xmlns:a16="http://schemas.microsoft.com/office/drawing/2014/main" id="{8A784C72-B108-4352-8D0D-50E967914732}"/>
              </a:ext>
            </a:extLst>
          </p:cNvPr>
          <p:cNvSpPr>
            <a:spLocks noGrp="1"/>
          </p:cNvSpPr>
          <p:nvPr>
            <p:ph type="sldNum" sz="quarter" idx="4294967295"/>
          </p:nvPr>
        </p:nvSpPr>
        <p:spPr>
          <a:xfrm>
            <a:off x="9448800" y="6410325"/>
            <a:ext cx="2743200" cy="365125"/>
          </a:xfrm>
        </p:spPr>
        <p:txBody>
          <a:bodyPr/>
          <a:lstStyle/>
          <a:p>
            <a:fld id="{9FC3031A-744E-4491-9064-FD6EC4156FCE}" type="slidenum">
              <a:rPr lang="en-IN" smtClean="0">
                <a:latin typeface="Aptos" panose="020B0004020202020204" pitchFamily="34" charset="0"/>
              </a:rPr>
              <a:t>4</a:t>
            </a:fld>
            <a:endParaRPr lang="en-IN" dirty="0">
              <a:latin typeface="Aptos" panose="020B0004020202020204" pitchFamily="34" charset="0"/>
            </a:endParaRPr>
          </a:p>
        </p:txBody>
      </p:sp>
      <p:sp>
        <p:nvSpPr>
          <p:cNvPr id="5" name="Rounded Rectangle 30">
            <a:extLst>
              <a:ext uri="{FF2B5EF4-FFF2-40B4-BE49-F238E27FC236}">
                <a16:creationId xmlns:a16="http://schemas.microsoft.com/office/drawing/2014/main" id="{3E6B5E40-E7E1-41BA-BFAE-1DDE1C935ABB}"/>
              </a:ext>
            </a:extLst>
          </p:cNvPr>
          <p:cNvSpPr/>
          <p:nvPr/>
        </p:nvSpPr>
        <p:spPr>
          <a:xfrm>
            <a:off x="50958" y="1968940"/>
            <a:ext cx="540000" cy="381000"/>
          </a:xfrm>
          <a:prstGeom prst="roundRect">
            <a:avLst/>
          </a:prstGeom>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400" b="1" dirty="0">
                <a:solidFill>
                  <a:schemeClr val="bg1"/>
                </a:solidFill>
                <a:latin typeface="Aptos" panose="020B0004020202020204" pitchFamily="34" charset="0"/>
              </a:rPr>
              <a:t>1984</a:t>
            </a:r>
          </a:p>
        </p:txBody>
      </p:sp>
      <p:sp>
        <p:nvSpPr>
          <p:cNvPr id="6" name="Rounded Rectangle 31">
            <a:extLst>
              <a:ext uri="{FF2B5EF4-FFF2-40B4-BE49-F238E27FC236}">
                <a16:creationId xmlns:a16="http://schemas.microsoft.com/office/drawing/2014/main" id="{9C77C2F4-298F-456D-9EC6-359814897CA4}"/>
              </a:ext>
            </a:extLst>
          </p:cNvPr>
          <p:cNvSpPr/>
          <p:nvPr/>
        </p:nvSpPr>
        <p:spPr>
          <a:xfrm>
            <a:off x="615270" y="1963002"/>
            <a:ext cx="540000" cy="381000"/>
          </a:xfrm>
          <a:prstGeom prst="roundRect">
            <a:avLst/>
          </a:prstGeom>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400" b="1" dirty="0">
                <a:solidFill>
                  <a:schemeClr val="bg1"/>
                </a:solidFill>
                <a:latin typeface="Aptos" panose="020B0004020202020204" pitchFamily="34" charset="0"/>
              </a:rPr>
              <a:t>1990</a:t>
            </a:r>
          </a:p>
        </p:txBody>
      </p:sp>
      <p:sp>
        <p:nvSpPr>
          <p:cNvPr id="7" name="Rounded Rectangle 32">
            <a:extLst>
              <a:ext uri="{FF2B5EF4-FFF2-40B4-BE49-F238E27FC236}">
                <a16:creationId xmlns:a16="http://schemas.microsoft.com/office/drawing/2014/main" id="{A3FD1299-5E52-4A4F-8587-4BE9A9E34B27}"/>
              </a:ext>
            </a:extLst>
          </p:cNvPr>
          <p:cNvSpPr/>
          <p:nvPr/>
        </p:nvSpPr>
        <p:spPr>
          <a:xfrm>
            <a:off x="1179582" y="1963002"/>
            <a:ext cx="540000" cy="381000"/>
          </a:xfrm>
          <a:prstGeom prst="roundRect">
            <a:avLst/>
          </a:prstGeom>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400" b="1" dirty="0">
                <a:solidFill>
                  <a:schemeClr val="bg1"/>
                </a:solidFill>
                <a:latin typeface="Aptos" panose="020B0004020202020204" pitchFamily="34" charset="0"/>
              </a:rPr>
              <a:t>1991</a:t>
            </a:r>
          </a:p>
        </p:txBody>
      </p:sp>
      <p:sp>
        <p:nvSpPr>
          <p:cNvPr id="8" name="Rounded Rectangle 33">
            <a:extLst>
              <a:ext uri="{FF2B5EF4-FFF2-40B4-BE49-F238E27FC236}">
                <a16:creationId xmlns:a16="http://schemas.microsoft.com/office/drawing/2014/main" id="{1D4AD8BD-AE37-46BC-8A75-BB1B12C5A922}"/>
              </a:ext>
            </a:extLst>
          </p:cNvPr>
          <p:cNvSpPr/>
          <p:nvPr/>
        </p:nvSpPr>
        <p:spPr>
          <a:xfrm>
            <a:off x="2308206" y="1963002"/>
            <a:ext cx="540000" cy="381000"/>
          </a:xfrm>
          <a:prstGeom prst="roundRect">
            <a:avLst/>
          </a:prstGeom>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400" b="1" dirty="0">
                <a:solidFill>
                  <a:schemeClr val="bg1"/>
                </a:solidFill>
                <a:latin typeface="Aptos" panose="020B0004020202020204" pitchFamily="34" charset="0"/>
              </a:rPr>
              <a:t>1995</a:t>
            </a:r>
          </a:p>
        </p:txBody>
      </p:sp>
      <p:sp>
        <p:nvSpPr>
          <p:cNvPr id="9" name="Rounded Rectangle 34">
            <a:extLst>
              <a:ext uri="{FF2B5EF4-FFF2-40B4-BE49-F238E27FC236}">
                <a16:creationId xmlns:a16="http://schemas.microsoft.com/office/drawing/2014/main" id="{FF980C8F-12A3-4AC0-9C6A-A35CADF3BC42}"/>
              </a:ext>
            </a:extLst>
          </p:cNvPr>
          <p:cNvSpPr/>
          <p:nvPr/>
        </p:nvSpPr>
        <p:spPr>
          <a:xfrm>
            <a:off x="2872518" y="1963002"/>
            <a:ext cx="540000" cy="381000"/>
          </a:xfrm>
          <a:prstGeom prst="roundRect">
            <a:avLst/>
          </a:prstGeom>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400" b="1" dirty="0">
                <a:solidFill>
                  <a:schemeClr val="bg1"/>
                </a:solidFill>
                <a:latin typeface="Aptos" panose="020B0004020202020204" pitchFamily="34" charset="0"/>
              </a:rPr>
              <a:t>2001</a:t>
            </a:r>
          </a:p>
        </p:txBody>
      </p:sp>
      <p:sp>
        <p:nvSpPr>
          <p:cNvPr id="10" name="Rounded Rectangle 35">
            <a:extLst>
              <a:ext uri="{FF2B5EF4-FFF2-40B4-BE49-F238E27FC236}">
                <a16:creationId xmlns:a16="http://schemas.microsoft.com/office/drawing/2014/main" id="{D06F7F06-2EE8-40BA-9897-4019E55BBEEF}"/>
              </a:ext>
            </a:extLst>
          </p:cNvPr>
          <p:cNvSpPr/>
          <p:nvPr/>
        </p:nvSpPr>
        <p:spPr>
          <a:xfrm>
            <a:off x="3436830" y="1963002"/>
            <a:ext cx="540000" cy="381000"/>
          </a:xfrm>
          <a:prstGeom prst="roundRect">
            <a:avLst/>
          </a:prstGeom>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400" b="1" dirty="0">
                <a:solidFill>
                  <a:schemeClr val="bg1"/>
                </a:solidFill>
                <a:latin typeface="Aptos" panose="020B0004020202020204" pitchFamily="34" charset="0"/>
              </a:rPr>
              <a:t>2002</a:t>
            </a:r>
          </a:p>
        </p:txBody>
      </p:sp>
      <p:sp>
        <p:nvSpPr>
          <p:cNvPr id="11" name="Rounded Rectangle 36">
            <a:extLst>
              <a:ext uri="{FF2B5EF4-FFF2-40B4-BE49-F238E27FC236}">
                <a16:creationId xmlns:a16="http://schemas.microsoft.com/office/drawing/2014/main" id="{521A63E3-1896-42FC-A486-844BBD327C3B}"/>
              </a:ext>
            </a:extLst>
          </p:cNvPr>
          <p:cNvSpPr/>
          <p:nvPr/>
        </p:nvSpPr>
        <p:spPr>
          <a:xfrm>
            <a:off x="4001142" y="1963002"/>
            <a:ext cx="540000" cy="381000"/>
          </a:xfrm>
          <a:prstGeom prst="roundRect">
            <a:avLst/>
          </a:prstGeom>
          <a:ln/>
        </p:spPr>
        <p:style>
          <a:lnRef idx="1">
            <a:schemeClr val="accent3"/>
          </a:lnRef>
          <a:fillRef idx="3">
            <a:schemeClr val="accent3"/>
          </a:fillRef>
          <a:effectRef idx="2">
            <a:schemeClr val="accent3"/>
          </a:effectRef>
          <a:fontRef idx="minor">
            <a:schemeClr val="lt1"/>
          </a:fontRef>
        </p:style>
        <p:txBody>
          <a:bodyPr lIns="0" tIns="0" rIns="0" bIns="0" rtlCol="0" anchor="ctr"/>
          <a:lstStyle/>
          <a:p>
            <a:pPr algn="ctr"/>
            <a:r>
              <a:rPr lang="en-US" sz="1400" b="1" dirty="0">
                <a:solidFill>
                  <a:schemeClr val="bg1"/>
                </a:solidFill>
                <a:latin typeface="Aptos" panose="020B0004020202020204" pitchFamily="34" charset="0"/>
              </a:rPr>
              <a:t>2003</a:t>
            </a:r>
          </a:p>
        </p:txBody>
      </p:sp>
      <p:sp>
        <p:nvSpPr>
          <p:cNvPr id="12" name="Rounded Rectangle 37">
            <a:extLst>
              <a:ext uri="{FF2B5EF4-FFF2-40B4-BE49-F238E27FC236}">
                <a16:creationId xmlns:a16="http://schemas.microsoft.com/office/drawing/2014/main" id="{208A9206-3D81-47F6-BC08-7FCD1CB99407}"/>
              </a:ext>
            </a:extLst>
          </p:cNvPr>
          <p:cNvSpPr/>
          <p:nvPr/>
        </p:nvSpPr>
        <p:spPr>
          <a:xfrm>
            <a:off x="4565454" y="1963002"/>
            <a:ext cx="540000" cy="381000"/>
          </a:xfrm>
          <a:prstGeom prst="roundRect">
            <a:avLst/>
          </a:prstGeom>
          <a:ln/>
        </p:spPr>
        <p:style>
          <a:lnRef idx="1">
            <a:schemeClr val="accent3"/>
          </a:lnRef>
          <a:fillRef idx="3">
            <a:schemeClr val="accent3"/>
          </a:fillRef>
          <a:effectRef idx="2">
            <a:schemeClr val="accent3"/>
          </a:effectRef>
          <a:fontRef idx="minor">
            <a:schemeClr val="lt1"/>
          </a:fontRef>
        </p:style>
        <p:txBody>
          <a:bodyPr lIns="0" tIns="0" rIns="0" bIns="0" rtlCol="0" anchor="ctr"/>
          <a:lstStyle/>
          <a:p>
            <a:pPr algn="ctr"/>
            <a:r>
              <a:rPr lang="en-US" sz="1400" b="1" dirty="0">
                <a:solidFill>
                  <a:schemeClr val="bg1"/>
                </a:solidFill>
                <a:latin typeface="Aptos" panose="020B0004020202020204" pitchFamily="34" charset="0"/>
              </a:rPr>
              <a:t>2005</a:t>
            </a:r>
          </a:p>
        </p:txBody>
      </p:sp>
      <p:sp>
        <p:nvSpPr>
          <p:cNvPr id="13" name="Rounded Rectangle 39">
            <a:extLst>
              <a:ext uri="{FF2B5EF4-FFF2-40B4-BE49-F238E27FC236}">
                <a16:creationId xmlns:a16="http://schemas.microsoft.com/office/drawing/2014/main" id="{BC0E5CDA-2870-45A4-BA5B-71A3EF0D0D38}"/>
              </a:ext>
            </a:extLst>
          </p:cNvPr>
          <p:cNvSpPr/>
          <p:nvPr/>
        </p:nvSpPr>
        <p:spPr>
          <a:xfrm>
            <a:off x="5129766" y="1963002"/>
            <a:ext cx="540000" cy="381000"/>
          </a:xfrm>
          <a:prstGeom prst="roundRect">
            <a:avLst/>
          </a:prstGeom>
          <a:ln/>
        </p:spPr>
        <p:style>
          <a:lnRef idx="1">
            <a:schemeClr val="accent3"/>
          </a:lnRef>
          <a:fillRef idx="3">
            <a:schemeClr val="accent3"/>
          </a:fillRef>
          <a:effectRef idx="2">
            <a:schemeClr val="accent3"/>
          </a:effectRef>
          <a:fontRef idx="minor">
            <a:schemeClr val="lt1"/>
          </a:fontRef>
        </p:style>
        <p:txBody>
          <a:bodyPr lIns="0" tIns="0" rIns="0" bIns="0" rtlCol="0" anchor="ctr"/>
          <a:lstStyle/>
          <a:p>
            <a:pPr algn="ctr"/>
            <a:r>
              <a:rPr lang="en-US" sz="1400" b="1" dirty="0">
                <a:solidFill>
                  <a:schemeClr val="bg1"/>
                </a:solidFill>
                <a:latin typeface="Aptos" panose="020B0004020202020204" pitchFamily="34" charset="0"/>
              </a:rPr>
              <a:t>2008</a:t>
            </a:r>
          </a:p>
        </p:txBody>
      </p:sp>
      <p:sp>
        <p:nvSpPr>
          <p:cNvPr id="14" name="Rounded Rectangle 40">
            <a:extLst>
              <a:ext uri="{FF2B5EF4-FFF2-40B4-BE49-F238E27FC236}">
                <a16:creationId xmlns:a16="http://schemas.microsoft.com/office/drawing/2014/main" id="{AC6ABA0C-F763-4C9F-80D8-2845A1EC97DD}"/>
              </a:ext>
            </a:extLst>
          </p:cNvPr>
          <p:cNvSpPr/>
          <p:nvPr/>
        </p:nvSpPr>
        <p:spPr>
          <a:xfrm>
            <a:off x="5694078" y="1963002"/>
            <a:ext cx="540000" cy="381000"/>
          </a:xfrm>
          <a:prstGeom prst="roundRect">
            <a:avLst/>
          </a:prstGeom>
          <a:ln/>
        </p:spPr>
        <p:style>
          <a:lnRef idx="1">
            <a:schemeClr val="accent3"/>
          </a:lnRef>
          <a:fillRef idx="3">
            <a:schemeClr val="accent3"/>
          </a:fillRef>
          <a:effectRef idx="2">
            <a:schemeClr val="accent3"/>
          </a:effectRef>
          <a:fontRef idx="minor">
            <a:schemeClr val="lt1"/>
          </a:fontRef>
        </p:style>
        <p:txBody>
          <a:bodyPr lIns="0" tIns="0" rIns="0" bIns="0" rtlCol="0" anchor="ctr"/>
          <a:lstStyle/>
          <a:p>
            <a:pPr algn="ctr"/>
            <a:r>
              <a:rPr lang="en-US" sz="1400" b="1" dirty="0">
                <a:solidFill>
                  <a:schemeClr val="bg1"/>
                </a:solidFill>
                <a:latin typeface="Aptos" panose="020B0004020202020204" pitchFamily="34" charset="0"/>
              </a:rPr>
              <a:t>2010</a:t>
            </a:r>
          </a:p>
        </p:txBody>
      </p:sp>
      <p:sp>
        <p:nvSpPr>
          <p:cNvPr id="16" name="Rounded Rectangle 42">
            <a:extLst>
              <a:ext uri="{FF2B5EF4-FFF2-40B4-BE49-F238E27FC236}">
                <a16:creationId xmlns:a16="http://schemas.microsoft.com/office/drawing/2014/main" id="{083525A4-EC4F-4238-B0DD-34721C45C520}"/>
              </a:ext>
            </a:extLst>
          </p:cNvPr>
          <p:cNvSpPr/>
          <p:nvPr/>
        </p:nvSpPr>
        <p:spPr>
          <a:xfrm>
            <a:off x="6258390" y="1963002"/>
            <a:ext cx="540000" cy="381000"/>
          </a:xfrm>
          <a:prstGeom prst="roundRect">
            <a:avLst/>
          </a:prstGeom>
          <a:ln/>
        </p:spPr>
        <p:style>
          <a:lnRef idx="1">
            <a:schemeClr val="accent3"/>
          </a:lnRef>
          <a:fillRef idx="3">
            <a:schemeClr val="accent3"/>
          </a:fillRef>
          <a:effectRef idx="2">
            <a:schemeClr val="accent3"/>
          </a:effectRef>
          <a:fontRef idx="minor">
            <a:schemeClr val="lt1"/>
          </a:fontRef>
        </p:style>
        <p:txBody>
          <a:bodyPr lIns="0" tIns="0" rIns="0" bIns="0" rtlCol="0" anchor="ctr"/>
          <a:lstStyle/>
          <a:p>
            <a:pPr algn="ctr"/>
            <a:r>
              <a:rPr lang="en-US" sz="1400" b="1" dirty="0">
                <a:solidFill>
                  <a:schemeClr val="bg1"/>
                </a:solidFill>
                <a:latin typeface="Aptos" panose="020B0004020202020204" pitchFamily="34" charset="0"/>
              </a:rPr>
              <a:t>2013</a:t>
            </a:r>
          </a:p>
        </p:txBody>
      </p:sp>
      <p:sp>
        <p:nvSpPr>
          <p:cNvPr id="17" name="Rounded Rectangle 43">
            <a:extLst>
              <a:ext uri="{FF2B5EF4-FFF2-40B4-BE49-F238E27FC236}">
                <a16:creationId xmlns:a16="http://schemas.microsoft.com/office/drawing/2014/main" id="{53351B2F-1E4F-4442-8BEE-AF4066440B46}"/>
              </a:ext>
            </a:extLst>
          </p:cNvPr>
          <p:cNvSpPr/>
          <p:nvPr/>
        </p:nvSpPr>
        <p:spPr>
          <a:xfrm>
            <a:off x="6822702" y="1963002"/>
            <a:ext cx="540000" cy="381000"/>
          </a:xfrm>
          <a:prstGeom prst="roundRect">
            <a:avLst/>
          </a:prstGeom>
          <a:ln/>
        </p:spPr>
        <p:style>
          <a:lnRef idx="1">
            <a:schemeClr val="accent3"/>
          </a:lnRef>
          <a:fillRef idx="3">
            <a:schemeClr val="accent3"/>
          </a:fillRef>
          <a:effectRef idx="2">
            <a:schemeClr val="accent3"/>
          </a:effectRef>
          <a:fontRef idx="minor">
            <a:schemeClr val="lt1"/>
          </a:fontRef>
        </p:style>
        <p:txBody>
          <a:bodyPr lIns="0" tIns="0" rIns="0" bIns="0" rtlCol="0" anchor="ctr"/>
          <a:lstStyle/>
          <a:p>
            <a:pPr algn="ctr"/>
            <a:r>
              <a:rPr lang="en-US" sz="1400" b="1" dirty="0">
                <a:solidFill>
                  <a:schemeClr val="bg1"/>
                </a:solidFill>
                <a:latin typeface="Aptos" panose="020B0004020202020204" pitchFamily="34" charset="0"/>
              </a:rPr>
              <a:t>2014</a:t>
            </a:r>
          </a:p>
        </p:txBody>
      </p:sp>
      <p:sp>
        <p:nvSpPr>
          <p:cNvPr id="18" name="Rounded Rectangle 44">
            <a:extLst>
              <a:ext uri="{FF2B5EF4-FFF2-40B4-BE49-F238E27FC236}">
                <a16:creationId xmlns:a16="http://schemas.microsoft.com/office/drawing/2014/main" id="{570E943B-E541-41AF-AB38-73D189F515B3}"/>
              </a:ext>
            </a:extLst>
          </p:cNvPr>
          <p:cNvSpPr/>
          <p:nvPr/>
        </p:nvSpPr>
        <p:spPr>
          <a:xfrm>
            <a:off x="7387014" y="1963002"/>
            <a:ext cx="540000" cy="381000"/>
          </a:xfrm>
          <a:prstGeom prst="roundRect">
            <a:avLst/>
          </a:prstGeom>
          <a:ln/>
        </p:spPr>
        <p:style>
          <a:lnRef idx="1">
            <a:schemeClr val="accent6"/>
          </a:lnRef>
          <a:fillRef idx="3">
            <a:schemeClr val="accent6"/>
          </a:fillRef>
          <a:effectRef idx="2">
            <a:schemeClr val="accent6"/>
          </a:effectRef>
          <a:fontRef idx="minor">
            <a:schemeClr val="lt1"/>
          </a:fontRef>
        </p:style>
        <p:txBody>
          <a:bodyPr lIns="0" tIns="0" rIns="0" bIns="0" rtlCol="0" anchor="ctr"/>
          <a:lstStyle/>
          <a:p>
            <a:pPr algn="ctr"/>
            <a:r>
              <a:rPr lang="en-US" sz="1400" b="1" dirty="0">
                <a:solidFill>
                  <a:schemeClr val="bg1"/>
                </a:solidFill>
                <a:latin typeface="Aptos" panose="020B0004020202020204" pitchFamily="34" charset="0"/>
              </a:rPr>
              <a:t>2014</a:t>
            </a:r>
          </a:p>
        </p:txBody>
      </p:sp>
      <p:sp>
        <p:nvSpPr>
          <p:cNvPr id="19" name="Rounded Rectangle 45">
            <a:extLst>
              <a:ext uri="{FF2B5EF4-FFF2-40B4-BE49-F238E27FC236}">
                <a16:creationId xmlns:a16="http://schemas.microsoft.com/office/drawing/2014/main" id="{E4457225-582D-4F51-90FF-A6213AEEBD7D}"/>
              </a:ext>
            </a:extLst>
          </p:cNvPr>
          <p:cNvSpPr/>
          <p:nvPr/>
        </p:nvSpPr>
        <p:spPr>
          <a:xfrm>
            <a:off x="7951326" y="1963002"/>
            <a:ext cx="540000" cy="381000"/>
          </a:xfrm>
          <a:prstGeom prst="roundRect">
            <a:avLst/>
          </a:prstGeom>
          <a:ln/>
        </p:spPr>
        <p:style>
          <a:lnRef idx="1">
            <a:schemeClr val="accent6"/>
          </a:lnRef>
          <a:fillRef idx="3">
            <a:schemeClr val="accent6"/>
          </a:fillRef>
          <a:effectRef idx="2">
            <a:schemeClr val="accent6"/>
          </a:effectRef>
          <a:fontRef idx="minor">
            <a:schemeClr val="lt1"/>
          </a:fontRef>
        </p:style>
        <p:txBody>
          <a:bodyPr lIns="0" tIns="0" rIns="0" bIns="0" rtlCol="0" anchor="ctr"/>
          <a:lstStyle/>
          <a:p>
            <a:pPr algn="ctr"/>
            <a:r>
              <a:rPr lang="en-US" sz="1400" b="1" dirty="0">
                <a:solidFill>
                  <a:schemeClr val="bg1"/>
                </a:solidFill>
                <a:latin typeface="Aptos" panose="020B0004020202020204" pitchFamily="34" charset="0"/>
              </a:rPr>
              <a:t>2015</a:t>
            </a:r>
          </a:p>
        </p:txBody>
      </p:sp>
      <p:sp>
        <p:nvSpPr>
          <p:cNvPr id="20" name="Rounded Rectangle 46">
            <a:extLst>
              <a:ext uri="{FF2B5EF4-FFF2-40B4-BE49-F238E27FC236}">
                <a16:creationId xmlns:a16="http://schemas.microsoft.com/office/drawing/2014/main" id="{461EB62B-B4D0-4929-B997-7FFBFB8B9260}"/>
              </a:ext>
            </a:extLst>
          </p:cNvPr>
          <p:cNvSpPr/>
          <p:nvPr/>
        </p:nvSpPr>
        <p:spPr>
          <a:xfrm>
            <a:off x="8515638" y="1963002"/>
            <a:ext cx="540000" cy="381000"/>
          </a:xfrm>
          <a:prstGeom prst="roundRect">
            <a:avLst/>
          </a:prstGeom>
          <a:ln/>
        </p:spPr>
        <p:style>
          <a:lnRef idx="1">
            <a:schemeClr val="accent6"/>
          </a:lnRef>
          <a:fillRef idx="3">
            <a:schemeClr val="accent6"/>
          </a:fillRef>
          <a:effectRef idx="2">
            <a:schemeClr val="accent6"/>
          </a:effectRef>
          <a:fontRef idx="minor">
            <a:schemeClr val="lt1"/>
          </a:fontRef>
        </p:style>
        <p:txBody>
          <a:bodyPr lIns="0" tIns="0" rIns="0" bIns="0" rtlCol="0" anchor="ctr"/>
          <a:lstStyle/>
          <a:p>
            <a:pPr algn="ctr"/>
            <a:r>
              <a:rPr lang="en-US" sz="1400" b="1" dirty="0">
                <a:solidFill>
                  <a:schemeClr val="bg1"/>
                </a:solidFill>
                <a:latin typeface="Aptos" panose="020B0004020202020204" pitchFamily="34" charset="0"/>
              </a:rPr>
              <a:t>2016</a:t>
            </a:r>
          </a:p>
        </p:txBody>
      </p:sp>
      <p:sp>
        <p:nvSpPr>
          <p:cNvPr id="21" name="Rounded Rectangle 47">
            <a:extLst>
              <a:ext uri="{FF2B5EF4-FFF2-40B4-BE49-F238E27FC236}">
                <a16:creationId xmlns:a16="http://schemas.microsoft.com/office/drawing/2014/main" id="{735E2CBC-5DDE-4BA3-9D81-BFA1E66C660F}"/>
              </a:ext>
            </a:extLst>
          </p:cNvPr>
          <p:cNvSpPr/>
          <p:nvPr/>
        </p:nvSpPr>
        <p:spPr>
          <a:xfrm>
            <a:off x="9079950" y="1963002"/>
            <a:ext cx="540000" cy="381000"/>
          </a:xfrm>
          <a:prstGeom prst="roundRect">
            <a:avLst/>
          </a:prstGeom>
          <a:ln/>
        </p:spPr>
        <p:style>
          <a:lnRef idx="1">
            <a:schemeClr val="accent6"/>
          </a:lnRef>
          <a:fillRef idx="3">
            <a:schemeClr val="accent6"/>
          </a:fillRef>
          <a:effectRef idx="2">
            <a:schemeClr val="accent6"/>
          </a:effectRef>
          <a:fontRef idx="minor">
            <a:schemeClr val="lt1"/>
          </a:fontRef>
        </p:style>
        <p:txBody>
          <a:bodyPr lIns="0" tIns="0" rIns="0" bIns="0" rtlCol="0" anchor="ctr"/>
          <a:lstStyle/>
          <a:p>
            <a:pPr algn="ctr"/>
            <a:r>
              <a:rPr lang="en-US" sz="1400" b="1">
                <a:solidFill>
                  <a:schemeClr val="bg1"/>
                </a:solidFill>
                <a:latin typeface="Aptos" panose="020B0004020202020204" pitchFamily="34" charset="0"/>
              </a:rPr>
              <a:t>2019</a:t>
            </a:r>
            <a:endParaRPr lang="en-US" sz="1400" b="1" dirty="0">
              <a:solidFill>
                <a:schemeClr val="bg1"/>
              </a:solidFill>
              <a:latin typeface="Aptos" panose="020B0004020202020204" pitchFamily="34" charset="0"/>
            </a:endParaRPr>
          </a:p>
        </p:txBody>
      </p:sp>
      <p:sp>
        <p:nvSpPr>
          <p:cNvPr id="23" name="Rectangle 22">
            <a:extLst>
              <a:ext uri="{FF2B5EF4-FFF2-40B4-BE49-F238E27FC236}">
                <a16:creationId xmlns:a16="http://schemas.microsoft.com/office/drawing/2014/main" id="{154D71F4-8E4D-4498-8C24-648B00E4FC65}"/>
              </a:ext>
            </a:extLst>
          </p:cNvPr>
          <p:cNvSpPr/>
          <p:nvPr/>
        </p:nvSpPr>
        <p:spPr>
          <a:xfrm>
            <a:off x="28022" y="4911580"/>
            <a:ext cx="1612493" cy="769441"/>
          </a:xfrm>
          <a:prstGeom prst="rect">
            <a:avLst/>
          </a:prstGeom>
        </p:spPr>
        <p:txBody>
          <a:bodyPr wrap="square">
            <a:spAutoFit/>
          </a:bodyPr>
          <a:lstStyle/>
          <a:p>
            <a:r>
              <a:rPr lang="en-IN" sz="1100" spc="50" dirty="0">
                <a:solidFill>
                  <a:srgbClr val="3466C0"/>
                </a:solidFill>
                <a:latin typeface="Aptos" panose="020B0004020202020204" pitchFamily="34" charset="0"/>
                <a:cs typeface="Arial" panose="020B0604020202020204" pitchFamily="34" charset="0"/>
              </a:rPr>
              <a:t>Granules formed as Triton Labs to produce Paracetamol API at Bonthapally</a:t>
            </a:r>
            <a:endParaRPr lang="en-US" sz="1100" spc="50" dirty="0">
              <a:solidFill>
                <a:srgbClr val="3466C0"/>
              </a:solidFill>
              <a:latin typeface="Aptos" panose="020B00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6D5A1B61-0C36-4D46-A049-DA78C87BB1FD}"/>
              </a:ext>
            </a:extLst>
          </p:cNvPr>
          <p:cNvSpPr/>
          <p:nvPr/>
        </p:nvSpPr>
        <p:spPr>
          <a:xfrm>
            <a:off x="377427" y="4092789"/>
            <a:ext cx="1135677" cy="600164"/>
          </a:xfrm>
          <a:prstGeom prst="rect">
            <a:avLst/>
          </a:prstGeom>
        </p:spPr>
        <p:txBody>
          <a:bodyPr wrap="square">
            <a:spAutoFit/>
          </a:bodyPr>
          <a:lstStyle/>
          <a:p>
            <a:r>
              <a:rPr lang="en-IN" sz="1100" spc="50" dirty="0">
                <a:solidFill>
                  <a:srgbClr val="3466C0"/>
                </a:solidFill>
                <a:latin typeface="Aptos" panose="020B0004020202020204" pitchFamily="34" charset="0"/>
                <a:cs typeface="Arial" panose="020B0604020202020204" pitchFamily="34" charset="0"/>
              </a:rPr>
              <a:t>Opened 2</a:t>
            </a:r>
            <a:r>
              <a:rPr lang="en-IN" sz="1100" spc="50" baseline="30000" dirty="0">
                <a:solidFill>
                  <a:srgbClr val="3466C0"/>
                </a:solidFill>
                <a:latin typeface="Aptos" panose="020B0004020202020204" pitchFamily="34" charset="0"/>
                <a:cs typeface="Arial" panose="020B0604020202020204" pitchFamily="34" charset="0"/>
              </a:rPr>
              <a:t>nd</a:t>
            </a:r>
            <a:r>
              <a:rPr lang="en-IN" sz="1100" spc="50" dirty="0">
                <a:solidFill>
                  <a:srgbClr val="3466C0"/>
                </a:solidFill>
                <a:latin typeface="Aptos" panose="020B0004020202020204" pitchFamily="34" charset="0"/>
                <a:cs typeface="Arial" panose="020B0604020202020204" pitchFamily="34" charset="0"/>
              </a:rPr>
              <a:t> API facility in Jeedimetla</a:t>
            </a:r>
            <a:endParaRPr lang="en-US" sz="1100" spc="50" dirty="0">
              <a:solidFill>
                <a:srgbClr val="3466C0"/>
              </a:solidFill>
              <a:latin typeface="Aptos" panose="020B0004020202020204" pitchFamily="34" charset="0"/>
              <a:cs typeface="Arial" panose="020B0604020202020204" pitchFamily="34" charset="0"/>
            </a:endParaRPr>
          </a:p>
        </p:txBody>
      </p:sp>
      <p:cxnSp>
        <p:nvCxnSpPr>
          <p:cNvPr id="25" name="Straight Arrow Connector 24">
            <a:extLst>
              <a:ext uri="{FF2B5EF4-FFF2-40B4-BE49-F238E27FC236}">
                <a16:creationId xmlns:a16="http://schemas.microsoft.com/office/drawing/2014/main" id="{9D3A7479-0C0A-4B86-B08E-1FA450E26468}"/>
              </a:ext>
            </a:extLst>
          </p:cNvPr>
          <p:cNvCxnSpPr>
            <a:cxnSpLocks/>
            <a:stCxn id="7" idx="2"/>
          </p:cNvCxnSpPr>
          <p:nvPr/>
        </p:nvCxnSpPr>
        <p:spPr>
          <a:xfrm>
            <a:off x="1449582" y="2344002"/>
            <a:ext cx="7748" cy="106447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D96C695E-BB9B-4FBD-9364-4589733A34FE}"/>
              </a:ext>
            </a:extLst>
          </p:cNvPr>
          <p:cNvSpPr/>
          <p:nvPr/>
        </p:nvSpPr>
        <p:spPr>
          <a:xfrm>
            <a:off x="986462" y="3449521"/>
            <a:ext cx="1239480" cy="600164"/>
          </a:xfrm>
          <a:prstGeom prst="rect">
            <a:avLst/>
          </a:prstGeom>
        </p:spPr>
        <p:txBody>
          <a:bodyPr wrap="square">
            <a:spAutoFit/>
          </a:bodyPr>
          <a:lstStyle/>
          <a:p>
            <a:r>
              <a:rPr lang="en-IN" sz="1100" spc="50" dirty="0">
                <a:solidFill>
                  <a:srgbClr val="3466C0"/>
                </a:solidFill>
                <a:latin typeface="Aptos" panose="020B0004020202020204" pitchFamily="34" charset="0"/>
                <a:cs typeface="Arial" panose="020B0604020202020204" pitchFamily="34" charset="0"/>
              </a:rPr>
              <a:t>Incorporated</a:t>
            </a:r>
          </a:p>
          <a:p>
            <a:r>
              <a:rPr lang="en-IN" sz="1100" spc="50" dirty="0">
                <a:solidFill>
                  <a:srgbClr val="3466C0"/>
                </a:solidFill>
                <a:latin typeface="Aptos" panose="020B0004020202020204" pitchFamily="34" charset="0"/>
                <a:cs typeface="Arial" panose="020B0604020202020204" pitchFamily="34" charset="0"/>
              </a:rPr>
              <a:t>Granules India</a:t>
            </a:r>
          </a:p>
          <a:p>
            <a:r>
              <a:rPr lang="en-IN" sz="1100" spc="50" dirty="0">
                <a:solidFill>
                  <a:srgbClr val="3466C0"/>
                </a:solidFill>
                <a:latin typeface="Aptos" panose="020B0004020202020204" pitchFamily="34" charset="0"/>
                <a:cs typeface="Arial" panose="020B0604020202020204" pitchFamily="34" charset="0"/>
              </a:rPr>
              <a:t>Private Limited</a:t>
            </a:r>
            <a:endParaRPr lang="en-US" sz="1100" spc="50" dirty="0">
              <a:solidFill>
                <a:srgbClr val="3466C0"/>
              </a:solidFill>
              <a:latin typeface="Aptos" panose="020B0004020202020204" pitchFamily="34" charset="0"/>
              <a:cs typeface="Arial" panose="020B0604020202020204" pitchFamily="34" charset="0"/>
            </a:endParaRPr>
          </a:p>
        </p:txBody>
      </p:sp>
      <p:sp>
        <p:nvSpPr>
          <p:cNvPr id="27" name="Rectangle 26">
            <a:extLst>
              <a:ext uri="{FF2B5EF4-FFF2-40B4-BE49-F238E27FC236}">
                <a16:creationId xmlns:a16="http://schemas.microsoft.com/office/drawing/2014/main" id="{21393D69-260A-423B-872E-5ACCF31FBBF0}"/>
              </a:ext>
            </a:extLst>
          </p:cNvPr>
          <p:cNvSpPr/>
          <p:nvPr/>
        </p:nvSpPr>
        <p:spPr>
          <a:xfrm>
            <a:off x="2112033" y="4343641"/>
            <a:ext cx="1249079" cy="600164"/>
          </a:xfrm>
          <a:prstGeom prst="rect">
            <a:avLst/>
          </a:prstGeom>
        </p:spPr>
        <p:txBody>
          <a:bodyPr wrap="square">
            <a:spAutoFit/>
          </a:bodyPr>
          <a:lstStyle/>
          <a:p>
            <a:r>
              <a:rPr lang="en-IN" sz="1100" spc="50" dirty="0">
                <a:solidFill>
                  <a:srgbClr val="3466C0"/>
                </a:solidFill>
                <a:latin typeface="Aptos" panose="020B0004020202020204" pitchFamily="34" charset="0"/>
                <a:cs typeface="Arial" panose="020B0604020202020204" pitchFamily="34" charset="0"/>
              </a:rPr>
              <a:t>Listed on the Hyderabad Stock Exchange</a:t>
            </a:r>
            <a:endParaRPr lang="en-US" sz="1100" spc="50" dirty="0">
              <a:solidFill>
                <a:srgbClr val="3466C0"/>
              </a:solidFill>
              <a:latin typeface="Aptos" panose="020B0004020202020204" pitchFamily="34" charset="0"/>
              <a:cs typeface="Arial" panose="020B0604020202020204" pitchFamily="34" charset="0"/>
            </a:endParaRPr>
          </a:p>
        </p:txBody>
      </p:sp>
      <p:sp>
        <p:nvSpPr>
          <p:cNvPr id="28" name="Rectangle 27">
            <a:extLst>
              <a:ext uri="{FF2B5EF4-FFF2-40B4-BE49-F238E27FC236}">
                <a16:creationId xmlns:a16="http://schemas.microsoft.com/office/drawing/2014/main" id="{D2FC64C6-5D8F-455E-AB44-021684B50E57}"/>
              </a:ext>
            </a:extLst>
          </p:cNvPr>
          <p:cNvSpPr/>
          <p:nvPr/>
        </p:nvSpPr>
        <p:spPr>
          <a:xfrm>
            <a:off x="2634270" y="3526585"/>
            <a:ext cx="1007854" cy="600164"/>
          </a:xfrm>
          <a:prstGeom prst="rect">
            <a:avLst/>
          </a:prstGeom>
        </p:spPr>
        <p:txBody>
          <a:bodyPr wrap="square">
            <a:spAutoFit/>
          </a:bodyPr>
          <a:lstStyle/>
          <a:p>
            <a:r>
              <a:rPr lang="en-IN" sz="1100" spc="50" dirty="0">
                <a:solidFill>
                  <a:srgbClr val="3466C0"/>
                </a:solidFill>
                <a:latin typeface="Aptos" panose="020B0004020202020204" pitchFamily="34" charset="0"/>
                <a:cs typeface="Arial" panose="020B0604020202020204" pitchFamily="34" charset="0"/>
              </a:rPr>
              <a:t>Merger of Triton with Granules</a:t>
            </a:r>
            <a:endParaRPr lang="en-US" sz="1100" spc="50" dirty="0">
              <a:solidFill>
                <a:srgbClr val="3466C0"/>
              </a:solidFill>
              <a:latin typeface="Aptos" panose="020B0004020202020204" pitchFamily="34" charset="0"/>
              <a:cs typeface="Arial" panose="020B0604020202020204" pitchFamily="34" charset="0"/>
            </a:endParaRPr>
          </a:p>
        </p:txBody>
      </p:sp>
      <p:cxnSp>
        <p:nvCxnSpPr>
          <p:cNvPr id="29" name="Straight Arrow Connector 28">
            <a:extLst>
              <a:ext uri="{FF2B5EF4-FFF2-40B4-BE49-F238E27FC236}">
                <a16:creationId xmlns:a16="http://schemas.microsoft.com/office/drawing/2014/main" id="{B26236CB-0531-4EE4-874A-27C6D8B2B5FB}"/>
              </a:ext>
            </a:extLst>
          </p:cNvPr>
          <p:cNvCxnSpPr>
            <a:cxnSpLocks/>
            <a:stCxn id="10" idx="2"/>
          </p:cNvCxnSpPr>
          <p:nvPr/>
        </p:nvCxnSpPr>
        <p:spPr>
          <a:xfrm flipH="1">
            <a:off x="3704475" y="2344002"/>
            <a:ext cx="2355" cy="4751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6B8D2481-2778-4283-B4E3-E61688A9623E}"/>
              </a:ext>
            </a:extLst>
          </p:cNvPr>
          <p:cNvSpPr/>
          <p:nvPr/>
        </p:nvSpPr>
        <p:spPr>
          <a:xfrm>
            <a:off x="3195409" y="2819164"/>
            <a:ext cx="808942" cy="430887"/>
          </a:xfrm>
          <a:prstGeom prst="rect">
            <a:avLst/>
          </a:prstGeom>
        </p:spPr>
        <p:txBody>
          <a:bodyPr wrap="square">
            <a:spAutoFit/>
          </a:bodyPr>
          <a:lstStyle/>
          <a:p>
            <a:r>
              <a:rPr lang="en-IN" sz="1100" spc="50" dirty="0">
                <a:solidFill>
                  <a:srgbClr val="3466C0"/>
                </a:solidFill>
                <a:latin typeface="Aptos" panose="020B0004020202020204" pitchFamily="34" charset="0"/>
                <a:cs typeface="Arial" panose="020B0604020202020204" pitchFamily="34" charset="0"/>
              </a:rPr>
              <a:t>Listed on </a:t>
            </a:r>
            <a:br>
              <a:rPr lang="en-IN" sz="1100" spc="50" dirty="0">
                <a:solidFill>
                  <a:srgbClr val="3466C0"/>
                </a:solidFill>
                <a:latin typeface="Aptos" panose="020B0004020202020204" pitchFamily="34" charset="0"/>
                <a:cs typeface="Arial" panose="020B0604020202020204" pitchFamily="34" charset="0"/>
              </a:rPr>
            </a:br>
            <a:r>
              <a:rPr lang="en-IN" sz="1100" spc="50" dirty="0">
                <a:solidFill>
                  <a:srgbClr val="3466C0"/>
                </a:solidFill>
                <a:latin typeface="Aptos" panose="020B0004020202020204" pitchFamily="34" charset="0"/>
                <a:cs typeface="Arial" panose="020B0604020202020204" pitchFamily="34" charset="0"/>
              </a:rPr>
              <a:t>the BSE</a:t>
            </a:r>
            <a:endParaRPr lang="en-US" sz="1100" spc="50" dirty="0">
              <a:solidFill>
                <a:srgbClr val="3466C0"/>
              </a:solidFill>
              <a:latin typeface="Aptos" panose="020B0004020202020204" pitchFamily="34" charset="0"/>
              <a:cs typeface="Arial" panose="020B0604020202020204" pitchFamily="34" charset="0"/>
            </a:endParaRPr>
          </a:p>
        </p:txBody>
      </p:sp>
      <p:cxnSp>
        <p:nvCxnSpPr>
          <p:cNvPr id="31" name="Straight Arrow Connector 30">
            <a:extLst>
              <a:ext uri="{FF2B5EF4-FFF2-40B4-BE49-F238E27FC236}">
                <a16:creationId xmlns:a16="http://schemas.microsoft.com/office/drawing/2014/main" id="{5D495B89-34A2-48A6-8D07-D28884B856CE}"/>
              </a:ext>
            </a:extLst>
          </p:cNvPr>
          <p:cNvCxnSpPr>
            <a:cxnSpLocks/>
            <a:stCxn id="13" idx="2"/>
          </p:cNvCxnSpPr>
          <p:nvPr/>
        </p:nvCxnSpPr>
        <p:spPr>
          <a:xfrm>
            <a:off x="5399766" y="2344002"/>
            <a:ext cx="14169" cy="457979"/>
          </a:xfrm>
          <a:prstGeom prst="straightConnector1">
            <a:avLst/>
          </a:prstGeom>
          <a:ln>
            <a:tailEnd type="arrow"/>
          </a:ln>
        </p:spPr>
        <p:style>
          <a:lnRef idx="1">
            <a:schemeClr val="accent3"/>
          </a:lnRef>
          <a:fillRef idx="0">
            <a:schemeClr val="accent3"/>
          </a:fillRef>
          <a:effectRef idx="0">
            <a:schemeClr val="accent3"/>
          </a:effectRef>
          <a:fontRef idx="minor">
            <a:schemeClr val="tx1"/>
          </a:fontRef>
        </p:style>
      </p:cxnSp>
      <p:sp>
        <p:nvSpPr>
          <p:cNvPr id="32" name="Rectangle 31">
            <a:extLst>
              <a:ext uri="{FF2B5EF4-FFF2-40B4-BE49-F238E27FC236}">
                <a16:creationId xmlns:a16="http://schemas.microsoft.com/office/drawing/2014/main" id="{C3953A23-1D09-46E7-A295-A4B6CBBA3317}"/>
              </a:ext>
            </a:extLst>
          </p:cNvPr>
          <p:cNvSpPr/>
          <p:nvPr/>
        </p:nvSpPr>
        <p:spPr>
          <a:xfrm>
            <a:off x="3378350" y="4774444"/>
            <a:ext cx="1785029" cy="1107996"/>
          </a:xfrm>
          <a:prstGeom prst="rect">
            <a:avLst/>
          </a:prstGeom>
        </p:spPr>
        <p:txBody>
          <a:bodyPr wrap="square">
            <a:spAutoFit/>
          </a:bodyPr>
          <a:lstStyle/>
          <a:p>
            <a:r>
              <a:rPr lang="en-US" sz="1100" spc="50" dirty="0">
                <a:solidFill>
                  <a:schemeClr val="tx1">
                    <a:lumMod val="85000"/>
                    <a:lumOff val="15000"/>
                  </a:schemeClr>
                </a:solidFill>
                <a:latin typeface="Aptos" panose="020B0004020202020204" pitchFamily="34" charset="0"/>
                <a:cs typeface="Arial" panose="020B0604020202020204" pitchFamily="34" charset="0"/>
              </a:rPr>
              <a:t>Set up a large-volume</a:t>
            </a:r>
          </a:p>
          <a:p>
            <a:r>
              <a:rPr lang="en-US" sz="1100" spc="50" dirty="0">
                <a:solidFill>
                  <a:schemeClr val="tx1">
                    <a:lumMod val="85000"/>
                    <a:lumOff val="15000"/>
                  </a:schemeClr>
                </a:solidFill>
                <a:latin typeface="Aptos" panose="020B0004020202020204" pitchFamily="34" charset="0"/>
                <a:cs typeface="Arial" panose="020B0604020202020204" pitchFamily="34" charset="0"/>
              </a:rPr>
              <a:t>PFI facility in Gagillapur</a:t>
            </a:r>
          </a:p>
          <a:p>
            <a:r>
              <a:rPr lang="en-US" sz="1100" spc="50" dirty="0">
                <a:solidFill>
                  <a:schemeClr val="tx1">
                    <a:lumMod val="85000"/>
                    <a:lumOff val="15000"/>
                  </a:schemeClr>
                </a:solidFill>
                <a:latin typeface="Aptos" panose="020B0004020202020204" pitchFamily="34" charset="0"/>
                <a:cs typeface="Arial" panose="020B0604020202020204" pitchFamily="34" charset="0"/>
              </a:rPr>
              <a:t>and a wholly owned</a:t>
            </a:r>
          </a:p>
          <a:p>
            <a:r>
              <a:rPr lang="en-US" sz="1100" spc="50" dirty="0">
                <a:solidFill>
                  <a:schemeClr val="tx1">
                    <a:lumMod val="85000"/>
                    <a:lumOff val="15000"/>
                  </a:schemeClr>
                </a:solidFill>
                <a:latin typeface="Aptos" panose="020B0004020202020204" pitchFamily="34" charset="0"/>
                <a:cs typeface="Arial" panose="020B0604020202020204" pitchFamily="34" charset="0"/>
              </a:rPr>
              <a:t>subsidiary - Granules</a:t>
            </a:r>
          </a:p>
          <a:p>
            <a:r>
              <a:rPr lang="en-US" sz="1100" spc="50" dirty="0">
                <a:solidFill>
                  <a:schemeClr val="tx1">
                    <a:lumMod val="85000"/>
                    <a:lumOff val="15000"/>
                  </a:schemeClr>
                </a:solidFill>
                <a:latin typeface="Aptos" panose="020B0004020202020204" pitchFamily="34" charset="0"/>
                <a:cs typeface="Arial" panose="020B0604020202020204" pitchFamily="34" charset="0"/>
              </a:rPr>
              <a:t>USA for marketing in</a:t>
            </a:r>
          </a:p>
          <a:p>
            <a:r>
              <a:rPr lang="en-US" sz="1100" spc="50" dirty="0">
                <a:solidFill>
                  <a:schemeClr val="tx1">
                    <a:lumMod val="85000"/>
                    <a:lumOff val="15000"/>
                  </a:schemeClr>
                </a:solidFill>
                <a:latin typeface="Aptos" panose="020B0004020202020204" pitchFamily="34" charset="0"/>
                <a:cs typeface="Arial" panose="020B0604020202020204" pitchFamily="34" charset="0"/>
              </a:rPr>
              <a:t>the US</a:t>
            </a:r>
          </a:p>
        </p:txBody>
      </p:sp>
      <p:sp>
        <p:nvSpPr>
          <p:cNvPr id="33" name="Rectangle 32">
            <a:extLst>
              <a:ext uri="{FF2B5EF4-FFF2-40B4-BE49-F238E27FC236}">
                <a16:creationId xmlns:a16="http://schemas.microsoft.com/office/drawing/2014/main" id="{6AA6382A-1986-4BAD-AF30-AC60CCEEADE5}"/>
              </a:ext>
            </a:extLst>
          </p:cNvPr>
          <p:cNvSpPr/>
          <p:nvPr/>
        </p:nvSpPr>
        <p:spPr>
          <a:xfrm>
            <a:off x="4385669" y="3681155"/>
            <a:ext cx="1108639" cy="769441"/>
          </a:xfrm>
          <a:prstGeom prst="rect">
            <a:avLst/>
          </a:prstGeom>
        </p:spPr>
        <p:txBody>
          <a:bodyPr wrap="square">
            <a:spAutoFit/>
          </a:bodyPr>
          <a:lstStyle/>
          <a:p>
            <a:pPr>
              <a:spcAft>
                <a:spcPts val="300"/>
              </a:spcAft>
            </a:pPr>
            <a:r>
              <a:rPr lang="en-IN" sz="1100" spc="50" dirty="0">
                <a:solidFill>
                  <a:schemeClr val="tx1">
                    <a:lumMod val="85000"/>
                    <a:lumOff val="15000"/>
                  </a:schemeClr>
                </a:solidFill>
                <a:latin typeface="Aptos" panose="020B0004020202020204" pitchFamily="34" charset="0"/>
                <a:cs typeface="Arial" panose="020B0604020202020204" pitchFamily="34" charset="0"/>
              </a:rPr>
              <a:t>New Paracetamol plant at Bonthapally</a:t>
            </a:r>
          </a:p>
        </p:txBody>
      </p:sp>
      <p:sp>
        <p:nvSpPr>
          <p:cNvPr id="34" name="Rectangle 33">
            <a:extLst>
              <a:ext uri="{FF2B5EF4-FFF2-40B4-BE49-F238E27FC236}">
                <a16:creationId xmlns:a16="http://schemas.microsoft.com/office/drawing/2014/main" id="{D4914924-7532-48E8-A886-AD10E79B853C}"/>
              </a:ext>
            </a:extLst>
          </p:cNvPr>
          <p:cNvSpPr/>
          <p:nvPr/>
        </p:nvSpPr>
        <p:spPr>
          <a:xfrm>
            <a:off x="4951202" y="2825240"/>
            <a:ext cx="1173480" cy="769441"/>
          </a:xfrm>
          <a:prstGeom prst="rect">
            <a:avLst/>
          </a:prstGeom>
        </p:spPr>
        <p:txBody>
          <a:bodyPr wrap="square">
            <a:spAutoFit/>
          </a:bodyPr>
          <a:lstStyle/>
          <a:p>
            <a:r>
              <a:rPr lang="en-IN" sz="1100" spc="50" dirty="0">
                <a:solidFill>
                  <a:schemeClr val="tx1">
                    <a:lumMod val="85000"/>
                    <a:lumOff val="15000"/>
                  </a:schemeClr>
                </a:solidFill>
                <a:latin typeface="Aptos" panose="020B0004020202020204" pitchFamily="34" charset="0"/>
                <a:cs typeface="Arial" panose="020B0604020202020204" pitchFamily="34" charset="0"/>
              </a:rPr>
              <a:t>Entered the Finished dosage segment</a:t>
            </a:r>
            <a:endParaRPr lang="en-US" sz="1100" spc="50" dirty="0">
              <a:solidFill>
                <a:schemeClr val="tx1">
                  <a:lumMod val="85000"/>
                  <a:lumOff val="15000"/>
                </a:schemeClr>
              </a:solidFill>
              <a:latin typeface="Aptos" panose="020B0004020202020204" pitchFamily="34" charset="0"/>
              <a:cs typeface="Arial" panose="020B0604020202020204" pitchFamily="34" charset="0"/>
            </a:endParaRPr>
          </a:p>
        </p:txBody>
      </p:sp>
      <p:cxnSp>
        <p:nvCxnSpPr>
          <p:cNvPr id="35" name="Straight Arrow Connector 34">
            <a:extLst>
              <a:ext uri="{FF2B5EF4-FFF2-40B4-BE49-F238E27FC236}">
                <a16:creationId xmlns:a16="http://schemas.microsoft.com/office/drawing/2014/main" id="{E9E23585-B1F0-41D9-B040-A07A67B59E04}"/>
              </a:ext>
            </a:extLst>
          </p:cNvPr>
          <p:cNvCxnSpPr>
            <a:cxnSpLocks/>
            <a:stCxn id="16" idx="2"/>
          </p:cNvCxnSpPr>
          <p:nvPr/>
        </p:nvCxnSpPr>
        <p:spPr>
          <a:xfrm>
            <a:off x="6528390" y="2344002"/>
            <a:ext cx="21666" cy="1559418"/>
          </a:xfrm>
          <a:prstGeom prst="straightConnector1">
            <a:avLst/>
          </a:prstGeom>
          <a:ln>
            <a:tailEnd type="arrow"/>
          </a:ln>
        </p:spPr>
        <p:style>
          <a:lnRef idx="1">
            <a:schemeClr val="accent3"/>
          </a:lnRef>
          <a:fillRef idx="0">
            <a:schemeClr val="accent3"/>
          </a:fillRef>
          <a:effectRef idx="0">
            <a:schemeClr val="accent3"/>
          </a:effectRef>
          <a:fontRef idx="minor">
            <a:schemeClr val="tx1"/>
          </a:fontRef>
        </p:style>
      </p:cxnSp>
      <p:sp>
        <p:nvSpPr>
          <p:cNvPr id="36" name="Rectangle 35">
            <a:extLst>
              <a:ext uri="{FF2B5EF4-FFF2-40B4-BE49-F238E27FC236}">
                <a16:creationId xmlns:a16="http://schemas.microsoft.com/office/drawing/2014/main" id="{D98001B3-2EE8-4036-BB87-AFFA5E3A57D4}"/>
              </a:ext>
            </a:extLst>
          </p:cNvPr>
          <p:cNvSpPr/>
          <p:nvPr/>
        </p:nvSpPr>
        <p:spPr>
          <a:xfrm>
            <a:off x="5436855" y="4874081"/>
            <a:ext cx="1219199" cy="769441"/>
          </a:xfrm>
          <a:prstGeom prst="rect">
            <a:avLst/>
          </a:prstGeom>
        </p:spPr>
        <p:txBody>
          <a:bodyPr wrap="square">
            <a:spAutoFit/>
          </a:bodyPr>
          <a:lstStyle/>
          <a:p>
            <a:r>
              <a:rPr lang="en-IN" sz="1100" spc="50" dirty="0">
                <a:solidFill>
                  <a:schemeClr val="tx1">
                    <a:lumMod val="85000"/>
                    <a:lumOff val="15000"/>
                  </a:schemeClr>
                </a:solidFill>
                <a:latin typeface="Aptos" panose="020B0004020202020204" pitchFamily="34" charset="0"/>
                <a:cs typeface="Arial" panose="020B0604020202020204" pitchFamily="34" charset="0"/>
              </a:rPr>
              <a:t>Received USFDA approval for its first ANDA</a:t>
            </a:r>
            <a:endParaRPr lang="en-US" sz="1100" spc="50" dirty="0">
              <a:solidFill>
                <a:schemeClr val="tx1">
                  <a:lumMod val="85000"/>
                  <a:lumOff val="15000"/>
                </a:schemeClr>
              </a:solidFill>
              <a:latin typeface="Aptos" panose="020B0004020202020204" pitchFamily="34" charset="0"/>
              <a:cs typeface="Arial" panose="020B0604020202020204" pitchFamily="34" charset="0"/>
            </a:endParaRPr>
          </a:p>
        </p:txBody>
      </p:sp>
      <p:sp>
        <p:nvSpPr>
          <p:cNvPr id="38" name="Rectangle 37">
            <a:extLst>
              <a:ext uri="{FF2B5EF4-FFF2-40B4-BE49-F238E27FC236}">
                <a16:creationId xmlns:a16="http://schemas.microsoft.com/office/drawing/2014/main" id="{FD465267-3493-42FC-98C6-6A4A3E6000F9}"/>
              </a:ext>
            </a:extLst>
          </p:cNvPr>
          <p:cNvSpPr/>
          <p:nvPr/>
        </p:nvSpPr>
        <p:spPr>
          <a:xfrm>
            <a:off x="6039945" y="3933222"/>
            <a:ext cx="1085548" cy="769441"/>
          </a:xfrm>
          <a:prstGeom prst="rect">
            <a:avLst/>
          </a:prstGeom>
        </p:spPr>
        <p:txBody>
          <a:bodyPr wrap="square">
            <a:spAutoFit/>
          </a:bodyPr>
          <a:lstStyle/>
          <a:p>
            <a:r>
              <a:rPr lang="en-IN" sz="1100" spc="50" dirty="0">
                <a:solidFill>
                  <a:schemeClr val="tx1">
                    <a:lumMod val="85000"/>
                    <a:lumOff val="15000"/>
                  </a:schemeClr>
                </a:solidFill>
                <a:latin typeface="Aptos" panose="020B0004020202020204" pitchFamily="34" charset="0"/>
                <a:cs typeface="Arial" panose="020B0604020202020204" pitchFamily="34" charset="0"/>
              </a:rPr>
              <a:t>Established 15,000 sqft R&amp;D facility in Hyderabad</a:t>
            </a:r>
            <a:endParaRPr lang="en-US" sz="1100" spc="50" dirty="0">
              <a:solidFill>
                <a:schemeClr val="tx1">
                  <a:lumMod val="85000"/>
                  <a:lumOff val="15000"/>
                </a:schemeClr>
              </a:solidFill>
              <a:latin typeface="Aptos" panose="020B0004020202020204" pitchFamily="34" charset="0"/>
              <a:cs typeface="Arial" panose="020B0604020202020204" pitchFamily="34" charset="0"/>
            </a:endParaRPr>
          </a:p>
        </p:txBody>
      </p:sp>
      <p:cxnSp>
        <p:nvCxnSpPr>
          <p:cNvPr id="39" name="Straight Arrow Connector 38">
            <a:extLst>
              <a:ext uri="{FF2B5EF4-FFF2-40B4-BE49-F238E27FC236}">
                <a16:creationId xmlns:a16="http://schemas.microsoft.com/office/drawing/2014/main" id="{BD4A648B-F9CE-4B07-AC61-B04F17CD73CD}"/>
              </a:ext>
            </a:extLst>
          </p:cNvPr>
          <p:cNvCxnSpPr>
            <a:cxnSpLocks/>
            <a:stCxn id="19" idx="2"/>
          </p:cNvCxnSpPr>
          <p:nvPr/>
        </p:nvCxnSpPr>
        <p:spPr>
          <a:xfrm>
            <a:off x="8221326" y="2344002"/>
            <a:ext cx="6822" cy="1490239"/>
          </a:xfrm>
          <a:prstGeom prst="straightConnector1">
            <a:avLst/>
          </a:prstGeom>
          <a:ln>
            <a:tailEnd type="arrow"/>
          </a:ln>
        </p:spPr>
        <p:style>
          <a:lnRef idx="1">
            <a:schemeClr val="accent6"/>
          </a:lnRef>
          <a:fillRef idx="0">
            <a:schemeClr val="accent6"/>
          </a:fillRef>
          <a:effectRef idx="0">
            <a:schemeClr val="accent6"/>
          </a:effectRef>
          <a:fontRef idx="minor">
            <a:schemeClr val="tx1"/>
          </a:fontRef>
        </p:style>
      </p:cxnSp>
      <p:sp>
        <p:nvSpPr>
          <p:cNvPr id="40" name="Rectangle 39">
            <a:extLst>
              <a:ext uri="{FF2B5EF4-FFF2-40B4-BE49-F238E27FC236}">
                <a16:creationId xmlns:a16="http://schemas.microsoft.com/office/drawing/2014/main" id="{0885412F-ED25-4470-9204-47C85232419F}"/>
              </a:ext>
            </a:extLst>
          </p:cNvPr>
          <p:cNvSpPr/>
          <p:nvPr>
            <p:custDataLst>
              <p:tags r:id="rId1"/>
            </p:custDataLst>
          </p:nvPr>
        </p:nvSpPr>
        <p:spPr>
          <a:xfrm>
            <a:off x="6542386" y="2726380"/>
            <a:ext cx="1227304" cy="1107996"/>
          </a:xfrm>
          <a:prstGeom prst="rect">
            <a:avLst/>
          </a:prstGeom>
        </p:spPr>
        <p:txBody>
          <a:bodyPr wrap="square">
            <a:spAutoFit/>
          </a:bodyPr>
          <a:lstStyle/>
          <a:p>
            <a:r>
              <a:rPr lang="en-IN" sz="1100" spc="50" dirty="0">
                <a:solidFill>
                  <a:schemeClr val="tx1">
                    <a:lumMod val="85000"/>
                    <a:lumOff val="15000"/>
                  </a:schemeClr>
                </a:solidFill>
                <a:latin typeface="Aptos" panose="020B0004020202020204" pitchFamily="34" charset="0"/>
                <a:cs typeface="Arial" panose="020B0604020202020204" pitchFamily="34" charset="0"/>
              </a:rPr>
              <a:t>Acquired API manufacturing facility in Vizag to further strengthen the API portfolio</a:t>
            </a:r>
          </a:p>
        </p:txBody>
      </p:sp>
      <p:sp>
        <p:nvSpPr>
          <p:cNvPr id="41" name="Rectangle 40">
            <a:extLst>
              <a:ext uri="{FF2B5EF4-FFF2-40B4-BE49-F238E27FC236}">
                <a16:creationId xmlns:a16="http://schemas.microsoft.com/office/drawing/2014/main" id="{60C2CF56-F9DE-4C1B-84C4-2ED1CC9CD135}"/>
              </a:ext>
            </a:extLst>
          </p:cNvPr>
          <p:cNvSpPr/>
          <p:nvPr/>
        </p:nvSpPr>
        <p:spPr>
          <a:xfrm>
            <a:off x="7674821" y="3857063"/>
            <a:ext cx="1623158" cy="938719"/>
          </a:xfrm>
          <a:prstGeom prst="rect">
            <a:avLst/>
          </a:prstGeom>
        </p:spPr>
        <p:txBody>
          <a:bodyPr wrap="square">
            <a:spAutoFit/>
          </a:bodyPr>
          <a:lstStyle/>
          <a:p>
            <a:r>
              <a:rPr lang="en-IN" sz="1100" spc="50" dirty="0">
                <a:solidFill>
                  <a:srgbClr val="63A436"/>
                </a:solidFill>
                <a:latin typeface="Aptos" panose="020B0004020202020204" pitchFamily="34" charset="0"/>
                <a:cs typeface="Arial" panose="020B0604020202020204" pitchFamily="34" charset="0"/>
              </a:rPr>
              <a:t>Entered OTC business in US through Granules Consumer Healthcare</a:t>
            </a:r>
            <a:endParaRPr lang="en-US" sz="1100" spc="50" dirty="0">
              <a:solidFill>
                <a:srgbClr val="63A436"/>
              </a:solidFill>
              <a:latin typeface="Aptos" panose="020B0004020202020204" pitchFamily="34" charset="0"/>
              <a:cs typeface="Arial" panose="020B0604020202020204" pitchFamily="34" charset="0"/>
            </a:endParaRPr>
          </a:p>
        </p:txBody>
      </p:sp>
      <p:sp>
        <p:nvSpPr>
          <p:cNvPr id="42" name="Rectangle 41">
            <a:extLst>
              <a:ext uri="{FF2B5EF4-FFF2-40B4-BE49-F238E27FC236}">
                <a16:creationId xmlns:a16="http://schemas.microsoft.com/office/drawing/2014/main" id="{154E8AED-6F9B-459A-BD34-5AC61EAE702F}"/>
              </a:ext>
            </a:extLst>
          </p:cNvPr>
          <p:cNvSpPr/>
          <p:nvPr/>
        </p:nvSpPr>
        <p:spPr>
          <a:xfrm>
            <a:off x="8246512" y="2742021"/>
            <a:ext cx="1262260" cy="1107996"/>
          </a:xfrm>
          <a:prstGeom prst="rect">
            <a:avLst/>
          </a:prstGeom>
        </p:spPr>
        <p:txBody>
          <a:bodyPr wrap="square">
            <a:spAutoFit/>
          </a:bodyPr>
          <a:lstStyle/>
          <a:p>
            <a:r>
              <a:rPr lang="en-US" sz="1100" spc="50" dirty="0">
                <a:solidFill>
                  <a:srgbClr val="63A436"/>
                </a:solidFill>
                <a:latin typeface="Aptos" panose="020B0004020202020204" pitchFamily="34" charset="0"/>
                <a:cs typeface="Arial" panose="020B0604020202020204" pitchFamily="34" charset="0"/>
              </a:rPr>
              <a:t>Laid down the foundation for its Oncology API and OSD Plant in Vizag</a:t>
            </a:r>
          </a:p>
          <a:p>
            <a:endParaRPr lang="en-US" sz="1100" spc="50" dirty="0">
              <a:solidFill>
                <a:srgbClr val="63A436"/>
              </a:solidFill>
              <a:latin typeface="Aptos" panose="020B0004020202020204" pitchFamily="34" charset="0"/>
              <a:cs typeface="Arial" panose="020B0604020202020204" pitchFamily="34" charset="0"/>
            </a:endParaRPr>
          </a:p>
        </p:txBody>
      </p:sp>
      <p:cxnSp>
        <p:nvCxnSpPr>
          <p:cNvPr id="43" name="Straight Arrow Connector 42">
            <a:extLst>
              <a:ext uri="{FF2B5EF4-FFF2-40B4-BE49-F238E27FC236}">
                <a16:creationId xmlns:a16="http://schemas.microsoft.com/office/drawing/2014/main" id="{F8FFC624-4F33-46C6-8475-53C0321F5286}"/>
              </a:ext>
            </a:extLst>
          </p:cNvPr>
          <p:cNvCxnSpPr>
            <a:cxnSpLocks/>
            <a:stCxn id="5" idx="2"/>
          </p:cNvCxnSpPr>
          <p:nvPr/>
        </p:nvCxnSpPr>
        <p:spPr>
          <a:xfrm>
            <a:off x="320958" y="2349940"/>
            <a:ext cx="34455" cy="252414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2D434B04-0065-47AF-834C-3E260E06F4BC}"/>
              </a:ext>
            </a:extLst>
          </p:cNvPr>
          <p:cNvCxnSpPr>
            <a:cxnSpLocks/>
            <a:stCxn id="8" idx="2"/>
          </p:cNvCxnSpPr>
          <p:nvPr/>
        </p:nvCxnSpPr>
        <p:spPr>
          <a:xfrm>
            <a:off x="2578206" y="2344002"/>
            <a:ext cx="14169" cy="19739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0ADA9AC4-4EA9-428C-9CD5-AB4A58BF9204}"/>
              </a:ext>
            </a:extLst>
          </p:cNvPr>
          <p:cNvCxnSpPr>
            <a:cxnSpLocks/>
            <a:stCxn id="11" idx="2"/>
          </p:cNvCxnSpPr>
          <p:nvPr/>
        </p:nvCxnSpPr>
        <p:spPr>
          <a:xfrm>
            <a:off x="4271142" y="2344002"/>
            <a:ext cx="854" cy="2358661"/>
          </a:xfrm>
          <a:prstGeom prst="straightConnector1">
            <a:avLst/>
          </a:prstGeom>
          <a:ln>
            <a:tailEnd type="arrow"/>
          </a:ln>
        </p:spPr>
        <p:style>
          <a:lnRef idx="1">
            <a:schemeClr val="accent3"/>
          </a:lnRef>
          <a:fillRef idx="0">
            <a:schemeClr val="accent3"/>
          </a:fillRef>
          <a:effectRef idx="0">
            <a:schemeClr val="accent3"/>
          </a:effectRef>
          <a:fontRef idx="minor">
            <a:schemeClr val="tx1"/>
          </a:fontRef>
        </p:style>
      </p:cxnSp>
      <p:cxnSp>
        <p:nvCxnSpPr>
          <p:cNvPr id="46" name="Straight Arrow Connector 45">
            <a:extLst>
              <a:ext uri="{FF2B5EF4-FFF2-40B4-BE49-F238E27FC236}">
                <a16:creationId xmlns:a16="http://schemas.microsoft.com/office/drawing/2014/main" id="{5821DDB4-F082-4DD2-84D9-38018B21F91A}"/>
              </a:ext>
            </a:extLst>
          </p:cNvPr>
          <p:cNvCxnSpPr>
            <a:cxnSpLocks/>
            <a:stCxn id="14" idx="2"/>
          </p:cNvCxnSpPr>
          <p:nvPr/>
        </p:nvCxnSpPr>
        <p:spPr>
          <a:xfrm flipH="1">
            <a:off x="5953935" y="2344002"/>
            <a:ext cx="10143" cy="2530079"/>
          </a:xfrm>
          <a:prstGeom prst="straightConnector1">
            <a:avLst/>
          </a:prstGeom>
          <a:ln>
            <a:tailEnd type="arrow"/>
          </a:ln>
        </p:spPr>
        <p:style>
          <a:lnRef idx="1">
            <a:schemeClr val="accent3"/>
          </a:lnRef>
          <a:fillRef idx="0">
            <a:schemeClr val="accent3"/>
          </a:fillRef>
          <a:effectRef idx="0">
            <a:schemeClr val="accent3"/>
          </a:effectRef>
          <a:fontRef idx="minor">
            <a:schemeClr val="tx1"/>
          </a:fontRef>
        </p:style>
      </p:cxnSp>
      <p:cxnSp>
        <p:nvCxnSpPr>
          <p:cNvPr id="47" name="Straight Arrow Connector 46">
            <a:extLst>
              <a:ext uri="{FF2B5EF4-FFF2-40B4-BE49-F238E27FC236}">
                <a16:creationId xmlns:a16="http://schemas.microsoft.com/office/drawing/2014/main" id="{A58CF8EE-1596-4049-80BA-9F11B4351E4C}"/>
              </a:ext>
            </a:extLst>
          </p:cNvPr>
          <p:cNvCxnSpPr>
            <a:cxnSpLocks/>
            <a:stCxn id="17" idx="2"/>
          </p:cNvCxnSpPr>
          <p:nvPr/>
        </p:nvCxnSpPr>
        <p:spPr>
          <a:xfrm>
            <a:off x="7092702" y="2344002"/>
            <a:ext cx="14169" cy="377928"/>
          </a:xfrm>
          <a:prstGeom prst="straightConnector1">
            <a:avLst/>
          </a:prstGeom>
          <a:ln>
            <a:tailEnd type="arrow"/>
          </a:ln>
        </p:spPr>
        <p:style>
          <a:lnRef idx="1">
            <a:schemeClr val="accent3"/>
          </a:lnRef>
          <a:fillRef idx="0">
            <a:schemeClr val="accent3"/>
          </a:fillRef>
          <a:effectRef idx="0">
            <a:schemeClr val="accent3"/>
          </a:effectRef>
          <a:fontRef idx="minor">
            <a:schemeClr val="tx1"/>
          </a:fontRef>
        </p:style>
      </p:cxnSp>
      <p:cxnSp>
        <p:nvCxnSpPr>
          <p:cNvPr id="48" name="Straight Arrow Connector 47">
            <a:extLst>
              <a:ext uri="{FF2B5EF4-FFF2-40B4-BE49-F238E27FC236}">
                <a16:creationId xmlns:a16="http://schemas.microsoft.com/office/drawing/2014/main" id="{B56E6996-4E50-4EC2-BF25-FADF6D713862}"/>
              </a:ext>
            </a:extLst>
          </p:cNvPr>
          <p:cNvCxnSpPr>
            <a:cxnSpLocks/>
            <a:stCxn id="20" idx="2"/>
          </p:cNvCxnSpPr>
          <p:nvPr/>
        </p:nvCxnSpPr>
        <p:spPr>
          <a:xfrm flipH="1">
            <a:off x="8785631" y="2344002"/>
            <a:ext cx="7" cy="355966"/>
          </a:xfrm>
          <a:prstGeom prst="straightConnector1">
            <a:avLst/>
          </a:prstGeom>
          <a:ln>
            <a:tailEnd type="arrow"/>
          </a:ln>
        </p:spPr>
        <p:style>
          <a:lnRef idx="1">
            <a:schemeClr val="accent6"/>
          </a:lnRef>
          <a:fillRef idx="0">
            <a:schemeClr val="accent6"/>
          </a:fillRef>
          <a:effectRef idx="0">
            <a:schemeClr val="accent6"/>
          </a:effectRef>
          <a:fontRef idx="minor">
            <a:schemeClr val="tx1"/>
          </a:fontRef>
        </p:style>
      </p:cxnSp>
      <p:cxnSp>
        <p:nvCxnSpPr>
          <p:cNvPr id="49" name="Straight Arrow Connector 48">
            <a:extLst>
              <a:ext uri="{FF2B5EF4-FFF2-40B4-BE49-F238E27FC236}">
                <a16:creationId xmlns:a16="http://schemas.microsoft.com/office/drawing/2014/main" id="{F175A018-B300-409D-8B10-805C6CF3FCF8}"/>
              </a:ext>
            </a:extLst>
          </p:cNvPr>
          <p:cNvCxnSpPr>
            <a:cxnSpLocks/>
            <a:stCxn id="6" idx="2"/>
          </p:cNvCxnSpPr>
          <p:nvPr/>
        </p:nvCxnSpPr>
        <p:spPr>
          <a:xfrm flipH="1">
            <a:off x="869430" y="2344002"/>
            <a:ext cx="15840" cy="17333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75955242-35EA-46B0-9617-5F75C8F6FA21}"/>
              </a:ext>
            </a:extLst>
          </p:cNvPr>
          <p:cNvCxnSpPr>
            <a:cxnSpLocks/>
            <a:stCxn id="9" idx="2"/>
          </p:cNvCxnSpPr>
          <p:nvPr/>
        </p:nvCxnSpPr>
        <p:spPr>
          <a:xfrm flipH="1">
            <a:off x="3132827" y="2344002"/>
            <a:ext cx="9691" cy="112072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6C71382B-4782-48A3-B683-49E2CAC8F2DA}"/>
              </a:ext>
            </a:extLst>
          </p:cNvPr>
          <p:cNvCxnSpPr>
            <a:cxnSpLocks/>
            <a:stCxn id="12" idx="2"/>
          </p:cNvCxnSpPr>
          <p:nvPr/>
        </p:nvCxnSpPr>
        <p:spPr>
          <a:xfrm>
            <a:off x="4835454" y="2344002"/>
            <a:ext cx="24312" cy="1326127"/>
          </a:xfrm>
          <a:prstGeom prst="straightConnector1">
            <a:avLst/>
          </a:prstGeom>
          <a:ln>
            <a:tailEnd type="arrow"/>
          </a:ln>
        </p:spPr>
        <p:style>
          <a:lnRef idx="1">
            <a:schemeClr val="accent3"/>
          </a:lnRef>
          <a:fillRef idx="0">
            <a:schemeClr val="accent3"/>
          </a:fillRef>
          <a:effectRef idx="0">
            <a:schemeClr val="accent3"/>
          </a:effectRef>
          <a:fontRef idx="minor">
            <a:schemeClr val="tx1"/>
          </a:fontRef>
        </p:style>
      </p:cxnSp>
      <p:cxnSp>
        <p:nvCxnSpPr>
          <p:cNvPr id="53" name="Straight Arrow Connector 52">
            <a:extLst>
              <a:ext uri="{FF2B5EF4-FFF2-40B4-BE49-F238E27FC236}">
                <a16:creationId xmlns:a16="http://schemas.microsoft.com/office/drawing/2014/main" id="{F1D9F1C0-FF8D-4457-B224-350E17D01DC8}"/>
              </a:ext>
            </a:extLst>
          </p:cNvPr>
          <p:cNvCxnSpPr>
            <a:cxnSpLocks/>
            <a:stCxn id="18" idx="2"/>
          </p:cNvCxnSpPr>
          <p:nvPr/>
        </p:nvCxnSpPr>
        <p:spPr>
          <a:xfrm>
            <a:off x="7657014" y="2344002"/>
            <a:ext cx="21666" cy="2530079"/>
          </a:xfrm>
          <a:prstGeom prst="straightConnector1">
            <a:avLst/>
          </a:prstGeom>
          <a:ln>
            <a:tailEnd type="arrow"/>
          </a:ln>
        </p:spPr>
        <p:style>
          <a:lnRef idx="1">
            <a:schemeClr val="accent6"/>
          </a:lnRef>
          <a:fillRef idx="0">
            <a:schemeClr val="accent6"/>
          </a:fillRef>
          <a:effectRef idx="0">
            <a:schemeClr val="accent6"/>
          </a:effectRef>
          <a:fontRef idx="minor">
            <a:schemeClr val="tx1"/>
          </a:fontRef>
        </p:style>
      </p:cxnSp>
      <p:cxnSp>
        <p:nvCxnSpPr>
          <p:cNvPr id="54" name="Straight Arrow Connector 53">
            <a:extLst>
              <a:ext uri="{FF2B5EF4-FFF2-40B4-BE49-F238E27FC236}">
                <a16:creationId xmlns:a16="http://schemas.microsoft.com/office/drawing/2014/main" id="{61AB4CE2-031A-4836-A1B5-4BD96B594DC5}"/>
              </a:ext>
            </a:extLst>
          </p:cNvPr>
          <p:cNvCxnSpPr>
            <a:cxnSpLocks/>
            <a:stCxn id="21" idx="2"/>
          </p:cNvCxnSpPr>
          <p:nvPr/>
        </p:nvCxnSpPr>
        <p:spPr>
          <a:xfrm flipH="1">
            <a:off x="9335106" y="2344002"/>
            <a:ext cx="14844" cy="2843390"/>
          </a:xfrm>
          <a:prstGeom prst="straightConnector1">
            <a:avLst/>
          </a:prstGeom>
          <a:ln>
            <a:tailEnd type="arrow"/>
          </a:ln>
        </p:spPr>
        <p:style>
          <a:lnRef idx="1">
            <a:schemeClr val="accent6"/>
          </a:lnRef>
          <a:fillRef idx="0">
            <a:schemeClr val="accent6"/>
          </a:fillRef>
          <a:effectRef idx="0">
            <a:schemeClr val="accent6"/>
          </a:effectRef>
          <a:fontRef idx="minor">
            <a:schemeClr val="tx1"/>
          </a:fontRef>
        </p:style>
      </p:cxnSp>
      <p:sp>
        <p:nvSpPr>
          <p:cNvPr id="57" name="Rectangle 56">
            <a:extLst>
              <a:ext uri="{FF2B5EF4-FFF2-40B4-BE49-F238E27FC236}">
                <a16:creationId xmlns:a16="http://schemas.microsoft.com/office/drawing/2014/main" id="{B836003B-FA47-46FA-A6A4-3B97DF299498}"/>
              </a:ext>
            </a:extLst>
          </p:cNvPr>
          <p:cNvSpPr/>
          <p:nvPr/>
        </p:nvSpPr>
        <p:spPr>
          <a:xfrm>
            <a:off x="8819443" y="5187392"/>
            <a:ext cx="1341453" cy="769441"/>
          </a:xfrm>
          <a:prstGeom prst="rect">
            <a:avLst/>
          </a:prstGeom>
        </p:spPr>
        <p:txBody>
          <a:bodyPr wrap="square">
            <a:spAutoFit/>
          </a:bodyPr>
          <a:lstStyle/>
          <a:p>
            <a:r>
              <a:rPr lang="en-IN" sz="1100" spc="50" dirty="0">
                <a:solidFill>
                  <a:srgbClr val="63A436"/>
                </a:solidFill>
                <a:latin typeface="Aptos" panose="020B0004020202020204" pitchFamily="34" charset="0"/>
                <a:cs typeface="Arial" panose="020B0604020202020204" pitchFamily="34" charset="0"/>
              </a:rPr>
              <a:t>Commenced </a:t>
            </a:r>
            <a:r>
              <a:rPr lang="en-US" sz="1100" spc="50" dirty="0">
                <a:solidFill>
                  <a:srgbClr val="63A436"/>
                </a:solidFill>
                <a:latin typeface="Aptos" panose="020B0004020202020204" pitchFamily="34" charset="0"/>
                <a:cs typeface="Arial" panose="020B0604020202020204" pitchFamily="34" charset="0"/>
              </a:rPr>
              <a:t>sale of Rx Products in the US under the GPI Label</a:t>
            </a:r>
          </a:p>
        </p:txBody>
      </p:sp>
      <p:sp>
        <p:nvSpPr>
          <p:cNvPr id="59" name="Rectangle 58">
            <a:extLst>
              <a:ext uri="{FF2B5EF4-FFF2-40B4-BE49-F238E27FC236}">
                <a16:creationId xmlns:a16="http://schemas.microsoft.com/office/drawing/2014/main" id="{25C4785B-FD5B-47E2-9ACE-8C967F0F5E92}"/>
              </a:ext>
            </a:extLst>
          </p:cNvPr>
          <p:cNvSpPr/>
          <p:nvPr/>
        </p:nvSpPr>
        <p:spPr>
          <a:xfrm>
            <a:off x="731375" y="1494085"/>
            <a:ext cx="2736000" cy="184666"/>
          </a:xfrm>
          <a:prstGeom prst="rect">
            <a:avLst/>
          </a:prstGeom>
        </p:spPr>
        <p:txBody>
          <a:bodyPr wrap="square" lIns="0" tIns="0" rIns="0" bIns="0" anchor="b">
            <a:spAutoFit/>
          </a:bodyPr>
          <a:lstStyle/>
          <a:p>
            <a:pPr marL="108000">
              <a:spcBef>
                <a:spcPts val="600"/>
              </a:spcBef>
              <a:buClr>
                <a:srgbClr val="4F81BD"/>
              </a:buClr>
              <a:defRPr/>
            </a:pPr>
            <a:r>
              <a:rPr lang="en-IN" sz="1200" b="1" kern="0" spc="50" dirty="0">
                <a:solidFill>
                  <a:srgbClr val="3669C3"/>
                </a:solidFill>
                <a:latin typeface="Aptos" panose="020B0004020202020204" pitchFamily="34" charset="0"/>
                <a:cs typeface="Arial" panose="020B0604020202020204" pitchFamily="34" charset="0"/>
              </a:rPr>
              <a:t>Formative years with focus on APIs</a:t>
            </a:r>
            <a:endParaRPr lang="en-US" sz="1200" b="1" kern="0" spc="50" dirty="0">
              <a:solidFill>
                <a:srgbClr val="3669C3"/>
              </a:solidFill>
              <a:latin typeface="Aptos" panose="020B0004020202020204" pitchFamily="34" charset="0"/>
              <a:cs typeface="Arial" panose="020B0604020202020204" pitchFamily="34" charset="0"/>
            </a:endParaRPr>
          </a:p>
        </p:txBody>
      </p:sp>
      <p:sp>
        <p:nvSpPr>
          <p:cNvPr id="60" name="Rectangle 59">
            <a:extLst>
              <a:ext uri="{FF2B5EF4-FFF2-40B4-BE49-F238E27FC236}">
                <a16:creationId xmlns:a16="http://schemas.microsoft.com/office/drawing/2014/main" id="{E6C7A940-E52E-469B-9B97-02E0ACD2CFD2}"/>
              </a:ext>
            </a:extLst>
          </p:cNvPr>
          <p:cNvSpPr/>
          <p:nvPr/>
        </p:nvSpPr>
        <p:spPr>
          <a:xfrm>
            <a:off x="4507225" y="1124753"/>
            <a:ext cx="2603139" cy="553998"/>
          </a:xfrm>
          <a:prstGeom prst="rect">
            <a:avLst/>
          </a:prstGeom>
        </p:spPr>
        <p:txBody>
          <a:bodyPr wrap="square" lIns="0" tIns="0" rIns="0" bIns="0" anchor="b">
            <a:spAutoFit/>
          </a:bodyPr>
          <a:lstStyle/>
          <a:p>
            <a:pPr marL="108000">
              <a:spcBef>
                <a:spcPts val="600"/>
              </a:spcBef>
              <a:buClr>
                <a:srgbClr val="4F81BD"/>
              </a:buClr>
            </a:pPr>
            <a:r>
              <a:rPr lang="en-IN" sz="1200" b="1" kern="0" spc="50" dirty="0">
                <a:solidFill>
                  <a:schemeClr val="tx1">
                    <a:lumMod val="75000"/>
                    <a:lumOff val="25000"/>
                  </a:schemeClr>
                </a:solidFill>
                <a:latin typeface="Aptos" panose="020B0004020202020204" pitchFamily="34" charset="0"/>
                <a:cs typeface="Arial" panose="020B0604020202020204" pitchFamily="34" charset="0"/>
              </a:rPr>
              <a:t>Global footprint, Established dominance in Core APIs + PFIs, Entered Finished dosages space</a:t>
            </a:r>
            <a:endParaRPr lang="en-US" sz="1200" b="1" kern="0" spc="50" dirty="0">
              <a:solidFill>
                <a:schemeClr val="tx1">
                  <a:lumMod val="75000"/>
                  <a:lumOff val="25000"/>
                </a:schemeClr>
              </a:solidFill>
              <a:latin typeface="Aptos" panose="020B0004020202020204" pitchFamily="34" charset="0"/>
              <a:cs typeface="Arial" panose="020B0604020202020204" pitchFamily="34" charset="0"/>
            </a:endParaRPr>
          </a:p>
        </p:txBody>
      </p:sp>
      <p:sp>
        <p:nvSpPr>
          <p:cNvPr id="61" name="Rectangle 60">
            <a:extLst>
              <a:ext uri="{FF2B5EF4-FFF2-40B4-BE49-F238E27FC236}">
                <a16:creationId xmlns:a16="http://schemas.microsoft.com/office/drawing/2014/main" id="{B7AC6267-D0BE-43C3-A97B-762F06FC27CD}"/>
              </a:ext>
            </a:extLst>
          </p:cNvPr>
          <p:cNvSpPr/>
          <p:nvPr/>
        </p:nvSpPr>
        <p:spPr>
          <a:xfrm>
            <a:off x="7494132" y="940087"/>
            <a:ext cx="2160000" cy="738664"/>
          </a:xfrm>
          <a:prstGeom prst="rect">
            <a:avLst/>
          </a:prstGeom>
        </p:spPr>
        <p:txBody>
          <a:bodyPr wrap="square" lIns="0" tIns="0" rIns="0" bIns="0" anchor="b">
            <a:spAutoFit/>
          </a:bodyPr>
          <a:lstStyle/>
          <a:p>
            <a:pPr marL="108000">
              <a:spcBef>
                <a:spcPts val="600"/>
              </a:spcBef>
              <a:buClr>
                <a:srgbClr val="4F81BD"/>
              </a:buClr>
            </a:pPr>
            <a:r>
              <a:rPr lang="en-IN" sz="1200" b="1" kern="0" spc="50" dirty="0">
                <a:solidFill>
                  <a:srgbClr val="66A839"/>
                </a:solidFill>
                <a:latin typeface="Aptos" panose="020B0004020202020204" pitchFamily="34" charset="0"/>
                <a:cs typeface="Arial" panose="020B0604020202020204" pitchFamily="34" charset="0"/>
              </a:rPr>
              <a:t>Expanding into complex generics + Strengthening market penetration in regulated markets</a:t>
            </a:r>
            <a:endParaRPr lang="en-US" sz="1200" b="1" kern="0" spc="50" dirty="0">
              <a:solidFill>
                <a:srgbClr val="66A839"/>
              </a:solidFill>
              <a:latin typeface="Aptos" panose="020B0004020202020204" pitchFamily="34" charset="0"/>
              <a:cs typeface="Arial" panose="020B0604020202020204" pitchFamily="34" charset="0"/>
            </a:endParaRPr>
          </a:p>
        </p:txBody>
      </p:sp>
      <p:cxnSp>
        <p:nvCxnSpPr>
          <p:cNvPr id="62" name="Straight Arrow Connector 61">
            <a:extLst>
              <a:ext uri="{FF2B5EF4-FFF2-40B4-BE49-F238E27FC236}">
                <a16:creationId xmlns:a16="http://schemas.microsoft.com/office/drawing/2014/main" id="{B0702B42-18C1-481C-B27F-948B061A7112}"/>
              </a:ext>
            </a:extLst>
          </p:cNvPr>
          <p:cNvCxnSpPr>
            <a:cxnSpLocks/>
          </p:cNvCxnSpPr>
          <p:nvPr/>
        </p:nvCxnSpPr>
        <p:spPr>
          <a:xfrm>
            <a:off x="230794" y="1765385"/>
            <a:ext cx="3571709" cy="0"/>
          </a:xfrm>
          <a:prstGeom prst="straightConnector1">
            <a:avLst/>
          </a:prstGeom>
          <a:ln w="635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C54A0E8C-5C4E-41D1-98D5-B2406403895C}"/>
              </a:ext>
            </a:extLst>
          </p:cNvPr>
          <p:cNvCxnSpPr/>
          <p:nvPr/>
        </p:nvCxnSpPr>
        <p:spPr>
          <a:xfrm>
            <a:off x="4090306" y="1761119"/>
            <a:ext cx="3168000" cy="1827"/>
          </a:xfrm>
          <a:prstGeom prst="straightConnector1">
            <a:avLst/>
          </a:prstGeom>
          <a:ln w="6350">
            <a:solidFill>
              <a:schemeClr val="bg1">
                <a:lumMod val="6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8B93F318-E39F-4CCC-9B09-A09916EF2EAE}"/>
              </a:ext>
            </a:extLst>
          </p:cNvPr>
          <p:cNvCxnSpPr>
            <a:cxnSpLocks/>
          </p:cNvCxnSpPr>
          <p:nvPr/>
        </p:nvCxnSpPr>
        <p:spPr>
          <a:xfrm>
            <a:off x="7470027" y="1761119"/>
            <a:ext cx="2082645" cy="0"/>
          </a:xfrm>
          <a:prstGeom prst="straightConnector1">
            <a:avLst/>
          </a:prstGeom>
          <a:ln w="6350">
            <a:solidFill>
              <a:schemeClr val="accent6"/>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726FC846-4573-4D6D-B4C6-F650FDD08BE1}"/>
              </a:ext>
            </a:extLst>
          </p:cNvPr>
          <p:cNvCxnSpPr>
            <a:cxnSpLocks/>
            <a:stCxn id="74" idx="2"/>
          </p:cNvCxnSpPr>
          <p:nvPr/>
        </p:nvCxnSpPr>
        <p:spPr>
          <a:xfrm flipH="1">
            <a:off x="9912115" y="2343707"/>
            <a:ext cx="2147" cy="1589515"/>
          </a:xfrm>
          <a:prstGeom prst="straightConnector1">
            <a:avLst/>
          </a:prstGeom>
          <a:ln>
            <a:solidFill>
              <a:schemeClr val="accent2"/>
            </a:solidFill>
            <a:tailEnd type="arrow"/>
          </a:ln>
        </p:spPr>
        <p:style>
          <a:lnRef idx="1">
            <a:schemeClr val="accent6"/>
          </a:lnRef>
          <a:fillRef idx="0">
            <a:schemeClr val="accent6"/>
          </a:fillRef>
          <a:effectRef idx="0">
            <a:schemeClr val="accent6"/>
          </a:effectRef>
          <a:fontRef idx="minor">
            <a:schemeClr val="tx1"/>
          </a:fontRef>
        </p:style>
      </p:cxnSp>
      <p:sp>
        <p:nvSpPr>
          <p:cNvPr id="67" name="Rectangle 66">
            <a:extLst>
              <a:ext uri="{FF2B5EF4-FFF2-40B4-BE49-F238E27FC236}">
                <a16:creationId xmlns:a16="http://schemas.microsoft.com/office/drawing/2014/main" id="{BB15A3B8-7AFD-406C-B87A-D7E3F7A05D40}"/>
              </a:ext>
            </a:extLst>
          </p:cNvPr>
          <p:cNvSpPr/>
          <p:nvPr/>
        </p:nvSpPr>
        <p:spPr>
          <a:xfrm>
            <a:off x="9437381" y="3986834"/>
            <a:ext cx="1411807" cy="938719"/>
          </a:xfrm>
          <a:prstGeom prst="rect">
            <a:avLst/>
          </a:prstGeom>
        </p:spPr>
        <p:txBody>
          <a:bodyPr wrap="square">
            <a:spAutoFit/>
          </a:bodyPr>
          <a:lstStyle/>
          <a:p>
            <a:r>
              <a:rPr lang="en-US" sz="1100" spc="50" dirty="0">
                <a:solidFill>
                  <a:srgbClr val="EE853D"/>
                </a:solidFill>
                <a:latin typeface="Aptos" panose="020B0004020202020204" pitchFamily="34" charset="0"/>
                <a:cs typeface="Arial" panose="020B0604020202020204" pitchFamily="34" charset="0"/>
              </a:rPr>
              <a:t>Setup the largest single manufacturing site for MUPS facility</a:t>
            </a:r>
          </a:p>
        </p:txBody>
      </p:sp>
      <p:sp>
        <p:nvSpPr>
          <p:cNvPr id="68" name="Rectangle 67">
            <a:extLst>
              <a:ext uri="{FF2B5EF4-FFF2-40B4-BE49-F238E27FC236}">
                <a16:creationId xmlns:a16="http://schemas.microsoft.com/office/drawing/2014/main" id="{19347B10-934F-48CF-BFCE-0BA7D7D81D6C}"/>
              </a:ext>
            </a:extLst>
          </p:cNvPr>
          <p:cNvSpPr/>
          <p:nvPr/>
        </p:nvSpPr>
        <p:spPr>
          <a:xfrm>
            <a:off x="9707265" y="1309419"/>
            <a:ext cx="1753360" cy="369332"/>
          </a:xfrm>
          <a:prstGeom prst="rect">
            <a:avLst/>
          </a:prstGeom>
        </p:spPr>
        <p:txBody>
          <a:bodyPr wrap="square" lIns="0" tIns="0" rIns="0" bIns="0" anchor="b">
            <a:spAutoFit/>
          </a:bodyPr>
          <a:lstStyle/>
          <a:p>
            <a:pPr marL="108000">
              <a:spcBef>
                <a:spcPts val="600"/>
              </a:spcBef>
              <a:buClr>
                <a:srgbClr val="4F81BD"/>
              </a:buClr>
            </a:pPr>
            <a:r>
              <a:rPr lang="en-IN" sz="1200" b="1" kern="0" spc="50" dirty="0">
                <a:solidFill>
                  <a:srgbClr val="EA701C"/>
                </a:solidFill>
                <a:latin typeface="Aptos" panose="020B0004020202020204" pitchFamily="34" charset="0"/>
                <a:cs typeface="Arial" panose="020B0604020202020204" pitchFamily="34" charset="0"/>
              </a:rPr>
              <a:t>Moving towards complex technology</a:t>
            </a:r>
            <a:endParaRPr lang="en-US" sz="1200" b="1" kern="0" spc="50" dirty="0">
              <a:solidFill>
                <a:srgbClr val="EA701C"/>
              </a:solidFill>
              <a:latin typeface="Aptos" panose="020B0004020202020204" pitchFamily="34" charset="0"/>
              <a:cs typeface="Arial" panose="020B0604020202020204" pitchFamily="34" charset="0"/>
            </a:endParaRPr>
          </a:p>
        </p:txBody>
      </p:sp>
      <p:cxnSp>
        <p:nvCxnSpPr>
          <p:cNvPr id="69" name="Straight Arrow Connector 68">
            <a:extLst>
              <a:ext uri="{FF2B5EF4-FFF2-40B4-BE49-F238E27FC236}">
                <a16:creationId xmlns:a16="http://schemas.microsoft.com/office/drawing/2014/main" id="{F875E1AE-7360-4B8E-82B0-7F9272FBF31F}"/>
              </a:ext>
            </a:extLst>
          </p:cNvPr>
          <p:cNvCxnSpPr>
            <a:cxnSpLocks/>
          </p:cNvCxnSpPr>
          <p:nvPr/>
        </p:nvCxnSpPr>
        <p:spPr>
          <a:xfrm>
            <a:off x="9651465" y="1765582"/>
            <a:ext cx="2233607"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4" name="Rounded Rectangle 48">
            <a:extLst>
              <a:ext uri="{FF2B5EF4-FFF2-40B4-BE49-F238E27FC236}">
                <a16:creationId xmlns:a16="http://schemas.microsoft.com/office/drawing/2014/main" id="{5E44A3B5-9D9C-4485-8EB7-15D5F848C4D4}"/>
              </a:ext>
            </a:extLst>
          </p:cNvPr>
          <p:cNvSpPr/>
          <p:nvPr>
            <p:custDataLst>
              <p:tags r:id="rId2"/>
            </p:custDataLst>
          </p:nvPr>
        </p:nvSpPr>
        <p:spPr>
          <a:xfrm>
            <a:off x="9644262" y="1962707"/>
            <a:ext cx="540000" cy="381000"/>
          </a:xfrm>
          <a:prstGeom prst="roundRect">
            <a:avLst/>
          </a:prstGeom>
          <a:ln/>
        </p:spPr>
        <p:style>
          <a:lnRef idx="1">
            <a:schemeClr val="accent2"/>
          </a:lnRef>
          <a:fillRef idx="3">
            <a:schemeClr val="accent2"/>
          </a:fillRef>
          <a:effectRef idx="2">
            <a:schemeClr val="accent2"/>
          </a:effectRef>
          <a:fontRef idx="minor">
            <a:schemeClr val="lt1"/>
          </a:fontRef>
        </p:style>
        <p:txBody>
          <a:bodyPr lIns="0" tIns="0" rIns="0" bIns="0" rtlCol="0" anchor="ctr"/>
          <a:lstStyle/>
          <a:p>
            <a:pPr algn="ctr"/>
            <a:r>
              <a:rPr lang="en-US" sz="1400" b="1" dirty="0">
                <a:solidFill>
                  <a:schemeClr val="bg1"/>
                </a:solidFill>
                <a:latin typeface="Aptos" panose="020B0004020202020204" pitchFamily="34" charset="0"/>
              </a:rPr>
              <a:t>2021</a:t>
            </a:r>
          </a:p>
        </p:txBody>
      </p:sp>
      <p:sp>
        <p:nvSpPr>
          <p:cNvPr id="15" name="Rounded Rectangle 48">
            <a:extLst>
              <a:ext uri="{FF2B5EF4-FFF2-40B4-BE49-F238E27FC236}">
                <a16:creationId xmlns:a16="http://schemas.microsoft.com/office/drawing/2014/main" id="{859430BA-EE83-2136-AD12-53FD53CC96AA}"/>
              </a:ext>
            </a:extLst>
          </p:cNvPr>
          <p:cNvSpPr/>
          <p:nvPr>
            <p:custDataLst>
              <p:tags r:id="rId3"/>
            </p:custDataLst>
          </p:nvPr>
        </p:nvSpPr>
        <p:spPr>
          <a:xfrm>
            <a:off x="10208574" y="1962707"/>
            <a:ext cx="540000" cy="381000"/>
          </a:xfrm>
          <a:prstGeom prst="roundRect">
            <a:avLst/>
          </a:prstGeom>
          <a:ln/>
        </p:spPr>
        <p:style>
          <a:lnRef idx="1">
            <a:schemeClr val="accent2"/>
          </a:lnRef>
          <a:fillRef idx="3">
            <a:schemeClr val="accent2"/>
          </a:fillRef>
          <a:effectRef idx="2">
            <a:schemeClr val="accent2"/>
          </a:effectRef>
          <a:fontRef idx="minor">
            <a:schemeClr val="lt1"/>
          </a:fontRef>
        </p:style>
        <p:txBody>
          <a:bodyPr lIns="0" tIns="0" rIns="0" bIns="0" rtlCol="0" anchor="ctr"/>
          <a:lstStyle/>
          <a:p>
            <a:pPr algn="ctr"/>
            <a:r>
              <a:rPr lang="en-US" sz="1400" b="1" dirty="0">
                <a:solidFill>
                  <a:schemeClr val="bg1"/>
                </a:solidFill>
                <a:latin typeface="Aptos" panose="020B0004020202020204" pitchFamily="34" charset="0"/>
              </a:rPr>
              <a:t>2022</a:t>
            </a:r>
          </a:p>
        </p:txBody>
      </p:sp>
      <p:cxnSp>
        <p:nvCxnSpPr>
          <p:cNvPr id="37" name="Straight Arrow Connector 36">
            <a:extLst>
              <a:ext uri="{FF2B5EF4-FFF2-40B4-BE49-F238E27FC236}">
                <a16:creationId xmlns:a16="http://schemas.microsoft.com/office/drawing/2014/main" id="{2F89919C-B0CE-1D36-6543-8895C0EC62F8}"/>
              </a:ext>
            </a:extLst>
          </p:cNvPr>
          <p:cNvCxnSpPr>
            <a:cxnSpLocks/>
            <a:stCxn id="15" idx="2"/>
          </p:cNvCxnSpPr>
          <p:nvPr/>
        </p:nvCxnSpPr>
        <p:spPr>
          <a:xfrm>
            <a:off x="10478574" y="2343707"/>
            <a:ext cx="0" cy="475457"/>
          </a:xfrm>
          <a:prstGeom prst="straightConnector1">
            <a:avLst/>
          </a:prstGeom>
          <a:ln>
            <a:solidFill>
              <a:schemeClr val="accent2"/>
            </a:solidFill>
            <a:tailEnd type="arrow"/>
          </a:ln>
        </p:spPr>
        <p:style>
          <a:lnRef idx="1">
            <a:schemeClr val="accent6"/>
          </a:lnRef>
          <a:fillRef idx="0">
            <a:schemeClr val="accent6"/>
          </a:fillRef>
          <a:effectRef idx="0">
            <a:schemeClr val="accent6"/>
          </a:effectRef>
          <a:fontRef idx="minor">
            <a:schemeClr val="tx1"/>
          </a:fontRef>
        </p:style>
      </p:cxnSp>
      <p:sp>
        <p:nvSpPr>
          <p:cNvPr id="52" name="Rectangle 51">
            <a:extLst>
              <a:ext uri="{FF2B5EF4-FFF2-40B4-BE49-F238E27FC236}">
                <a16:creationId xmlns:a16="http://schemas.microsoft.com/office/drawing/2014/main" id="{67C5708E-B0F7-25AA-247A-E978FB16ED9F}"/>
              </a:ext>
            </a:extLst>
          </p:cNvPr>
          <p:cNvSpPr/>
          <p:nvPr/>
        </p:nvSpPr>
        <p:spPr>
          <a:xfrm>
            <a:off x="9898919" y="2839974"/>
            <a:ext cx="1178300" cy="1107996"/>
          </a:xfrm>
          <a:prstGeom prst="rect">
            <a:avLst/>
          </a:prstGeom>
        </p:spPr>
        <p:txBody>
          <a:bodyPr wrap="square">
            <a:spAutoFit/>
          </a:bodyPr>
          <a:lstStyle/>
          <a:p>
            <a:r>
              <a:rPr lang="en-US" sz="1100" spc="50" dirty="0">
                <a:solidFill>
                  <a:srgbClr val="EE853D"/>
                </a:solidFill>
                <a:latin typeface="Aptos" panose="020B0004020202020204" pitchFamily="34" charset="0"/>
                <a:cs typeface="Arial" panose="020B0604020202020204" pitchFamily="34" charset="0"/>
              </a:rPr>
              <a:t>Acquired </a:t>
            </a:r>
            <a:r>
              <a:rPr lang="en-US" sz="1100" spc="50" dirty="0" err="1">
                <a:solidFill>
                  <a:srgbClr val="EE853D"/>
                </a:solidFill>
                <a:latin typeface="Aptos" panose="020B0004020202020204" pitchFamily="34" charset="0"/>
                <a:cs typeface="Arial" panose="020B0604020202020204" pitchFamily="34" charset="0"/>
              </a:rPr>
              <a:t>Sajjla</a:t>
            </a:r>
            <a:r>
              <a:rPr lang="en-US" sz="1100" spc="50" dirty="0">
                <a:solidFill>
                  <a:srgbClr val="EE853D"/>
                </a:solidFill>
                <a:latin typeface="Aptos" panose="020B0004020202020204" pitchFamily="34" charset="0"/>
                <a:cs typeface="Arial" panose="020B0604020202020204" pitchFamily="34" charset="0"/>
              </a:rPr>
              <a:t> </a:t>
            </a:r>
          </a:p>
          <a:p>
            <a:r>
              <a:rPr lang="en-US" sz="1100" spc="50" dirty="0">
                <a:solidFill>
                  <a:srgbClr val="EE853D"/>
                </a:solidFill>
                <a:latin typeface="Aptos" panose="020B0004020202020204" pitchFamily="34" charset="0"/>
                <a:cs typeface="Arial" panose="020B0604020202020204" pitchFamily="34" charset="0"/>
              </a:rPr>
              <a:t>Bio Labs to augment Biotechnology R&amp;D</a:t>
            </a:r>
          </a:p>
        </p:txBody>
      </p:sp>
      <p:sp>
        <p:nvSpPr>
          <p:cNvPr id="65" name="Rounded Rectangle 48">
            <a:extLst>
              <a:ext uri="{FF2B5EF4-FFF2-40B4-BE49-F238E27FC236}">
                <a16:creationId xmlns:a16="http://schemas.microsoft.com/office/drawing/2014/main" id="{D3D43E6E-CD12-8F71-9107-32D49DB7E48A}"/>
              </a:ext>
            </a:extLst>
          </p:cNvPr>
          <p:cNvSpPr/>
          <p:nvPr>
            <p:custDataLst>
              <p:tags r:id="rId4"/>
            </p:custDataLst>
          </p:nvPr>
        </p:nvSpPr>
        <p:spPr>
          <a:xfrm>
            <a:off x="10772879" y="1962707"/>
            <a:ext cx="540000" cy="381000"/>
          </a:xfrm>
          <a:prstGeom prst="roundRect">
            <a:avLst/>
          </a:prstGeom>
          <a:ln/>
        </p:spPr>
        <p:style>
          <a:lnRef idx="1">
            <a:schemeClr val="accent2"/>
          </a:lnRef>
          <a:fillRef idx="3">
            <a:schemeClr val="accent2"/>
          </a:fillRef>
          <a:effectRef idx="2">
            <a:schemeClr val="accent2"/>
          </a:effectRef>
          <a:fontRef idx="minor">
            <a:schemeClr val="lt1"/>
          </a:fontRef>
        </p:style>
        <p:txBody>
          <a:bodyPr lIns="0" tIns="0" rIns="0" bIns="0" rtlCol="0" anchor="ctr"/>
          <a:lstStyle/>
          <a:p>
            <a:pPr algn="ctr"/>
            <a:r>
              <a:rPr lang="en-US" sz="1400" b="1" dirty="0">
                <a:solidFill>
                  <a:schemeClr val="bg1"/>
                </a:solidFill>
                <a:latin typeface="Aptos" panose="020B0004020202020204" pitchFamily="34" charset="0"/>
              </a:rPr>
              <a:t>2022</a:t>
            </a:r>
          </a:p>
        </p:txBody>
      </p:sp>
      <p:cxnSp>
        <p:nvCxnSpPr>
          <p:cNvPr id="70" name="Straight Arrow Connector 69">
            <a:extLst>
              <a:ext uri="{FF2B5EF4-FFF2-40B4-BE49-F238E27FC236}">
                <a16:creationId xmlns:a16="http://schemas.microsoft.com/office/drawing/2014/main" id="{556335D2-B993-BE6C-D148-42F70C169CBD}"/>
              </a:ext>
            </a:extLst>
          </p:cNvPr>
          <p:cNvCxnSpPr>
            <a:cxnSpLocks/>
            <a:stCxn id="65" idx="2"/>
          </p:cNvCxnSpPr>
          <p:nvPr/>
        </p:nvCxnSpPr>
        <p:spPr>
          <a:xfrm>
            <a:off x="11042879" y="2343707"/>
            <a:ext cx="22339" cy="2600098"/>
          </a:xfrm>
          <a:prstGeom prst="straightConnector1">
            <a:avLst/>
          </a:prstGeom>
          <a:ln>
            <a:solidFill>
              <a:schemeClr val="accent2"/>
            </a:solidFill>
            <a:tailEnd type="arrow"/>
          </a:ln>
        </p:spPr>
        <p:style>
          <a:lnRef idx="1">
            <a:schemeClr val="accent6"/>
          </a:lnRef>
          <a:fillRef idx="0">
            <a:schemeClr val="accent6"/>
          </a:fillRef>
          <a:effectRef idx="0">
            <a:schemeClr val="accent6"/>
          </a:effectRef>
          <a:fontRef idx="minor">
            <a:schemeClr val="tx1"/>
          </a:fontRef>
        </p:style>
      </p:cxnSp>
      <p:sp>
        <p:nvSpPr>
          <p:cNvPr id="71" name="Rectangle 70">
            <a:extLst>
              <a:ext uri="{FF2B5EF4-FFF2-40B4-BE49-F238E27FC236}">
                <a16:creationId xmlns:a16="http://schemas.microsoft.com/office/drawing/2014/main" id="{3DECD9E6-4BE8-6CD5-D4F4-CD6684BB5F33}"/>
              </a:ext>
            </a:extLst>
          </p:cNvPr>
          <p:cNvSpPr/>
          <p:nvPr/>
        </p:nvSpPr>
        <p:spPr>
          <a:xfrm>
            <a:off x="10588517" y="4943805"/>
            <a:ext cx="1448724" cy="1107996"/>
          </a:xfrm>
          <a:prstGeom prst="rect">
            <a:avLst/>
          </a:prstGeom>
        </p:spPr>
        <p:txBody>
          <a:bodyPr wrap="square">
            <a:spAutoFit/>
          </a:bodyPr>
          <a:lstStyle/>
          <a:p>
            <a:r>
              <a:rPr lang="en-US" sz="1100" spc="50" dirty="0">
                <a:solidFill>
                  <a:srgbClr val="EE853D"/>
                </a:solidFill>
                <a:latin typeface="Aptos" panose="020B0004020202020204" pitchFamily="34" charset="0"/>
                <a:cs typeface="Arial" panose="020B0604020202020204" pitchFamily="34" charset="0"/>
              </a:rPr>
              <a:t>Completed share buy-back worth Rs.311 Cr (including taxes and transaction cost)</a:t>
            </a:r>
          </a:p>
        </p:txBody>
      </p:sp>
      <p:sp>
        <p:nvSpPr>
          <p:cNvPr id="77" name="Rounded Rectangle 32">
            <a:extLst>
              <a:ext uri="{FF2B5EF4-FFF2-40B4-BE49-F238E27FC236}">
                <a16:creationId xmlns:a16="http://schemas.microsoft.com/office/drawing/2014/main" id="{6B53CAE8-C084-EB47-B486-513363BB77C7}"/>
              </a:ext>
            </a:extLst>
          </p:cNvPr>
          <p:cNvSpPr/>
          <p:nvPr/>
        </p:nvSpPr>
        <p:spPr>
          <a:xfrm>
            <a:off x="1743894" y="1963002"/>
            <a:ext cx="540000" cy="381000"/>
          </a:xfrm>
          <a:prstGeom prst="roundRect">
            <a:avLst/>
          </a:prstGeom>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400" b="1" dirty="0">
                <a:solidFill>
                  <a:schemeClr val="bg1"/>
                </a:solidFill>
                <a:latin typeface="Aptos" panose="020B0004020202020204" pitchFamily="34" charset="0"/>
              </a:rPr>
              <a:t>1993</a:t>
            </a:r>
          </a:p>
        </p:txBody>
      </p:sp>
      <p:cxnSp>
        <p:nvCxnSpPr>
          <p:cNvPr id="80" name="Straight Arrow Connector 79">
            <a:extLst>
              <a:ext uri="{FF2B5EF4-FFF2-40B4-BE49-F238E27FC236}">
                <a16:creationId xmlns:a16="http://schemas.microsoft.com/office/drawing/2014/main" id="{CB959100-DBDC-932D-8D0C-90BF314E93F5}"/>
              </a:ext>
            </a:extLst>
          </p:cNvPr>
          <p:cNvCxnSpPr>
            <a:cxnSpLocks/>
            <a:stCxn id="77" idx="2"/>
          </p:cNvCxnSpPr>
          <p:nvPr/>
        </p:nvCxnSpPr>
        <p:spPr>
          <a:xfrm>
            <a:off x="2013894" y="2344002"/>
            <a:ext cx="7748" cy="33919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3" name="Rectangle 82">
            <a:extLst>
              <a:ext uri="{FF2B5EF4-FFF2-40B4-BE49-F238E27FC236}">
                <a16:creationId xmlns:a16="http://schemas.microsoft.com/office/drawing/2014/main" id="{E420B204-4386-D7DB-DEF8-BD2686D437CD}"/>
              </a:ext>
            </a:extLst>
          </p:cNvPr>
          <p:cNvSpPr/>
          <p:nvPr/>
        </p:nvSpPr>
        <p:spPr>
          <a:xfrm>
            <a:off x="1570510" y="2699968"/>
            <a:ext cx="963556" cy="769441"/>
          </a:xfrm>
          <a:prstGeom prst="rect">
            <a:avLst/>
          </a:prstGeom>
        </p:spPr>
        <p:txBody>
          <a:bodyPr wrap="square">
            <a:spAutoFit/>
          </a:bodyPr>
          <a:lstStyle/>
          <a:p>
            <a:r>
              <a:rPr lang="en-US" sz="1100" spc="50" dirty="0">
                <a:solidFill>
                  <a:srgbClr val="3466C0"/>
                </a:solidFill>
                <a:latin typeface="Aptos" panose="020B0004020202020204" pitchFamily="34" charset="0"/>
                <a:cs typeface="Arial" panose="020B0604020202020204" pitchFamily="34" charset="0"/>
              </a:rPr>
              <a:t>Established first PFI facility at Jeedimetla</a:t>
            </a:r>
          </a:p>
        </p:txBody>
      </p:sp>
      <p:sp>
        <p:nvSpPr>
          <p:cNvPr id="86" name="Rectangle 85">
            <a:extLst>
              <a:ext uri="{FF2B5EF4-FFF2-40B4-BE49-F238E27FC236}">
                <a16:creationId xmlns:a16="http://schemas.microsoft.com/office/drawing/2014/main" id="{B6F83DE3-C6D0-36BE-5E74-90B676412BE5}"/>
              </a:ext>
            </a:extLst>
          </p:cNvPr>
          <p:cNvSpPr/>
          <p:nvPr/>
        </p:nvSpPr>
        <p:spPr>
          <a:xfrm>
            <a:off x="6993157" y="4878945"/>
            <a:ext cx="1639390" cy="1107996"/>
          </a:xfrm>
          <a:prstGeom prst="rect">
            <a:avLst/>
          </a:prstGeom>
        </p:spPr>
        <p:txBody>
          <a:bodyPr wrap="square">
            <a:spAutoFit/>
          </a:bodyPr>
          <a:lstStyle/>
          <a:p>
            <a:r>
              <a:rPr lang="en-IN" sz="1100" spc="50" dirty="0">
                <a:solidFill>
                  <a:srgbClr val="63A436"/>
                </a:solidFill>
                <a:latin typeface="Aptos" panose="020B0004020202020204" pitchFamily="34" charset="0"/>
                <a:cs typeface="Arial" panose="020B0604020202020204" pitchFamily="34" charset="0"/>
              </a:rPr>
              <a:t>Incorporated Granules Pharmaceutical Inc in the US to focus on formulations in the US</a:t>
            </a:r>
            <a:endParaRPr lang="en-US" sz="1100" spc="50" dirty="0">
              <a:solidFill>
                <a:srgbClr val="63A436"/>
              </a:solidFill>
              <a:latin typeface="Aptos" panose="020B00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A3AAB6FA-3A2D-818C-8815-DC295621E48F}"/>
              </a:ext>
            </a:extLst>
          </p:cNvPr>
          <p:cNvSpPr txBox="1"/>
          <p:nvPr/>
        </p:nvSpPr>
        <p:spPr>
          <a:xfrm>
            <a:off x="117248" y="197891"/>
            <a:ext cx="11129499" cy="646331"/>
          </a:xfrm>
          <a:prstGeom prst="rect">
            <a:avLst/>
          </a:prstGeom>
          <a:noFill/>
        </p:spPr>
        <p:txBody>
          <a:bodyPr wrap="square" rtlCol="0">
            <a:spAutoFit/>
          </a:bodyPr>
          <a:lstStyle/>
          <a:p>
            <a:r>
              <a:rPr lang="en-US" sz="3600" b="1" dirty="0">
                <a:solidFill>
                  <a:srgbClr val="00B0F0"/>
                </a:solidFill>
                <a:latin typeface="Aptos" panose="020B0004020202020204" pitchFamily="34" charset="0"/>
                <a:cs typeface="Arial" panose="020B0604020202020204" pitchFamily="34" charset="0"/>
              </a:rPr>
              <a:t>Our journey so far..</a:t>
            </a:r>
          </a:p>
        </p:txBody>
      </p:sp>
      <p:sp>
        <p:nvSpPr>
          <p:cNvPr id="55" name="Rounded Rectangle 48">
            <a:extLst>
              <a:ext uri="{FF2B5EF4-FFF2-40B4-BE49-F238E27FC236}">
                <a16:creationId xmlns:a16="http://schemas.microsoft.com/office/drawing/2014/main" id="{B2ECA960-B5BB-AA20-53A1-7582F7DBFD39}"/>
              </a:ext>
            </a:extLst>
          </p:cNvPr>
          <p:cNvSpPr/>
          <p:nvPr>
            <p:custDataLst>
              <p:tags r:id="rId5"/>
            </p:custDataLst>
          </p:nvPr>
        </p:nvSpPr>
        <p:spPr>
          <a:xfrm>
            <a:off x="11345072" y="1962707"/>
            <a:ext cx="540000" cy="381000"/>
          </a:xfrm>
          <a:prstGeom prst="roundRect">
            <a:avLst/>
          </a:prstGeom>
          <a:ln/>
        </p:spPr>
        <p:style>
          <a:lnRef idx="1">
            <a:schemeClr val="accent2"/>
          </a:lnRef>
          <a:fillRef idx="3">
            <a:schemeClr val="accent2"/>
          </a:fillRef>
          <a:effectRef idx="2">
            <a:schemeClr val="accent2"/>
          </a:effectRef>
          <a:fontRef idx="minor">
            <a:schemeClr val="lt1"/>
          </a:fontRef>
        </p:style>
        <p:txBody>
          <a:bodyPr lIns="0" tIns="0" rIns="0" bIns="0" rtlCol="0" anchor="ctr"/>
          <a:lstStyle/>
          <a:p>
            <a:pPr algn="ctr"/>
            <a:r>
              <a:rPr lang="en-US" sz="1400" b="1" dirty="0">
                <a:solidFill>
                  <a:schemeClr val="bg1"/>
                </a:solidFill>
                <a:latin typeface="Aptos" panose="020B0004020202020204" pitchFamily="34" charset="0"/>
              </a:rPr>
              <a:t>2023</a:t>
            </a:r>
          </a:p>
        </p:txBody>
      </p:sp>
      <p:cxnSp>
        <p:nvCxnSpPr>
          <p:cNvPr id="58" name="Straight Arrow Connector 57">
            <a:extLst>
              <a:ext uri="{FF2B5EF4-FFF2-40B4-BE49-F238E27FC236}">
                <a16:creationId xmlns:a16="http://schemas.microsoft.com/office/drawing/2014/main" id="{69F49A7B-1E4C-04AB-D262-2E45765195E9}"/>
              </a:ext>
            </a:extLst>
          </p:cNvPr>
          <p:cNvCxnSpPr>
            <a:cxnSpLocks/>
            <a:stCxn id="55" idx="2"/>
          </p:cNvCxnSpPr>
          <p:nvPr/>
        </p:nvCxnSpPr>
        <p:spPr>
          <a:xfrm>
            <a:off x="11615072" y="2343707"/>
            <a:ext cx="14450" cy="578124"/>
          </a:xfrm>
          <a:prstGeom prst="straightConnector1">
            <a:avLst/>
          </a:prstGeom>
          <a:ln>
            <a:solidFill>
              <a:schemeClr val="accent2"/>
            </a:solidFill>
            <a:tailEnd type="arrow"/>
          </a:ln>
        </p:spPr>
        <p:style>
          <a:lnRef idx="1">
            <a:schemeClr val="accent6"/>
          </a:lnRef>
          <a:fillRef idx="0">
            <a:schemeClr val="accent6"/>
          </a:fillRef>
          <a:effectRef idx="0">
            <a:schemeClr val="accent6"/>
          </a:effectRef>
          <a:fontRef idx="minor">
            <a:schemeClr val="tx1"/>
          </a:fontRef>
        </p:style>
      </p:cxnSp>
      <p:sp>
        <p:nvSpPr>
          <p:cNvPr id="72" name="Rectangle 71">
            <a:extLst>
              <a:ext uri="{FF2B5EF4-FFF2-40B4-BE49-F238E27FC236}">
                <a16:creationId xmlns:a16="http://schemas.microsoft.com/office/drawing/2014/main" id="{552DCE26-E5BC-0507-CCC5-0F5D7DFE11B8}"/>
              </a:ext>
            </a:extLst>
          </p:cNvPr>
          <p:cNvSpPr/>
          <p:nvPr/>
        </p:nvSpPr>
        <p:spPr>
          <a:xfrm>
            <a:off x="11083168" y="2963118"/>
            <a:ext cx="1088448" cy="938719"/>
          </a:xfrm>
          <a:prstGeom prst="rect">
            <a:avLst/>
          </a:prstGeom>
        </p:spPr>
        <p:txBody>
          <a:bodyPr wrap="square">
            <a:spAutoFit/>
          </a:bodyPr>
          <a:lstStyle/>
          <a:p>
            <a:r>
              <a:rPr lang="en-US" sz="1100" spc="50" dirty="0">
                <a:solidFill>
                  <a:srgbClr val="EE853D"/>
                </a:solidFill>
                <a:latin typeface="Aptos" panose="020B0004020202020204" pitchFamily="34" charset="0"/>
                <a:cs typeface="Arial" panose="020B0604020202020204" pitchFamily="34" charset="0"/>
              </a:rPr>
              <a:t>Setup GPAK, a 79,000 </a:t>
            </a:r>
            <a:r>
              <a:rPr lang="en-US" sz="1100" spc="50" dirty="0" err="1">
                <a:solidFill>
                  <a:srgbClr val="EE853D"/>
                </a:solidFill>
                <a:latin typeface="Aptos" panose="020B0004020202020204" pitchFamily="34" charset="0"/>
                <a:cs typeface="Arial" panose="020B0604020202020204" pitchFamily="34" charset="0"/>
              </a:rPr>
              <a:t>sqft</a:t>
            </a:r>
            <a:r>
              <a:rPr lang="en-US" sz="1100" spc="50" dirty="0">
                <a:solidFill>
                  <a:srgbClr val="EE853D"/>
                </a:solidFill>
                <a:latin typeface="Aptos" panose="020B0004020202020204" pitchFamily="34" charset="0"/>
                <a:cs typeface="Arial" panose="020B0604020202020204" pitchFamily="34" charset="0"/>
              </a:rPr>
              <a:t> packaging facility in the US</a:t>
            </a:r>
          </a:p>
        </p:txBody>
      </p:sp>
    </p:spTree>
    <p:extLst>
      <p:ext uri="{BB962C8B-B14F-4D97-AF65-F5344CB8AC3E}">
        <p14:creationId xmlns:p14="http://schemas.microsoft.com/office/powerpoint/2010/main" val="683613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59C1029-3306-5216-6E84-E634CA7A0895}"/>
              </a:ext>
            </a:extLst>
          </p:cNvPr>
          <p:cNvPicPr>
            <a:picLocks noChangeAspect="1"/>
          </p:cNvPicPr>
          <p:nvPr/>
        </p:nvPicPr>
        <p:blipFill rotWithShape="1">
          <a:blip r:embed="rId2"/>
          <a:srcRect t="7796" b="8082"/>
          <a:stretch/>
        </p:blipFill>
        <p:spPr>
          <a:xfrm>
            <a:off x="350558" y="1105868"/>
            <a:ext cx="11405792" cy="5041294"/>
          </a:xfrm>
          <a:prstGeom prst="rect">
            <a:avLst/>
          </a:prstGeom>
        </p:spPr>
      </p:pic>
      <p:sp>
        <p:nvSpPr>
          <p:cNvPr id="2" name="TextBox 1">
            <a:extLst>
              <a:ext uri="{FF2B5EF4-FFF2-40B4-BE49-F238E27FC236}">
                <a16:creationId xmlns:a16="http://schemas.microsoft.com/office/drawing/2014/main" id="{7C83BEF8-6F8F-BB57-3327-2E3803B102BD}"/>
              </a:ext>
            </a:extLst>
          </p:cNvPr>
          <p:cNvSpPr txBox="1"/>
          <p:nvPr/>
        </p:nvSpPr>
        <p:spPr>
          <a:xfrm>
            <a:off x="117248" y="197891"/>
            <a:ext cx="11129499" cy="646331"/>
          </a:xfrm>
          <a:prstGeom prst="rect">
            <a:avLst/>
          </a:prstGeom>
          <a:noFill/>
        </p:spPr>
        <p:txBody>
          <a:bodyPr wrap="square" rtlCol="0">
            <a:spAutoFit/>
          </a:bodyPr>
          <a:lstStyle/>
          <a:p>
            <a:r>
              <a:rPr lang="en-US" sz="3600" b="1" dirty="0">
                <a:solidFill>
                  <a:srgbClr val="00B0F0"/>
                </a:solidFill>
                <a:latin typeface="Aptos" panose="020B0004020202020204" pitchFamily="34" charset="0"/>
                <a:cs typeface="Arial" panose="020B0604020202020204" pitchFamily="34" charset="0"/>
              </a:rPr>
              <a:t>Our manufacturing footprint</a:t>
            </a:r>
          </a:p>
        </p:txBody>
      </p:sp>
    </p:spTree>
    <p:extLst>
      <p:ext uri="{BB962C8B-B14F-4D97-AF65-F5344CB8AC3E}">
        <p14:creationId xmlns:p14="http://schemas.microsoft.com/office/powerpoint/2010/main" val="3366145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6D7B29-194E-B9BA-621C-8438A1971804}"/>
              </a:ext>
            </a:extLst>
          </p:cNvPr>
          <p:cNvSpPr txBox="1"/>
          <p:nvPr/>
        </p:nvSpPr>
        <p:spPr>
          <a:xfrm>
            <a:off x="151934" y="799631"/>
            <a:ext cx="1103499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rPr>
              <a:t>Strengthened headcount to  ̴ 300 across spectrum of R&amp;D centers with complementary capabilities    </a:t>
            </a:r>
            <a:endParaRPr kumimoji="0" lang="en-US" sz="1800" b="0" i="0" u="none" strike="noStrike" kern="1200" cap="none" spc="0" normalizeH="0" baseline="0" noProof="0" dirty="0">
              <a:ln>
                <a:noFill/>
              </a:ln>
              <a:solidFill>
                <a:prstClr val="black"/>
              </a:solidFill>
              <a:effectLst/>
              <a:uLnTx/>
              <a:uFillTx/>
              <a:latin typeface="Aptos" panose="020B0004020202020204" pitchFamily="34" charset="0"/>
            </a:endParaRPr>
          </a:p>
        </p:txBody>
      </p:sp>
      <p:grpSp>
        <p:nvGrpSpPr>
          <p:cNvPr id="4" name="Group 3">
            <a:extLst>
              <a:ext uri="{FF2B5EF4-FFF2-40B4-BE49-F238E27FC236}">
                <a16:creationId xmlns:a16="http://schemas.microsoft.com/office/drawing/2014/main" id="{491CE359-13C2-ADF4-8A40-B5822F2A27C3}"/>
              </a:ext>
            </a:extLst>
          </p:cNvPr>
          <p:cNvGrpSpPr/>
          <p:nvPr/>
        </p:nvGrpSpPr>
        <p:grpSpPr>
          <a:xfrm>
            <a:off x="5712806" y="1468649"/>
            <a:ext cx="6107718" cy="4795158"/>
            <a:chOff x="4911807" y="1839560"/>
            <a:chExt cx="6479194" cy="4795158"/>
          </a:xfrm>
        </p:grpSpPr>
        <p:sp>
          <p:nvSpPr>
            <p:cNvPr id="5" name="Rectangle 4">
              <a:extLst>
                <a:ext uri="{FF2B5EF4-FFF2-40B4-BE49-F238E27FC236}">
                  <a16:creationId xmlns:a16="http://schemas.microsoft.com/office/drawing/2014/main" id="{6C3C6BA3-71F9-4C94-2169-971484298060}"/>
                </a:ext>
              </a:extLst>
            </p:cNvPr>
            <p:cNvSpPr/>
            <p:nvPr/>
          </p:nvSpPr>
          <p:spPr>
            <a:xfrm>
              <a:off x="4911807" y="2401034"/>
              <a:ext cx="6479194" cy="1515311"/>
            </a:xfrm>
            <a:prstGeom prst="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2060"/>
                  </a:solidFill>
                  <a:effectLst/>
                  <a:uLnTx/>
                  <a:uFillTx/>
                  <a:latin typeface="Aptos" panose="020B0004020202020204" pitchFamily="34" charset="0"/>
                </a:rPr>
                <a:t>Genome Valley – MN Park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Aptos" panose="020B0004020202020204" pitchFamily="34" charset="0"/>
                </a:rPr>
                <a:t>R&amp;D facility for Integrated Product Development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Aptos" panose="020B00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Aptos" panose="020B0004020202020204" pitchFamily="34" charset="0"/>
                  <a:cs typeface="Arial" panose="020B0604020202020204" pitchFamily="34" charset="0"/>
                </a:rPr>
                <a:t>̴ 170</a:t>
              </a:r>
              <a:r>
                <a:rPr kumimoji="0" lang="en-US" sz="1600" b="0" i="0" u="none" strike="noStrike" kern="1200" cap="none" spc="0" normalizeH="0" baseline="0" noProof="0" dirty="0">
                  <a:ln>
                    <a:noFill/>
                  </a:ln>
                  <a:solidFill>
                    <a:srgbClr val="002060"/>
                  </a:solidFill>
                  <a:effectLst/>
                  <a:uLnTx/>
                  <a:uFillTx/>
                  <a:latin typeface="Aptos" panose="020B0004020202020204" pitchFamily="34" charset="0"/>
                </a:rPr>
                <a:t> scientists across API &amp; FD R&amp;D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Aptos" panose="020B0004020202020204" pitchFamily="34" charset="0"/>
                </a:rPr>
                <a:t>Fast tracking product development through seamless coordination &amp; shared analytical resource</a:t>
              </a:r>
            </a:p>
          </p:txBody>
        </p:sp>
        <p:sp>
          <p:nvSpPr>
            <p:cNvPr id="6" name="TextBox 5">
              <a:extLst>
                <a:ext uri="{FF2B5EF4-FFF2-40B4-BE49-F238E27FC236}">
                  <a16:creationId xmlns:a16="http://schemas.microsoft.com/office/drawing/2014/main" id="{DB105EE5-CAEA-8062-C218-D157348D5296}"/>
                </a:ext>
              </a:extLst>
            </p:cNvPr>
            <p:cNvSpPr txBox="1"/>
            <p:nvPr/>
          </p:nvSpPr>
          <p:spPr>
            <a:xfrm>
              <a:off x="4911807" y="1839560"/>
              <a:ext cx="6479194" cy="517879"/>
            </a:xfrm>
            <a:prstGeom prst="rect">
              <a:avLst/>
            </a:prstGeom>
            <a:solidFill>
              <a:srgbClr val="92D050"/>
            </a:solidFill>
            <a:ln w="6350">
              <a:noFill/>
              <a:miter lim="800000"/>
            </a:ln>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ptos" panose="020B0004020202020204" pitchFamily="34" charset="0"/>
                </a:rPr>
                <a:t>Integrated Product Development</a:t>
              </a:r>
            </a:p>
          </p:txBody>
        </p:sp>
        <p:sp>
          <p:nvSpPr>
            <p:cNvPr id="7" name="Rectangle 6">
              <a:extLst>
                <a:ext uri="{FF2B5EF4-FFF2-40B4-BE49-F238E27FC236}">
                  <a16:creationId xmlns:a16="http://schemas.microsoft.com/office/drawing/2014/main" id="{6821DFC6-4837-9F8A-5196-B09CEAC28514}"/>
                </a:ext>
              </a:extLst>
            </p:cNvPr>
            <p:cNvSpPr/>
            <p:nvPr/>
          </p:nvSpPr>
          <p:spPr>
            <a:xfrm>
              <a:off x="4911808" y="4684141"/>
              <a:ext cx="3186435" cy="1950577"/>
            </a:xfrm>
            <a:prstGeom prst="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2060"/>
                  </a:solidFill>
                  <a:effectLst/>
                  <a:uLnTx/>
                  <a:uFillTx/>
                  <a:latin typeface="Aptos" panose="020B0004020202020204" pitchFamily="34" charset="0"/>
                </a:rPr>
                <a:t>Pragathi Nagar R&amp;D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Aptos" panose="020B0004020202020204" pitchFamily="34" charset="0"/>
                </a:rPr>
                <a:t>CoE for CII API Development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Aptos" panose="020B0004020202020204" pitchFamily="34" charset="0"/>
                </a:rPr>
                <a:t>Select KSMs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Aptos"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2060"/>
                  </a:solidFill>
                  <a:effectLst/>
                  <a:uLnTx/>
                  <a:uFillTx/>
                  <a:latin typeface="Aptos" panose="020B0004020202020204" pitchFamily="34" charset="0"/>
                </a:rPr>
                <a:t>GPI R&amp;D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Aptos" panose="020B0004020202020204" pitchFamily="34" charset="0"/>
                </a:rPr>
                <a:t>CII Finished Dosage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Aptos" panose="020B0004020202020204" pitchFamily="34" charset="0"/>
                </a:rPr>
                <a:t>Complex technologies FD</a:t>
              </a:r>
            </a:p>
          </p:txBody>
        </p:sp>
        <p:sp>
          <p:nvSpPr>
            <p:cNvPr id="8" name="TextBox 7">
              <a:extLst>
                <a:ext uri="{FF2B5EF4-FFF2-40B4-BE49-F238E27FC236}">
                  <a16:creationId xmlns:a16="http://schemas.microsoft.com/office/drawing/2014/main" id="{3B82532A-9711-CA44-4360-B029596C3A6E}"/>
                </a:ext>
              </a:extLst>
            </p:cNvPr>
            <p:cNvSpPr txBox="1"/>
            <p:nvPr/>
          </p:nvSpPr>
          <p:spPr>
            <a:xfrm>
              <a:off x="4911807" y="4127026"/>
              <a:ext cx="3186435" cy="524154"/>
            </a:xfrm>
            <a:prstGeom prst="rect">
              <a:avLst/>
            </a:prstGeom>
            <a:solidFill>
              <a:srgbClr val="92D050"/>
            </a:solidFill>
            <a:ln w="6350">
              <a:noFill/>
              <a:miter lim="800000"/>
            </a:ln>
          </p:spPr>
          <p:txBody>
            <a:bodyPr wrap="square" anchor="ctr">
              <a:noAutofit/>
            </a:bodyPr>
            <a:lstStyle>
              <a:defPPr>
                <a:defRPr lang="en-US"/>
              </a:defPPr>
              <a:lvl1pPr algn="ctr">
                <a:defRPr b="1">
                  <a:solidFill>
                    <a:schemeClr val="bg1"/>
                  </a:solidFill>
                  <a:latin typeface="Aptos" panose="020B00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rPr>
                <a:t>Controlled Substances</a:t>
              </a:r>
            </a:p>
          </p:txBody>
        </p:sp>
        <p:sp>
          <p:nvSpPr>
            <p:cNvPr id="9" name="Rectangle 8">
              <a:extLst>
                <a:ext uri="{FF2B5EF4-FFF2-40B4-BE49-F238E27FC236}">
                  <a16:creationId xmlns:a16="http://schemas.microsoft.com/office/drawing/2014/main" id="{6D49F807-18D9-6F6D-557D-2617EB9E9CD3}"/>
                </a:ext>
              </a:extLst>
            </p:cNvPr>
            <p:cNvSpPr/>
            <p:nvPr/>
          </p:nvSpPr>
          <p:spPr>
            <a:xfrm>
              <a:off x="8204566" y="4681763"/>
              <a:ext cx="3186435" cy="1950577"/>
            </a:xfrm>
            <a:prstGeom prst="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2060"/>
                  </a:solidFill>
                  <a:effectLst/>
                  <a:uLnTx/>
                  <a:uFillTx/>
                  <a:latin typeface="Aptos" panose="020B0004020202020204" pitchFamily="34" charset="0"/>
                </a:rPr>
                <a:t>Bio Lab at Pragathi Nagar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Aptos" panose="020B0004020202020204" pitchFamily="34" charset="0"/>
                </a:rPr>
                <a:t>Enzyme &amp; Fermentation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Aptos" panose="020B00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002060"/>
                </a:solidFill>
                <a:effectLst/>
                <a:uLnTx/>
                <a:uFillTx/>
                <a:latin typeface="Aptos"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2060"/>
                  </a:solidFill>
                  <a:effectLst/>
                  <a:uLnTx/>
                  <a:uFillTx/>
                  <a:latin typeface="Aptos" panose="020B0004020202020204" pitchFamily="34" charset="0"/>
                </a:rPr>
                <a:t>Pune R&amp;D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Aptos" panose="020B0004020202020204" pitchFamily="34" charset="0"/>
                </a:rPr>
                <a:t>New technologies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Aptos" panose="020B0004020202020204" pitchFamily="34" charset="0"/>
                </a:rPr>
                <a:t>KSM &amp; Backward Integration</a:t>
              </a:r>
            </a:p>
          </p:txBody>
        </p:sp>
        <p:sp>
          <p:nvSpPr>
            <p:cNvPr id="10" name="TextBox 9">
              <a:extLst>
                <a:ext uri="{FF2B5EF4-FFF2-40B4-BE49-F238E27FC236}">
                  <a16:creationId xmlns:a16="http://schemas.microsoft.com/office/drawing/2014/main" id="{04D9B37A-D1A6-DDDD-5846-3BFF7C96BB5E}"/>
                </a:ext>
              </a:extLst>
            </p:cNvPr>
            <p:cNvSpPr txBox="1"/>
            <p:nvPr/>
          </p:nvSpPr>
          <p:spPr>
            <a:xfrm>
              <a:off x="8204564" y="4124648"/>
              <a:ext cx="3186435" cy="524154"/>
            </a:xfrm>
            <a:prstGeom prst="rect">
              <a:avLst/>
            </a:prstGeom>
            <a:solidFill>
              <a:srgbClr val="92D050"/>
            </a:solidFill>
            <a:ln w="6350">
              <a:noFill/>
              <a:miter lim="800000"/>
            </a:ln>
          </p:spPr>
          <p:txBody>
            <a:bodyPr wrap="square" anchor="ctr">
              <a:noAutofit/>
            </a:bodyPr>
            <a:lstStyle>
              <a:defPPr>
                <a:defRPr lang="en-US"/>
              </a:defPPr>
              <a:lvl1pPr algn="ctr">
                <a:defRPr b="1">
                  <a:solidFill>
                    <a:schemeClr val="bg1"/>
                  </a:solidFill>
                  <a:latin typeface="Aptos" panose="020B00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rPr>
                <a:t>New Technologies</a:t>
              </a:r>
            </a:p>
          </p:txBody>
        </p:sp>
      </p:grpSp>
      <p:pic>
        <p:nvPicPr>
          <p:cNvPr id="13" name="Picture 12">
            <a:extLst>
              <a:ext uri="{FF2B5EF4-FFF2-40B4-BE49-F238E27FC236}">
                <a16:creationId xmlns:a16="http://schemas.microsoft.com/office/drawing/2014/main" id="{983A522B-1FA7-C847-DC87-CBD1178FB069}"/>
              </a:ext>
            </a:extLst>
          </p:cNvPr>
          <p:cNvPicPr>
            <a:picLocks noChangeAspect="1"/>
          </p:cNvPicPr>
          <p:nvPr/>
        </p:nvPicPr>
        <p:blipFill>
          <a:blip r:embed="rId2"/>
          <a:stretch>
            <a:fillRect/>
          </a:stretch>
        </p:blipFill>
        <p:spPr>
          <a:xfrm>
            <a:off x="550900" y="1468649"/>
            <a:ext cx="5111792" cy="4792780"/>
          </a:xfrm>
          <a:prstGeom prst="rect">
            <a:avLst/>
          </a:prstGeom>
        </p:spPr>
      </p:pic>
      <p:sp>
        <p:nvSpPr>
          <p:cNvPr id="11" name="TextBox 10">
            <a:extLst>
              <a:ext uri="{FF2B5EF4-FFF2-40B4-BE49-F238E27FC236}">
                <a16:creationId xmlns:a16="http://schemas.microsoft.com/office/drawing/2014/main" id="{EBE0790D-8BCE-3809-96F5-840A7DE6ACD8}"/>
              </a:ext>
            </a:extLst>
          </p:cNvPr>
          <p:cNvSpPr txBox="1"/>
          <p:nvPr/>
        </p:nvSpPr>
        <p:spPr>
          <a:xfrm>
            <a:off x="117248" y="197891"/>
            <a:ext cx="11129499" cy="646331"/>
          </a:xfrm>
          <a:prstGeom prst="rect">
            <a:avLst/>
          </a:prstGeom>
          <a:noFill/>
        </p:spPr>
        <p:txBody>
          <a:bodyPr wrap="square" rtlCol="0">
            <a:spAutoFit/>
          </a:bodyPr>
          <a:lstStyle/>
          <a:p>
            <a:r>
              <a:rPr lang="en-US" sz="3600" b="1" dirty="0">
                <a:solidFill>
                  <a:srgbClr val="00B0F0"/>
                </a:solidFill>
                <a:latin typeface="Aptos" panose="020B0004020202020204" pitchFamily="34" charset="0"/>
                <a:cs typeface="Arial" panose="020B0604020202020204" pitchFamily="34" charset="0"/>
              </a:rPr>
              <a:t>R&amp;D Capabilities</a:t>
            </a:r>
          </a:p>
        </p:txBody>
      </p:sp>
    </p:spTree>
    <p:extLst>
      <p:ext uri="{BB962C8B-B14F-4D97-AF65-F5344CB8AC3E}">
        <p14:creationId xmlns:p14="http://schemas.microsoft.com/office/powerpoint/2010/main" val="3022593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045C30F-02B7-916E-E5E0-BB74A0E70D81}"/>
              </a:ext>
            </a:extLst>
          </p:cNvPr>
          <p:cNvSpPr>
            <a:spLocks noGrp="1"/>
          </p:cNvSpPr>
          <p:nvPr>
            <p:ph type="sldNum" sz="quarter" idx="4294967295"/>
          </p:nvPr>
        </p:nvSpPr>
        <p:spPr>
          <a:xfrm>
            <a:off x="9448800" y="6410325"/>
            <a:ext cx="2743200" cy="365125"/>
          </a:xfrm>
        </p:spPr>
        <p:txBody>
          <a:bodyPr/>
          <a:lstStyle/>
          <a:p>
            <a:fld id="{9FC3031A-744E-4491-9064-FD6EC4156FCE}" type="slidenum">
              <a:rPr lang="en-IN" smtClean="0"/>
              <a:pPr/>
              <a:t>7</a:t>
            </a:fld>
            <a:endParaRPr lang="en-IN" dirty="0"/>
          </a:p>
        </p:txBody>
      </p:sp>
      <p:grpSp>
        <p:nvGrpSpPr>
          <p:cNvPr id="6" name="Group 5">
            <a:extLst>
              <a:ext uri="{FF2B5EF4-FFF2-40B4-BE49-F238E27FC236}">
                <a16:creationId xmlns:a16="http://schemas.microsoft.com/office/drawing/2014/main" id="{60CDBC7E-7ACC-0EAC-A1F5-32DE5A5F7DD4}"/>
              </a:ext>
            </a:extLst>
          </p:cNvPr>
          <p:cNvGrpSpPr/>
          <p:nvPr/>
        </p:nvGrpSpPr>
        <p:grpSpPr>
          <a:xfrm>
            <a:off x="423081" y="831735"/>
            <a:ext cx="10233373" cy="5761608"/>
            <a:chOff x="265683" y="811471"/>
            <a:chExt cx="10491810" cy="5591873"/>
          </a:xfrm>
          <a:solidFill>
            <a:schemeClr val="bg1">
              <a:lumMod val="85000"/>
            </a:schemeClr>
          </a:solidFill>
        </p:grpSpPr>
        <p:sp>
          <p:nvSpPr>
            <p:cNvPr id="7" name="Freeform 4">
              <a:extLst>
                <a:ext uri="{FF2B5EF4-FFF2-40B4-BE49-F238E27FC236}">
                  <a16:creationId xmlns:a16="http://schemas.microsoft.com/office/drawing/2014/main" id="{6B90C1BA-BDEE-BF6F-077C-9018C4A4565C}"/>
                </a:ext>
              </a:extLst>
            </p:cNvPr>
            <p:cNvSpPr>
              <a:spLocks/>
            </p:cNvSpPr>
            <p:nvPr/>
          </p:nvSpPr>
          <p:spPr bwMode="auto">
            <a:xfrm rot="730076">
              <a:off x="5065634" y="3000832"/>
              <a:ext cx="431691" cy="337408"/>
            </a:xfrm>
            <a:custGeom>
              <a:avLst/>
              <a:gdLst>
                <a:gd name="T0" fmla="*/ 2147483647 w 10000"/>
                <a:gd name="T1" fmla="*/ 2147483647 h 10009"/>
                <a:gd name="T2" fmla="*/ 2147483647 w 10000"/>
                <a:gd name="T3" fmla="*/ 2147483647 h 10009"/>
                <a:gd name="T4" fmla="*/ 2147483647 w 10000"/>
                <a:gd name="T5" fmla="*/ 2147483647 h 10009"/>
                <a:gd name="T6" fmla="*/ 2147483647 w 10000"/>
                <a:gd name="T7" fmla="*/ 2147483647 h 10009"/>
                <a:gd name="T8" fmla="*/ 2147483647 w 10000"/>
                <a:gd name="T9" fmla="*/ 2147483647 h 10009"/>
                <a:gd name="T10" fmla="*/ 2147483647 w 10000"/>
                <a:gd name="T11" fmla="*/ 2147483647 h 10009"/>
                <a:gd name="T12" fmla="*/ 2147483647 w 10000"/>
                <a:gd name="T13" fmla="*/ 161364554 h 10009"/>
                <a:gd name="T14" fmla="*/ 2147483647 w 10000"/>
                <a:gd name="T15" fmla="*/ 2147483647 h 10009"/>
                <a:gd name="T16" fmla="*/ 2147483647 w 10000"/>
                <a:gd name="T17" fmla="*/ 161364554 h 10009"/>
                <a:gd name="T18" fmla="*/ 2147483647 w 10000"/>
                <a:gd name="T19" fmla="*/ 2147483647 h 10009"/>
                <a:gd name="T20" fmla="*/ 0 w 10000"/>
                <a:gd name="T21" fmla="*/ 2147483647 h 10009"/>
                <a:gd name="T22" fmla="*/ 2147483647 w 10000"/>
                <a:gd name="T23" fmla="*/ 2147483647 h 10009"/>
                <a:gd name="T24" fmla="*/ 2147483647 w 10000"/>
                <a:gd name="T25" fmla="*/ 2147483647 h 10009"/>
                <a:gd name="T26" fmla="*/ 2147483647 w 10000"/>
                <a:gd name="T27" fmla="*/ 2147483647 h 10009"/>
                <a:gd name="T28" fmla="*/ 2147483647 w 10000"/>
                <a:gd name="T29" fmla="*/ 2147483647 h 10009"/>
                <a:gd name="T30" fmla="*/ 2147483647 w 10000"/>
                <a:gd name="T31" fmla="*/ 2147483647 h 10009"/>
                <a:gd name="T32" fmla="*/ 2147483647 w 10000"/>
                <a:gd name="T33" fmla="*/ 2147483647 h 10009"/>
                <a:gd name="T34" fmla="*/ 2147483647 w 10000"/>
                <a:gd name="T35" fmla="*/ 2147483647 h 10009"/>
                <a:gd name="T36" fmla="*/ 2147483647 w 10000"/>
                <a:gd name="T37" fmla="*/ 2147483647 h 10009"/>
                <a:gd name="T38" fmla="*/ 2147483647 w 10000"/>
                <a:gd name="T39" fmla="*/ 2147483647 h 10009"/>
                <a:gd name="T40" fmla="*/ 2147483647 w 10000"/>
                <a:gd name="T41" fmla="*/ 2147483647 h 10009"/>
                <a:gd name="T42" fmla="*/ 2147483647 w 10000"/>
                <a:gd name="T43" fmla="*/ 2147483647 h 10009"/>
                <a:gd name="T44" fmla="*/ 2147483647 w 10000"/>
                <a:gd name="T45" fmla="*/ 2147483647 h 10009"/>
                <a:gd name="T46" fmla="*/ 2147483647 w 10000"/>
                <a:gd name="T47" fmla="*/ 2147483647 h 10009"/>
                <a:gd name="T48" fmla="*/ 2147483647 w 10000"/>
                <a:gd name="T49" fmla="*/ 2147483647 h 10009"/>
                <a:gd name="T50" fmla="*/ 2147483647 w 10000"/>
                <a:gd name="T51" fmla="*/ 2147483647 h 10009"/>
                <a:gd name="T52" fmla="*/ 2147483647 w 10000"/>
                <a:gd name="T53" fmla="*/ 2147483647 h 10009"/>
                <a:gd name="T54" fmla="*/ 2147483647 w 10000"/>
                <a:gd name="T55" fmla="*/ 2147483647 h 10009"/>
                <a:gd name="T56" fmla="*/ 2147483647 w 10000"/>
                <a:gd name="T57" fmla="*/ 2147483647 h 10009"/>
                <a:gd name="T58" fmla="*/ 2147483647 w 10000"/>
                <a:gd name="T59" fmla="*/ 2147483647 h 10009"/>
                <a:gd name="T60" fmla="*/ 2147483647 w 10000"/>
                <a:gd name="T61" fmla="*/ 2147483647 h 10009"/>
                <a:gd name="T62" fmla="*/ 2147483647 w 10000"/>
                <a:gd name="T63" fmla="*/ 2147483647 h 10009"/>
                <a:gd name="T64" fmla="*/ 2147483647 w 10000"/>
                <a:gd name="T65" fmla="*/ 2147483647 h 10009"/>
                <a:gd name="T66" fmla="*/ 2147483647 w 10000"/>
                <a:gd name="T67" fmla="*/ 2147483647 h 10009"/>
                <a:gd name="T68" fmla="*/ 2147483647 w 10000"/>
                <a:gd name="T69" fmla="*/ 2147483647 h 10009"/>
                <a:gd name="T70" fmla="*/ 2147483647 w 10000"/>
                <a:gd name="T71" fmla="*/ 2147483647 h 10009"/>
                <a:gd name="T72" fmla="*/ 2147483647 w 10000"/>
                <a:gd name="T73" fmla="*/ 2147483647 h 10009"/>
                <a:gd name="T74" fmla="*/ 2147483647 w 10000"/>
                <a:gd name="T75" fmla="*/ 2147483647 h 10009"/>
                <a:gd name="T76" fmla="*/ 2147483647 w 10000"/>
                <a:gd name="T77" fmla="*/ 2147483647 h 10009"/>
                <a:gd name="T78" fmla="*/ 2147483647 w 10000"/>
                <a:gd name="T79" fmla="*/ 2147483647 h 10009"/>
                <a:gd name="T80" fmla="*/ 2147483647 w 10000"/>
                <a:gd name="T81" fmla="*/ 2147483647 h 10009"/>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0000" h="10009">
                  <a:moveTo>
                    <a:pt x="9121" y="1479"/>
                  </a:moveTo>
                  <a:cubicBezTo>
                    <a:pt x="8949" y="1545"/>
                    <a:pt x="8960" y="1470"/>
                    <a:pt x="8734" y="1437"/>
                  </a:cubicBezTo>
                  <a:cubicBezTo>
                    <a:pt x="8508" y="1404"/>
                    <a:pt x="8010" y="1295"/>
                    <a:pt x="7765" y="1279"/>
                  </a:cubicBezTo>
                  <a:cubicBezTo>
                    <a:pt x="7520" y="1263"/>
                    <a:pt x="7390" y="1332"/>
                    <a:pt x="7261" y="1342"/>
                  </a:cubicBezTo>
                  <a:cubicBezTo>
                    <a:pt x="7132" y="1353"/>
                    <a:pt x="7098" y="1443"/>
                    <a:pt x="6991" y="1342"/>
                  </a:cubicBezTo>
                  <a:cubicBezTo>
                    <a:pt x="6884" y="1241"/>
                    <a:pt x="6742" y="937"/>
                    <a:pt x="6618" y="734"/>
                  </a:cubicBezTo>
                  <a:cubicBezTo>
                    <a:pt x="5577" y="492"/>
                    <a:pt x="4284" y="74"/>
                    <a:pt x="3495" y="9"/>
                  </a:cubicBezTo>
                  <a:cubicBezTo>
                    <a:pt x="2706" y="-56"/>
                    <a:pt x="2420" y="231"/>
                    <a:pt x="1882" y="342"/>
                  </a:cubicBezTo>
                  <a:lnTo>
                    <a:pt x="1345" y="9"/>
                  </a:lnTo>
                  <a:lnTo>
                    <a:pt x="806" y="342"/>
                  </a:lnTo>
                  <a:cubicBezTo>
                    <a:pt x="806" y="342"/>
                    <a:pt x="268" y="1009"/>
                    <a:pt x="0" y="1009"/>
                  </a:cubicBezTo>
                  <a:lnTo>
                    <a:pt x="538" y="2676"/>
                  </a:lnTo>
                  <a:lnTo>
                    <a:pt x="1076" y="2009"/>
                  </a:lnTo>
                  <a:lnTo>
                    <a:pt x="2151" y="2342"/>
                  </a:lnTo>
                  <a:lnTo>
                    <a:pt x="2421" y="2676"/>
                  </a:lnTo>
                  <a:lnTo>
                    <a:pt x="2688" y="3009"/>
                  </a:lnTo>
                  <a:cubicBezTo>
                    <a:pt x="2600" y="3342"/>
                    <a:pt x="2510" y="3676"/>
                    <a:pt x="2421" y="4009"/>
                  </a:cubicBezTo>
                  <a:cubicBezTo>
                    <a:pt x="2330" y="4565"/>
                    <a:pt x="2241" y="5120"/>
                    <a:pt x="2151" y="5676"/>
                  </a:cubicBezTo>
                  <a:cubicBezTo>
                    <a:pt x="2062" y="6009"/>
                    <a:pt x="1971" y="6343"/>
                    <a:pt x="1882" y="6676"/>
                  </a:cubicBezTo>
                  <a:lnTo>
                    <a:pt x="1882" y="7342"/>
                  </a:lnTo>
                  <a:cubicBezTo>
                    <a:pt x="1882" y="7482"/>
                    <a:pt x="1889" y="7241"/>
                    <a:pt x="1884" y="7517"/>
                  </a:cubicBezTo>
                  <a:cubicBezTo>
                    <a:pt x="1879" y="7793"/>
                    <a:pt x="1882" y="7594"/>
                    <a:pt x="1882" y="7676"/>
                  </a:cubicBezTo>
                  <a:lnTo>
                    <a:pt x="1882" y="8009"/>
                  </a:lnTo>
                  <a:cubicBezTo>
                    <a:pt x="1792" y="8342"/>
                    <a:pt x="1703" y="8676"/>
                    <a:pt x="1613" y="9009"/>
                  </a:cubicBezTo>
                  <a:lnTo>
                    <a:pt x="2151" y="9009"/>
                  </a:lnTo>
                  <a:lnTo>
                    <a:pt x="3227" y="10009"/>
                  </a:lnTo>
                  <a:lnTo>
                    <a:pt x="4840" y="9342"/>
                  </a:lnTo>
                  <a:lnTo>
                    <a:pt x="6453" y="9009"/>
                  </a:lnTo>
                  <a:lnTo>
                    <a:pt x="7261" y="7676"/>
                  </a:lnTo>
                  <a:lnTo>
                    <a:pt x="8067" y="6342"/>
                  </a:lnTo>
                  <a:cubicBezTo>
                    <a:pt x="8067" y="6120"/>
                    <a:pt x="7941" y="6082"/>
                    <a:pt x="8067" y="5676"/>
                  </a:cubicBezTo>
                  <a:cubicBezTo>
                    <a:pt x="8193" y="5270"/>
                    <a:pt x="8503" y="4112"/>
                    <a:pt x="8822" y="3908"/>
                  </a:cubicBezTo>
                  <a:cubicBezTo>
                    <a:pt x="9185" y="3676"/>
                    <a:pt x="9126" y="3756"/>
                    <a:pt x="9189" y="3701"/>
                  </a:cubicBezTo>
                  <a:cubicBezTo>
                    <a:pt x="9252" y="3646"/>
                    <a:pt x="9284" y="3569"/>
                    <a:pt x="9318" y="3593"/>
                  </a:cubicBezTo>
                  <a:cubicBezTo>
                    <a:pt x="9388" y="3534"/>
                    <a:pt x="9296" y="3577"/>
                    <a:pt x="9415" y="3493"/>
                  </a:cubicBezTo>
                  <a:cubicBezTo>
                    <a:pt x="9534" y="3409"/>
                    <a:pt x="9908" y="3137"/>
                    <a:pt x="9969" y="2847"/>
                  </a:cubicBezTo>
                  <a:cubicBezTo>
                    <a:pt x="10030" y="2557"/>
                    <a:pt x="10018" y="1949"/>
                    <a:pt x="9783" y="1752"/>
                  </a:cubicBezTo>
                  <a:cubicBezTo>
                    <a:pt x="9774" y="1701"/>
                    <a:pt x="9763" y="1649"/>
                    <a:pt x="9754" y="1598"/>
                  </a:cubicBezTo>
                  <a:cubicBezTo>
                    <a:pt x="9738" y="1593"/>
                    <a:pt x="9576" y="1599"/>
                    <a:pt x="9561" y="1594"/>
                  </a:cubicBezTo>
                  <a:lnTo>
                    <a:pt x="9121" y="1479"/>
                  </a:lnTo>
                  <a:close/>
                </a:path>
              </a:pathLst>
            </a:custGeom>
            <a:solidFill>
              <a:schemeClr val="bg1">
                <a:lumMod val="65000"/>
              </a:schemeClr>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dirty="0">
                <a:solidFill>
                  <a:srgbClr val="7F7F7F"/>
                </a:solidFill>
                <a:latin typeface="Calibri" panose="020F0502020204030204" pitchFamily="34" charset="0"/>
                <a:cs typeface="Calibri" panose="020F0502020204030204" pitchFamily="34" charset="0"/>
              </a:endParaRPr>
            </a:p>
          </p:txBody>
        </p:sp>
        <p:sp>
          <p:nvSpPr>
            <p:cNvPr id="8" name="Freeform 5">
              <a:extLst>
                <a:ext uri="{FF2B5EF4-FFF2-40B4-BE49-F238E27FC236}">
                  <a16:creationId xmlns:a16="http://schemas.microsoft.com/office/drawing/2014/main" id="{AD09D0A7-1D78-8155-12FE-456D3A2EEE34}"/>
                </a:ext>
              </a:extLst>
            </p:cNvPr>
            <p:cNvSpPr>
              <a:spLocks/>
            </p:cNvSpPr>
            <p:nvPr/>
          </p:nvSpPr>
          <p:spPr bwMode="auto">
            <a:xfrm rot="926903">
              <a:off x="5077044" y="3023579"/>
              <a:ext cx="108398" cy="236943"/>
            </a:xfrm>
            <a:custGeom>
              <a:avLst/>
              <a:gdLst>
                <a:gd name="T0" fmla="*/ 426029799 w 10000"/>
                <a:gd name="T1" fmla="*/ 2147483647 h 10437"/>
                <a:gd name="T2" fmla="*/ 426029799 w 10000"/>
                <a:gd name="T3" fmla="*/ 2147483647 h 10437"/>
                <a:gd name="T4" fmla="*/ 441127138 w 10000"/>
                <a:gd name="T5" fmla="*/ 2147483647 h 10437"/>
                <a:gd name="T6" fmla="*/ 486896829 w 10000"/>
                <a:gd name="T7" fmla="*/ 2147483647 h 10437"/>
                <a:gd name="T8" fmla="*/ 486896829 w 10000"/>
                <a:gd name="T9" fmla="*/ 2147483647 h 10437"/>
                <a:gd name="T10" fmla="*/ 505393367 w 10000"/>
                <a:gd name="T11" fmla="*/ 2147483647 h 10437"/>
                <a:gd name="T12" fmla="*/ 547757218 w 10000"/>
                <a:gd name="T13" fmla="*/ 2147483647 h 10437"/>
                <a:gd name="T14" fmla="*/ 556948788 w 10000"/>
                <a:gd name="T15" fmla="*/ 2147483647 h 10437"/>
                <a:gd name="T16" fmla="*/ 608617535 w 10000"/>
                <a:gd name="T17" fmla="*/ 2147483647 h 10437"/>
                <a:gd name="T18" fmla="*/ 547757218 w 10000"/>
                <a:gd name="T19" fmla="*/ 2147483647 h 10437"/>
                <a:gd name="T20" fmla="*/ 486896829 w 10000"/>
                <a:gd name="T21" fmla="*/ 1175804211 h 10437"/>
                <a:gd name="T22" fmla="*/ 304309174 w 10000"/>
                <a:gd name="T23" fmla="*/ 0 h 10437"/>
                <a:gd name="T24" fmla="*/ 182587736 w 10000"/>
                <a:gd name="T25" fmla="*/ 1175804211 h 10437"/>
                <a:gd name="T26" fmla="*/ 121720705 w 10000"/>
                <a:gd name="T27" fmla="*/ 2147483647 h 10437"/>
                <a:gd name="T28" fmla="*/ 75167108 w 10000"/>
                <a:gd name="T29" fmla="*/ 2147483647 h 10437"/>
                <a:gd name="T30" fmla="*/ 121720705 w 10000"/>
                <a:gd name="T31" fmla="*/ 2147483647 h 10437"/>
                <a:gd name="T32" fmla="*/ 121720705 w 10000"/>
                <a:gd name="T33" fmla="*/ 2147483647 h 10437"/>
                <a:gd name="T34" fmla="*/ 13937767 w 10000"/>
                <a:gd name="T35" fmla="*/ 2147483647 h 10437"/>
                <a:gd name="T36" fmla="*/ 0 w 10000"/>
                <a:gd name="T37" fmla="*/ 2147483647 h 10437"/>
                <a:gd name="T38" fmla="*/ 39560971 w 10000"/>
                <a:gd name="T39" fmla="*/ 2147483647 h 10437"/>
                <a:gd name="T40" fmla="*/ 121720705 w 10000"/>
                <a:gd name="T41" fmla="*/ 2147483647 h 10437"/>
                <a:gd name="T42" fmla="*/ 68959129 w 10000"/>
                <a:gd name="T43" fmla="*/ 2147483647 h 10437"/>
                <a:gd name="T44" fmla="*/ 394566826 w 10000"/>
                <a:gd name="T45" fmla="*/ 2147483647 h 10437"/>
                <a:gd name="T46" fmla="*/ 436863210 w 10000"/>
                <a:gd name="T47" fmla="*/ 2147483647 h 10437"/>
                <a:gd name="T48" fmla="*/ 426029799 w 10000"/>
                <a:gd name="T49" fmla="*/ 2147483647 h 10437"/>
                <a:gd name="T50" fmla="*/ 426029799 w 10000"/>
                <a:gd name="T51" fmla="*/ 2147483647 h 1043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0000" h="10437">
                  <a:moveTo>
                    <a:pt x="7000" y="8110"/>
                  </a:moveTo>
                  <a:lnTo>
                    <a:pt x="7000" y="7638"/>
                  </a:lnTo>
                  <a:cubicBezTo>
                    <a:pt x="7083" y="7334"/>
                    <a:pt x="7165" y="7030"/>
                    <a:pt x="7248" y="6726"/>
                  </a:cubicBezTo>
                  <a:lnTo>
                    <a:pt x="8000" y="5748"/>
                  </a:lnTo>
                  <a:lnTo>
                    <a:pt x="8000" y="5276"/>
                  </a:lnTo>
                  <a:cubicBezTo>
                    <a:pt x="8101" y="4899"/>
                    <a:pt x="8203" y="4522"/>
                    <a:pt x="8304" y="4145"/>
                  </a:cubicBezTo>
                  <a:lnTo>
                    <a:pt x="9000" y="3386"/>
                  </a:lnTo>
                  <a:cubicBezTo>
                    <a:pt x="9050" y="3079"/>
                    <a:pt x="9101" y="2772"/>
                    <a:pt x="9151" y="2465"/>
                  </a:cubicBezTo>
                  <a:lnTo>
                    <a:pt x="10000" y="1496"/>
                  </a:lnTo>
                  <a:lnTo>
                    <a:pt x="9000" y="1024"/>
                  </a:lnTo>
                  <a:lnTo>
                    <a:pt x="8000" y="472"/>
                  </a:lnTo>
                  <a:lnTo>
                    <a:pt x="5000" y="0"/>
                  </a:lnTo>
                  <a:lnTo>
                    <a:pt x="3000" y="472"/>
                  </a:lnTo>
                  <a:lnTo>
                    <a:pt x="2000" y="1024"/>
                  </a:lnTo>
                  <a:lnTo>
                    <a:pt x="1235" y="1429"/>
                  </a:lnTo>
                  <a:lnTo>
                    <a:pt x="2000" y="2913"/>
                  </a:lnTo>
                  <a:lnTo>
                    <a:pt x="2000" y="4803"/>
                  </a:lnTo>
                  <a:lnTo>
                    <a:pt x="229" y="6206"/>
                  </a:lnTo>
                  <a:cubicBezTo>
                    <a:pt x="153" y="6526"/>
                    <a:pt x="76" y="6845"/>
                    <a:pt x="0" y="7165"/>
                  </a:cubicBezTo>
                  <a:lnTo>
                    <a:pt x="650" y="7719"/>
                  </a:lnTo>
                  <a:lnTo>
                    <a:pt x="2000" y="7638"/>
                  </a:lnTo>
                  <a:lnTo>
                    <a:pt x="1133" y="10397"/>
                  </a:lnTo>
                  <a:lnTo>
                    <a:pt x="6483" y="10437"/>
                  </a:lnTo>
                  <a:cubicBezTo>
                    <a:pt x="6656" y="10000"/>
                    <a:pt x="7005" y="9867"/>
                    <a:pt x="7178" y="9430"/>
                  </a:cubicBezTo>
                  <a:cubicBezTo>
                    <a:pt x="7119" y="9305"/>
                    <a:pt x="7059" y="9180"/>
                    <a:pt x="7000" y="9055"/>
                  </a:cubicBezTo>
                  <a:lnTo>
                    <a:pt x="7000" y="811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9" name="Freeform 6">
              <a:extLst>
                <a:ext uri="{FF2B5EF4-FFF2-40B4-BE49-F238E27FC236}">
                  <a16:creationId xmlns:a16="http://schemas.microsoft.com/office/drawing/2014/main" id="{1CF38ED1-5BC4-A2C2-D5D3-C4807BAE74B3}"/>
                </a:ext>
              </a:extLst>
            </p:cNvPr>
            <p:cNvSpPr>
              <a:spLocks/>
            </p:cNvSpPr>
            <p:nvPr/>
          </p:nvSpPr>
          <p:spPr bwMode="auto">
            <a:xfrm>
              <a:off x="5712220" y="2873830"/>
              <a:ext cx="228207" cy="100465"/>
            </a:xfrm>
            <a:custGeom>
              <a:avLst/>
              <a:gdLst>
                <a:gd name="T0" fmla="*/ 2147483647 w 10000"/>
                <a:gd name="T1" fmla="*/ 230353942 h 10000"/>
                <a:gd name="T2" fmla="*/ 2147483647 w 10000"/>
                <a:gd name="T3" fmla="*/ 153542679 h 10000"/>
                <a:gd name="T4" fmla="*/ 2147483647 w 10000"/>
                <a:gd name="T5" fmla="*/ 153542679 h 10000"/>
                <a:gd name="T6" fmla="*/ 2147483647 w 10000"/>
                <a:gd name="T7" fmla="*/ 76771339 h 10000"/>
                <a:gd name="T8" fmla="*/ 2147483647 w 10000"/>
                <a:gd name="T9" fmla="*/ 38383015 h 10000"/>
                <a:gd name="T10" fmla="*/ 2147483647 w 10000"/>
                <a:gd name="T11" fmla="*/ 38383015 h 10000"/>
                <a:gd name="T12" fmla="*/ 2147483647 w 10000"/>
                <a:gd name="T13" fmla="*/ 0 h 10000"/>
                <a:gd name="T14" fmla="*/ 2147483647 w 10000"/>
                <a:gd name="T15" fmla="*/ 38383015 h 10000"/>
                <a:gd name="T16" fmla="*/ 2147483647 w 10000"/>
                <a:gd name="T17" fmla="*/ 38383015 h 10000"/>
                <a:gd name="T18" fmla="*/ 2147483647 w 10000"/>
                <a:gd name="T19" fmla="*/ 76771339 h 10000"/>
                <a:gd name="T20" fmla="*/ 2147483647 w 10000"/>
                <a:gd name="T21" fmla="*/ 115154355 h 10000"/>
                <a:gd name="T22" fmla="*/ 2147483647 w 10000"/>
                <a:gd name="T23" fmla="*/ 191925686 h 10000"/>
                <a:gd name="T24" fmla="*/ 2147483647 w 10000"/>
                <a:gd name="T25" fmla="*/ 230353942 h 10000"/>
                <a:gd name="T26" fmla="*/ 2147483647 w 10000"/>
                <a:gd name="T27" fmla="*/ 230353942 h 10000"/>
                <a:gd name="T28" fmla="*/ 2147483647 w 10000"/>
                <a:gd name="T29" fmla="*/ 268737521 h 10000"/>
                <a:gd name="T30" fmla="*/ 2147483647 w 10000"/>
                <a:gd name="T31" fmla="*/ 268737521 h 10000"/>
                <a:gd name="T32" fmla="*/ 1048843394 w 10000"/>
                <a:gd name="T33" fmla="*/ 268737521 h 10000"/>
                <a:gd name="T34" fmla="*/ 0 w 10000"/>
                <a:gd name="T35" fmla="*/ 268737521 h 10000"/>
                <a:gd name="T36" fmla="*/ 1048843394 w 10000"/>
                <a:gd name="T37" fmla="*/ 307125281 h 10000"/>
                <a:gd name="T38" fmla="*/ 2147483647 w 10000"/>
                <a:gd name="T39" fmla="*/ 383896612 h 10000"/>
                <a:gd name="T40" fmla="*/ 2147483647 w 10000"/>
                <a:gd name="T41" fmla="*/ 422280200 h 10000"/>
                <a:gd name="T42" fmla="*/ 2147483647 w 10000"/>
                <a:gd name="T43" fmla="*/ 383896612 h 10000"/>
                <a:gd name="T44" fmla="*/ 2147483647 w 10000"/>
                <a:gd name="T45" fmla="*/ 383896612 h 10000"/>
                <a:gd name="T46" fmla="*/ 2147483647 w 10000"/>
                <a:gd name="T47" fmla="*/ 422280200 h 10000"/>
                <a:gd name="T48" fmla="*/ 2147483647 w 10000"/>
                <a:gd name="T49" fmla="*/ 422280200 h 10000"/>
                <a:gd name="T50" fmla="*/ 2147483647 w 10000"/>
                <a:gd name="T51" fmla="*/ 422280200 h 10000"/>
                <a:gd name="T52" fmla="*/ 2147483647 w 10000"/>
                <a:gd name="T53" fmla="*/ 345508860 h 10000"/>
                <a:gd name="T54" fmla="*/ 2147483647 w 10000"/>
                <a:gd name="T55" fmla="*/ 345508860 h 10000"/>
                <a:gd name="T56" fmla="*/ 2147483647 w 10000"/>
                <a:gd name="T57" fmla="*/ 230353942 h 1000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0000" h="10000">
                  <a:moveTo>
                    <a:pt x="9583" y="5455"/>
                  </a:moveTo>
                  <a:lnTo>
                    <a:pt x="10000" y="3636"/>
                  </a:lnTo>
                  <a:lnTo>
                    <a:pt x="9583" y="1818"/>
                  </a:lnTo>
                  <a:lnTo>
                    <a:pt x="9583" y="909"/>
                  </a:lnTo>
                  <a:lnTo>
                    <a:pt x="9167" y="909"/>
                  </a:lnTo>
                  <a:lnTo>
                    <a:pt x="7500" y="0"/>
                  </a:lnTo>
                  <a:lnTo>
                    <a:pt x="7083" y="909"/>
                  </a:lnTo>
                  <a:lnTo>
                    <a:pt x="5833" y="909"/>
                  </a:lnTo>
                  <a:lnTo>
                    <a:pt x="5417" y="1818"/>
                  </a:lnTo>
                  <a:lnTo>
                    <a:pt x="4583" y="2727"/>
                  </a:lnTo>
                  <a:lnTo>
                    <a:pt x="5000" y="4545"/>
                  </a:lnTo>
                  <a:cubicBezTo>
                    <a:pt x="5000" y="4545"/>
                    <a:pt x="5000" y="5455"/>
                    <a:pt x="4583" y="5455"/>
                  </a:cubicBezTo>
                  <a:lnTo>
                    <a:pt x="4167" y="5455"/>
                  </a:lnTo>
                  <a:lnTo>
                    <a:pt x="2500" y="6364"/>
                  </a:lnTo>
                  <a:lnTo>
                    <a:pt x="1667" y="6364"/>
                  </a:lnTo>
                  <a:lnTo>
                    <a:pt x="417" y="6364"/>
                  </a:lnTo>
                  <a:lnTo>
                    <a:pt x="0" y="6364"/>
                  </a:lnTo>
                  <a:lnTo>
                    <a:pt x="417" y="7273"/>
                  </a:lnTo>
                  <a:lnTo>
                    <a:pt x="1250" y="9091"/>
                  </a:lnTo>
                  <a:lnTo>
                    <a:pt x="1667" y="10000"/>
                  </a:lnTo>
                  <a:lnTo>
                    <a:pt x="2083" y="9091"/>
                  </a:lnTo>
                  <a:lnTo>
                    <a:pt x="3750" y="9091"/>
                  </a:lnTo>
                  <a:lnTo>
                    <a:pt x="5417" y="10000"/>
                  </a:lnTo>
                  <a:lnTo>
                    <a:pt x="5833" y="10000"/>
                  </a:lnTo>
                  <a:lnTo>
                    <a:pt x="7500" y="10000"/>
                  </a:lnTo>
                  <a:lnTo>
                    <a:pt x="8750" y="8182"/>
                  </a:lnTo>
                  <a:lnTo>
                    <a:pt x="9167" y="8182"/>
                  </a:lnTo>
                  <a:cubicBezTo>
                    <a:pt x="9306" y="7273"/>
                    <a:pt x="9444" y="6364"/>
                    <a:pt x="9583" y="5455"/>
                  </a:cubicBez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0" name="Freeform 7">
              <a:extLst>
                <a:ext uri="{FF2B5EF4-FFF2-40B4-BE49-F238E27FC236}">
                  <a16:creationId xmlns:a16="http://schemas.microsoft.com/office/drawing/2014/main" id="{165DB43C-3D48-089C-7B30-E21F9F50F11A}"/>
                </a:ext>
              </a:extLst>
            </p:cNvPr>
            <p:cNvSpPr>
              <a:spLocks/>
            </p:cNvSpPr>
            <p:nvPr/>
          </p:nvSpPr>
          <p:spPr bwMode="auto">
            <a:xfrm rot="471028">
              <a:off x="5320465" y="2748723"/>
              <a:ext cx="365131" cy="350677"/>
            </a:xfrm>
            <a:custGeom>
              <a:avLst/>
              <a:gdLst>
                <a:gd name="T0" fmla="*/ 2147483647 w 10043"/>
                <a:gd name="T1" fmla="*/ 2147483647 h 10000"/>
                <a:gd name="T2" fmla="*/ 2147483647 w 10043"/>
                <a:gd name="T3" fmla="*/ 2147483647 h 10000"/>
                <a:gd name="T4" fmla="*/ 2147483647 w 10043"/>
                <a:gd name="T5" fmla="*/ 2147483647 h 10000"/>
                <a:gd name="T6" fmla="*/ 2147483647 w 10043"/>
                <a:gd name="T7" fmla="*/ 2147483647 h 10000"/>
                <a:gd name="T8" fmla="*/ 2147483647 w 10043"/>
                <a:gd name="T9" fmla="*/ 2147483647 h 10000"/>
                <a:gd name="T10" fmla="*/ 2147483647 w 10043"/>
                <a:gd name="T11" fmla="*/ 2147483647 h 10000"/>
                <a:gd name="T12" fmla="*/ 2147483647 w 10043"/>
                <a:gd name="T13" fmla="*/ 2147483647 h 10000"/>
                <a:gd name="T14" fmla="*/ 2147483647 w 10043"/>
                <a:gd name="T15" fmla="*/ 2147483647 h 10000"/>
                <a:gd name="T16" fmla="*/ 2147483647 w 10043"/>
                <a:gd name="T17" fmla="*/ 2147483647 h 10000"/>
                <a:gd name="T18" fmla="*/ 2147483647 w 10043"/>
                <a:gd name="T19" fmla="*/ 2147483647 h 10000"/>
                <a:gd name="T20" fmla="*/ 2147483647 w 10043"/>
                <a:gd name="T21" fmla="*/ 2147483647 h 10000"/>
                <a:gd name="T22" fmla="*/ 2147483647 w 10043"/>
                <a:gd name="T23" fmla="*/ 2147483647 h 10000"/>
                <a:gd name="T24" fmla="*/ 2147483647 w 10043"/>
                <a:gd name="T25" fmla="*/ 2147483647 h 10000"/>
                <a:gd name="T26" fmla="*/ 2147483647 w 10043"/>
                <a:gd name="T27" fmla="*/ 2147483647 h 10000"/>
                <a:gd name="T28" fmla="*/ 2147483647 w 10043"/>
                <a:gd name="T29" fmla="*/ 2147483647 h 10000"/>
                <a:gd name="T30" fmla="*/ 2147483647 w 10043"/>
                <a:gd name="T31" fmla="*/ 2147483647 h 10000"/>
                <a:gd name="T32" fmla="*/ 2147483647 w 10043"/>
                <a:gd name="T33" fmla="*/ 2147483647 h 10000"/>
                <a:gd name="T34" fmla="*/ 2147483647 w 10043"/>
                <a:gd name="T35" fmla="*/ 2147483647 h 10000"/>
                <a:gd name="T36" fmla="*/ 2147483647 w 10043"/>
                <a:gd name="T37" fmla="*/ 2147483647 h 10000"/>
                <a:gd name="T38" fmla="*/ 2147483647 w 10043"/>
                <a:gd name="T39" fmla="*/ 2147483647 h 10000"/>
                <a:gd name="T40" fmla="*/ 2147483647 w 10043"/>
                <a:gd name="T41" fmla="*/ 0 h 10000"/>
                <a:gd name="T42" fmla="*/ 2147483647 w 10043"/>
                <a:gd name="T43" fmla="*/ 2147483647 h 10000"/>
                <a:gd name="T44" fmla="*/ 2147483647 w 10043"/>
                <a:gd name="T45" fmla="*/ 2147483647 h 10000"/>
                <a:gd name="T46" fmla="*/ 2147483647 w 10043"/>
                <a:gd name="T47" fmla="*/ 2147483647 h 10000"/>
                <a:gd name="T48" fmla="*/ 2147483647 w 10043"/>
                <a:gd name="T49" fmla="*/ 2147483647 h 10000"/>
                <a:gd name="T50" fmla="*/ 2147483647 w 10043"/>
                <a:gd name="T51" fmla="*/ 2147483647 h 10000"/>
                <a:gd name="T52" fmla="*/ 2147483647 w 10043"/>
                <a:gd name="T53" fmla="*/ 2147483647 h 10000"/>
                <a:gd name="T54" fmla="*/ 2147483647 w 10043"/>
                <a:gd name="T55" fmla="*/ 2147483647 h 10000"/>
                <a:gd name="T56" fmla="*/ 2147483647 w 10043"/>
                <a:gd name="T57" fmla="*/ 2147483647 h 10000"/>
                <a:gd name="T58" fmla="*/ 2147483647 w 10043"/>
                <a:gd name="T59" fmla="*/ 2147483647 h 10000"/>
                <a:gd name="T60" fmla="*/ 2147483647 w 10043"/>
                <a:gd name="T61" fmla="*/ 2147483647 h 10000"/>
                <a:gd name="T62" fmla="*/ 2147483647 w 10043"/>
                <a:gd name="T63" fmla="*/ 2147483647 h 10000"/>
                <a:gd name="T64" fmla="*/ 2147483647 w 10043"/>
                <a:gd name="T65" fmla="*/ 2147483647 h 10000"/>
                <a:gd name="T66" fmla="*/ 852645632 w 10043"/>
                <a:gd name="T67" fmla="*/ 2147483647 h 10000"/>
                <a:gd name="T68" fmla="*/ 2147483647 w 10043"/>
                <a:gd name="T69" fmla="*/ 2147483647 h 10000"/>
                <a:gd name="T70" fmla="*/ 2147483647 w 10043"/>
                <a:gd name="T71" fmla="*/ 2147483647 h 10000"/>
                <a:gd name="T72" fmla="*/ 2147483647 w 10043"/>
                <a:gd name="T73" fmla="*/ 2147483647 h 10000"/>
                <a:gd name="T74" fmla="*/ 2147483647 w 10043"/>
                <a:gd name="T75" fmla="*/ 2147483647 h 10000"/>
                <a:gd name="T76" fmla="*/ 2147483647 w 10043"/>
                <a:gd name="T77" fmla="*/ 2147483647 h 10000"/>
                <a:gd name="T78" fmla="*/ 2147483647 w 10043"/>
                <a:gd name="T79" fmla="*/ 2147483647 h 10000"/>
                <a:gd name="T80" fmla="*/ 2147483647 w 10043"/>
                <a:gd name="T81" fmla="*/ 2147483647 h 10000"/>
                <a:gd name="T82" fmla="*/ 2147483647 w 10043"/>
                <a:gd name="T83" fmla="*/ 2147483647 h 10000"/>
                <a:gd name="T84" fmla="*/ 2147483647 w 10043"/>
                <a:gd name="T85" fmla="*/ 2147483647 h 10000"/>
                <a:gd name="T86" fmla="*/ 2147483647 w 10043"/>
                <a:gd name="T87" fmla="*/ 2147483647 h 10000"/>
                <a:gd name="T88" fmla="*/ 2147483647 w 10043"/>
                <a:gd name="T89" fmla="*/ 2147483647 h 10000"/>
                <a:gd name="T90" fmla="*/ 2147483647 w 10043"/>
                <a:gd name="T91" fmla="*/ 2147483647 h 10000"/>
                <a:gd name="T92" fmla="*/ 2147483647 w 10043"/>
                <a:gd name="T93" fmla="*/ 2147483647 h 10000"/>
                <a:gd name="T94" fmla="*/ 2147483647 w 10043"/>
                <a:gd name="T95" fmla="*/ 2147483647 h 10000"/>
                <a:gd name="T96" fmla="*/ 2147483647 w 10043"/>
                <a:gd name="T97" fmla="*/ 2147483647 h 10000"/>
                <a:gd name="T98" fmla="*/ 2147483647 w 10043"/>
                <a:gd name="T99" fmla="*/ 2147483647 h 10000"/>
                <a:gd name="T100" fmla="*/ 2147483647 w 10043"/>
                <a:gd name="T101" fmla="*/ 2147483647 h 10000"/>
                <a:gd name="T102" fmla="*/ 2147483647 w 10043"/>
                <a:gd name="T103" fmla="*/ 2147483647 h 10000"/>
                <a:gd name="T104" fmla="*/ 2147483647 w 10043"/>
                <a:gd name="T105" fmla="*/ 2147483647 h 10000"/>
                <a:gd name="T106" fmla="*/ 2147483647 w 10043"/>
                <a:gd name="T107" fmla="*/ 2147483647 h 10000"/>
                <a:gd name="T108" fmla="*/ 2147483647 w 10043"/>
                <a:gd name="T109" fmla="*/ 2147483647 h 10000"/>
                <a:gd name="T110" fmla="*/ 2147483647 w 10043"/>
                <a:gd name="T111" fmla="*/ 2147483647 h 10000"/>
                <a:gd name="T112" fmla="*/ 2147483647 w 10043"/>
                <a:gd name="T113" fmla="*/ 2147483647 h 10000"/>
                <a:gd name="T114" fmla="*/ 2147483647 w 10043"/>
                <a:gd name="T115" fmla="*/ 2147483647 h 10000"/>
                <a:gd name="T116" fmla="*/ 2147483647 w 10043"/>
                <a:gd name="T117" fmla="*/ 2147483647 h 10000"/>
                <a:gd name="T118" fmla="*/ 2147483647 w 10043"/>
                <a:gd name="T119" fmla="*/ 2147483647 h 10000"/>
                <a:gd name="T120" fmla="*/ 2147483647 w 10043"/>
                <a:gd name="T121" fmla="*/ 2147483647 h 1000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043" h="10000">
                  <a:moveTo>
                    <a:pt x="9119" y="7195"/>
                  </a:moveTo>
                  <a:cubicBezTo>
                    <a:pt x="9204" y="7033"/>
                    <a:pt x="9249" y="6746"/>
                    <a:pt x="9276" y="6559"/>
                  </a:cubicBezTo>
                  <a:cubicBezTo>
                    <a:pt x="9302" y="6372"/>
                    <a:pt x="9276" y="6235"/>
                    <a:pt x="9276" y="6074"/>
                  </a:cubicBezTo>
                  <a:cubicBezTo>
                    <a:pt x="9191" y="5911"/>
                    <a:pt x="9105" y="5750"/>
                    <a:pt x="9020" y="5588"/>
                  </a:cubicBezTo>
                  <a:cubicBezTo>
                    <a:pt x="8849" y="5588"/>
                    <a:pt x="8579" y="5641"/>
                    <a:pt x="8508" y="5588"/>
                  </a:cubicBezTo>
                  <a:cubicBezTo>
                    <a:pt x="8437" y="5534"/>
                    <a:pt x="8566" y="5375"/>
                    <a:pt x="8596" y="5268"/>
                  </a:cubicBezTo>
                  <a:cubicBezTo>
                    <a:pt x="8822" y="4969"/>
                    <a:pt x="9120" y="4562"/>
                    <a:pt x="9276" y="4373"/>
                  </a:cubicBezTo>
                  <a:cubicBezTo>
                    <a:pt x="9431" y="4183"/>
                    <a:pt x="9446" y="4210"/>
                    <a:pt x="9531" y="4129"/>
                  </a:cubicBezTo>
                  <a:lnTo>
                    <a:pt x="9531" y="3158"/>
                  </a:lnTo>
                  <a:lnTo>
                    <a:pt x="10043" y="2672"/>
                  </a:lnTo>
                  <a:lnTo>
                    <a:pt x="9276" y="2429"/>
                  </a:lnTo>
                  <a:lnTo>
                    <a:pt x="8764" y="2186"/>
                  </a:lnTo>
                  <a:lnTo>
                    <a:pt x="7996" y="1943"/>
                  </a:lnTo>
                  <a:lnTo>
                    <a:pt x="7741" y="1700"/>
                  </a:lnTo>
                  <a:lnTo>
                    <a:pt x="7229" y="1457"/>
                  </a:lnTo>
                  <a:lnTo>
                    <a:pt x="6717" y="1215"/>
                  </a:lnTo>
                  <a:lnTo>
                    <a:pt x="6461" y="729"/>
                  </a:lnTo>
                  <a:lnTo>
                    <a:pt x="5950" y="486"/>
                  </a:lnTo>
                  <a:lnTo>
                    <a:pt x="5694" y="0"/>
                  </a:lnTo>
                  <a:lnTo>
                    <a:pt x="5182" y="243"/>
                  </a:lnTo>
                  <a:lnTo>
                    <a:pt x="4671" y="1215"/>
                  </a:lnTo>
                  <a:cubicBezTo>
                    <a:pt x="4586" y="1296"/>
                    <a:pt x="4545" y="1311"/>
                    <a:pt x="4415" y="1457"/>
                  </a:cubicBezTo>
                  <a:cubicBezTo>
                    <a:pt x="4285" y="1603"/>
                    <a:pt x="4129" y="1996"/>
                    <a:pt x="3890" y="2092"/>
                  </a:cubicBezTo>
                  <a:cubicBezTo>
                    <a:pt x="3651" y="2188"/>
                    <a:pt x="3168" y="2108"/>
                    <a:pt x="2979" y="2034"/>
                  </a:cubicBezTo>
                  <a:cubicBezTo>
                    <a:pt x="2790" y="1960"/>
                    <a:pt x="2862" y="1718"/>
                    <a:pt x="2757" y="1649"/>
                  </a:cubicBezTo>
                  <a:cubicBezTo>
                    <a:pt x="2652" y="1580"/>
                    <a:pt x="2418" y="1522"/>
                    <a:pt x="2348" y="1621"/>
                  </a:cubicBezTo>
                  <a:cubicBezTo>
                    <a:pt x="2279" y="1720"/>
                    <a:pt x="2337" y="2029"/>
                    <a:pt x="2340" y="2245"/>
                  </a:cubicBezTo>
                  <a:cubicBezTo>
                    <a:pt x="2343" y="2461"/>
                    <a:pt x="2491" y="2803"/>
                    <a:pt x="2368" y="2915"/>
                  </a:cubicBezTo>
                  <a:cubicBezTo>
                    <a:pt x="2245" y="3027"/>
                    <a:pt x="1781" y="2985"/>
                    <a:pt x="1601" y="2915"/>
                  </a:cubicBezTo>
                  <a:cubicBezTo>
                    <a:pt x="1421" y="2845"/>
                    <a:pt x="1442" y="2545"/>
                    <a:pt x="1289" y="2497"/>
                  </a:cubicBezTo>
                  <a:cubicBezTo>
                    <a:pt x="1136" y="2449"/>
                    <a:pt x="893" y="2584"/>
                    <a:pt x="684" y="2625"/>
                  </a:cubicBezTo>
                  <a:cubicBezTo>
                    <a:pt x="475" y="2666"/>
                    <a:pt x="131" y="2638"/>
                    <a:pt x="33" y="2742"/>
                  </a:cubicBezTo>
                  <a:cubicBezTo>
                    <a:pt x="-65" y="2846"/>
                    <a:pt x="82" y="3088"/>
                    <a:pt x="94" y="3251"/>
                  </a:cubicBezTo>
                  <a:cubicBezTo>
                    <a:pt x="106" y="3414"/>
                    <a:pt x="-17" y="3533"/>
                    <a:pt x="105" y="3720"/>
                  </a:cubicBezTo>
                  <a:cubicBezTo>
                    <a:pt x="228" y="3907"/>
                    <a:pt x="584" y="4264"/>
                    <a:pt x="833" y="4373"/>
                  </a:cubicBezTo>
                  <a:cubicBezTo>
                    <a:pt x="1082" y="4481"/>
                    <a:pt x="1345" y="4373"/>
                    <a:pt x="1601" y="4373"/>
                  </a:cubicBezTo>
                  <a:lnTo>
                    <a:pt x="1856" y="4616"/>
                  </a:lnTo>
                  <a:lnTo>
                    <a:pt x="1856" y="4859"/>
                  </a:lnTo>
                  <a:lnTo>
                    <a:pt x="2112" y="5345"/>
                  </a:lnTo>
                  <a:cubicBezTo>
                    <a:pt x="2197" y="5588"/>
                    <a:pt x="2283" y="5831"/>
                    <a:pt x="2368" y="6074"/>
                  </a:cubicBezTo>
                  <a:lnTo>
                    <a:pt x="2624" y="6316"/>
                  </a:lnTo>
                  <a:cubicBezTo>
                    <a:pt x="2624" y="6559"/>
                    <a:pt x="2696" y="6675"/>
                    <a:pt x="2624" y="7045"/>
                  </a:cubicBezTo>
                  <a:cubicBezTo>
                    <a:pt x="2551" y="7414"/>
                    <a:pt x="2272" y="8240"/>
                    <a:pt x="2188" y="8533"/>
                  </a:cubicBezTo>
                  <a:cubicBezTo>
                    <a:pt x="2104" y="8826"/>
                    <a:pt x="2064" y="8649"/>
                    <a:pt x="2118" y="8804"/>
                  </a:cubicBezTo>
                  <a:cubicBezTo>
                    <a:pt x="2173" y="8958"/>
                    <a:pt x="2390" y="9351"/>
                    <a:pt x="2516" y="9462"/>
                  </a:cubicBezTo>
                  <a:cubicBezTo>
                    <a:pt x="2643" y="9574"/>
                    <a:pt x="2734" y="9472"/>
                    <a:pt x="2880" y="9474"/>
                  </a:cubicBezTo>
                  <a:cubicBezTo>
                    <a:pt x="3025" y="9476"/>
                    <a:pt x="3220" y="9474"/>
                    <a:pt x="3391" y="9474"/>
                  </a:cubicBezTo>
                  <a:lnTo>
                    <a:pt x="4159" y="9717"/>
                  </a:lnTo>
                  <a:lnTo>
                    <a:pt x="4671" y="9717"/>
                  </a:lnTo>
                  <a:lnTo>
                    <a:pt x="5438" y="9960"/>
                  </a:lnTo>
                  <a:cubicBezTo>
                    <a:pt x="5609" y="9960"/>
                    <a:pt x="5793" y="10051"/>
                    <a:pt x="5950" y="9960"/>
                  </a:cubicBezTo>
                  <a:cubicBezTo>
                    <a:pt x="6106" y="9870"/>
                    <a:pt x="6222" y="9506"/>
                    <a:pt x="6375" y="9413"/>
                  </a:cubicBezTo>
                  <a:cubicBezTo>
                    <a:pt x="6529" y="9321"/>
                    <a:pt x="6594" y="9367"/>
                    <a:pt x="6869" y="9401"/>
                  </a:cubicBezTo>
                  <a:cubicBezTo>
                    <a:pt x="7143" y="9436"/>
                    <a:pt x="7722" y="9569"/>
                    <a:pt x="8022" y="9625"/>
                  </a:cubicBezTo>
                  <a:cubicBezTo>
                    <a:pt x="8322" y="9682"/>
                    <a:pt x="8393" y="9858"/>
                    <a:pt x="8668" y="9743"/>
                  </a:cubicBezTo>
                  <a:cubicBezTo>
                    <a:pt x="8942" y="9628"/>
                    <a:pt x="9580" y="8937"/>
                    <a:pt x="9665" y="8937"/>
                  </a:cubicBezTo>
                  <a:lnTo>
                    <a:pt x="9079" y="8091"/>
                  </a:lnTo>
                  <a:cubicBezTo>
                    <a:pt x="9008" y="7886"/>
                    <a:pt x="8985" y="7957"/>
                    <a:pt x="8942" y="7836"/>
                  </a:cubicBezTo>
                  <a:cubicBezTo>
                    <a:pt x="8899" y="7714"/>
                    <a:pt x="9114" y="7387"/>
                    <a:pt x="9119" y="7195"/>
                  </a:cubicBez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1" name="Freeform 8">
              <a:extLst>
                <a:ext uri="{FF2B5EF4-FFF2-40B4-BE49-F238E27FC236}">
                  <a16:creationId xmlns:a16="http://schemas.microsoft.com/office/drawing/2014/main" id="{35BE8551-95DD-56FE-8714-DBE1C3E1BAC0}"/>
                </a:ext>
              </a:extLst>
            </p:cNvPr>
            <p:cNvSpPr>
              <a:spLocks/>
            </p:cNvSpPr>
            <p:nvPr/>
          </p:nvSpPr>
          <p:spPr bwMode="auto">
            <a:xfrm>
              <a:off x="5630445" y="2959130"/>
              <a:ext cx="372738" cy="377214"/>
            </a:xfrm>
            <a:custGeom>
              <a:avLst/>
              <a:gdLst>
                <a:gd name="T0" fmla="*/ 2147483647 w 154"/>
                <a:gd name="T1" fmla="*/ 2147483647 h 154"/>
                <a:gd name="T2" fmla="*/ 2147483647 w 154"/>
                <a:gd name="T3" fmla="*/ 0 h 154"/>
                <a:gd name="T4" fmla="*/ 2147483647 w 154"/>
                <a:gd name="T5" fmla="*/ 0 h 154"/>
                <a:gd name="T6" fmla="*/ 2147483647 w 154"/>
                <a:gd name="T7" fmla="*/ 2147483647 h 154"/>
                <a:gd name="T8" fmla="*/ 2147483647 w 154"/>
                <a:gd name="T9" fmla="*/ 2147483647 h 154"/>
                <a:gd name="T10" fmla="*/ 2147483647 w 154"/>
                <a:gd name="T11" fmla="*/ 2147483647 h 154"/>
                <a:gd name="T12" fmla="*/ 2147483647 w 154"/>
                <a:gd name="T13" fmla="*/ 2147483647 h 154"/>
                <a:gd name="T14" fmla="*/ 2147483647 w 154"/>
                <a:gd name="T15" fmla="*/ 2147483647 h 154"/>
                <a:gd name="T16" fmla="*/ 2147483647 w 154"/>
                <a:gd name="T17" fmla="*/ 2147483647 h 154"/>
                <a:gd name="T18" fmla="*/ 2147483647 w 154"/>
                <a:gd name="T19" fmla="*/ 2147483647 h 154"/>
                <a:gd name="T20" fmla="*/ 2147483647 w 154"/>
                <a:gd name="T21" fmla="*/ 2147483647 h 154"/>
                <a:gd name="T22" fmla="*/ 0 w 154"/>
                <a:gd name="T23" fmla="*/ 2147483647 h 154"/>
                <a:gd name="T24" fmla="*/ 2147483647 w 154"/>
                <a:gd name="T25" fmla="*/ 2147483647 h 154"/>
                <a:gd name="T26" fmla="*/ 2147483647 w 154"/>
                <a:gd name="T27" fmla="*/ 2147483647 h 154"/>
                <a:gd name="T28" fmla="*/ 2147483647 w 154"/>
                <a:gd name="T29" fmla="*/ 2147483647 h 154"/>
                <a:gd name="T30" fmla="*/ 2147483647 w 154"/>
                <a:gd name="T31" fmla="*/ 2147483647 h 154"/>
                <a:gd name="T32" fmla="*/ 2147483647 w 154"/>
                <a:gd name="T33" fmla="*/ 2147483647 h 154"/>
                <a:gd name="T34" fmla="*/ 2147483647 w 154"/>
                <a:gd name="T35" fmla="*/ 2147483647 h 154"/>
                <a:gd name="T36" fmla="*/ 2147483647 w 154"/>
                <a:gd name="T37" fmla="*/ 2147483647 h 154"/>
                <a:gd name="T38" fmla="*/ 2147483647 w 154"/>
                <a:gd name="T39" fmla="*/ 2147483647 h 154"/>
                <a:gd name="T40" fmla="*/ 2147483647 w 154"/>
                <a:gd name="T41" fmla="*/ 2147483647 h 154"/>
                <a:gd name="T42" fmla="*/ 2147483647 w 154"/>
                <a:gd name="T43" fmla="*/ 2147483647 h 154"/>
                <a:gd name="T44" fmla="*/ 2147483647 w 154"/>
                <a:gd name="T45" fmla="*/ 2147483647 h 154"/>
                <a:gd name="T46" fmla="*/ 2147483647 w 154"/>
                <a:gd name="T47" fmla="*/ 2147483647 h 154"/>
                <a:gd name="T48" fmla="*/ 2147483647 w 154"/>
                <a:gd name="T49" fmla="*/ 2147483647 h 154"/>
                <a:gd name="T50" fmla="*/ 2147483647 w 154"/>
                <a:gd name="T51" fmla="*/ 2147483647 h 154"/>
                <a:gd name="T52" fmla="*/ 2147483647 w 154"/>
                <a:gd name="T53" fmla="*/ 2147483647 h 154"/>
                <a:gd name="T54" fmla="*/ 2147483647 w 154"/>
                <a:gd name="T55" fmla="*/ 2147483647 h 154"/>
                <a:gd name="T56" fmla="*/ 2147483647 w 154"/>
                <a:gd name="T57" fmla="*/ 2147483647 h 154"/>
                <a:gd name="T58" fmla="*/ 2147483647 w 154"/>
                <a:gd name="T59" fmla="*/ 2147483647 h 154"/>
                <a:gd name="T60" fmla="*/ 2147483647 w 154"/>
                <a:gd name="T61" fmla="*/ 2147483647 h 154"/>
                <a:gd name="T62" fmla="*/ 2147483647 w 154"/>
                <a:gd name="T63" fmla="*/ 2147483647 h 154"/>
                <a:gd name="T64" fmla="*/ 2147483647 w 154"/>
                <a:gd name="T65" fmla="*/ 2147483647 h 154"/>
                <a:gd name="T66" fmla="*/ 2147483647 w 154"/>
                <a:gd name="T67" fmla="*/ 2147483647 h 15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54" h="154">
                  <a:moveTo>
                    <a:pt x="87" y="4"/>
                  </a:moveTo>
                  <a:lnTo>
                    <a:pt x="71" y="0"/>
                  </a:lnTo>
                  <a:lnTo>
                    <a:pt x="54" y="0"/>
                  </a:lnTo>
                  <a:lnTo>
                    <a:pt x="50" y="4"/>
                  </a:lnTo>
                  <a:lnTo>
                    <a:pt x="46" y="4"/>
                  </a:lnTo>
                  <a:lnTo>
                    <a:pt x="37" y="8"/>
                  </a:lnTo>
                  <a:lnTo>
                    <a:pt x="25" y="12"/>
                  </a:lnTo>
                  <a:lnTo>
                    <a:pt x="21" y="8"/>
                  </a:lnTo>
                  <a:lnTo>
                    <a:pt x="8" y="16"/>
                  </a:lnTo>
                  <a:lnTo>
                    <a:pt x="4" y="16"/>
                  </a:lnTo>
                  <a:lnTo>
                    <a:pt x="4" y="25"/>
                  </a:lnTo>
                  <a:lnTo>
                    <a:pt x="0" y="33"/>
                  </a:lnTo>
                  <a:lnTo>
                    <a:pt x="4" y="45"/>
                  </a:lnTo>
                  <a:lnTo>
                    <a:pt x="12" y="54"/>
                  </a:lnTo>
                  <a:lnTo>
                    <a:pt x="21" y="45"/>
                  </a:lnTo>
                  <a:lnTo>
                    <a:pt x="42" y="54"/>
                  </a:lnTo>
                  <a:lnTo>
                    <a:pt x="54" y="78"/>
                  </a:lnTo>
                  <a:lnTo>
                    <a:pt x="67" y="95"/>
                  </a:lnTo>
                  <a:lnTo>
                    <a:pt x="96" y="112"/>
                  </a:lnTo>
                  <a:lnTo>
                    <a:pt x="114" y="126"/>
                  </a:lnTo>
                  <a:lnTo>
                    <a:pt x="106" y="154"/>
                  </a:lnTo>
                  <a:lnTo>
                    <a:pt x="133" y="133"/>
                  </a:lnTo>
                  <a:lnTo>
                    <a:pt x="133" y="120"/>
                  </a:lnTo>
                  <a:lnTo>
                    <a:pt x="146" y="124"/>
                  </a:lnTo>
                  <a:lnTo>
                    <a:pt x="154" y="124"/>
                  </a:lnTo>
                  <a:lnTo>
                    <a:pt x="133" y="104"/>
                  </a:lnTo>
                  <a:lnTo>
                    <a:pt x="117" y="91"/>
                  </a:lnTo>
                  <a:lnTo>
                    <a:pt x="104" y="87"/>
                  </a:lnTo>
                  <a:lnTo>
                    <a:pt x="87" y="58"/>
                  </a:lnTo>
                  <a:lnTo>
                    <a:pt x="79" y="41"/>
                  </a:lnTo>
                  <a:lnTo>
                    <a:pt x="83" y="25"/>
                  </a:lnTo>
                  <a:lnTo>
                    <a:pt x="87" y="25"/>
                  </a:lnTo>
                  <a:lnTo>
                    <a:pt x="87" y="16"/>
                  </a:lnTo>
                  <a:lnTo>
                    <a:pt x="87" y="4"/>
                  </a:ln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2" name="Freeform 9">
              <a:extLst>
                <a:ext uri="{FF2B5EF4-FFF2-40B4-BE49-F238E27FC236}">
                  <a16:creationId xmlns:a16="http://schemas.microsoft.com/office/drawing/2014/main" id="{FAD5FE5B-12C3-2FE4-2D08-920A3CC5BCF7}"/>
                </a:ext>
              </a:extLst>
            </p:cNvPr>
            <p:cNvSpPr>
              <a:spLocks/>
            </p:cNvSpPr>
            <p:nvPr/>
          </p:nvSpPr>
          <p:spPr bwMode="auto">
            <a:xfrm>
              <a:off x="5620937" y="2591393"/>
              <a:ext cx="239617" cy="348781"/>
            </a:xfrm>
            <a:custGeom>
              <a:avLst/>
              <a:gdLst>
                <a:gd name="T0" fmla="*/ 2147483647 w 10045"/>
                <a:gd name="T1" fmla="*/ 2147483647 h 10019"/>
                <a:gd name="T2" fmla="*/ 2147483647 w 10045"/>
                <a:gd name="T3" fmla="*/ 2147483647 h 10019"/>
                <a:gd name="T4" fmla="*/ 2147483647 w 10045"/>
                <a:gd name="T5" fmla="*/ 2147483647 h 10019"/>
                <a:gd name="T6" fmla="*/ 2147483647 w 10045"/>
                <a:gd name="T7" fmla="*/ 2147483647 h 10019"/>
                <a:gd name="T8" fmla="*/ 2147483647 w 10045"/>
                <a:gd name="T9" fmla="*/ 2147483647 h 10019"/>
                <a:gd name="T10" fmla="*/ 1081275730 w 10045"/>
                <a:gd name="T11" fmla="*/ 2147483647 h 10019"/>
                <a:gd name="T12" fmla="*/ 1081275730 w 10045"/>
                <a:gd name="T13" fmla="*/ 2147483647 h 10019"/>
                <a:gd name="T14" fmla="*/ 2147483647 w 10045"/>
                <a:gd name="T15" fmla="*/ 2147483647 h 10019"/>
                <a:gd name="T16" fmla="*/ 1081275730 w 10045"/>
                <a:gd name="T17" fmla="*/ 2147483647 h 10019"/>
                <a:gd name="T18" fmla="*/ 0 w 10045"/>
                <a:gd name="T19" fmla="*/ 2147483647 h 10019"/>
                <a:gd name="T20" fmla="*/ 2147483647 w 10045"/>
                <a:gd name="T21" fmla="*/ 2147483647 h 10019"/>
                <a:gd name="T22" fmla="*/ 2147483647 w 10045"/>
                <a:gd name="T23" fmla="*/ 2147483647 h 10019"/>
                <a:gd name="T24" fmla="*/ 2147483647 w 10045"/>
                <a:gd name="T25" fmla="*/ 2147483647 h 10019"/>
                <a:gd name="T26" fmla="*/ 2147483647 w 10045"/>
                <a:gd name="T27" fmla="*/ 2147483647 h 10019"/>
                <a:gd name="T28" fmla="*/ 2147483647 w 10045"/>
                <a:gd name="T29" fmla="*/ 2147483647 h 10019"/>
                <a:gd name="T30" fmla="*/ 2147483647 w 10045"/>
                <a:gd name="T31" fmla="*/ 2147483647 h 10019"/>
                <a:gd name="T32" fmla="*/ 2147483647 w 10045"/>
                <a:gd name="T33" fmla="*/ 2147483647 h 10019"/>
                <a:gd name="T34" fmla="*/ 2147483647 w 10045"/>
                <a:gd name="T35" fmla="*/ 2147483647 h 10019"/>
                <a:gd name="T36" fmla="*/ 2147483647 w 10045"/>
                <a:gd name="T37" fmla="*/ 2147483647 h 10019"/>
                <a:gd name="T38" fmla="*/ 2147483647 w 10045"/>
                <a:gd name="T39" fmla="*/ 2147483647 h 10019"/>
                <a:gd name="T40" fmla="*/ 2147483647 w 10045"/>
                <a:gd name="T41" fmla="*/ 2147483647 h 10019"/>
                <a:gd name="T42" fmla="*/ 2147483647 w 10045"/>
                <a:gd name="T43" fmla="*/ 2147483647 h 10019"/>
                <a:gd name="T44" fmla="*/ 2147483647 w 10045"/>
                <a:gd name="T45" fmla="*/ 2147483647 h 10019"/>
                <a:gd name="T46" fmla="*/ 2147483647 w 10045"/>
                <a:gd name="T47" fmla="*/ 2147483647 h 10019"/>
                <a:gd name="T48" fmla="*/ 2147483647 w 10045"/>
                <a:gd name="T49" fmla="*/ 2147483647 h 10019"/>
                <a:gd name="T50" fmla="*/ 2147483647 w 10045"/>
                <a:gd name="T51" fmla="*/ 2147483647 h 10019"/>
                <a:gd name="T52" fmla="*/ 2147483647 w 10045"/>
                <a:gd name="T53" fmla="*/ 2147483647 h 10019"/>
                <a:gd name="T54" fmla="*/ 2147483647 w 10045"/>
                <a:gd name="T55" fmla="*/ 2147483647 h 10019"/>
                <a:gd name="T56" fmla="*/ 2147483647 w 10045"/>
                <a:gd name="T57" fmla="*/ 2147483647 h 10019"/>
                <a:gd name="T58" fmla="*/ 2147483647 w 10045"/>
                <a:gd name="T59" fmla="*/ 2147483647 h 10019"/>
                <a:gd name="T60" fmla="*/ 2147483647 w 10045"/>
                <a:gd name="T61" fmla="*/ 2147483647 h 10019"/>
                <a:gd name="T62" fmla="*/ 2147483647 w 10045"/>
                <a:gd name="T63" fmla="*/ 2147483647 h 10019"/>
                <a:gd name="T64" fmla="*/ 2147483647 w 10045"/>
                <a:gd name="T65" fmla="*/ 2147483647 h 10019"/>
                <a:gd name="T66" fmla="*/ 2147483647 w 10045"/>
                <a:gd name="T67" fmla="*/ 2147483647 h 10019"/>
                <a:gd name="T68" fmla="*/ 2147483647 w 10045"/>
                <a:gd name="T69" fmla="*/ 2147483647 h 10019"/>
                <a:gd name="T70" fmla="*/ 2147483647 w 10045"/>
                <a:gd name="T71" fmla="*/ 2147483647 h 10019"/>
                <a:gd name="T72" fmla="*/ 2147483647 w 10045"/>
                <a:gd name="T73" fmla="*/ 2147483647 h 10019"/>
                <a:gd name="T74" fmla="*/ 2147483647 w 10045"/>
                <a:gd name="T75" fmla="*/ 2147483647 h 10019"/>
                <a:gd name="T76" fmla="*/ 2147483647 w 10045"/>
                <a:gd name="T77" fmla="*/ 2147483647 h 10019"/>
                <a:gd name="T78" fmla="*/ 2147483647 w 10045"/>
                <a:gd name="T79" fmla="*/ 2147483647 h 10019"/>
                <a:gd name="T80" fmla="*/ 2147483647 w 10045"/>
                <a:gd name="T81" fmla="*/ 2147483647 h 10019"/>
                <a:gd name="T82" fmla="*/ 2147483647 w 10045"/>
                <a:gd name="T83" fmla="*/ 2147483647 h 10019"/>
                <a:gd name="T84" fmla="*/ 2147483647 w 10045"/>
                <a:gd name="T85" fmla="*/ 2147483647 h 10019"/>
                <a:gd name="T86" fmla="*/ 2147483647 w 10045"/>
                <a:gd name="T87" fmla="*/ 2147483647 h 10019"/>
                <a:gd name="T88" fmla="*/ 2147483647 w 10045"/>
                <a:gd name="T89" fmla="*/ 2147483647 h 10019"/>
                <a:gd name="T90" fmla="*/ 2147483647 w 10045"/>
                <a:gd name="T91" fmla="*/ 2147483647 h 10019"/>
                <a:gd name="T92" fmla="*/ 2147483647 w 10045"/>
                <a:gd name="T93" fmla="*/ 2147483647 h 10019"/>
                <a:gd name="T94" fmla="*/ 2147483647 w 10045"/>
                <a:gd name="T95" fmla="*/ 2147483647 h 10019"/>
                <a:gd name="T96" fmla="*/ 2147483647 w 10045"/>
                <a:gd name="T97" fmla="*/ 2147483647 h 10019"/>
                <a:gd name="T98" fmla="*/ 2147483647 w 10045"/>
                <a:gd name="T99" fmla="*/ 2147483647 h 10019"/>
                <a:gd name="T100" fmla="*/ 2147483647 w 10045"/>
                <a:gd name="T101" fmla="*/ 2147483647 h 10019"/>
                <a:gd name="T102" fmla="*/ 2147483647 w 10045"/>
                <a:gd name="T103" fmla="*/ 0 h 10019"/>
                <a:gd name="T104" fmla="*/ 2147483647 w 10045"/>
                <a:gd name="T105" fmla="*/ 2147483647 h 10019"/>
                <a:gd name="T106" fmla="*/ 2147483647 w 10045"/>
                <a:gd name="T107" fmla="*/ 2147483647 h 10019"/>
                <a:gd name="T108" fmla="*/ 2147483647 w 10045"/>
                <a:gd name="T109" fmla="*/ 2147483647 h 10019"/>
                <a:gd name="T110" fmla="*/ 2147483647 w 10045"/>
                <a:gd name="T111" fmla="*/ 2147483647 h 10019"/>
                <a:gd name="T112" fmla="*/ 2147483647 w 10045"/>
                <a:gd name="T113" fmla="*/ 2147483647 h 10019"/>
                <a:gd name="T114" fmla="*/ 2147483647 w 10045"/>
                <a:gd name="T115" fmla="*/ 2147483647 h 10019"/>
                <a:gd name="T116" fmla="*/ 2147483647 w 10045"/>
                <a:gd name="T117" fmla="*/ 2147483647 h 10019"/>
                <a:gd name="T118" fmla="*/ 2147483647 w 10045"/>
                <a:gd name="T119" fmla="*/ 2147483647 h 1001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0045" h="10019">
                  <a:moveTo>
                    <a:pt x="1724" y="2609"/>
                  </a:moveTo>
                  <a:lnTo>
                    <a:pt x="1379" y="3132"/>
                  </a:lnTo>
                  <a:lnTo>
                    <a:pt x="1379" y="3915"/>
                  </a:lnTo>
                  <a:lnTo>
                    <a:pt x="690" y="4436"/>
                  </a:lnTo>
                  <a:lnTo>
                    <a:pt x="690" y="5219"/>
                  </a:lnTo>
                  <a:lnTo>
                    <a:pt x="345" y="5741"/>
                  </a:lnTo>
                  <a:lnTo>
                    <a:pt x="690" y="6263"/>
                  </a:lnTo>
                  <a:lnTo>
                    <a:pt x="345" y="6786"/>
                  </a:lnTo>
                  <a:lnTo>
                    <a:pt x="0" y="7306"/>
                  </a:lnTo>
                  <a:lnTo>
                    <a:pt x="1034" y="7568"/>
                  </a:lnTo>
                  <a:lnTo>
                    <a:pt x="1724" y="7829"/>
                  </a:lnTo>
                  <a:cubicBezTo>
                    <a:pt x="2069" y="7916"/>
                    <a:pt x="2675" y="8005"/>
                    <a:pt x="2759" y="8090"/>
                  </a:cubicBezTo>
                  <a:cubicBezTo>
                    <a:pt x="2843" y="8175"/>
                    <a:pt x="2382" y="8117"/>
                    <a:pt x="2230" y="8339"/>
                  </a:cubicBezTo>
                  <a:cubicBezTo>
                    <a:pt x="2078" y="8560"/>
                    <a:pt x="1874" y="9189"/>
                    <a:pt x="1848" y="9422"/>
                  </a:cubicBezTo>
                  <a:cubicBezTo>
                    <a:pt x="1822" y="9656"/>
                    <a:pt x="1806" y="9700"/>
                    <a:pt x="2073" y="9738"/>
                  </a:cubicBezTo>
                  <a:cubicBezTo>
                    <a:pt x="2340" y="9777"/>
                    <a:pt x="3104" y="9626"/>
                    <a:pt x="3448" y="9656"/>
                  </a:cubicBezTo>
                  <a:cubicBezTo>
                    <a:pt x="3792" y="9686"/>
                    <a:pt x="3969" y="9858"/>
                    <a:pt x="4138" y="9917"/>
                  </a:cubicBezTo>
                  <a:cubicBezTo>
                    <a:pt x="4307" y="9976"/>
                    <a:pt x="4368" y="9999"/>
                    <a:pt x="4463" y="10013"/>
                  </a:cubicBezTo>
                  <a:cubicBezTo>
                    <a:pt x="4558" y="10027"/>
                    <a:pt x="4532" y="10015"/>
                    <a:pt x="4708" y="9999"/>
                  </a:cubicBezTo>
                  <a:cubicBezTo>
                    <a:pt x="4884" y="9983"/>
                    <a:pt x="5267" y="9931"/>
                    <a:pt x="5517" y="9917"/>
                  </a:cubicBezTo>
                  <a:cubicBezTo>
                    <a:pt x="5767" y="9903"/>
                    <a:pt x="5977" y="9917"/>
                    <a:pt x="6207" y="9917"/>
                  </a:cubicBezTo>
                  <a:cubicBezTo>
                    <a:pt x="6667" y="9830"/>
                    <a:pt x="7228" y="9704"/>
                    <a:pt x="7586" y="9656"/>
                  </a:cubicBezTo>
                  <a:cubicBezTo>
                    <a:pt x="7944" y="9608"/>
                    <a:pt x="8185" y="9677"/>
                    <a:pt x="8353" y="9629"/>
                  </a:cubicBezTo>
                  <a:cubicBezTo>
                    <a:pt x="8521" y="9581"/>
                    <a:pt x="8604" y="9494"/>
                    <a:pt x="8597" y="9368"/>
                  </a:cubicBezTo>
                  <a:cubicBezTo>
                    <a:pt x="8590" y="9242"/>
                    <a:pt x="8278" y="8989"/>
                    <a:pt x="8312" y="8872"/>
                  </a:cubicBezTo>
                  <a:cubicBezTo>
                    <a:pt x="8346" y="8755"/>
                    <a:pt x="8653" y="8734"/>
                    <a:pt x="8802" y="8668"/>
                  </a:cubicBezTo>
                  <a:cubicBezTo>
                    <a:pt x="8951" y="8602"/>
                    <a:pt x="9106" y="8518"/>
                    <a:pt x="9207" y="8474"/>
                  </a:cubicBezTo>
                  <a:cubicBezTo>
                    <a:pt x="9308" y="8430"/>
                    <a:pt x="9462" y="8479"/>
                    <a:pt x="9408" y="8406"/>
                  </a:cubicBezTo>
                  <a:cubicBezTo>
                    <a:pt x="9354" y="8333"/>
                    <a:pt x="9101" y="8223"/>
                    <a:pt x="8882" y="8035"/>
                  </a:cubicBezTo>
                  <a:cubicBezTo>
                    <a:pt x="8663" y="7847"/>
                    <a:pt x="8352" y="7492"/>
                    <a:pt x="8092" y="7279"/>
                  </a:cubicBezTo>
                  <a:cubicBezTo>
                    <a:pt x="7832" y="7066"/>
                    <a:pt x="7487" y="6889"/>
                    <a:pt x="7321" y="6759"/>
                  </a:cubicBezTo>
                  <a:cubicBezTo>
                    <a:pt x="7155" y="6629"/>
                    <a:pt x="7054" y="6580"/>
                    <a:pt x="7098" y="6497"/>
                  </a:cubicBezTo>
                  <a:cubicBezTo>
                    <a:pt x="7142" y="6414"/>
                    <a:pt x="7390" y="6345"/>
                    <a:pt x="7586" y="6263"/>
                  </a:cubicBezTo>
                  <a:cubicBezTo>
                    <a:pt x="7782" y="6181"/>
                    <a:pt x="8026" y="6082"/>
                    <a:pt x="8276" y="6002"/>
                  </a:cubicBezTo>
                  <a:cubicBezTo>
                    <a:pt x="8526" y="5922"/>
                    <a:pt x="8900" y="5853"/>
                    <a:pt x="9086" y="5782"/>
                  </a:cubicBezTo>
                  <a:cubicBezTo>
                    <a:pt x="9272" y="5711"/>
                    <a:pt x="9238" y="5584"/>
                    <a:pt x="9390" y="5577"/>
                  </a:cubicBezTo>
                  <a:cubicBezTo>
                    <a:pt x="9542" y="5570"/>
                    <a:pt x="9898" y="5757"/>
                    <a:pt x="10000" y="5741"/>
                  </a:cubicBezTo>
                  <a:cubicBezTo>
                    <a:pt x="10102" y="5725"/>
                    <a:pt x="10000" y="5568"/>
                    <a:pt x="10000" y="5481"/>
                  </a:cubicBezTo>
                  <a:lnTo>
                    <a:pt x="10000" y="4697"/>
                  </a:lnTo>
                  <a:cubicBezTo>
                    <a:pt x="9655" y="4697"/>
                    <a:pt x="9655" y="3654"/>
                    <a:pt x="9655" y="3654"/>
                  </a:cubicBezTo>
                  <a:lnTo>
                    <a:pt x="9655" y="2871"/>
                  </a:lnTo>
                  <a:lnTo>
                    <a:pt x="9655" y="2609"/>
                  </a:lnTo>
                  <a:lnTo>
                    <a:pt x="9310" y="1827"/>
                  </a:lnTo>
                  <a:lnTo>
                    <a:pt x="9310" y="1305"/>
                  </a:lnTo>
                  <a:lnTo>
                    <a:pt x="7931" y="783"/>
                  </a:lnTo>
                  <a:lnTo>
                    <a:pt x="6552" y="1305"/>
                  </a:lnTo>
                  <a:cubicBezTo>
                    <a:pt x="6552" y="1305"/>
                    <a:pt x="6207" y="1305"/>
                    <a:pt x="5862" y="1044"/>
                  </a:cubicBezTo>
                  <a:lnTo>
                    <a:pt x="5862" y="522"/>
                  </a:lnTo>
                  <a:lnTo>
                    <a:pt x="4828" y="261"/>
                  </a:lnTo>
                  <a:lnTo>
                    <a:pt x="4138" y="0"/>
                  </a:lnTo>
                  <a:lnTo>
                    <a:pt x="3793" y="261"/>
                  </a:lnTo>
                  <a:lnTo>
                    <a:pt x="3448" y="1305"/>
                  </a:lnTo>
                  <a:lnTo>
                    <a:pt x="3103" y="1827"/>
                  </a:lnTo>
                  <a:lnTo>
                    <a:pt x="2414" y="1827"/>
                  </a:lnTo>
                  <a:lnTo>
                    <a:pt x="1724" y="1827"/>
                  </a:lnTo>
                  <a:lnTo>
                    <a:pt x="1724" y="2088"/>
                  </a:lnTo>
                  <a:lnTo>
                    <a:pt x="1724" y="2609"/>
                  </a:ln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3" name="Freeform 10">
              <a:extLst>
                <a:ext uri="{FF2B5EF4-FFF2-40B4-BE49-F238E27FC236}">
                  <a16:creationId xmlns:a16="http://schemas.microsoft.com/office/drawing/2014/main" id="{5481397E-575E-15E3-AA95-53C6D63FE2DB}"/>
                </a:ext>
              </a:extLst>
            </p:cNvPr>
            <p:cNvSpPr>
              <a:spLocks/>
            </p:cNvSpPr>
            <p:nvPr/>
          </p:nvSpPr>
          <p:spPr bwMode="auto">
            <a:xfrm>
              <a:off x="5590510" y="2663424"/>
              <a:ext cx="91283" cy="121315"/>
            </a:xfrm>
            <a:custGeom>
              <a:avLst/>
              <a:gdLst>
                <a:gd name="T0" fmla="*/ 2147483647 w 66"/>
                <a:gd name="T1" fmla="*/ 2147483647 h 90"/>
                <a:gd name="T2" fmla="*/ 2147483647 w 66"/>
                <a:gd name="T3" fmla="*/ 2147483647 h 90"/>
                <a:gd name="T4" fmla="*/ 2147483647 w 66"/>
                <a:gd name="T5" fmla="*/ 2147483647 h 90"/>
                <a:gd name="T6" fmla="*/ 2147483647 w 66"/>
                <a:gd name="T7" fmla="*/ 2147483647 h 90"/>
                <a:gd name="T8" fmla="*/ 2147483647 w 66"/>
                <a:gd name="T9" fmla="*/ 2147483647 h 90"/>
                <a:gd name="T10" fmla="*/ 2147483647 w 66"/>
                <a:gd name="T11" fmla="*/ 2147483647 h 90"/>
                <a:gd name="T12" fmla="*/ 2147483647 w 66"/>
                <a:gd name="T13" fmla="*/ 2147483647 h 90"/>
                <a:gd name="T14" fmla="*/ 2147483647 w 66"/>
                <a:gd name="T15" fmla="*/ 2147483647 h 90"/>
                <a:gd name="T16" fmla="*/ 2147483647 w 66"/>
                <a:gd name="T17" fmla="*/ 2147483647 h 90"/>
                <a:gd name="T18" fmla="*/ 2147483647 w 66"/>
                <a:gd name="T19" fmla="*/ 2147483647 h 90"/>
                <a:gd name="T20" fmla="*/ 2147483647 w 66"/>
                <a:gd name="T21" fmla="*/ 0 h 90"/>
                <a:gd name="T22" fmla="*/ 2147483647 w 66"/>
                <a:gd name="T23" fmla="*/ 2147483647 h 90"/>
                <a:gd name="T24" fmla="*/ 2147483647 w 66"/>
                <a:gd name="T25" fmla="*/ 2147483647 h 90"/>
                <a:gd name="T26" fmla="*/ 2147483647 w 66"/>
                <a:gd name="T27" fmla="*/ 2147483647 h 90"/>
                <a:gd name="T28" fmla="*/ 2147483647 w 66"/>
                <a:gd name="T29" fmla="*/ 2147483647 h 90"/>
                <a:gd name="T30" fmla="*/ 2147483647 w 66"/>
                <a:gd name="T31" fmla="*/ 2147483647 h 90"/>
                <a:gd name="T32" fmla="*/ 0 w 66"/>
                <a:gd name="T33" fmla="*/ 2147483647 h 90"/>
                <a:gd name="T34" fmla="*/ 2147483647 w 66"/>
                <a:gd name="T35" fmla="*/ 2147483647 h 90"/>
                <a:gd name="T36" fmla="*/ 2147483647 w 66"/>
                <a:gd name="T37" fmla="*/ 2147483647 h 9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6" h="90">
                  <a:moveTo>
                    <a:pt x="18" y="72"/>
                  </a:moveTo>
                  <a:lnTo>
                    <a:pt x="30" y="78"/>
                  </a:lnTo>
                  <a:lnTo>
                    <a:pt x="36" y="84"/>
                  </a:lnTo>
                  <a:lnTo>
                    <a:pt x="42" y="90"/>
                  </a:lnTo>
                  <a:lnTo>
                    <a:pt x="48" y="78"/>
                  </a:lnTo>
                  <a:lnTo>
                    <a:pt x="48" y="60"/>
                  </a:lnTo>
                  <a:lnTo>
                    <a:pt x="60" y="48"/>
                  </a:lnTo>
                  <a:lnTo>
                    <a:pt x="60" y="30"/>
                  </a:lnTo>
                  <a:lnTo>
                    <a:pt x="66" y="18"/>
                  </a:lnTo>
                  <a:lnTo>
                    <a:pt x="66" y="6"/>
                  </a:lnTo>
                  <a:lnTo>
                    <a:pt x="66" y="0"/>
                  </a:lnTo>
                  <a:lnTo>
                    <a:pt x="54" y="6"/>
                  </a:lnTo>
                  <a:lnTo>
                    <a:pt x="36" y="12"/>
                  </a:lnTo>
                  <a:lnTo>
                    <a:pt x="36" y="30"/>
                  </a:lnTo>
                  <a:lnTo>
                    <a:pt x="24" y="18"/>
                  </a:lnTo>
                  <a:lnTo>
                    <a:pt x="12" y="54"/>
                  </a:lnTo>
                  <a:lnTo>
                    <a:pt x="0" y="66"/>
                  </a:lnTo>
                  <a:lnTo>
                    <a:pt x="6" y="72"/>
                  </a:lnTo>
                  <a:lnTo>
                    <a:pt x="18" y="72"/>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4" name="Freeform 11">
              <a:extLst>
                <a:ext uri="{FF2B5EF4-FFF2-40B4-BE49-F238E27FC236}">
                  <a16:creationId xmlns:a16="http://schemas.microsoft.com/office/drawing/2014/main" id="{51B026A3-5245-366D-4DBF-819C74FFBA09}"/>
                </a:ext>
              </a:extLst>
            </p:cNvPr>
            <p:cNvSpPr>
              <a:spLocks/>
            </p:cNvSpPr>
            <p:nvPr/>
          </p:nvSpPr>
          <p:spPr bwMode="auto">
            <a:xfrm rot="20966185">
              <a:off x="6046924" y="3180909"/>
              <a:ext cx="190172" cy="195242"/>
            </a:xfrm>
            <a:custGeom>
              <a:avLst/>
              <a:gdLst>
                <a:gd name="T0" fmla="*/ 2147483647 w 9874"/>
                <a:gd name="T1" fmla="*/ 861456484 h 10000"/>
                <a:gd name="T2" fmla="*/ 2147483647 w 9874"/>
                <a:gd name="T3" fmla="*/ 573160271 h 10000"/>
                <a:gd name="T4" fmla="*/ 2147483647 w 9874"/>
                <a:gd name="T5" fmla="*/ 571945092 h 10000"/>
                <a:gd name="T6" fmla="*/ 2147483647 w 9874"/>
                <a:gd name="T7" fmla="*/ 0 h 10000"/>
                <a:gd name="T8" fmla="*/ 2147483647 w 9874"/>
                <a:gd name="T9" fmla="*/ 350414474 h 10000"/>
                <a:gd name="T10" fmla="*/ 2147483647 w 9874"/>
                <a:gd name="T11" fmla="*/ 1282208266 h 10000"/>
                <a:gd name="T12" fmla="*/ 1792679761 w 9874"/>
                <a:gd name="T13" fmla="*/ 1861231051 h 10000"/>
                <a:gd name="T14" fmla="*/ 1792679761 w 9874"/>
                <a:gd name="T15" fmla="*/ 2147483647 h 10000"/>
                <a:gd name="T16" fmla="*/ 1194741583 w 9874"/>
                <a:gd name="T17" fmla="*/ 2147483647 h 10000"/>
                <a:gd name="T18" fmla="*/ 0 w 9874"/>
                <a:gd name="T19" fmla="*/ 2147483647 h 10000"/>
                <a:gd name="T20" fmla="*/ 1194741583 w 9874"/>
                <a:gd name="T21" fmla="*/ 2147483647 h 10000"/>
                <a:gd name="T22" fmla="*/ 2147483647 w 9874"/>
                <a:gd name="T23" fmla="*/ 2147483647 h 10000"/>
                <a:gd name="T24" fmla="*/ 2147483647 w 9874"/>
                <a:gd name="T25" fmla="*/ 2147483647 h 10000"/>
                <a:gd name="T26" fmla="*/ 2147483647 w 9874"/>
                <a:gd name="T27" fmla="*/ 2147483647 h 10000"/>
                <a:gd name="T28" fmla="*/ 2147483647 w 9874"/>
                <a:gd name="T29" fmla="*/ 2147483647 h 10000"/>
                <a:gd name="T30" fmla="*/ 2147483647 w 9874"/>
                <a:gd name="T31" fmla="*/ 2147483647 h 10000"/>
                <a:gd name="T32" fmla="*/ 2147483647 w 9874"/>
                <a:gd name="T33" fmla="*/ 2147483647 h 10000"/>
                <a:gd name="T34" fmla="*/ 2147483647 w 9874"/>
                <a:gd name="T35" fmla="*/ 2147483647 h 10000"/>
                <a:gd name="T36" fmla="*/ 2147483647 w 9874"/>
                <a:gd name="T37" fmla="*/ 2147483647 h 10000"/>
                <a:gd name="T38" fmla="*/ 2147483647 w 9874"/>
                <a:gd name="T39" fmla="*/ 2147483647 h 10000"/>
                <a:gd name="T40" fmla="*/ 2147483647 w 9874"/>
                <a:gd name="T41" fmla="*/ 2147483647 h 10000"/>
                <a:gd name="T42" fmla="*/ 2147483647 w 9874"/>
                <a:gd name="T43" fmla="*/ 2147483647 h 10000"/>
                <a:gd name="T44" fmla="*/ 2147483647 w 9874"/>
                <a:gd name="T45" fmla="*/ 2083902531 h 10000"/>
                <a:gd name="T46" fmla="*/ 2147483647 w 9874"/>
                <a:gd name="T47" fmla="*/ 1331460655 h 10000"/>
                <a:gd name="T48" fmla="*/ 2147483647 w 9874"/>
                <a:gd name="T49" fmla="*/ 1056034845 h 10000"/>
                <a:gd name="T50" fmla="*/ 2147483647 w 9874"/>
                <a:gd name="T51" fmla="*/ 861456484 h 1000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9874" h="10000">
                  <a:moveTo>
                    <a:pt x="9677" y="735"/>
                  </a:moveTo>
                  <a:lnTo>
                    <a:pt x="9874" y="489"/>
                  </a:lnTo>
                  <a:lnTo>
                    <a:pt x="9223" y="488"/>
                  </a:lnTo>
                  <a:lnTo>
                    <a:pt x="8813" y="0"/>
                  </a:lnTo>
                  <a:lnTo>
                    <a:pt x="5802" y="299"/>
                  </a:lnTo>
                  <a:lnTo>
                    <a:pt x="3889" y="1094"/>
                  </a:lnTo>
                  <a:lnTo>
                    <a:pt x="1667" y="1588"/>
                  </a:lnTo>
                  <a:lnTo>
                    <a:pt x="1667" y="2083"/>
                  </a:lnTo>
                  <a:lnTo>
                    <a:pt x="1111" y="3073"/>
                  </a:lnTo>
                  <a:lnTo>
                    <a:pt x="0" y="4062"/>
                  </a:lnTo>
                  <a:lnTo>
                    <a:pt x="1111" y="5547"/>
                  </a:lnTo>
                  <a:lnTo>
                    <a:pt x="3333" y="6042"/>
                  </a:lnTo>
                  <a:lnTo>
                    <a:pt x="2222" y="7031"/>
                  </a:lnTo>
                  <a:lnTo>
                    <a:pt x="2222" y="9010"/>
                  </a:lnTo>
                  <a:lnTo>
                    <a:pt x="4445" y="10000"/>
                  </a:lnTo>
                  <a:lnTo>
                    <a:pt x="5555" y="9010"/>
                  </a:lnTo>
                  <a:lnTo>
                    <a:pt x="5555" y="8021"/>
                  </a:lnTo>
                  <a:lnTo>
                    <a:pt x="7777" y="7031"/>
                  </a:lnTo>
                  <a:lnTo>
                    <a:pt x="5555" y="5052"/>
                  </a:lnTo>
                  <a:lnTo>
                    <a:pt x="5555" y="4062"/>
                  </a:lnTo>
                  <a:lnTo>
                    <a:pt x="4445" y="2578"/>
                  </a:lnTo>
                  <a:lnTo>
                    <a:pt x="7777" y="2083"/>
                  </a:lnTo>
                  <a:lnTo>
                    <a:pt x="9152" y="1778"/>
                  </a:lnTo>
                  <a:lnTo>
                    <a:pt x="9179" y="1136"/>
                  </a:lnTo>
                  <a:lnTo>
                    <a:pt x="9413" y="901"/>
                  </a:lnTo>
                  <a:lnTo>
                    <a:pt x="9677" y="735"/>
                  </a:ln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5" name="Freeform 12">
              <a:extLst>
                <a:ext uri="{FF2B5EF4-FFF2-40B4-BE49-F238E27FC236}">
                  <a16:creationId xmlns:a16="http://schemas.microsoft.com/office/drawing/2014/main" id="{5C2087A4-F57C-8567-F063-01548B8B52CF}"/>
                </a:ext>
              </a:extLst>
            </p:cNvPr>
            <p:cNvSpPr>
              <a:spLocks/>
            </p:cNvSpPr>
            <p:nvPr/>
          </p:nvSpPr>
          <p:spPr bwMode="auto">
            <a:xfrm>
              <a:off x="6035513" y="2877621"/>
              <a:ext cx="245322" cy="200928"/>
            </a:xfrm>
            <a:custGeom>
              <a:avLst/>
              <a:gdLst>
                <a:gd name="T0" fmla="*/ 2147483647 w 10000"/>
                <a:gd name="T1" fmla="*/ 2147483647 h 10000"/>
                <a:gd name="T2" fmla="*/ 2147483647 w 10000"/>
                <a:gd name="T3" fmla="*/ 2147483647 h 10000"/>
                <a:gd name="T4" fmla="*/ 2147483647 w 10000"/>
                <a:gd name="T5" fmla="*/ 2147483647 h 10000"/>
                <a:gd name="T6" fmla="*/ 2147483647 w 10000"/>
                <a:gd name="T7" fmla="*/ 0 h 10000"/>
                <a:gd name="T8" fmla="*/ 2147483647 w 10000"/>
                <a:gd name="T9" fmla="*/ 962987830 h 10000"/>
                <a:gd name="T10" fmla="*/ 2147483647 w 10000"/>
                <a:gd name="T11" fmla="*/ 1505821189 h 10000"/>
                <a:gd name="T12" fmla="*/ 2147483647 w 10000"/>
                <a:gd name="T13" fmla="*/ 962987830 h 10000"/>
                <a:gd name="T14" fmla="*/ 2147483647 w 10000"/>
                <a:gd name="T15" fmla="*/ 2147483647 h 10000"/>
                <a:gd name="T16" fmla="*/ 1839321513 w 10000"/>
                <a:gd name="T17" fmla="*/ 2147483647 h 10000"/>
                <a:gd name="T18" fmla="*/ 1728171895 w 10000"/>
                <a:gd name="T19" fmla="*/ 2147483647 h 10000"/>
                <a:gd name="T20" fmla="*/ 1513069159 w 10000"/>
                <a:gd name="T21" fmla="*/ 2147483647 h 10000"/>
                <a:gd name="T22" fmla="*/ 7214134 w 10000"/>
                <a:gd name="T23" fmla="*/ 2147483647 h 10000"/>
                <a:gd name="T24" fmla="*/ 2147483647 w 10000"/>
                <a:gd name="T25" fmla="*/ 2147483647 h 10000"/>
                <a:gd name="T26" fmla="*/ 2147483647 w 10000"/>
                <a:gd name="T27" fmla="*/ 2147483647 h 10000"/>
                <a:gd name="T28" fmla="*/ 2147483647 w 10000"/>
                <a:gd name="T29" fmla="*/ 2147483647 h 10000"/>
                <a:gd name="T30" fmla="*/ 2147483647 w 10000"/>
                <a:gd name="T31" fmla="*/ 2147483647 h 10000"/>
                <a:gd name="T32" fmla="*/ 2147483647 w 10000"/>
                <a:gd name="T33" fmla="*/ 2147483647 h 10000"/>
                <a:gd name="T34" fmla="*/ 2147483647 w 10000"/>
                <a:gd name="T35" fmla="*/ 2147483647 h 10000"/>
                <a:gd name="T36" fmla="*/ 2147483647 w 10000"/>
                <a:gd name="T37" fmla="*/ 2147483647 h 10000"/>
                <a:gd name="T38" fmla="*/ 2147483647 w 10000"/>
                <a:gd name="T39" fmla="*/ 2147483647 h 10000"/>
                <a:gd name="T40" fmla="*/ 2147483647 w 10000"/>
                <a:gd name="T41" fmla="*/ 2147483647 h 100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0000" h="10000">
                  <a:moveTo>
                    <a:pt x="8952" y="4746"/>
                  </a:moveTo>
                  <a:cubicBezTo>
                    <a:pt x="8952" y="4746"/>
                    <a:pt x="9789" y="4438"/>
                    <a:pt x="9789" y="4036"/>
                  </a:cubicBezTo>
                  <a:cubicBezTo>
                    <a:pt x="10125" y="3229"/>
                    <a:pt x="10054" y="3000"/>
                    <a:pt x="9628" y="2328"/>
                  </a:cubicBezTo>
                  <a:cubicBezTo>
                    <a:pt x="9201" y="1655"/>
                    <a:pt x="8028" y="776"/>
                    <a:pt x="7229" y="0"/>
                  </a:cubicBezTo>
                  <a:cubicBezTo>
                    <a:pt x="6677" y="239"/>
                    <a:pt x="6358" y="529"/>
                    <a:pt x="5576" y="715"/>
                  </a:cubicBezTo>
                  <a:cubicBezTo>
                    <a:pt x="4794" y="901"/>
                    <a:pt x="3551" y="983"/>
                    <a:pt x="2539" y="1118"/>
                  </a:cubicBezTo>
                  <a:lnTo>
                    <a:pt x="2201" y="715"/>
                  </a:lnTo>
                  <a:lnTo>
                    <a:pt x="1188" y="2730"/>
                  </a:lnTo>
                  <a:cubicBezTo>
                    <a:pt x="963" y="3268"/>
                    <a:pt x="631" y="4031"/>
                    <a:pt x="513" y="4343"/>
                  </a:cubicBezTo>
                  <a:cubicBezTo>
                    <a:pt x="396" y="4654"/>
                    <a:pt x="496" y="4524"/>
                    <a:pt x="482" y="4603"/>
                  </a:cubicBezTo>
                  <a:cubicBezTo>
                    <a:pt x="467" y="4681"/>
                    <a:pt x="503" y="4723"/>
                    <a:pt x="422" y="4817"/>
                  </a:cubicBezTo>
                  <a:cubicBezTo>
                    <a:pt x="342" y="4911"/>
                    <a:pt x="-28" y="5153"/>
                    <a:pt x="2" y="5165"/>
                  </a:cubicBezTo>
                  <a:cubicBezTo>
                    <a:pt x="871" y="6361"/>
                    <a:pt x="1309" y="7628"/>
                    <a:pt x="1789" y="8230"/>
                  </a:cubicBezTo>
                  <a:cubicBezTo>
                    <a:pt x="2266" y="8832"/>
                    <a:pt x="2645" y="8558"/>
                    <a:pt x="2875" y="8776"/>
                  </a:cubicBezTo>
                  <a:cubicBezTo>
                    <a:pt x="3105" y="8994"/>
                    <a:pt x="2722" y="9336"/>
                    <a:pt x="3174" y="9539"/>
                  </a:cubicBezTo>
                  <a:cubicBezTo>
                    <a:pt x="3626" y="9742"/>
                    <a:pt x="4682" y="10053"/>
                    <a:pt x="5588" y="9993"/>
                  </a:cubicBezTo>
                  <a:cubicBezTo>
                    <a:pt x="6494" y="9933"/>
                    <a:pt x="8055" y="9717"/>
                    <a:pt x="8615" y="9179"/>
                  </a:cubicBezTo>
                  <a:cubicBezTo>
                    <a:pt x="9175" y="8641"/>
                    <a:pt x="8840" y="7567"/>
                    <a:pt x="8952" y="6761"/>
                  </a:cubicBezTo>
                  <a:lnTo>
                    <a:pt x="9628" y="6358"/>
                  </a:lnTo>
                  <a:cubicBezTo>
                    <a:pt x="9591" y="6168"/>
                    <a:pt x="9555" y="5977"/>
                    <a:pt x="9518" y="5787"/>
                  </a:cubicBezTo>
                  <a:cubicBezTo>
                    <a:pt x="9629" y="5384"/>
                    <a:pt x="8840" y="5149"/>
                    <a:pt x="8952" y="4746"/>
                  </a:cubicBez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6" name="Freeform 13">
              <a:extLst>
                <a:ext uri="{FF2B5EF4-FFF2-40B4-BE49-F238E27FC236}">
                  <a16:creationId xmlns:a16="http://schemas.microsoft.com/office/drawing/2014/main" id="{902B01F5-C540-9FE9-DE9F-F2178DCB2F82}"/>
                </a:ext>
              </a:extLst>
            </p:cNvPr>
            <p:cNvSpPr>
              <a:spLocks/>
            </p:cNvSpPr>
            <p:nvPr/>
          </p:nvSpPr>
          <p:spPr bwMode="auto">
            <a:xfrm>
              <a:off x="5788289" y="2784739"/>
              <a:ext cx="190172" cy="98569"/>
            </a:xfrm>
            <a:custGeom>
              <a:avLst/>
              <a:gdLst>
                <a:gd name="T0" fmla="*/ 2147483647 w 10569"/>
                <a:gd name="T1" fmla="*/ 218132199 h 10092"/>
                <a:gd name="T2" fmla="*/ 2147483647 w 10569"/>
                <a:gd name="T3" fmla="*/ 122706788 h 10092"/>
                <a:gd name="T4" fmla="*/ 2147483647 w 10569"/>
                <a:gd name="T5" fmla="*/ 61371189 h 10092"/>
                <a:gd name="T6" fmla="*/ 2147483647 w 10569"/>
                <a:gd name="T7" fmla="*/ 0 h 10092"/>
                <a:gd name="T8" fmla="*/ 2147483647 w 10569"/>
                <a:gd name="T9" fmla="*/ 30665321 h 10092"/>
                <a:gd name="T10" fmla="*/ 2147483647 w 10569"/>
                <a:gd name="T11" fmla="*/ 0 h 10092"/>
                <a:gd name="T12" fmla="*/ 2097951320 w 10569"/>
                <a:gd name="T13" fmla="*/ 30665321 h 10092"/>
                <a:gd name="T14" fmla="*/ 1401434486 w 10569"/>
                <a:gd name="T15" fmla="*/ 61371189 h 10092"/>
                <a:gd name="T16" fmla="*/ 704917667 w 10569"/>
                <a:gd name="T17" fmla="*/ 92041467 h 10092"/>
                <a:gd name="T18" fmla="*/ 8448222 w 10569"/>
                <a:gd name="T19" fmla="*/ 122706788 h 10092"/>
                <a:gd name="T20" fmla="*/ 357065685 w 10569"/>
                <a:gd name="T21" fmla="*/ 164160932 h 10092"/>
                <a:gd name="T22" fmla="*/ 1012965140 w 10569"/>
                <a:gd name="T23" fmla="*/ 220119984 h 10092"/>
                <a:gd name="T24" fmla="*/ 1750099564 w 10569"/>
                <a:gd name="T25" fmla="*/ 306784830 h 10092"/>
                <a:gd name="T26" fmla="*/ 2097951320 w 10569"/>
                <a:gd name="T27" fmla="*/ 337490632 h 10092"/>
                <a:gd name="T28" fmla="*/ 2147483647 w 10569"/>
                <a:gd name="T29" fmla="*/ 371544855 h 10092"/>
                <a:gd name="T30" fmla="*/ 2147483647 w 10569"/>
                <a:gd name="T31" fmla="*/ 367936564 h 10092"/>
                <a:gd name="T32" fmla="*/ 2147483647 w 10569"/>
                <a:gd name="T33" fmla="*/ 337230696 h 10092"/>
                <a:gd name="T34" fmla="*/ 2147483647 w 10569"/>
                <a:gd name="T35" fmla="*/ 346435062 h 10092"/>
                <a:gd name="T36" fmla="*/ 2147483647 w 10569"/>
                <a:gd name="T37" fmla="*/ 347321125 h 10092"/>
                <a:gd name="T38" fmla="*/ 2147483647 w 10569"/>
                <a:gd name="T39" fmla="*/ 353615522 h 10092"/>
                <a:gd name="T40" fmla="*/ 2147483647 w 10569"/>
                <a:gd name="T41" fmla="*/ 369740943 h 10092"/>
                <a:gd name="T42" fmla="*/ 2147483647 w 10569"/>
                <a:gd name="T43" fmla="*/ 344411753 h 10092"/>
                <a:gd name="T44" fmla="*/ 2147483647 w 10569"/>
                <a:gd name="T45" fmla="*/ 359211597 h 1009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0569" h="10092">
                  <a:moveTo>
                    <a:pt x="10569" y="5925"/>
                  </a:moveTo>
                  <a:cubicBezTo>
                    <a:pt x="10249" y="5077"/>
                    <a:pt x="8682" y="4197"/>
                    <a:pt x="7738" y="3333"/>
                  </a:cubicBezTo>
                  <a:lnTo>
                    <a:pt x="5920" y="1667"/>
                  </a:lnTo>
                  <a:lnTo>
                    <a:pt x="4102" y="0"/>
                  </a:lnTo>
                  <a:lnTo>
                    <a:pt x="4102" y="833"/>
                  </a:lnTo>
                  <a:lnTo>
                    <a:pt x="3193" y="0"/>
                  </a:lnTo>
                  <a:lnTo>
                    <a:pt x="2738" y="833"/>
                  </a:lnTo>
                  <a:lnTo>
                    <a:pt x="1829" y="1667"/>
                  </a:lnTo>
                  <a:lnTo>
                    <a:pt x="920" y="2500"/>
                  </a:lnTo>
                  <a:cubicBezTo>
                    <a:pt x="617" y="2778"/>
                    <a:pt x="87" y="3007"/>
                    <a:pt x="11" y="3333"/>
                  </a:cubicBezTo>
                  <a:cubicBezTo>
                    <a:pt x="-65" y="3659"/>
                    <a:pt x="248" y="4018"/>
                    <a:pt x="466" y="4459"/>
                  </a:cubicBezTo>
                  <a:cubicBezTo>
                    <a:pt x="684" y="4900"/>
                    <a:pt x="1019" y="5333"/>
                    <a:pt x="1322" y="5979"/>
                  </a:cubicBezTo>
                  <a:cubicBezTo>
                    <a:pt x="1625" y="6625"/>
                    <a:pt x="2048" y="7802"/>
                    <a:pt x="2284" y="8333"/>
                  </a:cubicBezTo>
                  <a:cubicBezTo>
                    <a:pt x="2520" y="8864"/>
                    <a:pt x="2583" y="8874"/>
                    <a:pt x="2738" y="9167"/>
                  </a:cubicBezTo>
                  <a:cubicBezTo>
                    <a:pt x="2893" y="9460"/>
                    <a:pt x="3217" y="10092"/>
                    <a:pt x="3217" y="10092"/>
                  </a:cubicBezTo>
                  <a:cubicBezTo>
                    <a:pt x="4581" y="10092"/>
                    <a:pt x="4900" y="9994"/>
                    <a:pt x="4900" y="9994"/>
                  </a:cubicBezTo>
                  <a:cubicBezTo>
                    <a:pt x="4785" y="9440"/>
                    <a:pt x="5654" y="9714"/>
                    <a:pt x="5539" y="9160"/>
                  </a:cubicBezTo>
                  <a:cubicBezTo>
                    <a:pt x="5853" y="9260"/>
                    <a:pt x="6250" y="9364"/>
                    <a:pt x="6402" y="9410"/>
                  </a:cubicBezTo>
                  <a:cubicBezTo>
                    <a:pt x="6554" y="9456"/>
                    <a:pt x="6377" y="9434"/>
                    <a:pt x="6453" y="9434"/>
                  </a:cubicBezTo>
                  <a:cubicBezTo>
                    <a:pt x="6529" y="9434"/>
                    <a:pt x="6505" y="9504"/>
                    <a:pt x="6723" y="9605"/>
                  </a:cubicBezTo>
                  <a:cubicBezTo>
                    <a:pt x="6941" y="9707"/>
                    <a:pt x="7421" y="10085"/>
                    <a:pt x="7759" y="10043"/>
                  </a:cubicBezTo>
                  <a:cubicBezTo>
                    <a:pt x="8097" y="10001"/>
                    <a:pt x="8436" y="9626"/>
                    <a:pt x="8753" y="9355"/>
                  </a:cubicBezTo>
                  <a:cubicBezTo>
                    <a:pt x="9070" y="9084"/>
                    <a:pt x="8347" y="9964"/>
                    <a:pt x="10391" y="9757"/>
                  </a:cubicBezTo>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7" name="Freeform 14">
              <a:extLst>
                <a:ext uri="{FF2B5EF4-FFF2-40B4-BE49-F238E27FC236}">
                  <a16:creationId xmlns:a16="http://schemas.microsoft.com/office/drawing/2014/main" id="{00A68F87-4A96-66A1-572D-0AAB185217E4}"/>
                </a:ext>
              </a:extLst>
            </p:cNvPr>
            <p:cNvSpPr>
              <a:spLocks/>
            </p:cNvSpPr>
            <p:nvPr/>
          </p:nvSpPr>
          <p:spPr bwMode="auto">
            <a:xfrm>
              <a:off x="5923311" y="2887099"/>
              <a:ext cx="165451" cy="113733"/>
            </a:xfrm>
            <a:custGeom>
              <a:avLst/>
              <a:gdLst>
                <a:gd name="T0" fmla="*/ 2147483647 w 9980"/>
                <a:gd name="T1" fmla="*/ 0 h 10000"/>
                <a:gd name="T2" fmla="*/ 2147483647 w 9980"/>
                <a:gd name="T3" fmla="*/ 120347451 h 10000"/>
                <a:gd name="T4" fmla="*/ 2048295641 w 9980"/>
                <a:gd name="T5" fmla="*/ 174854502 h 10000"/>
                <a:gd name="T6" fmla="*/ 1295790420 w 9980"/>
                <a:gd name="T7" fmla="*/ 229369258 h 10000"/>
                <a:gd name="T8" fmla="*/ 794318046 w 9980"/>
                <a:gd name="T9" fmla="*/ 209556601 h 10000"/>
                <a:gd name="T10" fmla="*/ 543839063 w 9980"/>
                <a:gd name="T11" fmla="*/ 174854502 h 10000"/>
                <a:gd name="T12" fmla="*/ 292843180 w 9980"/>
                <a:gd name="T13" fmla="*/ 283793289 h 10000"/>
                <a:gd name="T14" fmla="*/ 41849789 w 9980"/>
                <a:gd name="T15" fmla="*/ 447321156 h 10000"/>
                <a:gd name="T16" fmla="*/ 11224449 w 9980"/>
                <a:gd name="T17" fmla="*/ 470376980 h 10000"/>
                <a:gd name="T18" fmla="*/ 159185930 w 9980"/>
                <a:gd name="T19" fmla="*/ 536612402 h 10000"/>
                <a:gd name="T20" fmla="*/ 838699122 w 9980"/>
                <a:gd name="T21" fmla="*/ 744424260 h 10000"/>
                <a:gd name="T22" fmla="*/ 1841683506 w 9980"/>
                <a:gd name="T23" fmla="*/ 792279756 h 10000"/>
                <a:gd name="T24" fmla="*/ 2147483647 w 9980"/>
                <a:gd name="T25" fmla="*/ 746169002 h 10000"/>
                <a:gd name="T26" fmla="*/ 2147483647 w 9980"/>
                <a:gd name="T27" fmla="*/ 678509460 h 10000"/>
                <a:gd name="T28" fmla="*/ 2147483647 w 9980"/>
                <a:gd name="T29" fmla="*/ 678509460 h 10000"/>
                <a:gd name="T30" fmla="*/ 2147483647 w 9980"/>
                <a:gd name="T31" fmla="*/ 610766908 h 10000"/>
                <a:gd name="T32" fmla="*/ 2147483647 w 9980"/>
                <a:gd name="T33" fmla="*/ 392815010 h 10000"/>
                <a:gd name="T34" fmla="*/ 2147483647 w 9980"/>
                <a:gd name="T35" fmla="*/ 120347451 h 10000"/>
                <a:gd name="T36" fmla="*/ 2147483647 w 9980"/>
                <a:gd name="T37" fmla="*/ 9902428 h 10000"/>
                <a:gd name="T38" fmla="*/ 2147483647 w 9980"/>
                <a:gd name="T39" fmla="*/ 26306802 h 10000"/>
                <a:gd name="T40" fmla="*/ 2147483647 w 9980"/>
                <a:gd name="T41" fmla="*/ 0 h 100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980" h="10000">
                  <a:moveTo>
                    <a:pt x="7338" y="0"/>
                  </a:moveTo>
                  <a:cubicBezTo>
                    <a:pt x="6885" y="506"/>
                    <a:pt x="6535" y="1151"/>
                    <a:pt x="5980" y="1519"/>
                  </a:cubicBezTo>
                  <a:cubicBezTo>
                    <a:pt x="5426" y="1887"/>
                    <a:pt x="4670" y="1978"/>
                    <a:pt x="4015" y="2207"/>
                  </a:cubicBezTo>
                  <a:cubicBezTo>
                    <a:pt x="2540" y="2895"/>
                    <a:pt x="2950" y="2822"/>
                    <a:pt x="2540" y="2895"/>
                  </a:cubicBezTo>
                  <a:cubicBezTo>
                    <a:pt x="2130" y="2968"/>
                    <a:pt x="1557" y="2645"/>
                    <a:pt x="1557" y="2645"/>
                  </a:cubicBezTo>
                  <a:cubicBezTo>
                    <a:pt x="1066" y="1958"/>
                    <a:pt x="1230" y="2051"/>
                    <a:pt x="1066" y="2207"/>
                  </a:cubicBezTo>
                  <a:cubicBezTo>
                    <a:pt x="902" y="2363"/>
                    <a:pt x="574" y="3582"/>
                    <a:pt x="574" y="3582"/>
                  </a:cubicBezTo>
                  <a:cubicBezTo>
                    <a:pt x="409" y="4270"/>
                    <a:pt x="174" y="5254"/>
                    <a:pt x="82" y="5646"/>
                  </a:cubicBezTo>
                  <a:cubicBezTo>
                    <a:pt x="-10" y="6038"/>
                    <a:pt x="-16" y="5749"/>
                    <a:pt x="22" y="5937"/>
                  </a:cubicBezTo>
                  <a:cubicBezTo>
                    <a:pt x="60" y="6125"/>
                    <a:pt x="42" y="6197"/>
                    <a:pt x="312" y="6773"/>
                  </a:cubicBezTo>
                  <a:cubicBezTo>
                    <a:pt x="583" y="7349"/>
                    <a:pt x="1094" y="8858"/>
                    <a:pt x="1644" y="9396"/>
                  </a:cubicBezTo>
                  <a:cubicBezTo>
                    <a:pt x="2194" y="9934"/>
                    <a:pt x="3153" y="9997"/>
                    <a:pt x="3610" y="10000"/>
                  </a:cubicBezTo>
                  <a:cubicBezTo>
                    <a:pt x="4068" y="10003"/>
                    <a:pt x="3989" y="9657"/>
                    <a:pt x="4389" y="9418"/>
                  </a:cubicBezTo>
                  <a:cubicBezTo>
                    <a:pt x="4788" y="9179"/>
                    <a:pt x="5720" y="8707"/>
                    <a:pt x="6009" y="8564"/>
                  </a:cubicBezTo>
                  <a:cubicBezTo>
                    <a:pt x="6298" y="8421"/>
                    <a:pt x="5883" y="8706"/>
                    <a:pt x="6124" y="8564"/>
                  </a:cubicBezTo>
                  <a:cubicBezTo>
                    <a:pt x="6364" y="8422"/>
                    <a:pt x="7069" y="8310"/>
                    <a:pt x="7455" y="7709"/>
                  </a:cubicBezTo>
                  <a:cubicBezTo>
                    <a:pt x="7841" y="7109"/>
                    <a:pt x="8111" y="5875"/>
                    <a:pt x="8438" y="4958"/>
                  </a:cubicBezTo>
                  <a:cubicBezTo>
                    <a:pt x="8929" y="3812"/>
                    <a:pt x="9701" y="2324"/>
                    <a:pt x="9913" y="1519"/>
                  </a:cubicBezTo>
                  <a:cubicBezTo>
                    <a:pt x="10125" y="713"/>
                    <a:pt x="9778" y="589"/>
                    <a:pt x="9710" y="125"/>
                  </a:cubicBezTo>
                  <a:lnTo>
                    <a:pt x="9128" y="332"/>
                  </a:lnTo>
                  <a:lnTo>
                    <a:pt x="7338" y="0"/>
                  </a:ln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8" name="Freeform 15">
              <a:extLst>
                <a:ext uri="{FF2B5EF4-FFF2-40B4-BE49-F238E27FC236}">
                  <a16:creationId xmlns:a16="http://schemas.microsoft.com/office/drawing/2014/main" id="{72B06F87-D124-EE2B-8561-A7751AFA7A71}"/>
                </a:ext>
              </a:extLst>
            </p:cNvPr>
            <p:cNvSpPr>
              <a:spLocks/>
            </p:cNvSpPr>
            <p:nvPr/>
          </p:nvSpPr>
          <p:spPr bwMode="auto">
            <a:xfrm>
              <a:off x="5929017" y="2839710"/>
              <a:ext cx="159745" cy="83404"/>
            </a:xfrm>
            <a:custGeom>
              <a:avLst/>
              <a:gdLst>
                <a:gd name="T0" fmla="*/ 2147483647 w 10000"/>
                <a:gd name="T1" fmla="*/ 11717197 h 9595"/>
                <a:gd name="T2" fmla="*/ 2117831042 w 10000"/>
                <a:gd name="T3" fmla="*/ 1864984 h 9595"/>
                <a:gd name="T4" fmla="*/ 1670018673 w 10000"/>
                <a:gd name="T5" fmla="*/ 1985706 h 9595"/>
                <a:gd name="T6" fmla="*/ 1192608324 w 10000"/>
                <a:gd name="T7" fmla="*/ 11717197 h 9595"/>
                <a:gd name="T8" fmla="*/ 954346452 w 10000"/>
                <a:gd name="T9" fmla="*/ 56295023 h 9595"/>
                <a:gd name="T10" fmla="*/ 0 w 10000"/>
                <a:gd name="T11" fmla="*/ 100895271 h 9595"/>
                <a:gd name="T12" fmla="*/ 238705181 w 10000"/>
                <a:gd name="T13" fmla="*/ 145472777 h 9595"/>
                <a:gd name="T14" fmla="*/ 413599734 w 10000"/>
                <a:gd name="T15" fmla="*/ 172255509 h 9595"/>
                <a:gd name="T16" fmla="*/ 852527046 w 10000"/>
                <a:gd name="T17" fmla="*/ 192499706 h 9595"/>
                <a:gd name="T18" fmla="*/ 1872358309 w 10000"/>
                <a:gd name="T19" fmla="*/ 165736637 h 9595"/>
                <a:gd name="T20" fmla="*/ 2147483647 w 10000"/>
                <a:gd name="T21" fmla="*/ 153539079 h 9595"/>
                <a:gd name="T22" fmla="*/ 2147483647 w 10000"/>
                <a:gd name="T23" fmla="*/ 109902201 h 9595"/>
                <a:gd name="T24" fmla="*/ 2147483647 w 10000"/>
                <a:gd name="T25" fmla="*/ 118909553 h 9595"/>
                <a:gd name="T26" fmla="*/ 2147483647 w 10000"/>
                <a:gd name="T27" fmla="*/ 99771804 h 9595"/>
                <a:gd name="T28" fmla="*/ 2147483647 w 10000"/>
                <a:gd name="T29" fmla="*/ 78603679 h 9595"/>
                <a:gd name="T30" fmla="*/ 2147483647 w 10000"/>
                <a:gd name="T31" fmla="*/ 43215616 h 9595"/>
                <a:gd name="T32" fmla="*/ 2147483647 w 10000"/>
                <a:gd name="T33" fmla="*/ 24356051 h 9595"/>
                <a:gd name="T34" fmla="*/ 2147483647 w 10000"/>
                <a:gd name="T35" fmla="*/ 11717197 h 9595"/>
                <a:gd name="T36" fmla="*/ 2147483647 w 10000"/>
                <a:gd name="T37" fmla="*/ 11717197 h 959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000" h="9595">
                  <a:moveTo>
                    <a:pt x="6210" y="584"/>
                  </a:moveTo>
                  <a:cubicBezTo>
                    <a:pt x="5554" y="325"/>
                    <a:pt x="5389" y="258"/>
                    <a:pt x="5013" y="93"/>
                  </a:cubicBezTo>
                  <a:cubicBezTo>
                    <a:pt x="4637" y="-72"/>
                    <a:pt x="4318" y="17"/>
                    <a:pt x="3953" y="99"/>
                  </a:cubicBezTo>
                  <a:lnTo>
                    <a:pt x="2823" y="584"/>
                  </a:lnTo>
                  <a:lnTo>
                    <a:pt x="2259" y="2806"/>
                  </a:lnTo>
                  <a:lnTo>
                    <a:pt x="0" y="5029"/>
                  </a:lnTo>
                  <a:lnTo>
                    <a:pt x="565" y="7251"/>
                  </a:lnTo>
                  <a:lnTo>
                    <a:pt x="979" y="8586"/>
                  </a:lnTo>
                  <a:lnTo>
                    <a:pt x="2018" y="9595"/>
                  </a:lnTo>
                  <a:lnTo>
                    <a:pt x="4432" y="8261"/>
                  </a:lnTo>
                  <a:lnTo>
                    <a:pt x="6240" y="7653"/>
                  </a:lnTo>
                  <a:lnTo>
                    <a:pt x="7130" y="5478"/>
                  </a:lnTo>
                  <a:lnTo>
                    <a:pt x="9214" y="5927"/>
                  </a:lnTo>
                  <a:lnTo>
                    <a:pt x="9803" y="4973"/>
                  </a:lnTo>
                  <a:cubicBezTo>
                    <a:pt x="9735" y="4622"/>
                    <a:pt x="9905" y="4270"/>
                    <a:pt x="9837" y="3918"/>
                  </a:cubicBezTo>
                  <a:cubicBezTo>
                    <a:pt x="9758" y="2807"/>
                    <a:pt x="10067" y="3265"/>
                    <a:pt x="9987" y="2154"/>
                  </a:cubicBezTo>
                  <a:cubicBezTo>
                    <a:pt x="9527" y="1653"/>
                    <a:pt x="9037" y="1714"/>
                    <a:pt x="8578" y="1214"/>
                  </a:cubicBezTo>
                  <a:cubicBezTo>
                    <a:pt x="8542" y="1004"/>
                    <a:pt x="8505" y="794"/>
                    <a:pt x="8469" y="584"/>
                  </a:cubicBezTo>
                  <a:lnTo>
                    <a:pt x="6210" y="584"/>
                  </a:ln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9" name="Freeform 16">
              <a:extLst>
                <a:ext uri="{FF2B5EF4-FFF2-40B4-BE49-F238E27FC236}">
                  <a16:creationId xmlns:a16="http://schemas.microsoft.com/office/drawing/2014/main" id="{4409C044-5D8D-CECE-B06E-A6BF0D438324}"/>
                </a:ext>
              </a:extLst>
            </p:cNvPr>
            <p:cNvSpPr>
              <a:spLocks/>
            </p:cNvSpPr>
            <p:nvPr/>
          </p:nvSpPr>
          <p:spPr bwMode="auto">
            <a:xfrm>
              <a:off x="6107779" y="3055802"/>
              <a:ext cx="218698" cy="168705"/>
            </a:xfrm>
            <a:custGeom>
              <a:avLst/>
              <a:gdLst>
                <a:gd name="T0" fmla="*/ 2147483647 w 10000"/>
                <a:gd name="T1" fmla="*/ 293810106 h 10000"/>
                <a:gd name="T2" fmla="*/ 1846282842 w 10000"/>
                <a:gd name="T3" fmla="*/ 293810106 h 10000"/>
                <a:gd name="T4" fmla="*/ 0 w 10000"/>
                <a:gd name="T5" fmla="*/ 0 h 10000"/>
                <a:gd name="T6" fmla="*/ 0 w 10000"/>
                <a:gd name="T7" fmla="*/ 587019553 h 10000"/>
                <a:gd name="T8" fmla="*/ 924200281 w 10000"/>
                <a:gd name="T9" fmla="*/ 1468447271 h 10000"/>
                <a:gd name="T10" fmla="*/ 1379187541 w 10000"/>
                <a:gd name="T11" fmla="*/ 2147483647 h 10000"/>
                <a:gd name="T12" fmla="*/ 924200281 w 10000"/>
                <a:gd name="T13" fmla="*/ 2147483647 h 10000"/>
                <a:gd name="T14" fmla="*/ 1846282842 w 10000"/>
                <a:gd name="T15" fmla="*/ 2147483647 h 10000"/>
                <a:gd name="T16" fmla="*/ 2147483647 w 10000"/>
                <a:gd name="T17" fmla="*/ 2147483647 h 10000"/>
                <a:gd name="T18" fmla="*/ 2147483647 w 10000"/>
                <a:gd name="T19" fmla="*/ 2147483647 h 10000"/>
                <a:gd name="T20" fmla="*/ 2147483647 w 10000"/>
                <a:gd name="T21" fmla="*/ 2147483647 h 10000"/>
                <a:gd name="T22" fmla="*/ 2147483647 w 10000"/>
                <a:gd name="T23" fmla="*/ 2147483647 h 10000"/>
                <a:gd name="T24" fmla="*/ 2147483647 w 10000"/>
                <a:gd name="T25" fmla="*/ 2147483647 h 10000"/>
                <a:gd name="T26" fmla="*/ 2147483647 w 10000"/>
                <a:gd name="T27" fmla="*/ 2147483647 h 10000"/>
                <a:gd name="T28" fmla="*/ 2147483647 w 10000"/>
                <a:gd name="T29" fmla="*/ 2147483647 h 10000"/>
                <a:gd name="T30" fmla="*/ 2147483647 w 10000"/>
                <a:gd name="T31" fmla="*/ 2147483647 h 10000"/>
                <a:gd name="T32" fmla="*/ 2147483647 w 10000"/>
                <a:gd name="T33" fmla="*/ 2147483647 h 10000"/>
                <a:gd name="T34" fmla="*/ 2147483647 w 10000"/>
                <a:gd name="T35" fmla="*/ 2147483647 h 10000"/>
                <a:gd name="T36" fmla="*/ 2147483647 w 10000"/>
                <a:gd name="T37" fmla="*/ 2147483647 h 10000"/>
                <a:gd name="T38" fmla="*/ 2147483647 w 10000"/>
                <a:gd name="T39" fmla="*/ 2147483647 h 10000"/>
                <a:gd name="T40" fmla="*/ 2147483647 w 10000"/>
                <a:gd name="T41" fmla="*/ 1761659502 h 10000"/>
                <a:gd name="T42" fmla="*/ 2147483647 w 10000"/>
                <a:gd name="T43" fmla="*/ 587019553 h 10000"/>
                <a:gd name="T44" fmla="*/ 2147483647 w 10000"/>
                <a:gd name="T45" fmla="*/ 0 h 10000"/>
                <a:gd name="T46" fmla="*/ 2147483647 w 10000"/>
                <a:gd name="T47" fmla="*/ 293810106 h 1000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0000" h="10000">
                  <a:moveTo>
                    <a:pt x="3636" y="522"/>
                  </a:moveTo>
                  <a:lnTo>
                    <a:pt x="909" y="522"/>
                  </a:lnTo>
                  <a:lnTo>
                    <a:pt x="0" y="0"/>
                  </a:lnTo>
                  <a:lnTo>
                    <a:pt x="0" y="1043"/>
                  </a:lnTo>
                  <a:lnTo>
                    <a:pt x="455" y="2609"/>
                  </a:lnTo>
                  <a:cubicBezTo>
                    <a:pt x="530" y="3171"/>
                    <a:pt x="604" y="3733"/>
                    <a:pt x="679" y="4295"/>
                  </a:cubicBezTo>
                  <a:cubicBezTo>
                    <a:pt x="604" y="4631"/>
                    <a:pt x="530" y="4968"/>
                    <a:pt x="455" y="5304"/>
                  </a:cubicBezTo>
                  <a:lnTo>
                    <a:pt x="909" y="6348"/>
                  </a:lnTo>
                  <a:lnTo>
                    <a:pt x="1598" y="7682"/>
                  </a:lnTo>
                  <a:cubicBezTo>
                    <a:pt x="2779" y="7328"/>
                    <a:pt x="2976" y="7157"/>
                    <a:pt x="4110" y="6712"/>
                  </a:cubicBezTo>
                  <a:lnTo>
                    <a:pt x="4448" y="7069"/>
                  </a:lnTo>
                  <a:lnTo>
                    <a:pt x="5010" y="7076"/>
                  </a:lnTo>
                  <a:cubicBezTo>
                    <a:pt x="5007" y="7181"/>
                    <a:pt x="5003" y="7286"/>
                    <a:pt x="5000" y="7391"/>
                  </a:cubicBezTo>
                  <a:lnTo>
                    <a:pt x="4545" y="7913"/>
                  </a:lnTo>
                  <a:lnTo>
                    <a:pt x="5000" y="10000"/>
                  </a:lnTo>
                  <a:lnTo>
                    <a:pt x="6818" y="8435"/>
                  </a:lnTo>
                  <a:lnTo>
                    <a:pt x="8636" y="8435"/>
                  </a:lnTo>
                  <a:lnTo>
                    <a:pt x="9545" y="6870"/>
                  </a:lnTo>
                  <a:lnTo>
                    <a:pt x="10000" y="6870"/>
                  </a:lnTo>
                  <a:lnTo>
                    <a:pt x="7273" y="5826"/>
                  </a:lnTo>
                  <a:cubicBezTo>
                    <a:pt x="7121" y="4927"/>
                    <a:pt x="6970" y="4029"/>
                    <a:pt x="6818" y="3130"/>
                  </a:cubicBezTo>
                  <a:lnTo>
                    <a:pt x="8636" y="1043"/>
                  </a:lnTo>
                  <a:lnTo>
                    <a:pt x="5909" y="0"/>
                  </a:lnTo>
                  <a:lnTo>
                    <a:pt x="3636" y="522"/>
                  </a:ln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20" name="Freeform 17">
              <a:extLst>
                <a:ext uri="{FF2B5EF4-FFF2-40B4-BE49-F238E27FC236}">
                  <a16:creationId xmlns:a16="http://schemas.microsoft.com/office/drawing/2014/main" id="{B5796C9D-6477-F077-3E62-EB9C2F34BE33}"/>
                </a:ext>
              </a:extLst>
            </p:cNvPr>
            <p:cNvSpPr>
              <a:spLocks/>
            </p:cNvSpPr>
            <p:nvPr/>
          </p:nvSpPr>
          <p:spPr bwMode="auto">
            <a:xfrm>
              <a:off x="5620937" y="2919323"/>
              <a:ext cx="136924" cy="77718"/>
            </a:xfrm>
            <a:custGeom>
              <a:avLst/>
              <a:gdLst>
                <a:gd name="T0" fmla="*/ 1523412940 w 10000"/>
                <a:gd name="T1" fmla="*/ 20703172 h 11466"/>
                <a:gd name="T2" fmla="*/ 1384973249 w 10000"/>
                <a:gd name="T3" fmla="*/ 13260037 h 11466"/>
                <a:gd name="T4" fmla="*/ 1107889269 w 10000"/>
                <a:gd name="T5" fmla="*/ 5816929 h 11466"/>
                <a:gd name="T6" fmla="*/ 705952907 w 10000"/>
                <a:gd name="T7" fmla="*/ 11598732 h 11466"/>
                <a:gd name="T8" fmla="*/ 629180878 w 10000"/>
                <a:gd name="T9" fmla="*/ 0 h 11466"/>
                <a:gd name="T10" fmla="*/ 415505657 w 10000"/>
                <a:gd name="T11" fmla="*/ 11182239 h 11466"/>
                <a:gd name="T12" fmla="*/ 0 w 10000"/>
                <a:gd name="T13" fmla="*/ 35589387 h 11466"/>
                <a:gd name="T14" fmla="*/ 0 w 10000"/>
                <a:gd name="T15" fmla="*/ 50474506 h 11466"/>
                <a:gd name="T16" fmla="*/ 277065955 w 10000"/>
                <a:gd name="T17" fmla="*/ 50474506 h 11466"/>
                <a:gd name="T18" fmla="*/ 408729233 w 10000"/>
                <a:gd name="T19" fmla="*/ 68272305 h 11466"/>
                <a:gd name="T20" fmla="*/ 553945349 w 10000"/>
                <a:gd name="T21" fmla="*/ 65360750 h 11466"/>
                <a:gd name="T22" fmla="*/ 860112323 w 10000"/>
                <a:gd name="T23" fmla="*/ 53797304 h 11466"/>
                <a:gd name="T24" fmla="*/ 1019100903 w 10000"/>
                <a:gd name="T25" fmla="*/ 60412870 h 11466"/>
                <a:gd name="T26" fmla="*/ 1523412940 w 10000"/>
                <a:gd name="T27" fmla="*/ 50474506 h 11466"/>
                <a:gd name="T28" fmla="*/ 1800478906 w 10000"/>
                <a:gd name="T29" fmla="*/ 43031399 h 11466"/>
                <a:gd name="T30" fmla="*/ 1938918597 w 10000"/>
                <a:gd name="T31" fmla="*/ 43031399 h 11466"/>
                <a:gd name="T32" fmla="*/ 1800478906 w 10000"/>
                <a:gd name="T33" fmla="*/ 35589387 h 11466"/>
                <a:gd name="T34" fmla="*/ 1523412940 w 10000"/>
                <a:gd name="T35" fmla="*/ 20703172 h 114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0000" h="11466">
                  <a:moveTo>
                    <a:pt x="7857" y="3477"/>
                  </a:moveTo>
                  <a:lnTo>
                    <a:pt x="7143" y="2227"/>
                  </a:lnTo>
                  <a:lnTo>
                    <a:pt x="5714" y="977"/>
                  </a:lnTo>
                  <a:lnTo>
                    <a:pt x="3641" y="1948"/>
                  </a:lnTo>
                  <a:cubicBezTo>
                    <a:pt x="3532" y="1206"/>
                    <a:pt x="3354" y="742"/>
                    <a:pt x="3245" y="0"/>
                  </a:cubicBezTo>
                  <a:lnTo>
                    <a:pt x="2143" y="1878"/>
                  </a:lnTo>
                  <a:lnTo>
                    <a:pt x="0" y="5977"/>
                  </a:lnTo>
                  <a:lnTo>
                    <a:pt x="0" y="8477"/>
                  </a:lnTo>
                  <a:lnTo>
                    <a:pt x="1429" y="8477"/>
                  </a:lnTo>
                  <a:lnTo>
                    <a:pt x="2108" y="11466"/>
                  </a:lnTo>
                  <a:lnTo>
                    <a:pt x="2857" y="10977"/>
                  </a:lnTo>
                  <a:lnTo>
                    <a:pt x="4436" y="9035"/>
                  </a:lnTo>
                  <a:lnTo>
                    <a:pt x="5256" y="10146"/>
                  </a:lnTo>
                  <a:lnTo>
                    <a:pt x="7857" y="8477"/>
                  </a:lnTo>
                  <a:lnTo>
                    <a:pt x="9286" y="7227"/>
                  </a:lnTo>
                  <a:lnTo>
                    <a:pt x="10000" y="7227"/>
                  </a:lnTo>
                  <a:lnTo>
                    <a:pt x="9286" y="5977"/>
                  </a:lnTo>
                  <a:lnTo>
                    <a:pt x="7857" y="3477"/>
                  </a:ln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21" name="Freeform 18">
              <a:extLst>
                <a:ext uri="{FF2B5EF4-FFF2-40B4-BE49-F238E27FC236}">
                  <a16:creationId xmlns:a16="http://schemas.microsoft.com/office/drawing/2014/main" id="{88F9E6B1-F798-285F-6824-97399229DB04}"/>
                </a:ext>
              </a:extLst>
            </p:cNvPr>
            <p:cNvSpPr>
              <a:spLocks/>
            </p:cNvSpPr>
            <p:nvPr/>
          </p:nvSpPr>
          <p:spPr bwMode="auto">
            <a:xfrm>
              <a:off x="5552475" y="2744932"/>
              <a:ext cx="85577" cy="89091"/>
            </a:xfrm>
            <a:custGeom>
              <a:avLst/>
              <a:gdLst>
                <a:gd name="T0" fmla="*/ 43091458 w 10056"/>
                <a:gd name="T1" fmla="*/ 105833347 h 10000"/>
                <a:gd name="T2" fmla="*/ 60516545 w 10056"/>
                <a:gd name="T3" fmla="*/ 148181948 h 10000"/>
                <a:gd name="T4" fmla="*/ 95382098 w 10056"/>
                <a:gd name="T5" fmla="*/ 169343381 h 10000"/>
                <a:gd name="T6" fmla="*/ 127165973 w 10056"/>
                <a:gd name="T7" fmla="*/ 196710131 h 10000"/>
                <a:gd name="T8" fmla="*/ 159904912 w 10056"/>
                <a:gd name="T9" fmla="*/ 231533339 h 10000"/>
                <a:gd name="T10" fmla="*/ 180375846 w 10056"/>
                <a:gd name="T11" fmla="*/ 174299266 h 10000"/>
                <a:gd name="T12" fmla="*/ 168237950 w 10056"/>
                <a:gd name="T13" fmla="*/ 131951061 h 10000"/>
                <a:gd name="T14" fmla="*/ 181386826 w 10056"/>
                <a:gd name="T15" fmla="*/ 75990916 h 10000"/>
                <a:gd name="T16" fmla="*/ 155827284 w 10056"/>
                <a:gd name="T17" fmla="*/ 54825744 h 10000"/>
                <a:gd name="T18" fmla="*/ 130232265 w 10056"/>
                <a:gd name="T19" fmla="*/ 42323709 h 10000"/>
                <a:gd name="T20" fmla="*/ 95382098 w 10056"/>
                <a:gd name="T21" fmla="*/ 21161829 h 10000"/>
                <a:gd name="T22" fmla="*/ 60516545 w 10056"/>
                <a:gd name="T23" fmla="*/ 21161829 h 10000"/>
                <a:gd name="T24" fmla="*/ 43091458 w 10056"/>
                <a:gd name="T25" fmla="*/ 0 h 10000"/>
                <a:gd name="T26" fmla="*/ 8243820 w 10056"/>
                <a:gd name="T27" fmla="*/ 21161829 h 10000"/>
                <a:gd name="T28" fmla="*/ 0 w 10056"/>
                <a:gd name="T29" fmla="*/ 22481897 h 10000"/>
                <a:gd name="T30" fmla="*/ 16414107 w 10056"/>
                <a:gd name="T31" fmla="*/ 79716022 h 10000"/>
                <a:gd name="T32" fmla="*/ 43091458 w 10056"/>
                <a:gd name="T33" fmla="*/ 105833347 h 100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056" h="10000">
                  <a:moveTo>
                    <a:pt x="2389" y="4571"/>
                  </a:moveTo>
                  <a:lnTo>
                    <a:pt x="3355" y="6400"/>
                  </a:lnTo>
                  <a:lnTo>
                    <a:pt x="5288" y="7314"/>
                  </a:lnTo>
                  <a:lnTo>
                    <a:pt x="7050" y="8496"/>
                  </a:lnTo>
                  <a:lnTo>
                    <a:pt x="8865" y="10000"/>
                  </a:lnTo>
                  <a:cubicBezTo>
                    <a:pt x="8961" y="9105"/>
                    <a:pt x="9904" y="8423"/>
                    <a:pt x="10000" y="7528"/>
                  </a:cubicBezTo>
                  <a:lnTo>
                    <a:pt x="9327" y="5699"/>
                  </a:lnTo>
                  <a:cubicBezTo>
                    <a:pt x="9382" y="4965"/>
                    <a:pt x="10001" y="4016"/>
                    <a:pt x="10056" y="3282"/>
                  </a:cubicBezTo>
                  <a:lnTo>
                    <a:pt x="8639" y="2368"/>
                  </a:lnTo>
                  <a:lnTo>
                    <a:pt x="7220" y="1828"/>
                  </a:lnTo>
                  <a:lnTo>
                    <a:pt x="5288" y="914"/>
                  </a:lnTo>
                  <a:lnTo>
                    <a:pt x="3355" y="914"/>
                  </a:lnTo>
                  <a:lnTo>
                    <a:pt x="2389" y="0"/>
                  </a:lnTo>
                  <a:lnTo>
                    <a:pt x="457" y="914"/>
                  </a:lnTo>
                  <a:lnTo>
                    <a:pt x="0" y="971"/>
                  </a:lnTo>
                  <a:cubicBezTo>
                    <a:pt x="152" y="1866"/>
                    <a:pt x="757" y="2548"/>
                    <a:pt x="910" y="3443"/>
                  </a:cubicBezTo>
                  <a:lnTo>
                    <a:pt x="2389" y="4571"/>
                  </a:ln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22" name="Freeform 19">
              <a:extLst>
                <a:ext uri="{FF2B5EF4-FFF2-40B4-BE49-F238E27FC236}">
                  <a16:creationId xmlns:a16="http://schemas.microsoft.com/office/drawing/2014/main" id="{5B99B35E-31DC-A4CE-4B42-561A6FB6CBF2}"/>
                </a:ext>
              </a:extLst>
            </p:cNvPr>
            <p:cNvSpPr>
              <a:spLocks/>
            </p:cNvSpPr>
            <p:nvPr/>
          </p:nvSpPr>
          <p:spPr bwMode="auto">
            <a:xfrm rot="21133526">
              <a:off x="5830127" y="2955339"/>
              <a:ext cx="106497" cy="56867"/>
            </a:xfrm>
            <a:custGeom>
              <a:avLst/>
              <a:gdLst>
                <a:gd name="T0" fmla="*/ 0 w 1912593"/>
                <a:gd name="T1" fmla="*/ 0 h 1229193"/>
                <a:gd name="T2" fmla="*/ 0 w 1912593"/>
                <a:gd name="T3" fmla="*/ 0 h 1229193"/>
                <a:gd name="T4" fmla="*/ 0 w 1912593"/>
                <a:gd name="T5" fmla="*/ 0 h 1229193"/>
                <a:gd name="T6" fmla="*/ 0 w 1912593"/>
                <a:gd name="T7" fmla="*/ 0 h 1229193"/>
                <a:gd name="T8" fmla="*/ 0 w 1912593"/>
                <a:gd name="T9" fmla="*/ 0 h 1229193"/>
                <a:gd name="T10" fmla="*/ 0 w 1912593"/>
                <a:gd name="T11" fmla="*/ 0 h 1229193"/>
                <a:gd name="T12" fmla="*/ 0 w 1912593"/>
                <a:gd name="T13" fmla="*/ 0 h 1229193"/>
                <a:gd name="T14" fmla="*/ 0 w 1912593"/>
                <a:gd name="T15" fmla="*/ 0 h 1229193"/>
                <a:gd name="T16" fmla="*/ 0 w 1912593"/>
                <a:gd name="T17" fmla="*/ 0 h 122919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12593" h="1229193">
                  <a:moveTo>
                    <a:pt x="0" y="233280"/>
                  </a:moveTo>
                  <a:lnTo>
                    <a:pt x="83793" y="1154242"/>
                  </a:lnTo>
                  <a:lnTo>
                    <a:pt x="1103124" y="1229193"/>
                  </a:lnTo>
                  <a:lnTo>
                    <a:pt x="1912593" y="314793"/>
                  </a:lnTo>
                  <a:lnTo>
                    <a:pt x="1792672" y="0"/>
                  </a:lnTo>
                  <a:lnTo>
                    <a:pt x="1124055" y="252554"/>
                  </a:lnTo>
                  <a:cubicBezTo>
                    <a:pt x="892871" y="224853"/>
                    <a:pt x="379360" y="273001"/>
                    <a:pt x="148176" y="245300"/>
                  </a:cubicBezTo>
                  <a:lnTo>
                    <a:pt x="128763" y="242675"/>
                  </a:lnTo>
                  <a:lnTo>
                    <a:pt x="0" y="23328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23" name="Freeform 20">
              <a:extLst>
                <a:ext uri="{FF2B5EF4-FFF2-40B4-BE49-F238E27FC236}">
                  <a16:creationId xmlns:a16="http://schemas.microsoft.com/office/drawing/2014/main" id="{4516AAC1-EA4C-69E5-55DC-6795FA458058}"/>
                </a:ext>
              </a:extLst>
            </p:cNvPr>
            <p:cNvSpPr>
              <a:spLocks/>
            </p:cNvSpPr>
            <p:nvPr/>
          </p:nvSpPr>
          <p:spPr bwMode="auto">
            <a:xfrm>
              <a:off x="5835832" y="2966712"/>
              <a:ext cx="171155" cy="178182"/>
            </a:xfrm>
            <a:custGeom>
              <a:avLst/>
              <a:gdLst>
                <a:gd name="T0" fmla="*/ 0 w 3644175"/>
                <a:gd name="T1" fmla="*/ 0 h 3780713"/>
                <a:gd name="T2" fmla="*/ 0 w 3644175"/>
                <a:gd name="T3" fmla="*/ 0 h 3780713"/>
                <a:gd name="T4" fmla="*/ 0 w 3644175"/>
                <a:gd name="T5" fmla="*/ 0 h 3780713"/>
                <a:gd name="T6" fmla="*/ 0 w 3644175"/>
                <a:gd name="T7" fmla="*/ 0 h 3780713"/>
                <a:gd name="T8" fmla="*/ 0 w 3644175"/>
                <a:gd name="T9" fmla="*/ 0 h 3780713"/>
                <a:gd name="T10" fmla="*/ 0 w 3644175"/>
                <a:gd name="T11" fmla="*/ 0 h 3780713"/>
                <a:gd name="T12" fmla="*/ 0 w 3644175"/>
                <a:gd name="T13" fmla="*/ 0 h 3780713"/>
                <a:gd name="T14" fmla="*/ 0 w 3644175"/>
                <a:gd name="T15" fmla="*/ 0 h 3780713"/>
                <a:gd name="T16" fmla="*/ 0 w 3644175"/>
                <a:gd name="T17" fmla="*/ 0 h 3780713"/>
                <a:gd name="T18" fmla="*/ 0 w 3644175"/>
                <a:gd name="T19" fmla="*/ 0 h 3780713"/>
                <a:gd name="T20" fmla="*/ 0 w 3644175"/>
                <a:gd name="T21" fmla="*/ 0 h 3780713"/>
                <a:gd name="T22" fmla="*/ 0 w 3644175"/>
                <a:gd name="T23" fmla="*/ 0 h 3780713"/>
                <a:gd name="T24" fmla="*/ 0 w 3644175"/>
                <a:gd name="T25" fmla="*/ 0 h 3780713"/>
                <a:gd name="T26" fmla="*/ 0 w 3644175"/>
                <a:gd name="T27" fmla="*/ 0 h 3780713"/>
                <a:gd name="T28" fmla="*/ 0 w 3644175"/>
                <a:gd name="T29" fmla="*/ 0 h 3780713"/>
                <a:gd name="T30" fmla="*/ 0 w 3644175"/>
                <a:gd name="T31" fmla="*/ 0 h 3780713"/>
                <a:gd name="T32" fmla="*/ 0 w 3644175"/>
                <a:gd name="T33" fmla="*/ 0 h 3780713"/>
                <a:gd name="T34" fmla="*/ 0 w 3644175"/>
                <a:gd name="T35" fmla="*/ 0 h 3780713"/>
                <a:gd name="T36" fmla="*/ 0 w 3644175"/>
                <a:gd name="T37" fmla="*/ 0 h 3780713"/>
                <a:gd name="T38" fmla="*/ 0 w 3644175"/>
                <a:gd name="T39" fmla="*/ 0 h 378071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644175" h="3780713">
                  <a:moveTo>
                    <a:pt x="2018109" y="0"/>
                  </a:moveTo>
                  <a:lnTo>
                    <a:pt x="1131347" y="970851"/>
                  </a:lnTo>
                  <a:lnTo>
                    <a:pt x="106496" y="992543"/>
                  </a:lnTo>
                  <a:lnTo>
                    <a:pt x="0" y="1285960"/>
                  </a:lnTo>
                  <a:lnTo>
                    <a:pt x="250657" y="1838746"/>
                  </a:lnTo>
                  <a:lnTo>
                    <a:pt x="476240" y="1522355"/>
                  </a:lnTo>
                  <a:lnTo>
                    <a:pt x="637449" y="1360281"/>
                  </a:lnTo>
                  <a:lnTo>
                    <a:pt x="900975" y="1622129"/>
                  </a:lnTo>
                  <a:lnTo>
                    <a:pt x="1125827" y="2401618"/>
                  </a:lnTo>
                  <a:lnTo>
                    <a:pt x="1614428" y="2951232"/>
                  </a:lnTo>
                  <a:cubicBezTo>
                    <a:pt x="2156362" y="3074631"/>
                    <a:pt x="2677783" y="3504219"/>
                    <a:pt x="3209460" y="3780713"/>
                  </a:cubicBezTo>
                  <a:lnTo>
                    <a:pt x="1455611" y="1667100"/>
                  </a:lnTo>
                  <a:lnTo>
                    <a:pt x="1543203" y="1366330"/>
                  </a:lnTo>
                  <a:lnTo>
                    <a:pt x="1755414" y="1517198"/>
                  </a:lnTo>
                  <a:lnTo>
                    <a:pt x="3644175" y="1622129"/>
                  </a:lnTo>
                  <a:lnTo>
                    <a:pt x="3394079" y="610450"/>
                  </a:lnTo>
                  <a:lnTo>
                    <a:pt x="3170007" y="750786"/>
                  </a:lnTo>
                  <a:lnTo>
                    <a:pt x="2480463" y="641709"/>
                  </a:lnTo>
                  <a:lnTo>
                    <a:pt x="2078068" y="137463"/>
                  </a:lnTo>
                  <a:lnTo>
                    <a:pt x="2018109" y="0"/>
                  </a:ln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24" name="Freeform 21">
              <a:extLst>
                <a:ext uri="{FF2B5EF4-FFF2-40B4-BE49-F238E27FC236}">
                  <a16:creationId xmlns:a16="http://schemas.microsoft.com/office/drawing/2014/main" id="{985C896B-1A9A-3C6F-83EA-AED2CD349729}"/>
                </a:ext>
              </a:extLst>
            </p:cNvPr>
            <p:cNvSpPr>
              <a:spLocks/>
            </p:cNvSpPr>
            <p:nvPr/>
          </p:nvSpPr>
          <p:spPr bwMode="auto">
            <a:xfrm>
              <a:off x="5906196" y="3029265"/>
              <a:ext cx="117907" cy="117524"/>
            </a:xfrm>
            <a:custGeom>
              <a:avLst/>
              <a:gdLst>
                <a:gd name="T0" fmla="*/ 0 w 2398426"/>
                <a:gd name="T1" fmla="*/ 0 h 2488994"/>
                <a:gd name="T2" fmla="*/ 0 w 2398426"/>
                <a:gd name="T3" fmla="*/ 0 h 2488994"/>
                <a:gd name="T4" fmla="*/ 0 w 2398426"/>
                <a:gd name="T5" fmla="*/ 0 h 2488994"/>
                <a:gd name="T6" fmla="*/ 0 w 2398426"/>
                <a:gd name="T7" fmla="*/ 0 h 2488994"/>
                <a:gd name="T8" fmla="*/ 0 w 2398426"/>
                <a:gd name="T9" fmla="*/ 0 h 2488994"/>
                <a:gd name="T10" fmla="*/ 0 w 2398426"/>
                <a:gd name="T11" fmla="*/ 0 h 2488994"/>
                <a:gd name="T12" fmla="*/ 0 w 2398426"/>
                <a:gd name="T13" fmla="*/ 0 h 2488994"/>
                <a:gd name="T14" fmla="*/ 0 w 2398426"/>
                <a:gd name="T15" fmla="*/ 0 h 24889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98426" h="2488994">
                  <a:moveTo>
                    <a:pt x="2113613" y="269822"/>
                  </a:moveTo>
                  <a:lnTo>
                    <a:pt x="254833" y="149901"/>
                  </a:lnTo>
                  <a:lnTo>
                    <a:pt x="74951" y="0"/>
                  </a:lnTo>
                  <a:lnTo>
                    <a:pt x="0" y="329783"/>
                  </a:lnTo>
                  <a:lnTo>
                    <a:pt x="1691048" y="2488994"/>
                  </a:lnTo>
                  <a:lnTo>
                    <a:pt x="2177788" y="1556144"/>
                  </a:lnTo>
                  <a:lnTo>
                    <a:pt x="2398426" y="1439055"/>
                  </a:lnTo>
                  <a:lnTo>
                    <a:pt x="2113613" y="269822"/>
                  </a:ln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25" name="Freeform 22">
              <a:extLst>
                <a:ext uri="{FF2B5EF4-FFF2-40B4-BE49-F238E27FC236}">
                  <a16:creationId xmlns:a16="http://schemas.microsoft.com/office/drawing/2014/main" id="{2852F3AE-353D-4173-C9B2-F7CA875E812E}"/>
                </a:ext>
              </a:extLst>
            </p:cNvPr>
            <p:cNvSpPr>
              <a:spLocks/>
            </p:cNvSpPr>
            <p:nvPr/>
          </p:nvSpPr>
          <p:spPr bwMode="auto">
            <a:xfrm rot="286500">
              <a:off x="5991773" y="3101296"/>
              <a:ext cx="53248" cy="70136"/>
            </a:xfrm>
            <a:custGeom>
              <a:avLst/>
              <a:gdLst>
                <a:gd name="T0" fmla="*/ 0 w 1259245"/>
                <a:gd name="T1" fmla="*/ 0 h 1506961"/>
                <a:gd name="T2" fmla="*/ 0 w 1259245"/>
                <a:gd name="T3" fmla="*/ 0 h 1506961"/>
                <a:gd name="T4" fmla="*/ 0 w 1259245"/>
                <a:gd name="T5" fmla="*/ 0 h 1506961"/>
                <a:gd name="T6" fmla="*/ 0 w 1259245"/>
                <a:gd name="T7" fmla="*/ 0 h 1506961"/>
                <a:gd name="T8" fmla="*/ 0 w 1259245"/>
                <a:gd name="T9" fmla="*/ 0 h 15069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59245" h="1506961">
                  <a:moveTo>
                    <a:pt x="459998" y="0"/>
                  </a:moveTo>
                  <a:lnTo>
                    <a:pt x="0" y="967315"/>
                  </a:lnTo>
                  <a:lnTo>
                    <a:pt x="599606" y="1506961"/>
                  </a:lnTo>
                  <a:lnTo>
                    <a:pt x="1259243" y="571259"/>
                  </a:lnTo>
                  <a:lnTo>
                    <a:pt x="459998" y="0"/>
                  </a:ln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26" name="Freeform 23">
              <a:extLst>
                <a:ext uri="{FF2B5EF4-FFF2-40B4-BE49-F238E27FC236}">
                  <a16:creationId xmlns:a16="http://schemas.microsoft.com/office/drawing/2014/main" id="{210CFC00-DC91-157D-8482-A6C0094EC346}"/>
                </a:ext>
              </a:extLst>
            </p:cNvPr>
            <p:cNvSpPr>
              <a:spLocks/>
            </p:cNvSpPr>
            <p:nvPr/>
          </p:nvSpPr>
          <p:spPr bwMode="auto">
            <a:xfrm>
              <a:off x="5993675" y="2979980"/>
              <a:ext cx="85577" cy="68240"/>
            </a:xfrm>
            <a:custGeom>
              <a:avLst/>
              <a:gdLst>
                <a:gd name="T0" fmla="*/ 0 w 1678899"/>
                <a:gd name="T1" fmla="*/ 0 h 1259174"/>
                <a:gd name="T2" fmla="*/ 0 w 1678899"/>
                <a:gd name="T3" fmla="*/ 0 h 1259174"/>
                <a:gd name="T4" fmla="*/ 0 w 1678899"/>
                <a:gd name="T5" fmla="*/ 0 h 1259174"/>
                <a:gd name="T6" fmla="*/ 0 w 1678899"/>
                <a:gd name="T7" fmla="*/ 0 h 1259174"/>
                <a:gd name="T8" fmla="*/ 0 w 1678899"/>
                <a:gd name="T9" fmla="*/ 0 h 1259174"/>
                <a:gd name="T10" fmla="*/ 0 w 1678899"/>
                <a:gd name="T11" fmla="*/ 0 h 125917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78899" h="1259174">
                  <a:moveTo>
                    <a:pt x="209862" y="1154242"/>
                  </a:moveTo>
                  <a:lnTo>
                    <a:pt x="1678899" y="1259174"/>
                  </a:lnTo>
                  <a:lnTo>
                    <a:pt x="1663908" y="899410"/>
                  </a:lnTo>
                  <a:lnTo>
                    <a:pt x="854439" y="0"/>
                  </a:lnTo>
                  <a:lnTo>
                    <a:pt x="0" y="269823"/>
                  </a:lnTo>
                  <a:lnTo>
                    <a:pt x="209862" y="1154242"/>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27" name="Freeform 24">
              <a:extLst>
                <a:ext uri="{FF2B5EF4-FFF2-40B4-BE49-F238E27FC236}">
                  <a16:creationId xmlns:a16="http://schemas.microsoft.com/office/drawing/2014/main" id="{9542CD7E-6A0A-AD72-C7AF-7AA2E30EF8B9}"/>
                </a:ext>
              </a:extLst>
            </p:cNvPr>
            <p:cNvSpPr>
              <a:spLocks/>
            </p:cNvSpPr>
            <p:nvPr/>
          </p:nvSpPr>
          <p:spPr bwMode="auto">
            <a:xfrm>
              <a:off x="6008889" y="3042534"/>
              <a:ext cx="119808" cy="115628"/>
            </a:xfrm>
            <a:custGeom>
              <a:avLst/>
              <a:gdLst>
                <a:gd name="T0" fmla="*/ 0 w 2578308"/>
                <a:gd name="T1" fmla="*/ 0 h 2368446"/>
                <a:gd name="T2" fmla="*/ 0 w 2578308"/>
                <a:gd name="T3" fmla="*/ 0 h 2368446"/>
                <a:gd name="T4" fmla="*/ 0 w 2578308"/>
                <a:gd name="T5" fmla="*/ 0 h 2368446"/>
                <a:gd name="T6" fmla="*/ 0 w 2578308"/>
                <a:gd name="T7" fmla="*/ 0 h 2368446"/>
                <a:gd name="T8" fmla="*/ 0 w 2578308"/>
                <a:gd name="T9" fmla="*/ 0 h 2368446"/>
                <a:gd name="T10" fmla="*/ 0 w 2578308"/>
                <a:gd name="T11" fmla="*/ 0 h 2368446"/>
                <a:gd name="T12" fmla="*/ 0 w 2578308"/>
                <a:gd name="T13" fmla="*/ 0 h 2368446"/>
                <a:gd name="T14" fmla="*/ 0 w 2578308"/>
                <a:gd name="T15" fmla="*/ 0 h 2368446"/>
                <a:gd name="T16" fmla="*/ 0 w 2578308"/>
                <a:gd name="T17" fmla="*/ 0 h 2368446"/>
                <a:gd name="T18" fmla="*/ 0 w 2578308"/>
                <a:gd name="T19" fmla="*/ 0 h 2368446"/>
                <a:gd name="T20" fmla="*/ 0 w 2578308"/>
                <a:gd name="T21" fmla="*/ 0 h 2368446"/>
                <a:gd name="T22" fmla="*/ 0 w 2578308"/>
                <a:gd name="T23" fmla="*/ 0 h 23684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578308" h="2368446">
                  <a:moveTo>
                    <a:pt x="0" y="0"/>
                  </a:moveTo>
                  <a:lnTo>
                    <a:pt x="254833" y="1154242"/>
                  </a:lnTo>
                  <a:lnTo>
                    <a:pt x="104931" y="1259173"/>
                  </a:lnTo>
                  <a:lnTo>
                    <a:pt x="855821" y="1873287"/>
                  </a:lnTo>
                  <a:lnTo>
                    <a:pt x="1111621" y="1524299"/>
                  </a:lnTo>
                  <a:lnTo>
                    <a:pt x="1734645" y="2033965"/>
                  </a:lnTo>
                  <a:lnTo>
                    <a:pt x="1633928" y="2368446"/>
                  </a:lnTo>
                  <a:lnTo>
                    <a:pt x="2338465" y="2263514"/>
                  </a:lnTo>
                  <a:lnTo>
                    <a:pt x="2578308" y="1514006"/>
                  </a:lnTo>
                  <a:lnTo>
                    <a:pt x="2113613" y="224852"/>
                  </a:lnTo>
                  <a:lnTo>
                    <a:pt x="1439056" y="14990"/>
                  </a:lnTo>
                  <a:lnTo>
                    <a:pt x="0" y="0"/>
                  </a:ln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28" name="Freeform 25">
              <a:extLst>
                <a:ext uri="{FF2B5EF4-FFF2-40B4-BE49-F238E27FC236}">
                  <a16:creationId xmlns:a16="http://schemas.microsoft.com/office/drawing/2014/main" id="{E0379288-A31A-BBA0-772E-9D8327BEE1BB}"/>
                </a:ext>
              </a:extLst>
            </p:cNvPr>
            <p:cNvSpPr>
              <a:spLocks/>
            </p:cNvSpPr>
            <p:nvPr/>
          </p:nvSpPr>
          <p:spPr bwMode="auto">
            <a:xfrm>
              <a:off x="6041218" y="3114565"/>
              <a:ext cx="47544" cy="58761"/>
            </a:xfrm>
            <a:custGeom>
              <a:avLst/>
              <a:gdLst>
                <a:gd name="T0" fmla="*/ 0 w 1097536"/>
                <a:gd name="T1" fmla="*/ 0 h 1184223"/>
                <a:gd name="T2" fmla="*/ 0 w 1097536"/>
                <a:gd name="T3" fmla="*/ 0 h 1184223"/>
                <a:gd name="T4" fmla="*/ 0 w 1097536"/>
                <a:gd name="T5" fmla="*/ 0 h 1184223"/>
                <a:gd name="T6" fmla="*/ 0 w 1097536"/>
                <a:gd name="T7" fmla="*/ 0 h 1184223"/>
                <a:gd name="T8" fmla="*/ 0 w 1097536"/>
                <a:gd name="T9" fmla="*/ 0 h 1184223"/>
                <a:gd name="T10" fmla="*/ 0 w 1097536"/>
                <a:gd name="T11" fmla="*/ 0 h 11842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97536" h="1184223">
                  <a:moveTo>
                    <a:pt x="482939" y="0"/>
                  </a:moveTo>
                  <a:lnTo>
                    <a:pt x="0" y="416160"/>
                  </a:lnTo>
                  <a:lnTo>
                    <a:pt x="452959" y="1184223"/>
                  </a:lnTo>
                  <a:lnTo>
                    <a:pt x="1067555" y="824459"/>
                  </a:lnTo>
                  <a:lnTo>
                    <a:pt x="1097536" y="509666"/>
                  </a:lnTo>
                  <a:lnTo>
                    <a:pt x="482939"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29" name="Freeform 26">
              <a:extLst>
                <a:ext uri="{FF2B5EF4-FFF2-40B4-BE49-F238E27FC236}">
                  <a16:creationId xmlns:a16="http://schemas.microsoft.com/office/drawing/2014/main" id="{140765BA-A86D-35F9-C57A-7C089F95931D}"/>
                </a:ext>
              </a:extLst>
            </p:cNvPr>
            <p:cNvSpPr>
              <a:spLocks/>
            </p:cNvSpPr>
            <p:nvPr/>
          </p:nvSpPr>
          <p:spPr bwMode="auto">
            <a:xfrm>
              <a:off x="6062137" y="3146789"/>
              <a:ext cx="77970" cy="72031"/>
            </a:xfrm>
            <a:custGeom>
              <a:avLst/>
              <a:gdLst>
                <a:gd name="T0" fmla="*/ 0 w 1852882"/>
                <a:gd name="T1" fmla="*/ 0 h 1521018"/>
                <a:gd name="T2" fmla="*/ 0 w 1852882"/>
                <a:gd name="T3" fmla="*/ 0 h 1521018"/>
                <a:gd name="T4" fmla="*/ 0 w 1852882"/>
                <a:gd name="T5" fmla="*/ 0 h 1521018"/>
                <a:gd name="T6" fmla="*/ 0 w 1852882"/>
                <a:gd name="T7" fmla="*/ 0 h 1521018"/>
                <a:gd name="T8" fmla="*/ 0 w 1852882"/>
                <a:gd name="T9" fmla="*/ 0 h 1521018"/>
                <a:gd name="T10" fmla="*/ 0 w 1852882"/>
                <a:gd name="T11" fmla="*/ 0 h 1521018"/>
                <a:gd name="T12" fmla="*/ 0 w 1852882"/>
                <a:gd name="T13" fmla="*/ 0 h 1521018"/>
                <a:gd name="T14" fmla="*/ 0 w 1852882"/>
                <a:gd name="T15" fmla="*/ 0 h 1521018"/>
                <a:gd name="T16" fmla="*/ 0 w 1852882"/>
                <a:gd name="T17" fmla="*/ 0 h 1521018"/>
                <a:gd name="T18" fmla="*/ 0 w 1852882"/>
                <a:gd name="T19" fmla="*/ 0 h 1521018"/>
                <a:gd name="T20" fmla="*/ 0 w 1852882"/>
                <a:gd name="T21" fmla="*/ 0 h 15210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52882" h="1521018">
                  <a:moveTo>
                    <a:pt x="0" y="507061"/>
                  </a:moveTo>
                  <a:lnTo>
                    <a:pt x="0" y="1211599"/>
                  </a:lnTo>
                  <a:lnTo>
                    <a:pt x="435424" y="1521018"/>
                  </a:lnTo>
                  <a:lnTo>
                    <a:pt x="839449" y="1391481"/>
                  </a:lnTo>
                  <a:lnTo>
                    <a:pt x="1763339" y="952692"/>
                  </a:lnTo>
                  <a:lnTo>
                    <a:pt x="1852882" y="743963"/>
                  </a:lnTo>
                  <a:lnTo>
                    <a:pt x="1756379" y="372784"/>
                  </a:lnTo>
                  <a:lnTo>
                    <a:pt x="1563372" y="307281"/>
                  </a:lnTo>
                  <a:lnTo>
                    <a:pt x="1370668" y="0"/>
                  </a:lnTo>
                  <a:lnTo>
                    <a:pt x="644577" y="177278"/>
                  </a:lnTo>
                  <a:lnTo>
                    <a:pt x="0" y="507061"/>
                  </a:ln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30" name="Freeform 27">
              <a:extLst>
                <a:ext uri="{FF2B5EF4-FFF2-40B4-BE49-F238E27FC236}">
                  <a16:creationId xmlns:a16="http://schemas.microsoft.com/office/drawing/2014/main" id="{E161DC92-B948-0073-C3DC-3DEF379C1DA2}"/>
                </a:ext>
              </a:extLst>
            </p:cNvPr>
            <p:cNvSpPr>
              <a:spLocks/>
            </p:cNvSpPr>
            <p:nvPr/>
          </p:nvSpPr>
          <p:spPr bwMode="auto">
            <a:xfrm>
              <a:off x="6014594" y="3135416"/>
              <a:ext cx="64659" cy="130794"/>
            </a:xfrm>
            <a:custGeom>
              <a:avLst/>
              <a:gdLst>
                <a:gd name="T0" fmla="*/ 0 w 444747"/>
                <a:gd name="T1" fmla="*/ 6 h 900169"/>
                <a:gd name="T2" fmla="*/ 3 w 444747"/>
                <a:gd name="T3" fmla="*/ 8 h 900169"/>
                <a:gd name="T4" fmla="*/ 3 w 444747"/>
                <a:gd name="T5" fmla="*/ 19 h 900169"/>
                <a:gd name="T6" fmla="*/ 7 w 444747"/>
                <a:gd name="T7" fmla="*/ 24 h 900169"/>
                <a:gd name="T8" fmla="*/ 8 w 444747"/>
                <a:gd name="T9" fmla="*/ 22 h 900169"/>
                <a:gd name="T10" fmla="*/ 10 w 444747"/>
                <a:gd name="T11" fmla="*/ 18 h 900169"/>
                <a:gd name="T12" fmla="*/ 9 w 444747"/>
                <a:gd name="T13" fmla="*/ 16 h 900169"/>
                <a:gd name="T14" fmla="*/ 12 w 444747"/>
                <a:gd name="T15" fmla="*/ 15 h 900169"/>
                <a:gd name="T16" fmla="*/ 8 w 444747"/>
                <a:gd name="T17" fmla="*/ 13 h 900169"/>
                <a:gd name="T18" fmla="*/ 8 w 444747"/>
                <a:gd name="T19" fmla="*/ 7 h 900169"/>
                <a:gd name="T20" fmla="*/ 5 w 444747"/>
                <a:gd name="T21" fmla="*/ 0 h 900169"/>
                <a:gd name="T22" fmla="*/ 0 w 444747"/>
                <a:gd name="T23" fmla="*/ 6 h 90016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44747" h="900169">
                  <a:moveTo>
                    <a:pt x="0" y="238385"/>
                  </a:moveTo>
                  <a:lnTo>
                    <a:pt x="99623" y="298870"/>
                  </a:lnTo>
                  <a:lnTo>
                    <a:pt x="99623" y="715154"/>
                  </a:lnTo>
                  <a:lnTo>
                    <a:pt x="263290" y="900169"/>
                  </a:lnTo>
                  <a:lnTo>
                    <a:pt x="327333" y="836125"/>
                  </a:lnTo>
                  <a:lnTo>
                    <a:pt x="384261" y="683132"/>
                  </a:lnTo>
                  <a:lnTo>
                    <a:pt x="362913" y="608414"/>
                  </a:lnTo>
                  <a:lnTo>
                    <a:pt x="444747" y="576393"/>
                  </a:lnTo>
                  <a:lnTo>
                    <a:pt x="327333" y="476769"/>
                  </a:lnTo>
                  <a:lnTo>
                    <a:pt x="327333" y="266849"/>
                  </a:lnTo>
                  <a:lnTo>
                    <a:pt x="185014" y="0"/>
                  </a:lnTo>
                  <a:lnTo>
                    <a:pt x="0" y="238385"/>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31" name="Freeform 28">
              <a:extLst>
                <a:ext uri="{FF2B5EF4-FFF2-40B4-BE49-F238E27FC236}">
                  <a16:creationId xmlns:a16="http://schemas.microsoft.com/office/drawing/2014/main" id="{F6BCAC56-A3EF-3978-7C6F-6A63B3C2DC1B}"/>
                </a:ext>
              </a:extLst>
            </p:cNvPr>
            <p:cNvSpPr>
              <a:spLocks/>
            </p:cNvSpPr>
            <p:nvPr/>
          </p:nvSpPr>
          <p:spPr bwMode="auto">
            <a:xfrm>
              <a:off x="5096062" y="2555377"/>
              <a:ext cx="131218" cy="195242"/>
            </a:xfrm>
            <a:custGeom>
              <a:avLst/>
              <a:gdLst>
                <a:gd name="T0" fmla="*/ 2147483647 w 84"/>
                <a:gd name="T1" fmla="*/ 2147483647 h 126"/>
                <a:gd name="T2" fmla="*/ 0 w 84"/>
                <a:gd name="T3" fmla="*/ 2147483647 h 126"/>
                <a:gd name="T4" fmla="*/ 0 w 84"/>
                <a:gd name="T5" fmla="*/ 2147483647 h 126"/>
                <a:gd name="T6" fmla="*/ 2147483647 w 84"/>
                <a:gd name="T7" fmla="*/ 2147483647 h 126"/>
                <a:gd name="T8" fmla="*/ 2147483647 w 84"/>
                <a:gd name="T9" fmla="*/ 2147483647 h 126"/>
                <a:gd name="T10" fmla="*/ 2147483647 w 84"/>
                <a:gd name="T11" fmla="*/ 2147483647 h 126"/>
                <a:gd name="T12" fmla="*/ 2147483647 w 84"/>
                <a:gd name="T13" fmla="*/ 2147483647 h 126"/>
                <a:gd name="T14" fmla="*/ 2147483647 w 84"/>
                <a:gd name="T15" fmla="*/ 2147483647 h 126"/>
                <a:gd name="T16" fmla="*/ 2147483647 w 84"/>
                <a:gd name="T17" fmla="*/ 2147483647 h 126"/>
                <a:gd name="T18" fmla="*/ 2147483647 w 84"/>
                <a:gd name="T19" fmla="*/ 2147483647 h 126"/>
                <a:gd name="T20" fmla="*/ 2147483647 w 84"/>
                <a:gd name="T21" fmla="*/ 2147483647 h 126"/>
                <a:gd name="T22" fmla="*/ 2147483647 w 84"/>
                <a:gd name="T23" fmla="*/ 0 h 126"/>
                <a:gd name="T24" fmla="*/ 2147483647 w 84"/>
                <a:gd name="T25" fmla="*/ 2147483647 h 126"/>
                <a:gd name="T26" fmla="*/ 2147483647 w 84"/>
                <a:gd name="T27" fmla="*/ 2147483647 h 126"/>
                <a:gd name="T28" fmla="*/ 2147483647 w 84"/>
                <a:gd name="T29" fmla="*/ 2147483647 h 126"/>
                <a:gd name="T30" fmla="*/ 2147483647 w 84"/>
                <a:gd name="T31" fmla="*/ 2147483647 h 126"/>
                <a:gd name="T32" fmla="*/ 2147483647 w 84"/>
                <a:gd name="T33" fmla="*/ 2147483647 h 126"/>
                <a:gd name="T34" fmla="*/ 2147483647 w 84"/>
                <a:gd name="T35" fmla="*/ 2147483647 h 126"/>
                <a:gd name="T36" fmla="*/ 2147483647 w 84"/>
                <a:gd name="T37" fmla="*/ 2147483647 h 126"/>
                <a:gd name="T38" fmla="*/ 2147483647 w 84"/>
                <a:gd name="T39" fmla="*/ 2147483647 h 126"/>
                <a:gd name="T40" fmla="*/ 2147483647 w 84"/>
                <a:gd name="T41" fmla="*/ 2147483647 h 12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4" h="126">
                  <a:moveTo>
                    <a:pt x="18" y="126"/>
                  </a:moveTo>
                  <a:lnTo>
                    <a:pt x="0" y="114"/>
                  </a:lnTo>
                  <a:lnTo>
                    <a:pt x="0" y="102"/>
                  </a:lnTo>
                  <a:lnTo>
                    <a:pt x="6" y="96"/>
                  </a:lnTo>
                  <a:lnTo>
                    <a:pt x="12" y="84"/>
                  </a:lnTo>
                  <a:lnTo>
                    <a:pt x="12" y="66"/>
                  </a:lnTo>
                  <a:lnTo>
                    <a:pt x="6" y="60"/>
                  </a:lnTo>
                  <a:lnTo>
                    <a:pt x="12" y="54"/>
                  </a:lnTo>
                  <a:lnTo>
                    <a:pt x="6" y="36"/>
                  </a:lnTo>
                  <a:lnTo>
                    <a:pt x="30" y="30"/>
                  </a:lnTo>
                  <a:lnTo>
                    <a:pt x="30" y="18"/>
                  </a:lnTo>
                  <a:lnTo>
                    <a:pt x="54" y="0"/>
                  </a:lnTo>
                  <a:lnTo>
                    <a:pt x="60" y="6"/>
                  </a:lnTo>
                  <a:lnTo>
                    <a:pt x="72" y="6"/>
                  </a:lnTo>
                  <a:lnTo>
                    <a:pt x="78" y="18"/>
                  </a:lnTo>
                  <a:lnTo>
                    <a:pt x="84" y="30"/>
                  </a:lnTo>
                  <a:lnTo>
                    <a:pt x="72" y="42"/>
                  </a:lnTo>
                  <a:lnTo>
                    <a:pt x="78" y="66"/>
                  </a:lnTo>
                  <a:lnTo>
                    <a:pt x="72" y="96"/>
                  </a:lnTo>
                  <a:lnTo>
                    <a:pt x="54" y="102"/>
                  </a:lnTo>
                  <a:lnTo>
                    <a:pt x="18" y="12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32" name="Freeform 29">
              <a:extLst>
                <a:ext uri="{FF2B5EF4-FFF2-40B4-BE49-F238E27FC236}">
                  <a16:creationId xmlns:a16="http://schemas.microsoft.com/office/drawing/2014/main" id="{8B046975-B3FC-F847-A7D7-7B3DF478CD7B}"/>
                </a:ext>
              </a:extLst>
            </p:cNvPr>
            <p:cNvSpPr>
              <a:spLocks/>
            </p:cNvSpPr>
            <p:nvPr/>
          </p:nvSpPr>
          <p:spPr bwMode="auto">
            <a:xfrm>
              <a:off x="6986375" y="961220"/>
              <a:ext cx="522973" cy="665338"/>
            </a:xfrm>
            <a:custGeom>
              <a:avLst/>
              <a:gdLst>
                <a:gd name="T0" fmla="*/ 2147483647 w 336"/>
                <a:gd name="T1" fmla="*/ 2147483647 h 427"/>
                <a:gd name="T2" fmla="*/ 2147483647 w 336"/>
                <a:gd name="T3" fmla="*/ 2147483647 h 427"/>
                <a:gd name="T4" fmla="*/ 2147483647 w 336"/>
                <a:gd name="T5" fmla="*/ 2147483647 h 427"/>
                <a:gd name="T6" fmla="*/ 2147483647 w 336"/>
                <a:gd name="T7" fmla="*/ 2147483647 h 427"/>
                <a:gd name="T8" fmla="*/ 2147483647 w 336"/>
                <a:gd name="T9" fmla="*/ 2147483647 h 427"/>
                <a:gd name="T10" fmla="*/ 2147483647 w 336"/>
                <a:gd name="T11" fmla="*/ 2147483647 h 427"/>
                <a:gd name="T12" fmla="*/ 2147483647 w 336"/>
                <a:gd name="T13" fmla="*/ 2147483647 h 427"/>
                <a:gd name="T14" fmla="*/ 2147483647 w 336"/>
                <a:gd name="T15" fmla="*/ 2147483647 h 427"/>
                <a:gd name="T16" fmla="*/ 2147483647 w 336"/>
                <a:gd name="T17" fmla="*/ 2147483647 h 427"/>
                <a:gd name="T18" fmla="*/ 2147483647 w 336"/>
                <a:gd name="T19" fmla="*/ 2147483647 h 427"/>
                <a:gd name="T20" fmla="*/ 2147483647 w 336"/>
                <a:gd name="T21" fmla="*/ 2147483647 h 427"/>
                <a:gd name="T22" fmla="*/ 2147483647 w 336"/>
                <a:gd name="T23" fmla="*/ 0 h 427"/>
                <a:gd name="T24" fmla="*/ 2147483647 w 336"/>
                <a:gd name="T25" fmla="*/ 2147483647 h 427"/>
                <a:gd name="T26" fmla="*/ 2147483647 w 336"/>
                <a:gd name="T27" fmla="*/ 2147483647 h 427"/>
                <a:gd name="T28" fmla="*/ 2147483647 w 336"/>
                <a:gd name="T29" fmla="*/ 2147483647 h 427"/>
                <a:gd name="T30" fmla="*/ 2147483647 w 336"/>
                <a:gd name="T31" fmla="*/ 2147483647 h 427"/>
                <a:gd name="T32" fmla="*/ 2147483647 w 336"/>
                <a:gd name="T33" fmla="*/ 2147483647 h 427"/>
                <a:gd name="T34" fmla="*/ 2147483647 w 336"/>
                <a:gd name="T35" fmla="*/ 2147483647 h 427"/>
                <a:gd name="T36" fmla="*/ 2147483647 w 336"/>
                <a:gd name="T37" fmla="*/ 2147483647 h 427"/>
                <a:gd name="T38" fmla="*/ 2147483647 w 336"/>
                <a:gd name="T39" fmla="*/ 2147483647 h 427"/>
                <a:gd name="T40" fmla="*/ 2147483647 w 336"/>
                <a:gd name="T41" fmla="*/ 2147483647 h 427"/>
                <a:gd name="T42" fmla="*/ 2147483647 w 336"/>
                <a:gd name="T43" fmla="*/ 2147483647 h 427"/>
                <a:gd name="T44" fmla="*/ 2147483647 w 336"/>
                <a:gd name="T45" fmla="*/ 2147483647 h 427"/>
                <a:gd name="T46" fmla="*/ 2147483647 w 336"/>
                <a:gd name="T47" fmla="*/ 2147483647 h 427"/>
                <a:gd name="T48" fmla="*/ 2147483647 w 336"/>
                <a:gd name="T49" fmla="*/ 2147483647 h 427"/>
                <a:gd name="T50" fmla="*/ 2147483647 w 336"/>
                <a:gd name="T51" fmla="*/ 2147483647 h 427"/>
                <a:gd name="T52" fmla="*/ 2147483647 w 336"/>
                <a:gd name="T53" fmla="*/ 2147483647 h 427"/>
                <a:gd name="T54" fmla="*/ 0 w 336"/>
                <a:gd name="T55" fmla="*/ 2147483647 h 427"/>
                <a:gd name="T56" fmla="*/ 2147483647 w 336"/>
                <a:gd name="T57" fmla="*/ 2147483647 h 427"/>
                <a:gd name="T58" fmla="*/ 2147483647 w 336"/>
                <a:gd name="T59" fmla="*/ 2147483647 h 427"/>
                <a:gd name="T60" fmla="*/ 2147483647 w 336"/>
                <a:gd name="T61" fmla="*/ 2147483647 h 427"/>
                <a:gd name="T62" fmla="*/ 2147483647 w 336"/>
                <a:gd name="T63" fmla="*/ 2147483647 h 427"/>
                <a:gd name="T64" fmla="*/ 2147483647 w 336"/>
                <a:gd name="T65" fmla="*/ 2147483647 h 42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36" h="427">
                  <a:moveTo>
                    <a:pt x="120" y="427"/>
                  </a:moveTo>
                  <a:lnTo>
                    <a:pt x="96" y="397"/>
                  </a:lnTo>
                  <a:lnTo>
                    <a:pt x="78" y="325"/>
                  </a:lnTo>
                  <a:lnTo>
                    <a:pt x="96" y="282"/>
                  </a:lnTo>
                  <a:lnTo>
                    <a:pt x="144" y="180"/>
                  </a:lnTo>
                  <a:lnTo>
                    <a:pt x="192" y="150"/>
                  </a:lnTo>
                  <a:lnTo>
                    <a:pt x="222" y="114"/>
                  </a:lnTo>
                  <a:lnTo>
                    <a:pt x="252" y="96"/>
                  </a:lnTo>
                  <a:lnTo>
                    <a:pt x="294" y="72"/>
                  </a:lnTo>
                  <a:lnTo>
                    <a:pt x="336" y="30"/>
                  </a:lnTo>
                  <a:lnTo>
                    <a:pt x="330" y="6"/>
                  </a:lnTo>
                  <a:lnTo>
                    <a:pt x="294" y="0"/>
                  </a:lnTo>
                  <a:lnTo>
                    <a:pt x="270" y="24"/>
                  </a:lnTo>
                  <a:lnTo>
                    <a:pt x="252" y="42"/>
                  </a:lnTo>
                  <a:lnTo>
                    <a:pt x="222" y="48"/>
                  </a:lnTo>
                  <a:lnTo>
                    <a:pt x="186" y="48"/>
                  </a:lnTo>
                  <a:lnTo>
                    <a:pt x="174" y="60"/>
                  </a:lnTo>
                  <a:lnTo>
                    <a:pt x="162" y="78"/>
                  </a:lnTo>
                  <a:lnTo>
                    <a:pt x="114" y="126"/>
                  </a:lnTo>
                  <a:lnTo>
                    <a:pt x="90" y="138"/>
                  </a:lnTo>
                  <a:lnTo>
                    <a:pt x="84" y="168"/>
                  </a:lnTo>
                  <a:lnTo>
                    <a:pt x="66" y="186"/>
                  </a:lnTo>
                  <a:lnTo>
                    <a:pt x="42" y="216"/>
                  </a:lnTo>
                  <a:lnTo>
                    <a:pt x="42" y="240"/>
                  </a:lnTo>
                  <a:lnTo>
                    <a:pt x="30" y="270"/>
                  </a:lnTo>
                  <a:lnTo>
                    <a:pt x="12" y="295"/>
                  </a:lnTo>
                  <a:lnTo>
                    <a:pt x="18" y="325"/>
                  </a:lnTo>
                  <a:lnTo>
                    <a:pt x="0" y="349"/>
                  </a:lnTo>
                  <a:lnTo>
                    <a:pt x="18" y="391"/>
                  </a:lnTo>
                  <a:lnTo>
                    <a:pt x="48" y="403"/>
                  </a:lnTo>
                  <a:lnTo>
                    <a:pt x="54" y="415"/>
                  </a:lnTo>
                  <a:lnTo>
                    <a:pt x="72" y="421"/>
                  </a:lnTo>
                  <a:lnTo>
                    <a:pt x="120" y="427"/>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33" name="Freeform 30">
              <a:extLst>
                <a:ext uri="{FF2B5EF4-FFF2-40B4-BE49-F238E27FC236}">
                  <a16:creationId xmlns:a16="http://schemas.microsoft.com/office/drawing/2014/main" id="{57F808B8-36CA-E0A1-3AD6-C0AEE77ED902}"/>
                </a:ext>
              </a:extLst>
            </p:cNvPr>
            <p:cNvSpPr>
              <a:spLocks/>
            </p:cNvSpPr>
            <p:nvPr/>
          </p:nvSpPr>
          <p:spPr bwMode="auto">
            <a:xfrm>
              <a:off x="6676394" y="4875531"/>
              <a:ext cx="199682" cy="413230"/>
            </a:xfrm>
            <a:custGeom>
              <a:avLst/>
              <a:gdLst>
                <a:gd name="T0" fmla="*/ 2147483647 w 126"/>
                <a:gd name="T1" fmla="*/ 2147483647 h 265"/>
                <a:gd name="T2" fmla="*/ 0 w 126"/>
                <a:gd name="T3" fmla="*/ 2147483647 h 265"/>
                <a:gd name="T4" fmla="*/ 2147483647 w 126"/>
                <a:gd name="T5" fmla="*/ 2147483647 h 265"/>
                <a:gd name="T6" fmla="*/ 2147483647 w 126"/>
                <a:gd name="T7" fmla="*/ 2147483647 h 265"/>
                <a:gd name="T8" fmla="*/ 2147483647 w 126"/>
                <a:gd name="T9" fmla="*/ 2147483647 h 265"/>
                <a:gd name="T10" fmla="*/ 2147483647 w 126"/>
                <a:gd name="T11" fmla="*/ 2147483647 h 265"/>
                <a:gd name="T12" fmla="*/ 2147483647 w 126"/>
                <a:gd name="T13" fmla="*/ 2147483647 h 265"/>
                <a:gd name="T14" fmla="*/ 2147483647 w 126"/>
                <a:gd name="T15" fmla="*/ 2147483647 h 265"/>
                <a:gd name="T16" fmla="*/ 2147483647 w 126"/>
                <a:gd name="T17" fmla="*/ 0 h 265"/>
                <a:gd name="T18" fmla="*/ 2147483647 w 126"/>
                <a:gd name="T19" fmla="*/ 2147483647 h 265"/>
                <a:gd name="T20" fmla="*/ 2147483647 w 126"/>
                <a:gd name="T21" fmla="*/ 2147483647 h 265"/>
                <a:gd name="T22" fmla="*/ 2147483647 w 126"/>
                <a:gd name="T23" fmla="*/ 2147483647 h 265"/>
                <a:gd name="T24" fmla="*/ 2147483647 w 126"/>
                <a:gd name="T25" fmla="*/ 2147483647 h 265"/>
                <a:gd name="T26" fmla="*/ 2147483647 w 126"/>
                <a:gd name="T27" fmla="*/ 2147483647 h 265"/>
                <a:gd name="T28" fmla="*/ 2147483647 w 126"/>
                <a:gd name="T29" fmla="*/ 2147483647 h 265"/>
                <a:gd name="T30" fmla="*/ 2147483647 w 126"/>
                <a:gd name="T31" fmla="*/ 2147483647 h 265"/>
                <a:gd name="T32" fmla="*/ 2147483647 w 126"/>
                <a:gd name="T33" fmla="*/ 2147483647 h 2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26" h="265">
                  <a:moveTo>
                    <a:pt x="6" y="217"/>
                  </a:moveTo>
                  <a:lnTo>
                    <a:pt x="0" y="193"/>
                  </a:lnTo>
                  <a:lnTo>
                    <a:pt x="12" y="169"/>
                  </a:lnTo>
                  <a:lnTo>
                    <a:pt x="24" y="139"/>
                  </a:lnTo>
                  <a:lnTo>
                    <a:pt x="12" y="91"/>
                  </a:lnTo>
                  <a:lnTo>
                    <a:pt x="30" y="78"/>
                  </a:lnTo>
                  <a:lnTo>
                    <a:pt x="54" y="60"/>
                  </a:lnTo>
                  <a:lnTo>
                    <a:pt x="78" y="24"/>
                  </a:lnTo>
                  <a:lnTo>
                    <a:pt x="108" y="0"/>
                  </a:lnTo>
                  <a:lnTo>
                    <a:pt x="126" y="24"/>
                  </a:lnTo>
                  <a:lnTo>
                    <a:pt x="126" y="66"/>
                  </a:lnTo>
                  <a:lnTo>
                    <a:pt x="126" y="91"/>
                  </a:lnTo>
                  <a:lnTo>
                    <a:pt x="78" y="253"/>
                  </a:lnTo>
                  <a:lnTo>
                    <a:pt x="54" y="259"/>
                  </a:lnTo>
                  <a:lnTo>
                    <a:pt x="30" y="265"/>
                  </a:lnTo>
                  <a:lnTo>
                    <a:pt x="6" y="247"/>
                  </a:lnTo>
                  <a:lnTo>
                    <a:pt x="6" y="217"/>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34" name="Freeform 31">
              <a:extLst>
                <a:ext uri="{FF2B5EF4-FFF2-40B4-BE49-F238E27FC236}">
                  <a16:creationId xmlns:a16="http://schemas.microsoft.com/office/drawing/2014/main" id="{018F3999-704C-DF60-2103-CA89685D7994}"/>
                </a:ext>
              </a:extLst>
            </p:cNvPr>
            <p:cNvSpPr>
              <a:spLocks/>
            </p:cNvSpPr>
            <p:nvPr/>
          </p:nvSpPr>
          <p:spPr bwMode="auto">
            <a:xfrm>
              <a:off x="10363837" y="5827097"/>
              <a:ext cx="214894" cy="244527"/>
            </a:xfrm>
            <a:custGeom>
              <a:avLst/>
              <a:gdLst>
                <a:gd name="T0" fmla="*/ 0 w 138"/>
                <a:gd name="T1" fmla="*/ 2147483647 h 157"/>
                <a:gd name="T2" fmla="*/ 2147483647 w 138"/>
                <a:gd name="T3" fmla="*/ 2147483647 h 157"/>
                <a:gd name="T4" fmla="*/ 2147483647 w 138"/>
                <a:gd name="T5" fmla="*/ 2147483647 h 157"/>
                <a:gd name="T6" fmla="*/ 2147483647 w 138"/>
                <a:gd name="T7" fmla="*/ 2147483647 h 157"/>
                <a:gd name="T8" fmla="*/ 2147483647 w 138"/>
                <a:gd name="T9" fmla="*/ 2147483647 h 157"/>
                <a:gd name="T10" fmla="*/ 2147483647 w 138"/>
                <a:gd name="T11" fmla="*/ 2147483647 h 157"/>
                <a:gd name="T12" fmla="*/ 2147483647 w 138"/>
                <a:gd name="T13" fmla="*/ 0 h 157"/>
                <a:gd name="T14" fmla="*/ 2147483647 w 138"/>
                <a:gd name="T15" fmla="*/ 2147483647 h 157"/>
                <a:gd name="T16" fmla="*/ 2147483647 w 138"/>
                <a:gd name="T17" fmla="*/ 2147483647 h 157"/>
                <a:gd name="T18" fmla="*/ 2147483647 w 138"/>
                <a:gd name="T19" fmla="*/ 2147483647 h 157"/>
                <a:gd name="T20" fmla="*/ 2147483647 w 138"/>
                <a:gd name="T21" fmla="*/ 2147483647 h 157"/>
                <a:gd name="T22" fmla="*/ 2147483647 w 138"/>
                <a:gd name="T23" fmla="*/ 2147483647 h 157"/>
                <a:gd name="T24" fmla="*/ 2147483647 w 138"/>
                <a:gd name="T25" fmla="*/ 2147483647 h 157"/>
                <a:gd name="T26" fmla="*/ 2147483647 w 138"/>
                <a:gd name="T27" fmla="*/ 2147483647 h 157"/>
                <a:gd name="T28" fmla="*/ 2147483647 w 138"/>
                <a:gd name="T29" fmla="*/ 2147483647 h 157"/>
                <a:gd name="T30" fmla="*/ 2147483647 w 138"/>
                <a:gd name="T31" fmla="*/ 2147483647 h 157"/>
                <a:gd name="T32" fmla="*/ 2147483647 w 138"/>
                <a:gd name="T33" fmla="*/ 2147483647 h 157"/>
                <a:gd name="T34" fmla="*/ 0 w 138"/>
                <a:gd name="T35" fmla="*/ 2147483647 h 15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38" h="157">
                  <a:moveTo>
                    <a:pt x="0" y="133"/>
                  </a:moveTo>
                  <a:lnTo>
                    <a:pt x="18" y="97"/>
                  </a:lnTo>
                  <a:lnTo>
                    <a:pt x="30" y="79"/>
                  </a:lnTo>
                  <a:lnTo>
                    <a:pt x="66" y="60"/>
                  </a:lnTo>
                  <a:lnTo>
                    <a:pt x="78" y="54"/>
                  </a:lnTo>
                  <a:lnTo>
                    <a:pt x="90" y="30"/>
                  </a:lnTo>
                  <a:lnTo>
                    <a:pt x="102" y="0"/>
                  </a:lnTo>
                  <a:lnTo>
                    <a:pt x="114" y="12"/>
                  </a:lnTo>
                  <a:lnTo>
                    <a:pt x="138" y="18"/>
                  </a:lnTo>
                  <a:lnTo>
                    <a:pt x="138" y="36"/>
                  </a:lnTo>
                  <a:lnTo>
                    <a:pt x="114" y="54"/>
                  </a:lnTo>
                  <a:lnTo>
                    <a:pt x="102" y="67"/>
                  </a:lnTo>
                  <a:lnTo>
                    <a:pt x="78" y="91"/>
                  </a:lnTo>
                  <a:lnTo>
                    <a:pt x="72" y="115"/>
                  </a:lnTo>
                  <a:lnTo>
                    <a:pt x="66" y="151"/>
                  </a:lnTo>
                  <a:lnTo>
                    <a:pt x="36" y="157"/>
                  </a:lnTo>
                  <a:lnTo>
                    <a:pt x="18" y="151"/>
                  </a:lnTo>
                  <a:lnTo>
                    <a:pt x="0" y="133"/>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35" name="Freeform 32">
              <a:extLst>
                <a:ext uri="{FF2B5EF4-FFF2-40B4-BE49-F238E27FC236}">
                  <a16:creationId xmlns:a16="http://schemas.microsoft.com/office/drawing/2014/main" id="{F2460359-7646-177D-9A8F-D6083CAACBF4}"/>
                </a:ext>
              </a:extLst>
            </p:cNvPr>
            <p:cNvSpPr>
              <a:spLocks/>
            </p:cNvSpPr>
            <p:nvPr/>
          </p:nvSpPr>
          <p:spPr bwMode="auto">
            <a:xfrm>
              <a:off x="10550206" y="5607213"/>
              <a:ext cx="150236" cy="240735"/>
            </a:xfrm>
            <a:custGeom>
              <a:avLst/>
              <a:gdLst>
                <a:gd name="T0" fmla="*/ 2147483647 w 96"/>
                <a:gd name="T1" fmla="*/ 2147483647 h 156"/>
                <a:gd name="T2" fmla="*/ 2147483647 w 96"/>
                <a:gd name="T3" fmla="*/ 2147483647 h 156"/>
                <a:gd name="T4" fmla="*/ 2147483647 w 96"/>
                <a:gd name="T5" fmla="*/ 2147483647 h 156"/>
                <a:gd name="T6" fmla="*/ 0 w 96"/>
                <a:gd name="T7" fmla="*/ 0 h 156"/>
                <a:gd name="T8" fmla="*/ 2147483647 w 96"/>
                <a:gd name="T9" fmla="*/ 2147483647 h 156"/>
                <a:gd name="T10" fmla="*/ 2147483647 w 96"/>
                <a:gd name="T11" fmla="*/ 2147483647 h 156"/>
                <a:gd name="T12" fmla="*/ 2147483647 w 96"/>
                <a:gd name="T13" fmla="*/ 2147483647 h 156"/>
                <a:gd name="T14" fmla="*/ 2147483647 w 96"/>
                <a:gd name="T15" fmla="*/ 2147483647 h 156"/>
                <a:gd name="T16" fmla="*/ 2147483647 w 96"/>
                <a:gd name="T17" fmla="*/ 2147483647 h 156"/>
                <a:gd name="T18" fmla="*/ 2147483647 w 96"/>
                <a:gd name="T19" fmla="*/ 2147483647 h 156"/>
                <a:gd name="T20" fmla="*/ 2147483647 w 96"/>
                <a:gd name="T21" fmla="*/ 2147483647 h 156"/>
                <a:gd name="T22" fmla="*/ 2147483647 w 96"/>
                <a:gd name="T23" fmla="*/ 2147483647 h 156"/>
                <a:gd name="T24" fmla="*/ 2147483647 w 96"/>
                <a:gd name="T25" fmla="*/ 2147483647 h 156"/>
                <a:gd name="T26" fmla="*/ 2147483647 w 96"/>
                <a:gd name="T27" fmla="*/ 2147483647 h 156"/>
                <a:gd name="T28" fmla="*/ 2147483647 w 96"/>
                <a:gd name="T29" fmla="*/ 2147483647 h 156"/>
                <a:gd name="T30" fmla="*/ 2147483647 w 96"/>
                <a:gd name="T31" fmla="*/ 2147483647 h 156"/>
                <a:gd name="T32" fmla="*/ 2147483647 w 96"/>
                <a:gd name="T33" fmla="*/ 2147483647 h 156"/>
                <a:gd name="T34" fmla="*/ 2147483647 w 96"/>
                <a:gd name="T35" fmla="*/ 2147483647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96" h="156">
                  <a:moveTo>
                    <a:pt x="6" y="108"/>
                  </a:moveTo>
                  <a:lnTo>
                    <a:pt x="24" y="78"/>
                  </a:lnTo>
                  <a:lnTo>
                    <a:pt x="24" y="54"/>
                  </a:lnTo>
                  <a:lnTo>
                    <a:pt x="0" y="0"/>
                  </a:lnTo>
                  <a:lnTo>
                    <a:pt x="30" y="12"/>
                  </a:lnTo>
                  <a:lnTo>
                    <a:pt x="30" y="42"/>
                  </a:lnTo>
                  <a:lnTo>
                    <a:pt x="42" y="60"/>
                  </a:lnTo>
                  <a:lnTo>
                    <a:pt x="60" y="78"/>
                  </a:lnTo>
                  <a:lnTo>
                    <a:pt x="84" y="66"/>
                  </a:lnTo>
                  <a:lnTo>
                    <a:pt x="96" y="78"/>
                  </a:lnTo>
                  <a:lnTo>
                    <a:pt x="90" y="90"/>
                  </a:lnTo>
                  <a:lnTo>
                    <a:pt x="78" y="102"/>
                  </a:lnTo>
                  <a:lnTo>
                    <a:pt x="66" y="114"/>
                  </a:lnTo>
                  <a:lnTo>
                    <a:pt x="60" y="132"/>
                  </a:lnTo>
                  <a:lnTo>
                    <a:pt x="42" y="156"/>
                  </a:lnTo>
                  <a:lnTo>
                    <a:pt x="24" y="144"/>
                  </a:lnTo>
                  <a:lnTo>
                    <a:pt x="30" y="126"/>
                  </a:lnTo>
                  <a:lnTo>
                    <a:pt x="6" y="108"/>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36" name="Freeform 33">
              <a:extLst>
                <a:ext uri="{FF2B5EF4-FFF2-40B4-BE49-F238E27FC236}">
                  <a16:creationId xmlns:a16="http://schemas.microsoft.com/office/drawing/2014/main" id="{313610C1-AA40-5A15-6FA2-0398989B7B31}"/>
                </a:ext>
              </a:extLst>
            </p:cNvPr>
            <p:cNvSpPr>
              <a:spLocks/>
            </p:cNvSpPr>
            <p:nvPr/>
          </p:nvSpPr>
          <p:spPr bwMode="auto">
            <a:xfrm>
              <a:off x="8773996" y="4858471"/>
              <a:ext cx="1184773" cy="896595"/>
            </a:xfrm>
            <a:custGeom>
              <a:avLst/>
              <a:gdLst>
                <a:gd name="T0" fmla="*/ 2147483647 w 757"/>
                <a:gd name="T1" fmla="*/ 2147483647 h 577"/>
                <a:gd name="T2" fmla="*/ 2147483647 w 757"/>
                <a:gd name="T3" fmla="*/ 2147483647 h 577"/>
                <a:gd name="T4" fmla="*/ 0 w 757"/>
                <a:gd name="T5" fmla="*/ 2147483647 h 577"/>
                <a:gd name="T6" fmla="*/ 2147483647 w 757"/>
                <a:gd name="T7" fmla="*/ 2147483647 h 577"/>
                <a:gd name="T8" fmla="*/ 2147483647 w 757"/>
                <a:gd name="T9" fmla="*/ 2147483647 h 577"/>
                <a:gd name="T10" fmla="*/ 2147483647 w 757"/>
                <a:gd name="T11" fmla="*/ 2147483647 h 577"/>
                <a:gd name="T12" fmla="*/ 2147483647 w 757"/>
                <a:gd name="T13" fmla="*/ 2147483647 h 577"/>
                <a:gd name="T14" fmla="*/ 2147483647 w 757"/>
                <a:gd name="T15" fmla="*/ 2147483647 h 577"/>
                <a:gd name="T16" fmla="*/ 2147483647 w 757"/>
                <a:gd name="T17" fmla="*/ 2147483647 h 577"/>
                <a:gd name="T18" fmla="*/ 2147483647 w 757"/>
                <a:gd name="T19" fmla="*/ 2147483647 h 577"/>
                <a:gd name="T20" fmla="*/ 2147483647 w 757"/>
                <a:gd name="T21" fmla="*/ 0 h 577"/>
                <a:gd name="T22" fmla="*/ 2147483647 w 757"/>
                <a:gd name="T23" fmla="*/ 2147483647 h 577"/>
                <a:gd name="T24" fmla="*/ 2147483647 w 757"/>
                <a:gd name="T25" fmla="*/ 2147483647 h 577"/>
                <a:gd name="T26" fmla="*/ 2147483647 w 757"/>
                <a:gd name="T27" fmla="*/ 2147483647 h 577"/>
                <a:gd name="T28" fmla="*/ 2147483647 w 757"/>
                <a:gd name="T29" fmla="*/ 2147483647 h 577"/>
                <a:gd name="T30" fmla="*/ 2147483647 w 757"/>
                <a:gd name="T31" fmla="*/ 2147483647 h 577"/>
                <a:gd name="T32" fmla="*/ 2147483647 w 757"/>
                <a:gd name="T33" fmla="*/ 2147483647 h 577"/>
                <a:gd name="T34" fmla="*/ 2147483647 w 757"/>
                <a:gd name="T35" fmla="*/ 2147483647 h 577"/>
                <a:gd name="T36" fmla="*/ 2147483647 w 757"/>
                <a:gd name="T37" fmla="*/ 2147483647 h 577"/>
                <a:gd name="T38" fmla="*/ 2147483647 w 757"/>
                <a:gd name="T39" fmla="*/ 2147483647 h 577"/>
                <a:gd name="T40" fmla="*/ 2147483647 w 757"/>
                <a:gd name="T41" fmla="*/ 2147483647 h 577"/>
                <a:gd name="T42" fmla="*/ 2147483647 w 757"/>
                <a:gd name="T43" fmla="*/ 2147483647 h 577"/>
                <a:gd name="T44" fmla="*/ 2147483647 w 757"/>
                <a:gd name="T45" fmla="*/ 2147483647 h 577"/>
                <a:gd name="T46" fmla="*/ 2147483647 w 757"/>
                <a:gd name="T47" fmla="*/ 2147483647 h 577"/>
                <a:gd name="T48" fmla="*/ 2147483647 w 757"/>
                <a:gd name="T49" fmla="*/ 2147483647 h 577"/>
                <a:gd name="T50" fmla="*/ 2147483647 w 757"/>
                <a:gd name="T51" fmla="*/ 2147483647 h 577"/>
                <a:gd name="T52" fmla="*/ 2147483647 w 757"/>
                <a:gd name="T53" fmla="*/ 2147483647 h 577"/>
                <a:gd name="T54" fmla="*/ 2147483647 w 757"/>
                <a:gd name="T55" fmla="*/ 2147483647 h 577"/>
                <a:gd name="T56" fmla="*/ 2147483647 w 757"/>
                <a:gd name="T57" fmla="*/ 2147483647 h 577"/>
                <a:gd name="T58" fmla="*/ 2147483647 w 757"/>
                <a:gd name="T59" fmla="*/ 2147483647 h 577"/>
                <a:gd name="T60" fmla="*/ 2147483647 w 757"/>
                <a:gd name="T61" fmla="*/ 2147483647 h 577"/>
                <a:gd name="T62" fmla="*/ 2147483647 w 757"/>
                <a:gd name="T63" fmla="*/ 2147483647 h 577"/>
                <a:gd name="T64" fmla="*/ 2147483647 w 757"/>
                <a:gd name="T65" fmla="*/ 2147483647 h 577"/>
                <a:gd name="T66" fmla="*/ 2147483647 w 757"/>
                <a:gd name="T67" fmla="*/ 2147483647 h 577"/>
                <a:gd name="T68" fmla="*/ 2147483647 w 757"/>
                <a:gd name="T69" fmla="*/ 2147483647 h 577"/>
                <a:gd name="T70" fmla="*/ 2147483647 w 757"/>
                <a:gd name="T71" fmla="*/ 2147483647 h 57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57" h="577">
                  <a:moveTo>
                    <a:pt x="30" y="463"/>
                  </a:moveTo>
                  <a:lnTo>
                    <a:pt x="36" y="415"/>
                  </a:lnTo>
                  <a:lnTo>
                    <a:pt x="30" y="385"/>
                  </a:lnTo>
                  <a:lnTo>
                    <a:pt x="6" y="307"/>
                  </a:lnTo>
                  <a:lnTo>
                    <a:pt x="6" y="283"/>
                  </a:lnTo>
                  <a:lnTo>
                    <a:pt x="0" y="247"/>
                  </a:lnTo>
                  <a:lnTo>
                    <a:pt x="6" y="217"/>
                  </a:lnTo>
                  <a:lnTo>
                    <a:pt x="30" y="193"/>
                  </a:lnTo>
                  <a:lnTo>
                    <a:pt x="78" y="175"/>
                  </a:lnTo>
                  <a:lnTo>
                    <a:pt x="114" y="151"/>
                  </a:lnTo>
                  <a:lnTo>
                    <a:pt x="144" y="145"/>
                  </a:lnTo>
                  <a:lnTo>
                    <a:pt x="156" y="109"/>
                  </a:lnTo>
                  <a:lnTo>
                    <a:pt x="180" y="97"/>
                  </a:lnTo>
                  <a:lnTo>
                    <a:pt x="204" y="90"/>
                  </a:lnTo>
                  <a:lnTo>
                    <a:pt x="240" y="60"/>
                  </a:lnTo>
                  <a:lnTo>
                    <a:pt x="264" y="48"/>
                  </a:lnTo>
                  <a:lnTo>
                    <a:pt x="282" y="60"/>
                  </a:lnTo>
                  <a:lnTo>
                    <a:pt x="300" y="66"/>
                  </a:lnTo>
                  <a:lnTo>
                    <a:pt x="312" y="42"/>
                  </a:lnTo>
                  <a:lnTo>
                    <a:pt x="330" y="24"/>
                  </a:lnTo>
                  <a:lnTo>
                    <a:pt x="360" y="18"/>
                  </a:lnTo>
                  <a:lnTo>
                    <a:pt x="372" y="0"/>
                  </a:lnTo>
                  <a:lnTo>
                    <a:pt x="396" y="6"/>
                  </a:lnTo>
                  <a:lnTo>
                    <a:pt x="438" y="12"/>
                  </a:lnTo>
                  <a:lnTo>
                    <a:pt x="432" y="36"/>
                  </a:lnTo>
                  <a:lnTo>
                    <a:pt x="420" y="66"/>
                  </a:lnTo>
                  <a:lnTo>
                    <a:pt x="438" y="78"/>
                  </a:lnTo>
                  <a:lnTo>
                    <a:pt x="468" y="78"/>
                  </a:lnTo>
                  <a:lnTo>
                    <a:pt x="492" y="115"/>
                  </a:lnTo>
                  <a:lnTo>
                    <a:pt x="510" y="109"/>
                  </a:lnTo>
                  <a:lnTo>
                    <a:pt x="540" y="90"/>
                  </a:lnTo>
                  <a:lnTo>
                    <a:pt x="540" y="30"/>
                  </a:lnTo>
                  <a:lnTo>
                    <a:pt x="564" y="0"/>
                  </a:lnTo>
                  <a:lnTo>
                    <a:pt x="576" y="42"/>
                  </a:lnTo>
                  <a:lnTo>
                    <a:pt x="582" y="54"/>
                  </a:lnTo>
                  <a:lnTo>
                    <a:pt x="594" y="60"/>
                  </a:lnTo>
                  <a:lnTo>
                    <a:pt x="612" y="121"/>
                  </a:lnTo>
                  <a:lnTo>
                    <a:pt x="642" y="151"/>
                  </a:lnTo>
                  <a:lnTo>
                    <a:pt x="678" y="163"/>
                  </a:lnTo>
                  <a:lnTo>
                    <a:pt x="690" y="199"/>
                  </a:lnTo>
                  <a:lnTo>
                    <a:pt x="708" y="211"/>
                  </a:lnTo>
                  <a:lnTo>
                    <a:pt x="714" y="241"/>
                  </a:lnTo>
                  <a:lnTo>
                    <a:pt x="751" y="265"/>
                  </a:lnTo>
                  <a:lnTo>
                    <a:pt x="751" y="289"/>
                  </a:lnTo>
                  <a:lnTo>
                    <a:pt x="757" y="325"/>
                  </a:lnTo>
                  <a:lnTo>
                    <a:pt x="757" y="379"/>
                  </a:lnTo>
                  <a:lnTo>
                    <a:pt x="714" y="469"/>
                  </a:lnTo>
                  <a:lnTo>
                    <a:pt x="696" y="523"/>
                  </a:lnTo>
                  <a:lnTo>
                    <a:pt x="696" y="547"/>
                  </a:lnTo>
                  <a:lnTo>
                    <a:pt x="684" y="547"/>
                  </a:lnTo>
                  <a:lnTo>
                    <a:pt x="660" y="559"/>
                  </a:lnTo>
                  <a:lnTo>
                    <a:pt x="636" y="577"/>
                  </a:lnTo>
                  <a:lnTo>
                    <a:pt x="618" y="577"/>
                  </a:lnTo>
                  <a:lnTo>
                    <a:pt x="594" y="559"/>
                  </a:lnTo>
                  <a:lnTo>
                    <a:pt x="576" y="571"/>
                  </a:lnTo>
                  <a:lnTo>
                    <a:pt x="534" y="553"/>
                  </a:lnTo>
                  <a:lnTo>
                    <a:pt x="498" y="535"/>
                  </a:lnTo>
                  <a:lnTo>
                    <a:pt x="480" y="505"/>
                  </a:lnTo>
                  <a:lnTo>
                    <a:pt x="468" y="481"/>
                  </a:lnTo>
                  <a:lnTo>
                    <a:pt x="444" y="487"/>
                  </a:lnTo>
                  <a:lnTo>
                    <a:pt x="420" y="463"/>
                  </a:lnTo>
                  <a:lnTo>
                    <a:pt x="378" y="421"/>
                  </a:lnTo>
                  <a:lnTo>
                    <a:pt x="312" y="409"/>
                  </a:lnTo>
                  <a:lnTo>
                    <a:pt x="264" y="415"/>
                  </a:lnTo>
                  <a:lnTo>
                    <a:pt x="204" y="433"/>
                  </a:lnTo>
                  <a:lnTo>
                    <a:pt x="198" y="451"/>
                  </a:lnTo>
                  <a:lnTo>
                    <a:pt x="162" y="457"/>
                  </a:lnTo>
                  <a:lnTo>
                    <a:pt x="138" y="457"/>
                  </a:lnTo>
                  <a:lnTo>
                    <a:pt x="120" y="475"/>
                  </a:lnTo>
                  <a:lnTo>
                    <a:pt x="84" y="487"/>
                  </a:lnTo>
                  <a:lnTo>
                    <a:pt x="60" y="487"/>
                  </a:lnTo>
                  <a:lnTo>
                    <a:pt x="30" y="463"/>
                  </a:lnTo>
                  <a:close/>
                </a:path>
              </a:pathLst>
            </a:custGeom>
            <a:solidFill>
              <a:schemeClr val="bg1">
                <a:lumMod val="65000"/>
              </a:schemeClr>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37" name="Freeform 34">
              <a:extLst>
                <a:ext uri="{FF2B5EF4-FFF2-40B4-BE49-F238E27FC236}">
                  <a16:creationId xmlns:a16="http://schemas.microsoft.com/office/drawing/2014/main" id="{F555601F-BBCB-39E2-6A83-E6DEB037EF61}"/>
                </a:ext>
              </a:extLst>
            </p:cNvPr>
            <p:cNvSpPr>
              <a:spLocks/>
            </p:cNvSpPr>
            <p:nvPr/>
          </p:nvSpPr>
          <p:spPr bwMode="auto">
            <a:xfrm>
              <a:off x="9703938" y="5808141"/>
              <a:ext cx="104595" cy="142167"/>
            </a:xfrm>
            <a:custGeom>
              <a:avLst/>
              <a:gdLst>
                <a:gd name="T0" fmla="*/ 0 w 66"/>
                <a:gd name="T1" fmla="*/ 2147483647 h 91"/>
                <a:gd name="T2" fmla="*/ 2147483647 w 66"/>
                <a:gd name="T3" fmla="*/ 2147483647 h 91"/>
                <a:gd name="T4" fmla="*/ 2147483647 w 66"/>
                <a:gd name="T5" fmla="*/ 2147483647 h 91"/>
                <a:gd name="T6" fmla="*/ 2147483647 w 66"/>
                <a:gd name="T7" fmla="*/ 2147483647 h 91"/>
                <a:gd name="T8" fmla="*/ 2147483647 w 66"/>
                <a:gd name="T9" fmla="*/ 2147483647 h 91"/>
                <a:gd name="T10" fmla="*/ 2147483647 w 66"/>
                <a:gd name="T11" fmla="*/ 2147483647 h 91"/>
                <a:gd name="T12" fmla="*/ 2147483647 w 66"/>
                <a:gd name="T13" fmla="*/ 0 h 91"/>
                <a:gd name="T14" fmla="*/ 2147483647 w 66"/>
                <a:gd name="T15" fmla="*/ 2147483647 h 91"/>
                <a:gd name="T16" fmla="*/ 0 w 66"/>
                <a:gd name="T17" fmla="*/ 2147483647 h 9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6" h="91">
                  <a:moveTo>
                    <a:pt x="0" y="18"/>
                  </a:moveTo>
                  <a:lnTo>
                    <a:pt x="12" y="48"/>
                  </a:lnTo>
                  <a:lnTo>
                    <a:pt x="18" y="72"/>
                  </a:lnTo>
                  <a:lnTo>
                    <a:pt x="36" y="91"/>
                  </a:lnTo>
                  <a:lnTo>
                    <a:pt x="48" y="66"/>
                  </a:lnTo>
                  <a:lnTo>
                    <a:pt x="66" y="30"/>
                  </a:lnTo>
                  <a:lnTo>
                    <a:pt x="66" y="0"/>
                  </a:lnTo>
                  <a:lnTo>
                    <a:pt x="42" y="12"/>
                  </a:lnTo>
                  <a:lnTo>
                    <a:pt x="0" y="18"/>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38" name="Freeform 35">
              <a:extLst>
                <a:ext uri="{FF2B5EF4-FFF2-40B4-BE49-F238E27FC236}">
                  <a16:creationId xmlns:a16="http://schemas.microsoft.com/office/drawing/2014/main" id="{BAD70B9F-71CF-90FA-ACA3-86B5FA787CD4}"/>
                </a:ext>
              </a:extLst>
            </p:cNvPr>
            <p:cNvSpPr>
              <a:spLocks/>
            </p:cNvSpPr>
            <p:nvPr/>
          </p:nvSpPr>
          <p:spPr bwMode="auto">
            <a:xfrm>
              <a:off x="8697927" y="4318239"/>
              <a:ext cx="271946" cy="316557"/>
            </a:xfrm>
            <a:custGeom>
              <a:avLst/>
              <a:gdLst>
                <a:gd name="T0" fmla="*/ 2147483647 w 174"/>
                <a:gd name="T1" fmla="*/ 2147483647 h 204"/>
                <a:gd name="T2" fmla="*/ 0 w 174"/>
                <a:gd name="T3" fmla="*/ 2147483647 h 204"/>
                <a:gd name="T4" fmla="*/ 0 w 174"/>
                <a:gd name="T5" fmla="*/ 2147483647 h 204"/>
                <a:gd name="T6" fmla="*/ 2147483647 w 174"/>
                <a:gd name="T7" fmla="*/ 2147483647 h 204"/>
                <a:gd name="T8" fmla="*/ 2147483647 w 174"/>
                <a:gd name="T9" fmla="*/ 2147483647 h 204"/>
                <a:gd name="T10" fmla="*/ 2147483647 w 174"/>
                <a:gd name="T11" fmla="*/ 2147483647 h 204"/>
                <a:gd name="T12" fmla="*/ 2147483647 w 174"/>
                <a:gd name="T13" fmla="*/ 2147483647 h 204"/>
                <a:gd name="T14" fmla="*/ 2147483647 w 174"/>
                <a:gd name="T15" fmla="*/ 0 h 204"/>
                <a:gd name="T16" fmla="*/ 2147483647 w 174"/>
                <a:gd name="T17" fmla="*/ 2147483647 h 204"/>
                <a:gd name="T18" fmla="*/ 2147483647 w 174"/>
                <a:gd name="T19" fmla="*/ 2147483647 h 204"/>
                <a:gd name="T20" fmla="*/ 2147483647 w 174"/>
                <a:gd name="T21" fmla="*/ 2147483647 h 204"/>
                <a:gd name="T22" fmla="*/ 2147483647 w 174"/>
                <a:gd name="T23" fmla="*/ 2147483647 h 204"/>
                <a:gd name="T24" fmla="*/ 2147483647 w 174"/>
                <a:gd name="T25" fmla="*/ 2147483647 h 204"/>
                <a:gd name="T26" fmla="*/ 2147483647 w 174"/>
                <a:gd name="T27" fmla="*/ 2147483647 h 204"/>
                <a:gd name="T28" fmla="*/ 2147483647 w 174"/>
                <a:gd name="T29" fmla="*/ 2147483647 h 204"/>
                <a:gd name="T30" fmla="*/ 2147483647 w 174"/>
                <a:gd name="T31" fmla="*/ 2147483647 h 204"/>
                <a:gd name="T32" fmla="*/ 2147483647 w 174"/>
                <a:gd name="T33" fmla="*/ 2147483647 h 204"/>
                <a:gd name="T34" fmla="*/ 2147483647 w 174"/>
                <a:gd name="T35" fmla="*/ 2147483647 h 204"/>
                <a:gd name="T36" fmla="*/ 2147483647 w 174"/>
                <a:gd name="T37" fmla="*/ 2147483647 h 204"/>
                <a:gd name="T38" fmla="*/ 2147483647 w 174"/>
                <a:gd name="T39" fmla="*/ 2147483647 h 204"/>
                <a:gd name="T40" fmla="*/ 2147483647 w 174"/>
                <a:gd name="T41" fmla="*/ 2147483647 h 204"/>
                <a:gd name="T42" fmla="*/ 2147483647 w 174"/>
                <a:gd name="T43" fmla="*/ 2147483647 h 204"/>
                <a:gd name="T44" fmla="*/ 2147483647 w 174"/>
                <a:gd name="T45" fmla="*/ 2147483647 h 204"/>
                <a:gd name="T46" fmla="*/ 2147483647 w 174"/>
                <a:gd name="T47" fmla="*/ 2147483647 h 20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74" h="204">
                  <a:moveTo>
                    <a:pt x="12" y="168"/>
                  </a:moveTo>
                  <a:lnTo>
                    <a:pt x="0" y="144"/>
                  </a:lnTo>
                  <a:lnTo>
                    <a:pt x="0" y="108"/>
                  </a:lnTo>
                  <a:lnTo>
                    <a:pt x="12" y="90"/>
                  </a:lnTo>
                  <a:lnTo>
                    <a:pt x="36" y="84"/>
                  </a:lnTo>
                  <a:lnTo>
                    <a:pt x="60" y="66"/>
                  </a:lnTo>
                  <a:lnTo>
                    <a:pt x="96" y="24"/>
                  </a:lnTo>
                  <a:lnTo>
                    <a:pt x="138" y="0"/>
                  </a:lnTo>
                  <a:lnTo>
                    <a:pt x="162" y="12"/>
                  </a:lnTo>
                  <a:lnTo>
                    <a:pt x="174" y="30"/>
                  </a:lnTo>
                  <a:lnTo>
                    <a:pt x="156" y="48"/>
                  </a:lnTo>
                  <a:lnTo>
                    <a:pt x="150" y="66"/>
                  </a:lnTo>
                  <a:lnTo>
                    <a:pt x="156" y="90"/>
                  </a:lnTo>
                  <a:lnTo>
                    <a:pt x="174" y="108"/>
                  </a:lnTo>
                  <a:lnTo>
                    <a:pt x="156" y="120"/>
                  </a:lnTo>
                  <a:lnTo>
                    <a:pt x="150" y="132"/>
                  </a:lnTo>
                  <a:lnTo>
                    <a:pt x="138" y="150"/>
                  </a:lnTo>
                  <a:lnTo>
                    <a:pt x="126" y="168"/>
                  </a:lnTo>
                  <a:lnTo>
                    <a:pt x="114" y="198"/>
                  </a:lnTo>
                  <a:lnTo>
                    <a:pt x="90" y="204"/>
                  </a:lnTo>
                  <a:lnTo>
                    <a:pt x="72" y="192"/>
                  </a:lnTo>
                  <a:lnTo>
                    <a:pt x="42" y="192"/>
                  </a:lnTo>
                  <a:lnTo>
                    <a:pt x="24" y="192"/>
                  </a:lnTo>
                  <a:lnTo>
                    <a:pt x="12" y="168"/>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39" name="Freeform 36">
              <a:extLst>
                <a:ext uri="{FF2B5EF4-FFF2-40B4-BE49-F238E27FC236}">
                  <a16:creationId xmlns:a16="http://schemas.microsoft.com/office/drawing/2014/main" id="{141947A9-99D2-60D5-E41B-717A04717E73}"/>
                </a:ext>
              </a:extLst>
            </p:cNvPr>
            <p:cNvSpPr>
              <a:spLocks/>
            </p:cNvSpPr>
            <p:nvPr/>
          </p:nvSpPr>
          <p:spPr bwMode="auto">
            <a:xfrm>
              <a:off x="8933740" y="4475570"/>
              <a:ext cx="169253" cy="206614"/>
            </a:xfrm>
            <a:custGeom>
              <a:avLst/>
              <a:gdLst>
                <a:gd name="T0" fmla="*/ 2147483647 w 108"/>
                <a:gd name="T1" fmla="*/ 2147483647 h 132"/>
                <a:gd name="T2" fmla="*/ 2147483647 w 108"/>
                <a:gd name="T3" fmla="*/ 2147483647 h 132"/>
                <a:gd name="T4" fmla="*/ 0 w 108"/>
                <a:gd name="T5" fmla="*/ 2147483647 h 132"/>
                <a:gd name="T6" fmla="*/ 2147483647 w 108"/>
                <a:gd name="T7" fmla="*/ 2147483647 h 132"/>
                <a:gd name="T8" fmla="*/ 2147483647 w 108"/>
                <a:gd name="T9" fmla="*/ 2147483647 h 132"/>
                <a:gd name="T10" fmla="*/ 2147483647 w 108"/>
                <a:gd name="T11" fmla="*/ 2147483647 h 132"/>
                <a:gd name="T12" fmla="*/ 2147483647 w 108"/>
                <a:gd name="T13" fmla="*/ 2147483647 h 132"/>
                <a:gd name="T14" fmla="*/ 2147483647 w 108"/>
                <a:gd name="T15" fmla="*/ 0 h 132"/>
                <a:gd name="T16" fmla="*/ 2147483647 w 108"/>
                <a:gd name="T17" fmla="*/ 2147483647 h 132"/>
                <a:gd name="T18" fmla="*/ 2147483647 w 108"/>
                <a:gd name="T19" fmla="*/ 2147483647 h 132"/>
                <a:gd name="T20" fmla="*/ 2147483647 w 108"/>
                <a:gd name="T21" fmla="*/ 2147483647 h 132"/>
                <a:gd name="T22" fmla="*/ 2147483647 w 108"/>
                <a:gd name="T23" fmla="*/ 2147483647 h 132"/>
                <a:gd name="T24" fmla="*/ 2147483647 w 108"/>
                <a:gd name="T25" fmla="*/ 2147483647 h 132"/>
                <a:gd name="T26" fmla="*/ 2147483647 w 108"/>
                <a:gd name="T27" fmla="*/ 2147483647 h 132"/>
                <a:gd name="T28" fmla="*/ 2147483647 w 108"/>
                <a:gd name="T29" fmla="*/ 2147483647 h 132"/>
                <a:gd name="T30" fmla="*/ 2147483647 w 108"/>
                <a:gd name="T31" fmla="*/ 2147483647 h 132"/>
                <a:gd name="T32" fmla="*/ 2147483647 w 108"/>
                <a:gd name="T33" fmla="*/ 2147483647 h 132"/>
                <a:gd name="T34" fmla="*/ 2147483647 w 108"/>
                <a:gd name="T35" fmla="*/ 2147483647 h 132"/>
                <a:gd name="T36" fmla="*/ 2147483647 w 108"/>
                <a:gd name="T37" fmla="*/ 2147483647 h 132"/>
                <a:gd name="T38" fmla="*/ 2147483647 w 108"/>
                <a:gd name="T39" fmla="*/ 2147483647 h 132"/>
                <a:gd name="T40" fmla="*/ 2147483647 w 108"/>
                <a:gd name="T41" fmla="*/ 2147483647 h 132"/>
                <a:gd name="T42" fmla="*/ 2147483647 w 108"/>
                <a:gd name="T43" fmla="*/ 2147483647 h 132"/>
                <a:gd name="T44" fmla="*/ 2147483647 w 108"/>
                <a:gd name="T45" fmla="*/ 2147483647 h 132"/>
                <a:gd name="T46" fmla="*/ 2147483647 w 108"/>
                <a:gd name="T47" fmla="*/ 2147483647 h 13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08" h="132">
                  <a:moveTo>
                    <a:pt x="12" y="126"/>
                  </a:moveTo>
                  <a:lnTo>
                    <a:pt x="12" y="108"/>
                  </a:lnTo>
                  <a:lnTo>
                    <a:pt x="0" y="84"/>
                  </a:lnTo>
                  <a:lnTo>
                    <a:pt x="6" y="66"/>
                  </a:lnTo>
                  <a:lnTo>
                    <a:pt x="24" y="24"/>
                  </a:lnTo>
                  <a:lnTo>
                    <a:pt x="36" y="12"/>
                  </a:lnTo>
                  <a:lnTo>
                    <a:pt x="66" y="6"/>
                  </a:lnTo>
                  <a:lnTo>
                    <a:pt x="108" y="0"/>
                  </a:lnTo>
                  <a:lnTo>
                    <a:pt x="108" y="12"/>
                  </a:lnTo>
                  <a:lnTo>
                    <a:pt x="90" y="12"/>
                  </a:lnTo>
                  <a:lnTo>
                    <a:pt x="54" y="24"/>
                  </a:lnTo>
                  <a:lnTo>
                    <a:pt x="42" y="42"/>
                  </a:lnTo>
                  <a:lnTo>
                    <a:pt x="84" y="42"/>
                  </a:lnTo>
                  <a:lnTo>
                    <a:pt x="90" y="60"/>
                  </a:lnTo>
                  <a:lnTo>
                    <a:pt x="78" y="66"/>
                  </a:lnTo>
                  <a:lnTo>
                    <a:pt x="66" y="78"/>
                  </a:lnTo>
                  <a:lnTo>
                    <a:pt x="90" y="102"/>
                  </a:lnTo>
                  <a:lnTo>
                    <a:pt x="96" y="126"/>
                  </a:lnTo>
                  <a:lnTo>
                    <a:pt x="72" y="126"/>
                  </a:lnTo>
                  <a:lnTo>
                    <a:pt x="54" y="108"/>
                  </a:lnTo>
                  <a:lnTo>
                    <a:pt x="36" y="84"/>
                  </a:lnTo>
                  <a:lnTo>
                    <a:pt x="36" y="114"/>
                  </a:lnTo>
                  <a:lnTo>
                    <a:pt x="36" y="132"/>
                  </a:lnTo>
                  <a:lnTo>
                    <a:pt x="12" y="12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40" name="Freeform 37">
              <a:extLst>
                <a:ext uri="{FF2B5EF4-FFF2-40B4-BE49-F238E27FC236}">
                  <a16:creationId xmlns:a16="http://schemas.microsoft.com/office/drawing/2014/main" id="{3E4B77BD-1A73-CDD2-C6BF-66E214E6A304}"/>
                </a:ext>
              </a:extLst>
            </p:cNvPr>
            <p:cNvSpPr>
              <a:spLocks/>
            </p:cNvSpPr>
            <p:nvPr/>
          </p:nvSpPr>
          <p:spPr bwMode="auto">
            <a:xfrm>
              <a:off x="8549592" y="4710618"/>
              <a:ext cx="317587" cy="72031"/>
            </a:xfrm>
            <a:custGeom>
              <a:avLst/>
              <a:gdLst>
                <a:gd name="T0" fmla="*/ 0 w 34"/>
                <a:gd name="T1" fmla="*/ 2147483647 h 8"/>
                <a:gd name="T2" fmla="*/ 2147483647 w 34"/>
                <a:gd name="T3" fmla="*/ 0 h 8"/>
                <a:gd name="T4" fmla="*/ 2147483647 w 34"/>
                <a:gd name="T5" fmla="*/ 0 h 8"/>
                <a:gd name="T6" fmla="*/ 2147483647 w 34"/>
                <a:gd name="T7" fmla="*/ 2147483647 h 8"/>
                <a:gd name="T8" fmla="*/ 2147483647 w 34"/>
                <a:gd name="T9" fmla="*/ 2147483647 h 8"/>
                <a:gd name="T10" fmla="*/ 2147483647 w 34"/>
                <a:gd name="T11" fmla="*/ 2147483647 h 8"/>
                <a:gd name="T12" fmla="*/ 2147483647 w 34"/>
                <a:gd name="T13" fmla="*/ 2147483647 h 8"/>
                <a:gd name="T14" fmla="*/ 2147483647 w 34"/>
                <a:gd name="T15" fmla="*/ 2147483647 h 8"/>
                <a:gd name="T16" fmla="*/ 2147483647 w 34"/>
                <a:gd name="T17" fmla="*/ 2147483647 h 8"/>
                <a:gd name="T18" fmla="*/ 2147483647 w 34"/>
                <a:gd name="T19" fmla="*/ 2147483647 h 8"/>
                <a:gd name="T20" fmla="*/ 0 w 34"/>
                <a:gd name="T21" fmla="*/ 2147483647 h 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4" h="8">
                  <a:moveTo>
                    <a:pt x="0" y="1"/>
                  </a:moveTo>
                  <a:cubicBezTo>
                    <a:pt x="9" y="0"/>
                    <a:pt x="9" y="0"/>
                    <a:pt x="9" y="0"/>
                  </a:cubicBezTo>
                  <a:cubicBezTo>
                    <a:pt x="16" y="0"/>
                    <a:pt x="16" y="0"/>
                    <a:pt x="16" y="0"/>
                  </a:cubicBezTo>
                  <a:cubicBezTo>
                    <a:pt x="20" y="1"/>
                    <a:pt x="20" y="1"/>
                    <a:pt x="20" y="1"/>
                  </a:cubicBezTo>
                  <a:cubicBezTo>
                    <a:pt x="23" y="3"/>
                    <a:pt x="23" y="3"/>
                    <a:pt x="23" y="3"/>
                  </a:cubicBezTo>
                  <a:cubicBezTo>
                    <a:pt x="31" y="5"/>
                    <a:pt x="31" y="5"/>
                    <a:pt x="31" y="5"/>
                  </a:cubicBezTo>
                  <a:cubicBezTo>
                    <a:pt x="34" y="8"/>
                    <a:pt x="34" y="8"/>
                    <a:pt x="34" y="8"/>
                  </a:cubicBezTo>
                  <a:cubicBezTo>
                    <a:pt x="26" y="7"/>
                    <a:pt x="26" y="7"/>
                    <a:pt x="26" y="7"/>
                  </a:cubicBezTo>
                  <a:cubicBezTo>
                    <a:pt x="19" y="6"/>
                    <a:pt x="19" y="6"/>
                    <a:pt x="19" y="6"/>
                  </a:cubicBezTo>
                  <a:cubicBezTo>
                    <a:pt x="19" y="6"/>
                    <a:pt x="10" y="4"/>
                    <a:pt x="8" y="4"/>
                  </a:cubicBezTo>
                  <a:cubicBezTo>
                    <a:pt x="7" y="3"/>
                    <a:pt x="0" y="1"/>
                    <a:pt x="0" y="1"/>
                  </a:cubicBez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41" name="Freeform 38">
              <a:extLst>
                <a:ext uri="{FF2B5EF4-FFF2-40B4-BE49-F238E27FC236}">
                  <a16:creationId xmlns:a16="http://schemas.microsoft.com/office/drawing/2014/main" id="{214D8A31-EDF3-0E1F-C334-92353BEC41A1}"/>
                </a:ext>
              </a:extLst>
            </p:cNvPr>
            <p:cNvSpPr>
              <a:spLocks/>
            </p:cNvSpPr>
            <p:nvPr/>
          </p:nvSpPr>
          <p:spPr bwMode="auto">
            <a:xfrm>
              <a:off x="3510024" y="2756305"/>
              <a:ext cx="190172" cy="214198"/>
            </a:xfrm>
            <a:custGeom>
              <a:avLst/>
              <a:gdLst>
                <a:gd name="T0" fmla="*/ 0 w 120"/>
                <a:gd name="T1" fmla="*/ 2147483647 h 138"/>
                <a:gd name="T2" fmla="*/ 0 w 120"/>
                <a:gd name="T3" fmla="*/ 2147483647 h 138"/>
                <a:gd name="T4" fmla="*/ 2147483647 w 120"/>
                <a:gd name="T5" fmla="*/ 2147483647 h 138"/>
                <a:gd name="T6" fmla="*/ 2147483647 w 120"/>
                <a:gd name="T7" fmla="*/ 2147483647 h 138"/>
                <a:gd name="T8" fmla="*/ 2147483647 w 120"/>
                <a:gd name="T9" fmla="*/ 0 h 138"/>
                <a:gd name="T10" fmla="*/ 2147483647 w 120"/>
                <a:gd name="T11" fmla="*/ 2147483647 h 138"/>
                <a:gd name="T12" fmla="*/ 2147483647 w 120"/>
                <a:gd name="T13" fmla="*/ 2147483647 h 138"/>
                <a:gd name="T14" fmla="*/ 2147483647 w 120"/>
                <a:gd name="T15" fmla="*/ 2147483647 h 138"/>
                <a:gd name="T16" fmla="*/ 2147483647 w 120"/>
                <a:gd name="T17" fmla="*/ 2147483647 h 138"/>
                <a:gd name="T18" fmla="*/ 2147483647 w 120"/>
                <a:gd name="T19" fmla="*/ 2147483647 h 138"/>
                <a:gd name="T20" fmla="*/ 2147483647 w 120"/>
                <a:gd name="T21" fmla="*/ 2147483647 h 138"/>
                <a:gd name="T22" fmla="*/ 2147483647 w 120"/>
                <a:gd name="T23" fmla="*/ 2147483647 h 138"/>
                <a:gd name="T24" fmla="*/ 2147483647 w 120"/>
                <a:gd name="T25" fmla="*/ 2147483647 h 138"/>
                <a:gd name="T26" fmla="*/ 2147483647 w 120"/>
                <a:gd name="T27" fmla="*/ 2147483647 h 138"/>
                <a:gd name="T28" fmla="*/ 2147483647 w 120"/>
                <a:gd name="T29" fmla="*/ 2147483647 h 138"/>
                <a:gd name="T30" fmla="*/ 2147483647 w 120"/>
                <a:gd name="T31" fmla="*/ 2147483647 h 138"/>
                <a:gd name="T32" fmla="*/ 0 w 120"/>
                <a:gd name="T33" fmla="*/ 2147483647 h 13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20" h="138">
                  <a:moveTo>
                    <a:pt x="0" y="114"/>
                  </a:moveTo>
                  <a:lnTo>
                    <a:pt x="0" y="90"/>
                  </a:lnTo>
                  <a:lnTo>
                    <a:pt x="6" y="72"/>
                  </a:lnTo>
                  <a:lnTo>
                    <a:pt x="36" y="24"/>
                  </a:lnTo>
                  <a:lnTo>
                    <a:pt x="66" y="0"/>
                  </a:lnTo>
                  <a:lnTo>
                    <a:pt x="66" y="18"/>
                  </a:lnTo>
                  <a:lnTo>
                    <a:pt x="54" y="42"/>
                  </a:lnTo>
                  <a:lnTo>
                    <a:pt x="60" y="54"/>
                  </a:lnTo>
                  <a:lnTo>
                    <a:pt x="108" y="78"/>
                  </a:lnTo>
                  <a:lnTo>
                    <a:pt x="120" y="108"/>
                  </a:lnTo>
                  <a:lnTo>
                    <a:pt x="120" y="132"/>
                  </a:lnTo>
                  <a:lnTo>
                    <a:pt x="96" y="138"/>
                  </a:lnTo>
                  <a:lnTo>
                    <a:pt x="84" y="120"/>
                  </a:lnTo>
                  <a:lnTo>
                    <a:pt x="66" y="126"/>
                  </a:lnTo>
                  <a:lnTo>
                    <a:pt x="48" y="114"/>
                  </a:lnTo>
                  <a:lnTo>
                    <a:pt x="18" y="108"/>
                  </a:lnTo>
                  <a:lnTo>
                    <a:pt x="0" y="114"/>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42" name="Freeform 39">
              <a:extLst>
                <a:ext uri="{FF2B5EF4-FFF2-40B4-BE49-F238E27FC236}">
                  <a16:creationId xmlns:a16="http://schemas.microsoft.com/office/drawing/2014/main" id="{854BE378-EB31-5D36-5796-7A3B7ACB940B}"/>
                </a:ext>
              </a:extLst>
            </p:cNvPr>
            <p:cNvSpPr>
              <a:spLocks/>
            </p:cNvSpPr>
            <p:nvPr/>
          </p:nvSpPr>
          <p:spPr bwMode="auto">
            <a:xfrm>
              <a:off x="2728415" y="3838665"/>
              <a:ext cx="330900" cy="92881"/>
            </a:xfrm>
            <a:custGeom>
              <a:avLst/>
              <a:gdLst>
                <a:gd name="T0" fmla="*/ 2147483647 w 35"/>
                <a:gd name="T1" fmla="*/ 2147483647 h 10"/>
                <a:gd name="T2" fmla="*/ 2147483647 w 35"/>
                <a:gd name="T3" fmla="*/ 0 h 10"/>
                <a:gd name="T4" fmla="*/ 2147483647 w 35"/>
                <a:gd name="T5" fmla="*/ 0 h 10"/>
                <a:gd name="T6" fmla="*/ 2147483647 w 35"/>
                <a:gd name="T7" fmla="*/ 2147483647 h 10"/>
                <a:gd name="T8" fmla="*/ 2147483647 w 35"/>
                <a:gd name="T9" fmla="*/ 2147483647 h 10"/>
                <a:gd name="T10" fmla="*/ 2147483647 w 35"/>
                <a:gd name="T11" fmla="*/ 2147483647 h 10"/>
                <a:gd name="T12" fmla="*/ 2147483647 w 35"/>
                <a:gd name="T13" fmla="*/ 2147483647 h 10"/>
                <a:gd name="T14" fmla="*/ 2147483647 w 35"/>
                <a:gd name="T15" fmla="*/ 2147483647 h 10"/>
                <a:gd name="T16" fmla="*/ 2147483647 w 35"/>
                <a:gd name="T17" fmla="*/ 2147483647 h 10"/>
                <a:gd name="T18" fmla="*/ 2147483647 w 35"/>
                <a:gd name="T19" fmla="*/ 2147483647 h 10"/>
                <a:gd name="T20" fmla="*/ 2147483647 w 35"/>
                <a:gd name="T21" fmla="*/ 2147483647 h 10"/>
                <a:gd name="T22" fmla="*/ 2147483647 w 35"/>
                <a:gd name="T23" fmla="*/ 2147483647 h 10"/>
                <a:gd name="T24" fmla="*/ 2147483647 w 35"/>
                <a:gd name="T25" fmla="*/ 2147483647 h 10"/>
                <a:gd name="T26" fmla="*/ 2147483647 w 35"/>
                <a:gd name="T27" fmla="*/ 2147483647 h 10"/>
                <a:gd name="T28" fmla="*/ 0 w 35"/>
                <a:gd name="T29" fmla="*/ 2147483647 h 10"/>
                <a:gd name="T30" fmla="*/ 2147483647 w 35"/>
                <a:gd name="T31" fmla="*/ 2147483647 h 1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35" h="10">
                  <a:moveTo>
                    <a:pt x="2" y="1"/>
                  </a:moveTo>
                  <a:cubicBezTo>
                    <a:pt x="8" y="0"/>
                    <a:pt x="8" y="0"/>
                    <a:pt x="8" y="0"/>
                  </a:cubicBezTo>
                  <a:cubicBezTo>
                    <a:pt x="19" y="0"/>
                    <a:pt x="19" y="0"/>
                    <a:pt x="19" y="0"/>
                  </a:cubicBezTo>
                  <a:cubicBezTo>
                    <a:pt x="26" y="3"/>
                    <a:pt x="26" y="3"/>
                    <a:pt x="26" y="3"/>
                  </a:cubicBezTo>
                  <a:cubicBezTo>
                    <a:pt x="26" y="3"/>
                    <a:pt x="27" y="5"/>
                    <a:pt x="28" y="6"/>
                  </a:cubicBezTo>
                  <a:cubicBezTo>
                    <a:pt x="30" y="7"/>
                    <a:pt x="33" y="7"/>
                    <a:pt x="33" y="7"/>
                  </a:cubicBezTo>
                  <a:cubicBezTo>
                    <a:pt x="35" y="9"/>
                    <a:pt x="35" y="9"/>
                    <a:pt x="35" y="9"/>
                  </a:cubicBezTo>
                  <a:cubicBezTo>
                    <a:pt x="35" y="9"/>
                    <a:pt x="35" y="10"/>
                    <a:pt x="33" y="10"/>
                  </a:cubicBezTo>
                  <a:cubicBezTo>
                    <a:pt x="31" y="10"/>
                    <a:pt x="25" y="10"/>
                    <a:pt x="25" y="10"/>
                  </a:cubicBezTo>
                  <a:cubicBezTo>
                    <a:pt x="23" y="8"/>
                    <a:pt x="23" y="8"/>
                    <a:pt x="23" y="8"/>
                  </a:cubicBezTo>
                  <a:cubicBezTo>
                    <a:pt x="21" y="5"/>
                    <a:pt x="21" y="5"/>
                    <a:pt x="21" y="5"/>
                  </a:cubicBezTo>
                  <a:cubicBezTo>
                    <a:pt x="15" y="4"/>
                    <a:pt x="15" y="4"/>
                    <a:pt x="15" y="4"/>
                  </a:cubicBezTo>
                  <a:cubicBezTo>
                    <a:pt x="9" y="4"/>
                    <a:pt x="9" y="4"/>
                    <a:pt x="9" y="4"/>
                  </a:cubicBezTo>
                  <a:cubicBezTo>
                    <a:pt x="5" y="4"/>
                    <a:pt x="5" y="4"/>
                    <a:pt x="5" y="4"/>
                  </a:cubicBezTo>
                  <a:cubicBezTo>
                    <a:pt x="0" y="3"/>
                    <a:pt x="0" y="3"/>
                    <a:pt x="0" y="3"/>
                  </a:cubicBezTo>
                  <a:lnTo>
                    <a:pt x="2" y="1"/>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43" name="Freeform 40">
              <a:extLst>
                <a:ext uri="{FF2B5EF4-FFF2-40B4-BE49-F238E27FC236}">
                  <a16:creationId xmlns:a16="http://schemas.microsoft.com/office/drawing/2014/main" id="{D5286CB4-14C5-3528-0CE4-96B6BB7688E9}"/>
                </a:ext>
              </a:extLst>
            </p:cNvPr>
            <p:cNvSpPr>
              <a:spLocks/>
            </p:cNvSpPr>
            <p:nvPr/>
          </p:nvSpPr>
          <p:spPr bwMode="auto">
            <a:xfrm>
              <a:off x="3059315" y="3941025"/>
              <a:ext cx="205386" cy="56867"/>
            </a:xfrm>
            <a:custGeom>
              <a:avLst/>
              <a:gdLst>
                <a:gd name="T0" fmla="*/ 2147483647 w 132"/>
                <a:gd name="T1" fmla="*/ 0 h 36"/>
                <a:gd name="T2" fmla="*/ 2147483647 w 132"/>
                <a:gd name="T3" fmla="*/ 2147483647 h 36"/>
                <a:gd name="T4" fmla="*/ 0 w 132"/>
                <a:gd name="T5" fmla="*/ 2147483647 h 36"/>
                <a:gd name="T6" fmla="*/ 2147483647 w 132"/>
                <a:gd name="T7" fmla="*/ 2147483647 h 36"/>
                <a:gd name="T8" fmla="*/ 2147483647 w 132"/>
                <a:gd name="T9" fmla="*/ 2147483647 h 36"/>
                <a:gd name="T10" fmla="*/ 2147483647 w 132"/>
                <a:gd name="T11" fmla="*/ 2147483647 h 36"/>
                <a:gd name="T12" fmla="*/ 2147483647 w 132"/>
                <a:gd name="T13" fmla="*/ 2147483647 h 36"/>
                <a:gd name="T14" fmla="*/ 2147483647 w 132"/>
                <a:gd name="T15" fmla="*/ 2147483647 h 36"/>
                <a:gd name="T16" fmla="*/ 2147483647 w 132"/>
                <a:gd name="T17" fmla="*/ 2147483647 h 36"/>
                <a:gd name="T18" fmla="*/ 2147483647 w 132"/>
                <a:gd name="T19" fmla="*/ 0 h 36"/>
                <a:gd name="T20" fmla="*/ 2147483647 w 132"/>
                <a:gd name="T21" fmla="*/ 0 h 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2" h="36">
                  <a:moveTo>
                    <a:pt x="24" y="0"/>
                  </a:moveTo>
                  <a:lnTo>
                    <a:pt x="24" y="12"/>
                  </a:lnTo>
                  <a:lnTo>
                    <a:pt x="0" y="18"/>
                  </a:lnTo>
                  <a:lnTo>
                    <a:pt x="30" y="30"/>
                  </a:lnTo>
                  <a:lnTo>
                    <a:pt x="42" y="36"/>
                  </a:lnTo>
                  <a:lnTo>
                    <a:pt x="66" y="36"/>
                  </a:lnTo>
                  <a:lnTo>
                    <a:pt x="84" y="24"/>
                  </a:lnTo>
                  <a:lnTo>
                    <a:pt x="132" y="30"/>
                  </a:lnTo>
                  <a:lnTo>
                    <a:pt x="108" y="18"/>
                  </a:lnTo>
                  <a:lnTo>
                    <a:pt x="72" y="0"/>
                  </a:lnTo>
                  <a:lnTo>
                    <a:pt x="24"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44" name="Freeform 41">
              <a:extLst>
                <a:ext uri="{FF2B5EF4-FFF2-40B4-BE49-F238E27FC236}">
                  <a16:creationId xmlns:a16="http://schemas.microsoft.com/office/drawing/2014/main" id="{59AAC261-146D-9B95-6731-37574FB03944}"/>
                </a:ext>
              </a:extLst>
            </p:cNvPr>
            <p:cNvSpPr>
              <a:spLocks/>
            </p:cNvSpPr>
            <p:nvPr/>
          </p:nvSpPr>
          <p:spPr bwMode="auto">
            <a:xfrm>
              <a:off x="5769272" y="3311702"/>
              <a:ext cx="93184" cy="54970"/>
            </a:xfrm>
            <a:custGeom>
              <a:avLst/>
              <a:gdLst>
                <a:gd name="T0" fmla="*/ 0 w 60"/>
                <a:gd name="T1" fmla="*/ 2147483647 h 36"/>
                <a:gd name="T2" fmla="*/ 2147483647 w 60"/>
                <a:gd name="T3" fmla="*/ 0 h 36"/>
                <a:gd name="T4" fmla="*/ 2147483647 w 60"/>
                <a:gd name="T5" fmla="*/ 2147483647 h 36"/>
                <a:gd name="T6" fmla="*/ 2147483647 w 60"/>
                <a:gd name="T7" fmla="*/ 2147483647 h 36"/>
                <a:gd name="T8" fmla="*/ 2147483647 w 60"/>
                <a:gd name="T9" fmla="*/ 2147483647 h 36"/>
                <a:gd name="T10" fmla="*/ 2147483647 w 60"/>
                <a:gd name="T11" fmla="*/ 2147483647 h 36"/>
                <a:gd name="T12" fmla="*/ 0 w 60"/>
                <a:gd name="T13" fmla="*/ 2147483647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36">
                  <a:moveTo>
                    <a:pt x="0" y="12"/>
                  </a:moveTo>
                  <a:lnTo>
                    <a:pt x="36" y="0"/>
                  </a:lnTo>
                  <a:lnTo>
                    <a:pt x="60" y="6"/>
                  </a:lnTo>
                  <a:lnTo>
                    <a:pt x="60" y="18"/>
                  </a:lnTo>
                  <a:lnTo>
                    <a:pt x="54" y="36"/>
                  </a:lnTo>
                  <a:lnTo>
                    <a:pt x="30" y="24"/>
                  </a:lnTo>
                  <a:lnTo>
                    <a:pt x="0" y="12"/>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45" name="Freeform 42">
              <a:extLst>
                <a:ext uri="{FF2B5EF4-FFF2-40B4-BE49-F238E27FC236}">
                  <a16:creationId xmlns:a16="http://schemas.microsoft.com/office/drawing/2014/main" id="{7C2322B3-A556-08CB-8F42-25D707B15577}"/>
                </a:ext>
              </a:extLst>
            </p:cNvPr>
            <p:cNvSpPr>
              <a:spLocks/>
            </p:cNvSpPr>
            <p:nvPr/>
          </p:nvSpPr>
          <p:spPr bwMode="auto">
            <a:xfrm>
              <a:off x="5664676" y="3205551"/>
              <a:ext cx="38034" cy="73926"/>
            </a:xfrm>
            <a:custGeom>
              <a:avLst/>
              <a:gdLst>
                <a:gd name="T0" fmla="*/ 0 w 24"/>
                <a:gd name="T1" fmla="*/ 2147483647 h 48"/>
                <a:gd name="T2" fmla="*/ 2147483647 w 24"/>
                <a:gd name="T3" fmla="*/ 2147483647 h 48"/>
                <a:gd name="T4" fmla="*/ 2147483647 w 24"/>
                <a:gd name="T5" fmla="*/ 0 h 48"/>
                <a:gd name="T6" fmla="*/ 2147483647 w 24"/>
                <a:gd name="T7" fmla="*/ 2147483647 h 48"/>
                <a:gd name="T8" fmla="*/ 2147483647 w 24"/>
                <a:gd name="T9" fmla="*/ 2147483647 h 48"/>
                <a:gd name="T10" fmla="*/ 0 w 24"/>
                <a:gd name="T11" fmla="*/ 2147483647 h 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 h="48">
                  <a:moveTo>
                    <a:pt x="0" y="48"/>
                  </a:moveTo>
                  <a:lnTo>
                    <a:pt x="6" y="6"/>
                  </a:lnTo>
                  <a:lnTo>
                    <a:pt x="18" y="0"/>
                  </a:lnTo>
                  <a:lnTo>
                    <a:pt x="24" y="24"/>
                  </a:lnTo>
                  <a:lnTo>
                    <a:pt x="24" y="48"/>
                  </a:lnTo>
                  <a:lnTo>
                    <a:pt x="0" y="48"/>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46" name="Freeform 43">
              <a:extLst>
                <a:ext uri="{FF2B5EF4-FFF2-40B4-BE49-F238E27FC236}">
                  <a16:creationId xmlns:a16="http://schemas.microsoft.com/office/drawing/2014/main" id="{36DEA82D-C628-121D-98DE-9C2741E4FA01}"/>
                </a:ext>
              </a:extLst>
            </p:cNvPr>
            <p:cNvSpPr>
              <a:spLocks/>
            </p:cNvSpPr>
            <p:nvPr/>
          </p:nvSpPr>
          <p:spPr bwMode="auto">
            <a:xfrm>
              <a:off x="5655168" y="3129729"/>
              <a:ext cx="47542" cy="56867"/>
            </a:xfrm>
            <a:custGeom>
              <a:avLst/>
              <a:gdLst>
                <a:gd name="T0" fmla="*/ 0 w 30"/>
                <a:gd name="T1" fmla="*/ 2147483647 h 37"/>
                <a:gd name="T2" fmla="*/ 2147483647 w 30"/>
                <a:gd name="T3" fmla="*/ 0 h 37"/>
                <a:gd name="T4" fmla="*/ 2147483647 w 30"/>
                <a:gd name="T5" fmla="*/ 2147483647 h 37"/>
                <a:gd name="T6" fmla="*/ 2147483647 w 30"/>
                <a:gd name="T7" fmla="*/ 2147483647 h 37"/>
                <a:gd name="T8" fmla="*/ 0 w 30"/>
                <a:gd name="T9" fmla="*/ 2147483647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 h="37">
                  <a:moveTo>
                    <a:pt x="0" y="12"/>
                  </a:moveTo>
                  <a:lnTo>
                    <a:pt x="24" y="0"/>
                  </a:lnTo>
                  <a:lnTo>
                    <a:pt x="30" y="24"/>
                  </a:lnTo>
                  <a:lnTo>
                    <a:pt x="24" y="37"/>
                  </a:lnTo>
                  <a:lnTo>
                    <a:pt x="0" y="12"/>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47" name="Freeform 44">
              <a:extLst>
                <a:ext uri="{FF2B5EF4-FFF2-40B4-BE49-F238E27FC236}">
                  <a16:creationId xmlns:a16="http://schemas.microsoft.com/office/drawing/2014/main" id="{FEFB6F9C-4143-749E-3D66-2F4FD5E8A22C}"/>
                </a:ext>
              </a:extLst>
            </p:cNvPr>
            <p:cNvSpPr>
              <a:spLocks/>
            </p:cNvSpPr>
            <p:nvPr/>
          </p:nvSpPr>
          <p:spPr bwMode="auto">
            <a:xfrm>
              <a:off x="6611735" y="3340135"/>
              <a:ext cx="47544" cy="9478"/>
            </a:xfrm>
            <a:custGeom>
              <a:avLst/>
              <a:gdLst>
                <a:gd name="T0" fmla="*/ 2147483647 w 30"/>
                <a:gd name="T1" fmla="*/ 0 h 6"/>
                <a:gd name="T2" fmla="*/ 2147483647 w 30"/>
                <a:gd name="T3" fmla="*/ 0 h 6"/>
                <a:gd name="T4" fmla="*/ 0 w 30"/>
                <a:gd name="T5" fmla="*/ 2147483647 h 6"/>
                <a:gd name="T6" fmla="*/ 2147483647 w 30"/>
                <a:gd name="T7" fmla="*/ 0 h 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0" h="6">
                  <a:moveTo>
                    <a:pt x="24" y="0"/>
                  </a:moveTo>
                  <a:lnTo>
                    <a:pt x="30" y="0"/>
                  </a:lnTo>
                  <a:lnTo>
                    <a:pt x="0" y="6"/>
                  </a:lnTo>
                  <a:lnTo>
                    <a:pt x="24"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48" name="Rectangle 47">
              <a:extLst>
                <a:ext uri="{FF2B5EF4-FFF2-40B4-BE49-F238E27FC236}">
                  <a16:creationId xmlns:a16="http://schemas.microsoft.com/office/drawing/2014/main" id="{2E2DF0D5-2149-4FA0-8D33-BB112791EB80}"/>
                </a:ext>
              </a:extLst>
            </p:cNvPr>
            <p:cNvSpPr>
              <a:spLocks noChangeArrowheads="1"/>
            </p:cNvSpPr>
            <p:nvPr/>
          </p:nvSpPr>
          <p:spPr bwMode="auto">
            <a:xfrm>
              <a:off x="6444383" y="3616885"/>
              <a:ext cx="0" cy="3791"/>
            </a:xfrm>
            <a:prstGeom prst="rect">
              <a:avLst/>
            </a:pr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49" name="Freeform 46">
              <a:extLst>
                <a:ext uri="{FF2B5EF4-FFF2-40B4-BE49-F238E27FC236}">
                  <a16:creationId xmlns:a16="http://schemas.microsoft.com/office/drawing/2014/main" id="{2820DA51-7B51-7724-DB7A-FFA9A69F7B99}"/>
                </a:ext>
              </a:extLst>
            </p:cNvPr>
            <p:cNvSpPr>
              <a:spLocks/>
            </p:cNvSpPr>
            <p:nvPr/>
          </p:nvSpPr>
          <p:spPr bwMode="auto">
            <a:xfrm>
              <a:off x="6134403" y="3161953"/>
              <a:ext cx="589534" cy="214198"/>
            </a:xfrm>
            <a:custGeom>
              <a:avLst/>
              <a:gdLst>
                <a:gd name="T0" fmla="*/ 2147483647 w 10616"/>
                <a:gd name="T1" fmla="*/ 2147483647 h 10000"/>
                <a:gd name="T2" fmla="*/ 2147483647 w 10616"/>
                <a:gd name="T3" fmla="*/ 2147483647 h 10000"/>
                <a:gd name="T4" fmla="*/ 2147483647 w 10616"/>
                <a:gd name="T5" fmla="*/ 2147483647 h 10000"/>
                <a:gd name="T6" fmla="*/ 2147483647 w 10616"/>
                <a:gd name="T7" fmla="*/ 2147483647 h 10000"/>
                <a:gd name="T8" fmla="*/ 2147483647 w 10616"/>
                <a:gd name="T9" fmla="*/ 2147483647 h 10000"/>
                <a:gd name="T10" fmla="*/ 2147483647 w 10616"/>
                <a:gd name="T11" fmla="*/ 2147483647 h 10000"/>
                <a:gd name="T12" fmla="*/ 2147483647 w 10616"/>
                <a:gd name="T13" fmla="*/ 2147483647 h 10000"/>
                <a:gd name="T14" fmla="*/ 2147483647 w 10616"/>
                <a:gd name="T15" fmla="*/ 2147483647 h 10000"/>
                <a:gd name="T16" fmla="*/ 2147483647 w 10616"/>
                <a:gd name="T17" fmla="*/ 2147483647 h 10000"/>
                <a:gd name="T18" fmla="*/ 2147483647 w 10616"/>
                <a:gd name="T19" fmla="*/ 2147483647 h 10000"/>
                <a:gd name="T20" fmla="*/ 2147483647 w 10616"/>
                <a:gd name="T21" fmla="*/ 808041496 h 10000"/>
                <a:gd name="T22" fmla="*/ 2147483647 w 10616"/>
                <a:gd name="T23" fmla="*/ 808041496 h 10000"/>
                <a:gd name="T24" fmla="*/ 2147483647 w 10616"/>
                <a:gd name="T25" fmla="*/ 0 h 10000"/>
                <a:gd name="T26" fmla="*/ 2147483647 w 10616"/>
                <a:gd name="T27" fmla="*/ 0 h 10000"/>
                <a:gd name="T28" fmla="*/ 2147483647 w 10616"/>
                <a:gd name="T29" fmla="*/ 2147483647 h 10000"/>
                <a:gd name="T30" fmla="*/ 2147483647 w 10616"/>
                <a:gd name="T31" fmla="*/ 2147483647 h 10000"/>
                <a:gd name="T32" fmla="*/ 2147483647 w 10616"/>
                <a:gd name="T33" fmla="*/ 2147483647 h 10000"/>
                <a:gd name="T34" fmla="*/ 2147483647 w 10616"/>
                <a:gd name="T35" fmla="*/ 2147483647 h 10000"/>
                <a:gd name="T36" fmla="*/ 2147483647 w 10616"/>
                <a:gd name="T37" fmla="*/ 808041496 h 10000"/>
                <a:gd name="T38" fmla="*/ 2147483647 w 10616"/>
                <a:gd name="T39" fmla="*/ 0 h 10000"/>
                <a:gd name="T40" fmla="*/ 2147483647 w 10616"/>
                <a:gd name="T41" fmla="*/ 0 h 10000"/>
                <a:gd name="T42" fmla="*/ 2147483647 w 10616"/>
                <a:gd name="T43" fmla="*/ 0 h 10000"/>
                <a:gd name="T44" fmla="*/ 2147483647 w 10616"/>
                <a:gd name="T45" fmla="*/ 808041496 h 10000"/>
                <a:gd name="T46" fmla="*/ 2147483647 w 10616"/>
                <a:gd name="T47" fmla="*/ 2147483647 h 10000"/>
                <a:gd name="T48" fmla="*/ 2147483647 w 10616"/>
                <a:gd name="T49" fmla="*/ 2147483647 h 10000"/>
                <a:gd name="T50" fmla="*/ 2147483647 w 10616"/>
                <a:gd name="T51" fmla="*/ 2147483647 h 10000"/>
                <a:gd name="T52" fmla="*/ 2147483647 w 10616"/>
                <a:gd name="T53" fmla="*/ 2147483647 h 10000"/>
                <a:gd name="T54" fmla="*/ 2147483647 w 10616"/>
                <a:gd name="T55" fmla="*/ 2147483647 h 10000"/>
                <a:gd name="T56" fmla="*/ 2147483647 w 10616"/>
                <a:gd name="T57" fmla="*/ 2147483647 h 10000"/>
                <a:gd name="T58" fmla="*/ 2147483647 w 10616"/>
                <a:gd name="T59" fmla="*/ 2147483647 h 10000"/>
                <a:gd name="T60" fmla="*/ 2147483647 w 10616"/>
                <a:gd name="T61" fmla="*/ 2147483647 h 10000"/>
                <a:gd name="T62" fmla="*/ 0 w 10616"/>
                <a:gd name="T63" fmla="*/ 2147483647 h 10000"/>
                <a:gd name="T64" fmla="*/ 2147483647 w 10616"/>
                <a:gd name="T65" fmla="*/ 2147483647 h 10000"/>
                <a:gd name="T66" fmla="*/ 2147483647 w 10616"/>
                <a:gd name="T67" fmla="*/ 2147483647 h 10000"/>
                <a:gd name="T68" fmla="*/ 2147483647 w 10616"/>
                <a:gd name="T69" fmla="*/ 2147483647 h 10000"/>
                <a:gd name="T70" fmla="*/ 2147483647 w 10616"/>
                <a:gd name="T71" fmla="*/ 2147483647 h 10000"/>
                <a:gd name="T72" fmla="*/ 2147483647 w 10616"/>
                <a:gd name="T73" fmla="*/ 2147483647 h 10000"/>
                <a:gd name="T74" fmla="*/ 2147483647 w 10616"/>
                <a:gd name="T75" fmla="*/ 2147483647 h 10000"/>
                <a:gd name="T76" fmla="*/ 2147483647 w 10616"/>
                <a:gd name="T77" fmla="*/ 2147483647 h 10000"/>
                <a:gd name="T78" fmla="*/ 2147483647 w 10616"/>
                <a:gd name="T79" fmla="*/ 2147483647 h 10000"/>
                <a:gd name="T80" fmla="*/ 2147483647 w 10616"/>
                <a:gd name="T81" fmla="*/ 2147483647 h 10000"/>
                <a:gd name="T82" fmla="*/ 2147483647 w 10616"/>
                <a:gd name="T83" fmla="*/ 2147483647 h 10000"/>
                <a:gd name="T84" fmla="*/ 2147483647 w 10616"/>
                <a:gd name="T85" fmla="*/ 2147483647 h 1000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0616" h="10000">
                  <a:moveTo>
                    <a:pt x="6379" y="8696"/>
                  </a:moveTo>
                  <a:lnTo>
                    <a:pt x="6718" y="9130"/>
                  </a:lnTo>
                  <a:lnTo>
                    <a:pt x="8582" y="8696"/>
                  </a:lnTo>
                  <a:lnTo>
                    <a:pt x="9430" y="8261"/>
                  </a:lnTo>
                  <a:lnTo>
                    <a:pt x="10277" y="7826"/>
                  </a:lnTo>
                  <a:lnTo>
                    <a:pt x="10616" y="8261"/>
                  </a:lnTo>
                  <a:cubicBezTo>
                    <a:pt x="10560" y="7826"/>
                    <a:pt x="10503" y="7392"/>
                    <a:pt x="10447" y="6957"/>
                  </a:cubicBezTo>
                  <a:lnTo>
                    <a:pt x="10447" y="3913"/>
                  </a:lnTo>
                  <a:cubicBezTo>
                    <a:pt x="10503" y="3768"/>
                    <a:pt x="10560" y="3623"/>
                    <a:pt x="10616" y="3478"/>
                  </a:cubicBezTo>
                  <a:lnTo>
                    <a:pt x="9938" y="1304"/>
                  </a:lnTo>
                  <a:lnTo>
                    <a:pt x="9599" y="435"/>
                  </a:lnTo>
                  <a:lnTo>
                    <a:pt x="9091" y="435"/>
                  </a:lnTo>
                  <a:cubicBezTo>
                    <a:pt x="9034" y="290"/>
                    <a:pt x="8978" y="145"/>
                    <a:pt x="8921" y="0"/>
                  </a:cubicBezTo>
                  <a:lnTo>
                    <a:pt x="8243" y="1304"/>
                  </a:lnTo>
                  <a:lnTo>
                    <a:pt x="7396" y="1304"/>
                  </a:lnTo>
                  <a:lnTo>
                    <a:pt x="7226" y="1304"/>
                  </a:lnTo>
                  <a:lnTo>
                    <a:pt x="6548" y="435"/>
                  </a:lnTo>
                  <a:lnTo>
                    <a:pt x="6040" y="0"/>
                  </a:lnTo>
                  <a:lnTo>
                    <a:pt x="4684" y="0"/>
                  </a:lnTo>
                  <a:lnTo>
                    <a:pt x="4345" y="0"/>
                  </a:lnTo>
                  <a:lnTo>
                    <a:pt x="3836" y="435"/>
                  </a:lnTo>
                  <a:lnTo>
                    <a:pt x="3497" y="1304"/>
                  </a:lnTo>
                  <a:lnTo>
                    <a:pt x="2650" y="1739"/>
                  </a:lnTo>
                  <a:cubicBezTo>
                    <a:pt x="2593" y="1594"/>
                    <a:pt x="2537" y="1449"/>
                    <a:pt x="2480" y="1304"/>
                  </a:cubicBezTo>
                  <a:lnTo>
                    <a:pt x="2311" y="1304"/>
                  </a:lnTo>
                  <a:lnTo>
                    <a:pt x="1972" y="2609"/>
                  </a:lnTo>
                  <a:cubicBezTo>
                    <a:pt x="1746" y="2609"/>
                    <a:pt x="1494" y="2631"/>
                    <a:pt x="1294" y="2609"/>
                  </a:cubicBezTo>
                  <a:cubicBezTo>
                    <a:pt x="1094" y="2587"/>
                    <a:pt x="883" y="2261"/>
                    <a:pt x="770" y="2478"/>
                  </a:cubicBezTo>
                  <a:cubicBezTo>
                    <a:pt x="657" y="2695"/>
                    <a:pt x="333" y="2962"/>
                    <a:pt x="205" y="3117"/>
                  </a:cubicBezTo>
                  <a:cubicBezTo>
                    <a:pt x="77" y="3272"/>
                    <a:pt x="0" y="3266"/>
                    <a:pt x="0" y="3407"/>
                  </a:cubicBezTo>
                  <a:cubicBezTo>
                    <a:pt x="113" y="3701"/>
                    <a:pt x="482" y="5084"/>
                    <a:pt x="698" y="5748"/>
                  </a:cubicBezTo>
                  <a:cubicBezTo>
                    <a:pt x="914" y="6412"/>
                    <a:pt x="1138" y="6900"/>
                    <a:pt x="1294" y="7391"/>
                  </a:cubicBezTo>
                  <a:cubicBezTo>
                    <a:pt x="1450" y="7882"/>
                    <a:pt x="1520" y="8261"/>
                    <a:pt x="1633" y="8696"/>
                  </a:cubicBezTo>
                  <a:lnTo>
                    <a:pt x="3158" y="9130"/>
                  </a:lnTo>
                  <a:lnTo>
                    <a:pt x="3328" y="9130"/>
                  </a:lnTo>
                  <a:lnTo>
                    <a:pt x="4514" y="10000"/>
                  </a:lnTo>
                  <a:lnTo>
                    <a:pt x="5192" y="9130"/>
                  </a:lnTo>
                  <a:lnTo>
                    <a:pt x="5870" y="10000"/>
                  </a:lnTo>
                  <a:lnTo>
                    <a:pt x="6379" y="8696"/>
                  </a:ln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50" name="Freeform 47">
              <a:extLst>
                <a:ext uri="{FF2B5EF4-FFF2-40B4-BE49-F238E27FC236}">
                  <a16:creationId xmlns:a16="http://schemas.microsoft.com/office/drawing/2014/main" id="{F870A78D-0462-EFDE-B41A-3CAFC8878B35}"/>
                </a:ext>
              </a:extLst>
            </p:cNvPr>
            <p:cNvSpPr>
              <a:spLocks/>
            </p:cNvSpPr>
            <p:nvPr/>
          </p:nvSpPr>
          <p:spPr bwMode="auto">
            <a:xfrm>
              <a:off x="6431072" y="3340135"/>
              <a:ext cx="216797" cy="174391"/>
            </a:xfrm>
            <a:custGeom>
              <a:avLst/>
              <a:gdLst>
                <a:gd name="T0" fmla="*/ 2147483647 w 139"/>
                <a:gd name="T1" fmla="*/ 2147483647 h 114"/>
                <a:gd name="T2" fmla="*/ 2147483647 w 139"/>
                <a:gd name="T3" fmla="*/ 2147483647 h 114"/>
                <a:gd name="T4" fmla="*/ 2147483647 w 139"/>
                <a:gd name="T5" fmla="*/ 2147483647 h 114"/>
                <a:gd name="T6" fmla="*/ 2147483647 w 139"/>
                <a:gd name="T7" fmla="*/ 2147483647 h 114"/>
                <a:gd name="T8" fmla="*/ 2147483647 w 139"/>
                <a:gd name="T9" fmla="*/ 2147483647 h 114"/>
                <a:gd name="T10" fmla="*/ 2147483647 w 139"/>
                <a:gd name="T11" fmla="*/ 2147483647 h 114"/>
                <a:gd name="T12" fmla="*/ 2147483647 w 139"/>
                <a:gd name="T13" fmla="*/ 0 h 114"/>
                <a:gd name="T14" fmla="*/ 2147483647 w 139"/>
                <a:gd name="T15" fmla="*/ 2147483647 h 114"/>
                <a:gd name="T16" fmla="*/ 2147483647 w 139"/>
                <a:gd name="T17" fmla="*/ 2147483647 h 114"/>
                <a:gd name="T18" fmla="*/ 2147483647 w 139"/>
                <a:gd name="T19" fmla="*/ 2147483647 h 114"/>
                <a:gd name="T20" fmla="*/ 2147483647 w 139"/>
                <a:gd name="T21" fmla="*/ 2147483647 h 114"/>
                <a:gd name="T22" fmla="*/ 2147483647 w 139"/>
                <a:gd name="T23" fmla="*/ 2147483647 h 114"/>
                <a:gd name="T24" fmla="*/ 2147483647 w 139"/>
                <a:gd name="T25" fmla="*/ 2147483647 h 114"/>
                <a:gd name="T26" fmla="*/ 0 w 139"/>
                <a:gd name="T27" fmla="*/ 2147483647 h 114"/>
                <a:gd name="T28" fmla="*/ 2147483647 w 139"/>
                <a:gd name="T29" fmla="*/ 2147483647 h 114"/>
                <a:gd name="T30" fmla="*/ 2147483647 w 139"/>
                <a:gd name="T31" fmla="*/ 2147483647 h 11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9" h="114">
                  <a:moveTo>
                    <a:pt x="25" y="114"/>
                  </a:moveTo>
                  <a:lnTo>
                    <a:pt x="61" y="96"/>
                  </a:lnTo>
                  <a:lnTo>
                    <a:pt x="73" y="90"/>
                  </a:lnTo>
                  <a:lnTo>
                    <a:pt x="115" y="66"/>
                  </a:lnTo>
                  <a:lnTo>
                    <a:pt x="127" y="24"/>
                  </a:lnTo>
                  <a:lnTo>
                    <a:pt x="139" y="6"/>
                  </a:lnTo>
                  <a:lnTo>
                    <a:pt x="139" y="0"/>
                  </a:lnTo>
                  <a:lnTo>
                    <a:pt x="115" y="6"/>
                  </a:lnTo>
                  <a:lnTo>
                    <a:pt x="49" y="12"/>
                  </a:lnTo>
                  <a:lnTo>
                    <a:pt x="37" y="6"/>
                  </a:lnTo>
                  <a:lnTo>
                    <a:pt x="19" y="24"/>
                  </a:lnTo>
                  <a:lnTo>
                    <a:pt x="25" y="48"/>
                  </a:lnTo>
                  <a:lnTo>
                    <a:pt x="0" y="102"/>
                  </a:lnTo>
                  <a:lnTo>
                    <a:pt x="13" y="102"/>
                  </a:lnTo>
                  <a:lnTo>
                    <a:pt x="25" y="114"/>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51" name="Freeform 48">
              <a:extLst>
                <a:ext uri="{FF2B5EF4-FFF2-40B4-BE49-F238E27FC236}">
                  <a16:creationId xmlns:a16="http://schemas.microsoft.com/office/drawing/2014/main" id="{FB1FE5AC-E2EC-EE1B-7694-EA89BC9556B3}"/>
                </a:ext>
              </a:extLst>
            </p:cNvPr>
            <p:cNvSpPr>
              <a:spLocks/>
            </p:cNvSpPr>
            <p:nvPr/>
          </p:nvSpPr>
          <p:spPr bwMode="auto">
            <a:xfrm>
              <a:off x="6402545" y="3478511"/>
              <a:ext cx="152138" cy="138375"/>
            </a:xfrm>
            <a:custGeom>
              <a:avLst/>
              <a:gdLst>
                <a:gd name="T0" fmla="*/ 2147483647 w 97"/>
                <a:gd name="T1" fmla="*/ 2147483647 h 90"/>
                <a:gd name="T2" fmla="*/ 2147483647 w 97"/>
                <a:gd name="T3" fmla="*/ 0 h 90"/>
                <a:gd name="T4" fmla="*/ 2147483647 w 97"/>
                <a:gd name="T5" fmla="*/ 2147483647 h 90"/>
                <a:gd name="T6" fmla="*/ 2147483647 w 97"/>
                <a:gd name="T7" fmla="*/ 2147483647 h 90"/>
                <a:gd name="T8" fmla="*/ 2147483647 w 97"/>
                <a:gd name="T9" fmla="*/ 2147483647 h 90"/>
                <a:gd name="T10" fmla="*/ 2147483647 w 97"/>
                <a:gd name="T11" fmla="*/ 2147483647 h 90"/>
                <a:gd name="T12" fmla="*/ 2147483647 w 97"/>
                <a:gd name="T13" fmla="*/ 2147483647 h 90"/>
                <a:gd name="T14" fmla="*/ 0 w 97"/>
                <a:gd name="T15" fmla="*/ 2147483647 h 90"/>
                <a:gd name="T16" fmla="*/ 2147483647 w 97"/>
                <a:gd name="T17" fmla="*/ 2147483647 h 90"/>
                <a:gd name="T18" fmla="*/ 2147483647 w 97"/>
                <a:gd name="T19" fmla="*/ 2147483647 h 90"/>
                <a:gd name="T20" fmla="*/ 2147483647 w 97"/>
                <a:gd name="T21" fmla="*/ 2147483647 h 90"/>
                <a:gd name="T22" fmla="*/ 2147483647 w 97"/>
                <a:gd name="T23" fmla="*/ 2147483647 h 90"/>
                <a:gd name="T24" fmla="*/ 2147483647 w 97"/>
                <a:gd name="T25" fmla="*/ 2147483647 h 90"/>
                <a:gd name="T26" fmla="*/ 2147483647 w 97"/>
                <a:gd name="T27" fmla="*/ 2147483647 h 90"/>
                <a:gd name="T28" fmla="*/ 2147483647 w 97"/>
                <a:gd name="T29" fmla="*/ 2147483647 h 90"/>
                <a:gd name="T30" fmla="*/ 2147483647 w 97"/>
                <a:gd name="T31" fmla="*/ 2147483647 h 90"/>
                <a:gd name="T32" fmla="*/ 2147483647 w 97"/>
                <a:gd name="T33" fmla="*/ 2147483647 h 90"/>
                <a:gd name="T34" fmla="*/ 2147483647 w 97"/>
                <a:gd name="T35" fmla="*/ 2147483647 h 90"/>
                <a:gd name="T36" fmla="*/ 2147483647 w 97"/>
                <a:gd name="T37" fmla="*/ 2147483647 h 90"/>
                <a:gd name="T38" fmla="*/ 2147483647 w 97"/>
                <a:gd name="T39" fmla="*/ 2147483647 h 9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97" h="90">
                  <a:moveTo>
                    <a:pt x="91" y="24"/>
                  </a:moveTo>
                  <a:lnTo>
                    <a:pt x="91" y="0"/>
                  </a:lnTo>
                  <a:lnTo>
                    <a:pt x="79" y="6"/>
                  </a:lnTo>
                  <a:lnTo>
                    <a:pt x="43" y="24"/>
                  </a:lnTo>
                  <a:lnTo>
                    <a:pt x="31" y="12"/>
                  </a:lnTo>
                  <a:lnTo>
                    <a:pt x="18" y="12"/>
                  </a:lnTo>
                  <a:lnTo>
                    <a:pt x="12" y="18"/>
                  </a:lnTo>
                  <a:lnTo>
                    <a:pt x="0" y="42"/>
                  </a:lnTo>
                  <a:lnTo>
                    <a:pt x="18" y="90"/>
                  </a:lnTo>
                  <a:lnTo>
                    <a:pt x="25" y="90"/>
                  </a:lnTo>
                  <a:lnTo>
                    <a:pt x="37" y="90"/>
                  </a:lnTo>
                  <a:lnTo>
                    <a:pt x="49" y="78"/>
                  </a:lnTo>
                  <a:lnTo>
                    <a:pt x="67" y="78"/>
                  </a:lnTo>
                  <a:lnTo>
                    <a:pt x="73" y="66"/>
                  </a:lnTo>
                  <a:lnTo>
                    <a:pt x="61" y="36"/>
                  </a:lnTo>
                  <a:lnTo>
                    <a:pt x="85" y="30"/>
                  </a:lnTo>
                  <a:lnTo>
                    <a:pt x="97" y="24"/>
                  </a:lnTo>
                  <a:lnTo>
                    <a:pt x="91" y="24"/>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52" name="Freeform 49">
              <a:extLst>
                <a:ext uri="{FF2B5EF4-FFF2-40B4-BE49-F238E27FC236}">
                  <a16:creationId xmlns:a16="http://schemas.microsoft.com/office/drawing/2014/main" id="{E6FA28A0-33ED-01CD-17A2-42774B47C2CA}"/>
                </a:ext>
              </a:extLst>
            </p:cNvPr>
            <p:cNvSpPr>
              <a:spLocks/>
            </p:cNvSpPr>
            <p:nvPr/>
          </p:nvSpPr>
          <p:spPr bwMode="auto">
            <a:xfrm>
              <a:off x="6402545" y="3478511"/>
              <a:ext cx="152138" cy="138375"/>
            </a:xfrm>
            <a:custGeom>
              <a:avLst/>
              <a:gdLst>
                <a:gd name="T0" fmla="*/ 2147483647 w 97"/>
                <a:gd name="T1" fmla="*/ 2147483647 h 90"/>
                <a:gd name="T2" fmla="*/ 2147483647 w 97"/>
                <a:gd name="T3" fmla="*/ 0 h 90"/>
                <a:gd name="T4" fmla="*/ 2147483647 w 97"/>
                <a:gd name="T5" fmla="*/ 2147483647 h 90"/>
                <a:gd name="T6" fmla="*/ 2147483647 w 97"/>
                <a:gd name="T7" fmla="*/ 2147483647 h 90"/>
                <a:gd name="T8" fmla="*/ 2147483647 w 97"/>
                <a:gd name="T9" fmla="*/ 2147483647 h 90"/>
                <a:gd name="T10" fmla="*/ 2147483647 w 97"/>
                <a:gd name="T11" fmla="*/ 2147483647 h 90"/>
                <a:gd name="T12" fmla="*/ 2147483647 w 97"/>
                <a:gd name="T13" fmla="*/ 2147483647 h 90"/>
                <a:gd name="T14" fmla="*/ 0 w 97"/>
                <a:gd name="T15" fmla="*/ 2147483647 h 90"/>
                <a:gd name="T16" fmla="*/ 2147483647 w 97"/>
                <a:gd name="T17" fmla="*/ 2147483647 h 90"/>
                <a:gd name="T18" fmla="*/ 2147483647 w 97"/>
                <a:gd name="T19" fmla="*/ 2147483647 h 90"/>
                <a:gd name="T20" fmla="*/ 2147483647 w 97"/>
                <a:gd name="T21" fmla="*/ 2147483647 h 90"/>
                <a:gd name="T22" fmla="*/ 2147483647 w 97"/>
                <a:gd name="T23" fmla="*/ 2147483647 h 90"/>
                <a:gd name="T24" fmla="*/ 2147483647 w 97"/>
                <a:gd name="T25" fmla="*/ 2147483647 h 90"/>
                <a:gd name="T26" fmla="*/ 2147483647 w 97"/>
                <a:gd name="T27" fmla="*/ 2147483647 h 90"/>
                <a:gd name="T28" fmla="*/ 2147483647 w 97"/>
                <a:gd name="T29" fmla="*/ 2147483647 h 90"/>
                <a:gd name="T30" fmla="*/ 2147483647 w 97"/>
                <a:gd name="T31" fmla="*/ 2147483647 h 90"/>
                <a:gd name="T32" fmla="*/ 2147483647 w 97"/>
                <a:gd name="T33" fmla="*/ 2147483647 h 90"/>
                <a:gd name="T34" fmla="*/ 2147483647 w 97"/>
                <a:gd name="T35" fmla="*/ 2147483647 h 90"/>
                <a:gd name="T36" fmla="*/ 2147483647 w 97"/>
                <a:gd name="T37" fmla="*/ 2147483647 h 90"/>
                <a:gd name="T38" fmla="*/ 2147483647 w 97"/>
                <a:gd name="T39" fmla="*/ 2147483647 h 9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97" h="90">
                  <a:moveTo>
                    <a:pt x="91" y="24"/>
                  </a:moveTo>
                  <a:lnTo>
                    <a:pt x="91" y="0"/>
                  </a:lnTo>
                  <a:lnTo>
                    <a:pt x="79" y="6"/>
                  </a:lnTo>
                  <a:lnTo>
                    <a:pt x="43" y="24"/>
                  </a:lnTo>
                  <a:lnTo>
                    <a:pt x="31" y="12"/>
                  </a:lnTo>
                  <a:lnTo>
                    <a:pt x="18" y="12"/>
                  </a:lnTo>
                  <a:lnTo>
                    <a:pt x="12" y="18"/>
                  </a:lnTo>
                  <a:lnTo>
                    <a:pt x="0" y="42"/>
                  </a:lnTo>
                  <a:lnTo>
                    <a:pt x="18" y="90"/>
                  </a:lnTo>
                  <a:lnTo>
                    <a:pt x="25" y="90"/>
                  </a:lnTo>
                  <a:lnTo>
                    <a:pt x="37" y="90"/>
                  </a:lnTo>
                  <a:lnTo>
                    <a:pt x="49" y="78"/>
                  </a:lnTo>
                  <a:lnTo>
                    <a:pt x="67" y="78"/>
                  </a:lnTo>
                  <a:lnTo>
                    <a:pt x="73" y="66"/>
                  </a:lnTo>
                  <a:lnTo>
                    <a:pt x="61" y="36"/>
                  </a:lnTo>
                  <a:lnTo>
                    <a:pt x="85" y="30"/>
                  </a:lnTo>
                  <a:lnTo>
                    <a:pt x="97" y="24"/>
                  </a:lnTo>
                  <a:lnTo>
                    <a:pt x="91" y="24"/>
                  </a:lnTo>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53" name="Freeform 50">
              <a:extLst>
                <a:ext uri="{FF2B5EF4-FFF2-40B4-BE49-F238E27FC236}">
                  <a16:creationId xmlns:a16="http://schemas.microsoft.com/office/drawing/2014/main" id="{29E7F2A3-0EF0-82A2-2BAC-AD637D30C329}"/>
                </a:ext>
              </a:extLst>
            </p:cNvPr>
            <p:cNvSpPr>
              <a:spLocks/>
            </p:cNvSpPr>
            <p:nvPr/>
          </p:nvSpPr>
          <p:spPr bwMode="auto">
            <a:xfrm>
              <a:off x="6929323" y="3740097"/>
              <a:ext cx="142629" cy="92881"/>
            </a:xfrm>
            <a:custGeom>
              <a:avLst/>
              <a:gdLst>
                <a:gd name="T0" fmla="*/ 2147483647 w 90"/>
                <a:gd name="T1" fmla="*/ 2147483647 h 60"/>
                <a:gd name="T2" fmla="*/ 2147483647 w 90"/>
                <a:gd name="T3" fmla="*/ 2147483647 h 60"/>
                <a:gd name="T4" fmla="*/ 2147483647 w 90"/>
                <a:gd name="T5" fmla="*/ 2147483647 h 60"/>
                <a:gd name="T6" fmla="*/ 2147483647 w 90"/>
                <a:gd name="T7" fmla="*/ 2147483647 h 60"/>
                <a:gd name="T8" fmla="*/ 2147483647 w 90"/>
                <a:gd name="T9" fmla="*/ 0 h 60"/>
                <a:gd name="T10" fmla="*/ 2147483647 w 90"/>
                <a:gd name="T11" fmla="*/ 2147483647 h 60"/>
                <a:gd name="T12" fmla="*/ 2147483647 w 90"/>
                <a:gd name="T13" fmla="*/ 2147483647 h 60"/>
                <a:gd name="T14" fmla="*/ 0 w 90"/>
                <a:gd name="T15" fmla="*/ 2147483647 h 60"/>
                <a:gd name="T16" fmla="*/ 2147483647 w 90"/>
                <a:gd name="T17" fmla="*/ 2147483647 h 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90" h="60">
                  <a:moveTo>
                    <a:pt x="18" y="48"/>
                  </a:moveTo>
                  <a:lnTo>
                    <a:pt x="66" y="60"/>
                  </a:lnTo>
                  <a:lnTo>
                    <a:pt x="78" y="30"/>
                  </a:lnTo>
                  <a:lnTo>
                    <a:pt x="90" y="24"/>
                  </a:lnTo>
                  <a:lnTo>
                    <a:pt x="84" y="0"/>
                  </a:lnTo>
                  <a:lnTo>
                    <a:pt x="30" y="18"/>
                  </a:lnTo>
                  <a:lnTo>
                    <a:pt x="6" y="6"/>
                  </a:lnTo>
                  <a:lnTo>
                    <a:pt x="0" y="24"/>
                  </a:lnTo>
                  <a:lnTo>
                    <a:pt x="18" y="48"/>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54" name="Freeform 51">
              <a:extLst>
                <a:ext uri="{FF2B5EF4-FFF2-40B4-BE49-F238E27FC236}">
                  <a16:creationId xmlns:a16="http://schemas.microsoft.com/office/drawing/2014/main" id="{426DED33-9C8A-24A9-0AA5-31D59A90EF18}"/>
                </a:ext>
              </a:extLst>
            </p:cNvPr>
            <p:cNvSpPr>
              <a:spLocks/>
            </p:cNvSpPr>
            <p:nvPr/>
          </p:nvSpPr>
          <p:spPr bwMode="auto">
            <a:xfrm>
              <a:off x="6950242" y="3776111"/>
              <a:ext cx="224403" cy="259691"/>
            </a:xfrm>
            <a:custGeom>
              <a:avLst/>
              <a:gdLst>
                <a:gd name="T0" fmla="*/ 2147483647 w 24"/>
                <a:gd name="T1" fmla="*/ 2147483647 h 28"/>
                <a:gd name="T2" fmla="*/ 2147483647 w 24"/>
                <a:gd name="T3" fmla="*/ 2147483647 h 28"/>
                <a:gd name="T4" fmla="*/ 2147483647 w 24"/>
                <a:gd name="T5" fmla="*/ 2147483647 h 28"/>
                <a:gd name="T6" fmla="*/ 2147483647 w 24"/>
                <a:gd name="T7" fmla="*/ 2147483647 h 28"/>
                <a:gd name="T8" fmla="*/ 0 w 24"/>
                <a:gd name="T9" fmla="*/ 2147483647 h 28"/>
                <a:gd name="T10" fmla="*/ 2147483647 w 24"/>
                <a:gd name="T11" fmla="*/ 2147483647 h 28"/>
                <a:gd name="T12" fmla="*/ 2147483647 w 24"/>
                <a:gd name="T13" fmla="*/ 2147483647 h 28"/>
                <a:gd name="T14" fmla="*/ 2147483647 w 24"/>
                <a:gd name="T15" fmla="*/ 2147483647 h 28"/>
                <a:gd name="T16" fmla="*/ 2147483647 w 24"/>
                <a:gd name="T17" fmla="*/ 2147483647 h 28"/>
                <a:gd name="T18" fmla="*/ 2147483647 w 24"/>
                <a:gd name="T19" fmla="*/ 2147483647 h 28"/>
                <a:gd name="T20" fmla="*/ 2147483647 w 24"/>
                <a:gd name="T21" fmla="*/ 2147483647 h 28"/>
                <a:gd name="T22" fmla="*/ 2147483647 w 24"/>
                <a:gd name="T23" fmla="*/ 2147483647 h 28"/>
                <a:gd name="T24" fmla="*/ 2147483647 w 24"/>
                <a:gd name="T25" fmla="*/ 0 h 28"/>
                <a:gd name="T26" fmla="*/ 2147483647 w 24"/>
                <a:gd name="T27" fmla="*/ 0 h 28"/>
                <a:gd name="T28" fmla="*/ 2147483647 w 24"/>
                <a:gd name="T29" fmla="*/ 2147483647 h 28"/>
                <a:gd name="T30" fmla="*/ 2147483647 w 24"/>
                <a:gd name="T31" fmla="*/ 2147483647 h 2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4" h="28">
                  <a:moveTo>
                    <a:pt x="9" y="6"/>
                  </a:moveTo>
                  <a:cubicBezTo>
                    <a:pt x="10" y="6"/>
                    <a:pt x="10" y="6"/>
                    <a:pt x="10" y="6"/>
                  </a:cubicBezTo>
                  <a:cubicBezTo>
                    <a:pt x="9" y="13"/>
                    <a:pt x="9" y="13"/>
                    <a:pt x="9" y="13"/>
                  </a:cubicBezTo>
                  <a:cubicBezTo>
                    <a:pt x="4" y="17"/>
                    <a:pt x="4" y="17"/>
                    <a:pt x="4" y="17"/>
                  </a:cubicBezTo>
                  <a:cubicBezTo>
                    <a:pt x="4" y="17"/>
                    <a:pt x="3" y="18"/>
                    <a:pt x="0" y="18"/>
                  </a:cubicBezTo>
                  <a:cubicBezTo>
                    <a:pt x="1" y="21"/>
                    <a:pt x="1" y="21"/>
                    <a:pt x="1" y="21"/>
                  </a:cubicBezTo>
                  <a:cubicBezTo>
                    <a:pt x="4" y="28"/>
                    <a:pt x="4" y="28"/>
                    <a:pt x="4" y="28"/>
                  </a:cubicBezTo>
                  <a:cubicBezTo>
                    <a:pt x="11" y="23"/>
                    <a:pt x="11" y="23"/>
                    <a:pt x="11" y="23"/>
                  </a:cubicBezTo>
                  <a:cubicBezTo>
                    <a:pt x="17" y="15"/>
                    <a:pt x="17" y="15"/>
                    <a:pt x="17" y="15"/>
                  </a:cubicBezTo>
                  <a:cubicBezTo>
                    <a:pt x="20" y="11"/>
                    <a:pt x="20" y="11"/>
                    <a:pt x="20" y="11"/>
                  </a:cubicBezTo>
                  <a:cubicBezTo>
                    <a:pt x="24" y="7"/>
                    <a:pt x="24" y="7"/>
                    <a:pt x="24" y="7"/>
                  </a:cubicBezTo>
                  <a:cubicBezTo>
                    <a:pt x="16" y="1"/>
                    <a:pt x="16" y="1"/>
                    <a:pt x="16" y="1"/>
                  </a:cubicBezTo>
                  <a:cubicBezTo>
                    <a:pt x="13" y="0"/>
                    <a:pt x="13" y="0"/>
                    <a:pt x="13" y="0"/>
                  </a:cubicBezTo>
                  <a:cubicBezTo>
                    <a:pt x="13" y="0"/>
                    <a:pt x="13" y="0"/>
                    <a:pt x="13" y="0"/>
                  </a:cubicBezTo>
                  <a:cubicBezTo>
                    <a:pt x="11" y="1"/>
                    <a:pt x="11" y="1"/>
                    <a:pt x="11" y="1"/>
                  </a:cubicBezTo>
                  <a:lnTo>
                    <a:pt x="9" y="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55" name="Freeform 52">
              <a:extLst>
                <a:ext uri="{FF2B5EF4-FFF2-40B4-BE49-F238E27FC236}">
                  <a16:creationId xmlns:a16="http://schemas.microsoft.com/office/drawing/2014/main" id="{DA77CBAA-57E4-4324-E098-9524D92B4D6A}"/>
                </a:ext>
              </a:extLst>
            </p:cNvPr>
            <p:cNvSpPr>
              <a:spLocks/>
            </p:cNvSpPr>
            <p:nvPr/>
          </p:nvSpPr>
          <p:spPr bwMode="auto">
            <a:xfrm>
              <a:off x="6668787" y="3942920"/>
              <a:ext cx="317588" cy="197137"/>
            </a:xfrm>
            <a:custGeom>
              <a:avLst/>
              <a:gdLst>
                <a:gd name="T0" fmla="*/ 2147483647 w 34"/>
                <a:gd name="T1" fmla="*/ 0 h 21"/>
                <a:gd name="T2" fmla="*/ 2147483647 w 34"/>
                <a:gd name="T3" fmla="*/ 2147483647 h 21"/>
                <a:gd name="T4" fmla="*/ 2147483647 w 34"/>
                <a:gd name="T5" fmla="*/ 2147483647 h 21"/>
                <a:gd name="T6" fmla="*/ 2147483647 w 34"/>
                <a:gd name="T7" fmla="*/ 2147483647 h 21"/>
                <a:gd name="T8" fmla="*/ 0 w 34"/>
                <a:gd name="T9" fmla="*/ 2147483647 h 21"/>
                <a:gd name="T10" fmla="*/ 2147483647 w 34"/>
                <a:gd name="T11" fmla="*/ 2147483647 h 21"/>
                <a:gd name="T12" fmla="*/ 2147483647 w 34"/>
                <a:gd name="T13" fmla="*/ 2147483647 h 21"/>
                <a:gd name="T14" fmla="*/ 2147483647 w 34"/>
                <a:gd name="T15" fmla="*/ 2147483647 h 21"/>
                <a:gd name="T16" fmla="*/ 2147483647 w 34"/>
                <a:gd name="T17" fmla="*/ 2147483647 h 21"/>
                <a:gd name="T18" fmla="*/ 2147483647 w 34"/>
                <a:gd name="T19" fmla="*/ 2147483647 h 21"/>
                <a:gd name="T20" fmla="*/ 2147483647 w 34"/>
                <a:gd name="T21" fmla="*/ 2147483647 h 21"/>
                <a:gd name="T22" fmla="*/ 2147483647 w 34"/>
                <a:gd name="T23" fmla="*/ 2147483647 h 21"/>
                <a:gd name="T24" fmla="*/ 2147483647 w 34"/>
                <a:gd name="T25" fmla="*/ 2147483647 h 21"/>
                <a:gd name="T26" fmla="*/ 2147483647 w 34"/>
                <a:gd name="T27" fmla="*/ 0 h 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4" h="21">
                  <a:moveTo>
                    <a:pt x="30" y="0"/>
                  </a:moveTo>
                  <a:cubicBezTo>
                    <a:pt x="25" y="2"/>
                    <a:pt x="18" y="3"/>
                    <a:pt x="18" y="4"/>
                  </a:cubicBezTo>
                  <a:cubicBezTo>
                    <a:pt x="16" y="5"/>
                    <a:pt x="14" y="7"/>
                    <a:pt x="14" y="7"/>
                  </a:cubicBezTo>
                  <a:cubicBezTo>
                    <a:pt x="3" y="7"/>
                    <a:pt x="3" y="7"/>
                    <a:pt x="3" y="7"/>
                  </a:cubicBezTo>
                  <a:cubicBezTo>
                    <a:pt x="0" y="8"/>
                    <a:pt x="0" y="8"/>
                    <a:pt x="0" y="8"/>
                  </a:cubicBezTo>
                  <a:cubicBezTo>
                    <a:pt x="1" y="12"/>
                    <a:pt x="1" y="12"/>
                    <a:pt x="1" y="12"/>
                  </a:cubicBezTo>
                  <a:cubicBezTo>
                    <a:pt x="5" y="21"/>
                    <a:pt x="5" y="21"/>
                    <a:pt x="5" y="21"/>
                  </a:cubicBezTo>
                  <a:cubicBezTo>
                    <a:pt x="12" y="19"/>
                    <a:pt x="12" y="19"/>
                    <a:pt x="12" y="19"/>
                  </a:cubicBezTo>
                  <a:cubicBezTo>
                    <a:pt x="15" y="19"/>
                    <a:pt x="15" y="19"/>
                    <a:pt x="15" y="19"/>
                  </a:cubicBezTo>
                  <a:cubicBezTo>
                    <a:pt x="19" y="15"/>
                    <a:pt x="19" y="15"/>
                    <a:pt x="19" y="15"/>
                  </a:cubicBezTo>
                  <a:cubicBezTo>
                    <a:pt x="25" y="13"/>
                    <a:pt x="25" y="13"/>
                    <a:pt x="25" y="13"/>
                  </a:cubicBezTo>
                  <a:cubicBezTo>
                    <a:pt x="34" y="10"/>
                    <a:pt x="34" y="10"/>
                    <a:pt x="34" y="10"/>
                  </a:cubicBezTo>
                  <a:cubicBezTo>
                    <a:pt x="31" y="3"/>
                    <a:pt x="31" y="3"/>
                    <a:pt x="31" y="3"/>
                  </a:cubicBezTo>
                  <a:lnTo>
                    <a:pt x="30"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56" name="Freeform 53">
              <a:extLst>
                <a:ext uri="{FF2B5EF4-FFF2-40B4-BE49-F238E27FC236}">
                  <a16:creationId xmlns:a16="http://schemas.microsoft.com/office/drawing/2014/main" id="{B0F41A2B-3C06-224D-8DBB-D670EB99B84E}"/>
                </a:ext>
              </a:extLst>
            </p:cNvPr>
            <p:cNvSpPr>
              <a:spLocks/>
            </p:cNvSpPr>
            <p:nvPr/>
          </p:nvSpPr>
          <p:spPr bwMode="auto">
            <a:xfrm>
              <a:off x="6444383" y="3514526"/>
              <a:ext cx="589534" cy="504216"/>
            </a:xfrm>
            <a:custGeom>
              <a:avLst/>
              <a:gdLst>
                <a:gd name="T0" fmla="*/ 2147483647 w 63"/>
                <a:gd name="T1" fmla="*/ 2147483647 h 54"/>
                <a:gd name="T2" fmla="*/ 2147483647 w 63"/>
                <a:gd name="T3" fmla="*/ 2147483647 h 54"/>
                <a:gd name="T4" fmla="*/ 2147483647 w 63"/>
                <a:gd name="T5" fmla="*/ 2147483647 h 54"/>
                <a:gd name="T6" fmla="*/ 2147483647 w 63"/>
                <a:gd name="T7" fmla="*/ 2147483647 h 54"/>
                <a:gd name="T8" fmla="*/ 2147483647 w 63"/>
                <a:gd name="T9" fmla="*/ 2147483647 h 54"/>
                <a:gd name="T10" fmla="*/ 2147483647 w 63"/>
                <a:gd name="T11" fmla="*/ 2147483647 h 54"/>
                <a:gd name="T12" fmla="*/ 2147483647 w 63"/>
                <a:gd name="T13" fmla="*/ 2147483647 h 54"/>
                <a:gd name="T14" fmla="*/ 2147483647 w 63"/>
                <a:gd name="T15" fmla="*/ 2147483647 h 54"/>
                <a:gd name="T16" fmla="*/ 2147483647 w 63"/>
                <a:gd name="T17" fmla="*/ 2147483647 h 54"/>
                <a:gd name="T18" fmla="*/ 2147483647 w 63"/>
                <a:gd name="T19" fmla="*/ 2147483647 h 54"/>
                <a:gd name="T20" fmla="*/ 2147483647 w 63"/>
                <a:gd name="T21" fmla="*/ 2147483647 h 54"/>
                <a:gd name="T22" fmla="*/ 2147483647 w 63"/>
                <a:gd name="T23" fmla="*/ 2147483647 h 54"/>
                <a:gd name="T24" fmla="*/ 2147483647 w 63"/>
                <a:gd name="T25" fmla="*/ 2147483647 h 54"/>
                <a:gd name="T26" fmla="*/ 2147483647 w 63"/>
                <a:gd name="T27" fmla="*/ 2147483647 h 54"/>
                <a:gd name="T28" fmla="*/ 2147483647 w 63"/>
                <a:gd name="T29" fmla="*/ 0 h 54"/>
                <a:gd name="T30" fmla="*/ 2147483647 w 63"/>
                <a:gd name="T31" fmla="*/ 0 h 54"/>
                <a:gd name="T32" fmla="*/ 2147483647 w 63"/>
                <a:gd name="T33" fmla="*/ 2147483647 h 54"/>
                <a:gd name="T34" fmla="*/ 2147483647 w 63"/>
                <a:gd name="T35" fmla="*/ 2147483647 h 54"/>
                <a:gd name="T36" fmla="*/ 2147483647 w 63"/>
                <a:gd name="T37" fmla="*/ 2147483647 h 54"/>
                <a:gd name="T38" fmla="*/ 2147483647 w 63"/>
                <a:gd name="T39" fmla="*/ 2147483647 h 54"/>
                <a:gd name="T40" fmla="*/ 2147483647 w 63"/>
                <a:gd name="T41" fmla="*/ 2147483647 h 54"/>
                <a:gd name="T42" fmla="*/ 2147483647 w 63"/>
                <a:gd name="T43" fmla="*/ 2147483647 h 54"/>
                <a:gd name="T44" fmla="*/ 0 w 63"/>
                <a:gd name="T45" fmla="*/ 2147483647 h 54"/>
                <a:gd name="T46" fmla="*/ 2147483647 w 63"/>
                <a:gd name="T47" fmla="*/ 2147483647 h 54"/>
                <a:gd name="T48" fmla="*/ 2147483647 w 63"/>
                <a:gd name="T49" fmla="*/ 2147483647 h 54"/>
                <a:gd name="T50" fmla="*/ 2147483647 w 63"/>
                <a:gd name="T51" fmla="*/ 2147483647 h 54"/>
                <a:gd name="T52" fmla="*/ 2147483647 w 63"/>
                <a:gd name="T53" fmla="*/ 2147483647 h 54"/>
                <a:gd name="T54" fmla="*/ 2147483647 w 63"/>
                <a:gd name="T55" fmla="*/ 2147483647 h 54"/>
                <a:gd name="T56" fmla="*/ 2147483647 w 63"/>
                <a:gd name="T57" fmla="*/ 2147483647 h 54"/>
                <a:gd name="T58" fmla="*/ 2147483647 w 63"/>
                <a:gd name="T59" fmla="*/ 2147483647 h 54"/>
                <a:gd name="T60" fmla="*/ 2147483647 w 63"/>
                <a:gd name="T61" fmla="*/ 2147483647 h 54"/>
                <a:gd name="T62" fmla="*/ 2147483647 w 63"/>
                <a:gd name="T63" fmla="*/ 2147483647 h 54"/>
                <a:gd name="T64" fmla="*/ 2147483647 w 63"/>
                <a:gd name="T65" fmla="*/ 2147483647 h 54"/>
                <a:gd name="T66" fmla="*/ 2147483647 w 63"/>
                <a:gd name="T67" fmla="*/ 2147483647 h 5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63" h="54">
                  <a:moveTo>
                    <a:pt x="63" y="34"/>
                  </a:moveTo>
                  <a:cubicBezTo>
                    <a:pt x="55" y="32"/>
                    <a:pt x="55" y="32"/>
                    <a:pt x="55" y="32"/>
                  </a:cubicBezTo>
                  <a:cubicBezTo>
                    <a:pt x="52" y="28"/>
                    <a:pt x="52" y="28"/>
                    <a:pt x="52" y="28"/>
                  </a:cubicBezTo>
                  <a:cubicBezTo>
                    <a:pt x="53" y="25"/>
                    <a:pt x="53" y="25"/>
                    <a:pt x="53" y="25"/>
                  </a:cubicBezTo>
                  <a:cubicBezTo>
                    <a:pt x="52" y="25"/>
                    <a:pt x="52" y="25"/>
                    <a:pt x="52" y="25"/>
                  </a:cubicBezTo>
                  <a:cubicBezTo>
                    <a:pt x="48" y="23"/>
                    <a:pt x="48" y="23"/>
                    <a:pt x="48" y="23"/>
                  </a:cubicBezTo>
                  <a:cubicBezTo>
                    <a:pt x="46" y="17"/>
                    <a:pt x="46" y="17"/>
                    <a:pt x="46" y="17"/>
                  </a:cubicBezTo>
                  <a:cubicBezTo>
                    <a:pt x="42" y="13"/>
                    <a:pt x="42" y="13"/>
                    <a:pt x="42" y="13"/>
                  </a:cubicBezTo>
                  <a:cubicBezTo>
                    <a:pt x="42" y="12"/>
                    <a:pt x="42" y="12"/>
                    <a:pt x="42" y="12"/>
                  </a:cubicBezTo>
                  <a:cubicBezTo>
                    <a:pt x="39" y="12"/>
                    <a:pt x="39" y="12"/>
                    <a:pt x="39" y="12"/>
                  </a:cubicBezTo>
                  <a:cubicBezTo>
                    <a:pt x="36" y="10"/>
                    <a:pt x="36" y="10"/>
                    <a:pt x="36" y="10"/>
                  </a:cubicBezTo>
                  <a:cubicBezTo>
                    <a:pt x="28" y="9"/>
                    <a:pt x="28" y="9"/>
                    <a:pt x="28" y="9"/>
                  </a:cubicBezTo>
                  <a:cubicBezTo>
                    <a:pt x="25" y="6"/>
                    <a:pt x="25" y="6"/>
                    <a:pt x="25" y="6"/>
                  </a:cubicBezTo>
                  <a:cubicBezTo>
                    <a:pt x="15" y="1"/>
                    <a:pt x="15" y="1"/>
                    <a:pt x="15" y="1"/>
                  </a:cubicBezTo>
                  <a:cubicBezTo>
                    <a:pt x="11" y="0"/>
                    <a:pt x="11" y="0"/>
                    <a:pt x="11" y="0"/>
                  </a:cubicBezTo>
                  <a:cubicBezTo>
                    <a:pt x="12" y="0"/>
                    <a:pt x="12" y="0"/>
                    <a:pt x="12" y="0"/>
                  </a:cubicBezTo>
                  <a:cubicBezTo>
                    <a:pt x="10" y="1"/>
                    <a:pt x="10" y="1"/>
                    <a:pt x="10" y="1"/>
                  </a:cubicBezTo>
                  <a:cubicBezTo>
                    <a:pt x="6" y="2"/>
                    <a:pt x="6" y="2"/>
                    <a:pt x="6" y="2"/>
                  </a:cubicBezTo>
                  <a:cubicBezTo>
                    <a:pt x="8" y="7"/>
                    <a:pt x="8" y="7"/>
                    <a:pt x="8" y="7"/>
                  </a:cubicBezTo>
                  <a:cubicBezTo>
                    <a:pt x="7" y="9"/>
                    <a:pt x="7" y="9"/>
                    <a:pt x="7" y="9"/>
                  </a:cubicBezTo>
                  <a:cubicBezTo>
                    <a:pt x="4" y="9"/>
                    <a:pt x="4" y="9"/>
                    <a:pt x="4" y="9"/>
                  </a:cubicBezTo>
                  <a:cubicBezTo>
                    <a:pt x="2" y="11"/>
                    <a:pt x="2" y="11"/>
                    <a:pt x="2" y="11"/>
                  </a:cubicBezTo>
                  <a:cubicBezTo>
                    <a:pt x="0" y="11"/>
                    <a:pt x="0" y="11"/>
                    <a:pt x="0" y="11"/>
                  </a:cubicBezTo>
                  <a:cubicBezTo>
                    <a:pt x="2" y="15"/>
                    <a:pt x="2" y="15"/>
                    <a:pt x="2" y="15"/>
                  </a:cubicBezTo>
                  <a:cubicBezTo>
                    <a:pt x="9" y="29"/>
                    <a:pt x="9" y="29"/>
                    <a:pt x="9" y="29"/>
                  </a:cubicBezTo>
                  <a:cubicBezTo>
                    <a:pt x="13" y="33"/>
                    <a:pt x="13" y="33"/>
                    <a:pt x="13" y="33"/>
                  </a:cubicBezTo>
                  <a:cubicBezTo>
                    <a:pt x="15" y="39"/>
                    <a:pt x="15" y="39"/>
                    <a:pt x="15" y="39"/>
                  </a:cubicBezTo>
                  <a:cubicBezTo>
                    <a:pt x="17" y="46"/>
                    <a:pt x="17" y="46"/>
                    <a:pt x="17" y="46"/>
                  </a:cubicBezTo>
                  <a:cubicBezTo>
                    <a:pt x="24" y="53"/>
                    <a:pt x="24" y="53"/>
                    <a:pt x="24" y="53"/>
                  </a:cubicBezTo>
                  <a:cubicBezTo>
                    <a:pt x="24" y="54"/>
                    <a:pt x="24" y="54"/>
                    <a:pt x="24" y="54"/>
                  </a:cubicBezTo>
                  <a:cubicBezTo>
                    <a:pt x="27" y="53"/>
                    <a:pt x="27" y="53"/>
                    <a:pt x="27" y="53"/>
                  </a:cubicBezTo>
                  <a:cubicBezTo>
                    <a:pt x="38" y="53"/>
                    <a:pt x="38" y="53"/>
                    <a:pt x="38" y="53"/>
                  </a:cubicBezTo>
                  <a:cubicBezTo>
                    <a:pt x="38" y="53"/>
                    <a:pt x="40" y="51"/>
                    <a:pt x="42" y="50"/>
                  </a:cubicBezTo>
                  <a:cubicBezTo>
                    <a:pt x="42" y="49"/>
                    <a:pt x="49" y="48"/>
                    <a:pt x="54" y="46"/>
                  </a:cubicBezTo>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57" name="Freeform 54">
              <a:extLst>
                <a:ext uri="{FF2B5EF4-FFF2-40B4-BE49-F238E27FC236}">
                  <a16:creationId xmlns:a16="http://schemas.microsoft.com/office/drawing/2014/main" id="{F4378E5E-C430-5CA4-4B6C-2AE559CF95DA}"/>
                </a:ext>
              </a:extLst>
            </p:cNvPr>
            <p:cNvSpPr>
              <a:spLocks/>
            </p:cNvSpPr>
            <p:nvPr/>
          </p:nvSpPr>
          <p:spPr bwMode="auto">
            <a:xfrm>
              <a:off x="6950242" y="3832978"/>
              <a:ext cx="93185" cy="109942"/>
            </a:xfrm>
            <a:custGeom>
              <a:avLst/>
              <a:gdLst>
                <a:gd name="T0" fmla="*/ 0 w 10"/>
                <a:gd name="T1" fmla="*/ 2147483647 h 12"/>
                <a:gd name="T2" fmla="*/ 2147483647 w 10"/>
                <a:gd name="T3" fmla="*/ 2147483647 h 12"/>
                <a:gd name="T4" fmla="*/ 2147483647 w 10"/>
                <a:gd name="T5" fmla="*/ 2147483647 h 12"/>
                <a:gd name="T6" fmla="*/ 2147483647 w 10"/>
                <a:gd name="T7" fmla="*/ 0 h 12"/>
                <a:gd name="T8" fmla="*/ 2147483647 w 10"/>
                <a:gd name="T9" fmla="*/ 0 h 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2">
                  <a:moveTo>
                    <a:pt x="0" y="12"/>
                  </a:moveTo>
                  <a:cubicBezTo>
                    <a:pt x="3" y="12"/>
                    <a:pt x="4" y="11"/>
                    <a:pt x="4" y="11"/>
                  </a:cubicBezTo>
                  <a:cubicBezTo>
                    <a:pt x="9" y="7"/>
                    <a:pt x="9" y="7"/>
                    <a:pt x="9" y="7"/>
                  </a:cubicBezTo>
                  <a:cubicBezTo>
                    <a:pt x="10" y="0"/>
                    <a:pt x="10" y="0"/>
                    <a:pt x="10" y="0"/>
                  </a:cubicBezTo>
                  <a:cubicBezTo>
                    <a:pt x="9" y="0"/>
                    <a:pt x="9" y="0"/>
                    <a:pt x="9" y="0"/>
                  </a:cubicBezTo>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58" name="Freeform 55">
              <a:extLst>
                <a:ext uri="{FF2B5EF4-FFF2-40B4-BE49-F238E27FC236}">
                  <a16:creationId xmlns:a16="http://schemas.microsoft.com/office/drawing/2014/main" id="{285F6AFA-14C8-C0C5-37AD-A5B86EB407E1}"/>
                </a:ext>
              </a:extLst>
            </p:cNvPr>
            <p:cNvSpPr>
              <a:spLocks/>
            </p:cNvSpPr>
            <p:nvPr/>
          </p:nvSpPr>
          <p:spPr bwMode="auto">
            <a:xfrm>
              <a:off x="6545175" y="3328762"/>
              <a:ext cx="298570" cy="299497"/>
            </a:xfrm>
            <a:custGeom>
              <a:avLst/>
              <a:gdLst>
                <a:gd name="T0" fmla="*/ 2147483647 w 192"/>
                <a:gd name="T1" fmla="*/ 2147483647 h 192"/>
                <a:gd name="T2" fmla="*/ 2147483647 w 192"/>
                <a:gd name="T3" fmla="*/ 2147483647 h 192"/>
                <a:gd name="T4" fmla="*/ 2147483647 w 192"/>
                <a:gd name="T5" fmla="*/ 2147483647 h 192"/>
                <a:gd name="T6" fmla="*/ 2147483647 w 192"/>
                <a:gd name="T7" fmla="*/ 2147483647 h 192"/>
                <a:gd name="T8" fmla="*/ 2147483647 w 192"/>
                <a:gd name="T9" fmla="*/ 2147483647 h 192"/>
                <a:gd name="T10" fmla="*/ 2147483647 w 192"/>
                <a:gd name="T11" fmla="*/ 0 h 192"/>
                <a:gd name="T12" fmla="*/ 2147483647 w 192"/>
                <a:gd name="T13" fmla="*/ 2147483647 h 192"/>
                <a:gd name="T14" fmla="*/ 2147483647 w 192"/>
                <a:gd name="T15" fmla="*/ 2147483647 h 192"/>
                <a:gd name="T16" fmla="*/ 2147483647 w 192"/>
                <a:gd name="T17" fmla="*/ 2147483647 h 192"/>
                <a:gd name="T18" fmla="*/ 2147483647 w 192"/>
                <a:gd name="T19" fmla="*/ 2147483647 h 192"/>
                <a:gd name="T20" fmla="*/ 2147483647 w 192"/>
                <a:gd name="T21" fmla="*/ 2147483647 h 192"/>
                <a:gd name="T22" fmla="*/ 0 w 192"/>
                <a:gd name="T23" fmla="*/ 2147483647 h 192"/>
                <a:gd name="T24" fmla="*/ 0 w 192"/>
                <a:gd name="T25" fmla="*/ 2147483647 h 192"/>
                <a:gd name="T26" fmla="*/ 2147483647 w 192"/>
                <a:gd name="T27" fmla="*/ 2147483647 h 192"/>
                <a:gd name="T28" fmla="*/ 2147483647 w 192"/>
                <a:gd name="T29" fmla="*/ 2147483647 h 192"/>
                <a:gd name="T30" fmla="*/ 2147483647 w 192"/>
                <a:gd name="T31" fmla="*/ 2147483647 h 192"/>
                <a:gd name="T32" fmla="*/ 2147483647 w 192"/>
                <a:gd name="T33" fmla="*/ 2147483647 h 192"/>
                <a:gd name="T34" fmla="*/ 2147483647 w 192"/>
                <a:gd name="T35" fmla="*/ 2147483647 h 192"/>
                <a:gd name="T36" fmla="*/ 2147483647 w 192"/>
                <a:gd name="T37" fmla="*/ 2147483647 h 192"/>
                <a:gd name="T38" fmla="*/ 2147483647 w 192"/>
                <a:gd name="T39" fmla="*/ 2147483647 h 192"/>
                <a:gd name="T40" fmla="*/ 2147483647 w 192"/>
                <a:gd name="T41" fmla="*/ 2147483647 h 192"/>
                <a:gd name="T42" fmla="*/ 2147483647 w 192"/>
                <a:gd name="T43" fmla="*/ 2147483647 h 192"/>
                <a:gd name="T44" fmla="*/ 2147483647 w 192"/>
                <a:gd name="T45" fmla="*/ 2147483647 h 19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92" h="192">
                  <a:moveTo>
                    <a:pt x="168" y="120"/>
                  </a:moveTo>
                  <a:lnTo>
                    <a:pt x="132" y="90"/>
                  </a:lnTo>
                  <a:lnTo>
                    <a:pt x="132" y="66"/>
                  </a:lnTo>
                  <a:lnTo>
                    <a:pt x="138" y="42"/>
                  </a:lnTo>
                  <a:lnTo>
                    <a:pt x="114" y="6"/>
                  </a:lnTo>
                  <a:lnTo>
                    <a:pt x="102" y="0"/>
                  </a:lnTo>
                  <a:lnTo>
                    <a:pt x="72" y="6"/>
                  </a:lnTo>
                  <a:lnTo>
                    <a:pt x="66" y="6"/>
                  </a:lnTo>
                  <a:lnTo>
                    <a:pt x="66" y="12"/>
                  </a:lnTo>
                  <a:lnTo>
                    <a:pt x="54" y="30"/>
                  </a:lnTo>
                  <a:lnTo>
                    <a:pt x="42" y="72"/>
                  </a:lnTo>
                  <a:lnTo>
                    <a:pt x="0" y="96"/>
                  </a:lnTo>
                  <a:lnTo>
                    <a:pt x="0" y="120"/>
                  </a:lnTo>
                  <a:lnTo>
                    <a:pt x="24" y="126"/>
                  </a:lnTo>
                  <a:lnTo>
                    <a:pt x="84" y="156"/>
                  </a:lnTo>
                  <a:lnTo>
                    <a:pt x="102" y="174"/>
                  </a:lnTo>
                  <a:lnTo>
                    <a:pt x="150" y="180"/>
                  </a:lnTo>
                  <a:lnTo>
                    <a:pt x="168" y="192"/>
                  </a:lnTo>
                  <a:lnTo>
                    <a:pt x="186" y="192"/>
                  </a:lnTo>
                  <a:lnTo>
                    <a:pt x="180" y="180"/>
                  </a:lnTo>
                  <a:lnTo>
                    <a:pt x="192" y="174"/>
                  </a:lnTo>
                  <a:lnTo>
                    <a:pt x="180" y="150"/>
                  </a:lnTo>
                  <a:lnTo>
                    <a:pt x="168" y="12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59" name="Freeform 56">
              <a:extLst>
                <a:ext uri="{FF2B5EF4-FFF2-40B4-BE49-F238E27FC236}">
                  <a16:creationId xmlns:a16="http://schemas.microsoft.com/office/drawing/2014/main" id="{2545725F-5E5B-E0D1-9A33-2D438C5EDF31}"/>
                </a:ext>
              </a:extLst>
            </p:cNvPr>
            <p:cNvSpPr>
              <a:spLocks/>
            </p:cNvSpPr>
            <p:nvPr/>
          </p:nvSpPr>
          <p:spPr bwMode="auto">
            <a:xfrm>
              <a:off x="6716330" y="3247254"/>
              <a:ext cx="562910" cy="509902"/>
            </a:xfrm>
            <a:custGeom>
              <a:avLst/>
              <a:gdLst>
                <a:gd name="T0" fmla="*/ 2147483647 w 60"/>
                <a:gd name="T1" fmla="*/ 2147483647 h 55"/>
                <a:gd name="T2" fmla="*/ 2147483647 w 60"/>
                <a:gd name="T3" fmla="*/ 2147483647 h 55"/>
                <a:gd name="T4" fmla="*/ 2147483647 w 60"/>
                <a:gd name="T5" fmla="*/ 2147483647 h 55"/>
                <a:gd name="T6" fmla="*/ 2147483647 w 60"/>
                <a:gd name="T7" fmla="*/ 2147483647 h 55"/>
                <a:gd name="T8" fmla="*/ 2147483647 w 60"/>
                <a:gd name="T9" fmla="*/ 2147483647 h 55"/>
                <a:gd name="T10" fmla="*/ 2147483647 w 60"/>
                <a:gd name="T11" fmla="*/ 2147483647 h 55"/>
                <a:gd name="T12" fmla="*/ 2147483647 w 60"/>
                <a:gd name="T13" fmla="*/ 2147483647 h 55"/>
                <a:gd name="T14" fmla="*/ 2147483647 w 60"/>
                <a:gd name="T15" fmla="*/ 2147483647 h 55"/>
                <a:gd name="T16" fmla="*/ 2147483647 w 60"/>
                <a:gd name="T17" fmla="*/ 2147483647 h 55"/>
                <a:gd name="T18" fmla="*/ 2147483647 w 60"/>
                <a:gd name="T19" fmla="*/ 2147483647 h 55"/>
                <a:gd name="T20" fmla="*/ 2147483647 w 60"/>
                <a:gd name="T21" fmla="*/ 2147483647 h 55"/>
                <a:gd name="T22" fmla="*/ 2147483647 w 60"/>
                <a:gd name="T23" fmla="*/ 2147483647 h 55"/>
                <a:gd name="T24" fmla="*/ 2147483647 w 60"/>
                <a:gd name="T25" fmla="*/ 2147483647 h 55"/>
                <a:gd name="T26" fmla="*/ 2147483647 w 60"/>
                <a:gd name="T27" fmla="*/ 2147483647 h 55"/>
                <a:gd name="T28" fmla="*/ 2147483647 w 60"/>
                <a:gd name="T29" fmla="*/ 2147483647 h 55"/>
                <a:gd name="T30" fmla="*/ 2147483647 w 60"/>
                <a:gd name="T31" fmla="*/ 2147483647 h 55"/>
                <a:gd name="T32" fmla="*/ 2147483647 w 60"/>
                <a:gd name="T33" fmla="*/ 2147483647 h 55"/>
                <a:gd name="T34" fmla="*/ 2147483647 w 60"/>
                <a:gd name="T35" fmla="*/ 2147483647 h 55"/>
                <a:gd name="T36" fmla="*/ 2147483647 w 60"/>
                <a:gd name="T37" fmla="*/ 2147483647 h 55"/>
                <a:gd name="T38" fmla="*/ 2147483647 w 60"/>
                <a:gd name="T39" fmla="*/ 2147483647 h 55"/>
                <a:gd name="T40" fmla="*/ 2147483647 w 60"/>
                <a:gd name="T41" fmla="*/ 0 h 55"/>
                <a:gd name="T42" fmla="*/ 2147483647 w 60"/>
                <a:gd name="T43" fmla="*/ 2147483647 h 55"/>
                <a:gd name="T44" fmla="*/ 2147483647 w 60"/>
                <a:gd name="T45" fmla="*/ 2147483647 h 55"/>
                <a:gd name="T46" fmla="*/ 0 w 60"/>
                <a:gd name="T47" fmla="*/ 0 h 55"/>
                <a:gd name="T48" fmla="*/ 0 w 60"/>
                <a:gd name="T49" fmla="*/ 0 h 55"/>
                <a:gd name="T50" fmla="*/ 0 w 60"/>
                <a:gd name="T51" fmla="*/ 2147483647 h 55"/>
                <a:gd name="T52" fmla="*/ 2147483647 w 60"/>
                <a:gd name="T53" fmla="*/ 2147483647 h 55"/>
                <a:gd name="T54" fmla="*/ 2147483647 w 60"/>
                <a:gd name="T55" fmla="*/ 2147483647 h 55"/>
                <a:gd name="T56" fmla="*/ 2147483647 w 60"/>
                <a:gd name="T57" fmla="*/ 2147483647 h 55"/>
                <a:gd name="T58" fmla="*/ 2147483647 w 60"/>
                <a:gd name="T59" fmla="*/ 2147483647 h 55"/>
                <a:gd name="T60" fmla="*/ 2147483647 w 60"/>
                <a:gd name="T61" fmla="*/ 2147483647 h 55"/>
                <a:gd name="T62" fmla="*/ 2147483647 w 60"/>
                <a:gd name="T63" fmla="*/ 2147483647 h 55"/>
                <a:gd name="T64" fmla="*/ 2147483647 w 60"/>
                <a:gd name="T65" fmla="*/ 2147483647 h 55"/>
                <a:gd name="T66" fmla="*/ 2147483647 w 60"/>
                <a:gd name="T67" fmla="*/ 2147483647 h 55"/>
                <a:gd name="T68" fmla="*/ 2147483647 w 60"/>
                <a:gd name="T69" fmla="*/ 2147483647 h 55"/>
                <a:gd name="T70" fmla="*/ 2147483647 w 60"/>
                <a:gd name="T71" fmla="*/ 2147483647 h 55"/>
                <a:gd name="T72" fmla="*/ 2147483647 w 60"/>
                <a:gd name="T73" fmla="*/ 2147483647 h 55"/>
                <a:gd name="T74" fmla="*/ 2147483647 w 60"/>
                <a:gd name="T75" fmla="*/ 2147483647 h 55"/>
                <a:gd name="T76" fmla="*/ 2147483647 w 60"/>
                <a:gd name="T77" fmla="*/ 2147483647 h 55"/>
                <a:gd name="T78" fmla="*/ 2147483647 w 60"/>
                <a:gd name="T79" fmla="*/ 2147483647 h 55"/>
                <a:gd name="T80" fmla="*/ 2147483647 w 60"/>
                <a:gd name="T81" fmla="*/ 2147483647 h 55"/>
                <a:gd name="T82" fmla="*/ 2147483647 w 60"/>
                <a:gd name="T83" fmla="*/ 2147483647 h 55"/>
                <a:gd name="T84" fmla="*/ 2147483647 w 60"/>
                <a:gd name="T85" fmla="*/ 2147483647 h 55"/>
                <a:gd name="T86" fmla="*/ 2147483647 w 60"/>
                <a:gd name="T87" fmla="*/ 2147483647 h 55"/>
                <a:gd name="T88" fmla="*/ 2147483647 w 60"/>
                <a:gd name="T89" fmla="*/ 2147483647 h 55"/>
                <a:gd name="T90" fmla="*/ 2147483647 w 60"/>
                <a:gd name="T91" fmla="*/ 2147483647 h 55"/>
                <a:gd name="T92" fmla="*/ 2147483647 w 60"/>
                <a:gd name="T93" fmla="*/ 2147483647 h 55"/>
                <a:gd name="T94" fmla="*/ 2147483647 w 60"/>
                <a:gd name="T95" fmla="*/ 2147483647 h 55"/>
                <a:gd name="T96" fmla="*/ 2147483647 w 60"/>
                <a:gd name="T97" fmla="*/ 2147483647 h 5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60" h="55">
                  <a:moveTo>
                    <a:pt x="53" y="38"/>
                  </a:moveTo>
                  <a:cubicBezTo>
                    <a:pt x="53" y="38"/>
                    <a:pt x="53" y="38"/>
                    <a:pt x="53" y="38"/>
                  </a:cubicBezTo>
                  <a:cubicBezTo>
                    <a:pt x="55" y="32"/>
                    <a:pt x="55" y="32"/>
                    <a:pt x="55" y="32"/>
                  </a:cubicBezTo>
                  <a:cubicBezTo>
                    <a:pt x="51" y="30"/>
                    <a:pt x="51" y="30"/>
                    <a:pt x="51" y="30"/>
                  </a:cubicBezTo>
                  <a:cubicBezTo>
                    <a:pt x="51" y="25"/>
                    <a:pt x="51" y="25"/>
                    <a:pt x="51" y="25"/>
                  </a:cubicBezTo>
                  <a:cubicBezTo>
                    <a:pt x="52" y="21"/>
                    <a:pt x="52" y="21"/>
                    <a:pt x="52" y="21"/>
                  </a:cubicBezTo>
                  <a:cubicBezTo>
                    <a:pt x="53" y="12"/>
                    <a:pt x="53" y="12"/>
                    <a:pt x="53" y="12"/>
                  </a:cubicBezTo>
                  <a:cubicBezTo>
                    <a:pt x="49" y="11"/>
                    <a:pt x="49" y="11"/>
                    <a:pt x="49" y="11"/>
                  </a:cubicBezTo>
                  <a:cubicBezTo>
                    <a:pt x="45" y="8"/>
                    <a:pt x="45" y="8"/>
                    <a:pt x="45" y="8"/>
                  </a:cubicBezTo>
                  <a:cubicBezTo>
                    <a:pt x="40" y="5"/>
                    <a:pt x="40" y="5"/>
                    <a:pt x="40" y="5"/>
                  </a:cubicBezTo>
                  <a:cubicBezTo>
                    <a:pt x="36" y="6"/>
                    <a:pt x="36" y="6"/>
                    <a:pt x="36" y="6"/>
                  </a:cubicBezTo>
                  <a:cubicBezTo>
                    <a:pt x="31" y="8"/>
                    <a:pt x="31" y="8"/>
                    <a:pt x="31" y="8"/>
                  </a:cubicBezTo>
                  <a:cubicBezTo>
                    <a:pt x="30" y="10"/>
                    <a:pt x="30" y="10"/>
                    <a:pt x="30" y="10"/>
                  </a:cubicBezTo>
                  <a:cubicBezTo>
                    <a:pt x="26" y="11"/>
                    <a:pt x="26" y="11"/>
                    <a:pt x="26" y="11"/>
                  </a:cubicBezTo>
                  <a:cubicBezTo>
                    <a:pt x="22" y="11"/>
                    <a:pt x="22" y="11"/>
                    <a:pt x="22" y="11"/>
                  </a:cubicBezTo>
                  <a:cubicBezTo>
                    <a:pt x="19" y="9"/>
                    <a:pt x="19" y="9"/>
                    <a:pt x="19" y="9"/>
                  </a:cubicBezTo>
                  <a:cubicBezTo>
                    <a:pt x="15" y="9"/>
                    <a:pt x="15" y="9"/>
                    <a:pt x="15" y="9"/>
                  </a:cubicBezTo>
                  <a:cubicBezTo>
                    <a:pt x="15" y="6"/>
                    <a:pt x="15" y="6"/>
                    <a:pt x="15" y="6"/>
                  </a:cubicBezTo>
                  <a:cubicBezTo>
                    <a:pt x="12" y="4"/>
                    <a:pt x="12" y="4"/>
                    <a:pt x="12" y="4"/>
                  </a:cubicBezTo>
                  <a:cubicBezTo>
                    <a:pt x="12" y="2"/>
                    <a:pt x="12" y="2"/>
                    <a:pt x="12" y="2"/>
                  </a:cubicBezTo>
                  <a:cubicBezTo>
                    <a:pt x="10" y="0"/>
                    <a:pt x="10" y="0"/>
                    <a:pt x="10" y="0"/>
                  </a:cubicBezTo>
                  <a:cubicBezTo>
                    <a:pt x="6" y="3"/>
                    <a:pt x="6" y="3"/>
                    <a:pt x="6" y="3"/>
                  </a:cubicBezTo>
                  <a:cubicBezTo>
                    <a:pt x="3" y="2"/>
                    <a:pt x="3" y="2"/>
                    <a:pt x="3" y="2"/>
                  </a:cubicBezTo>
                  <a:cubicBezTo>
                    <a:pt x="0" y="0"/>
                    <a:pt x="0" y="0"/>
                    <a:pt x="0" y="0"/>
                  </a:cubicBezTo>
                  <a:cubicBezTo>
                    <a:pt x="0" y="0"/>
                    <a:pt x="0" y="0"/>
                    <a:pt x="0" y="0"/>
                  </a:cubicBezTo>
                  <a:cubicBezTo>
                    <a:pt x="0" y="0"/>
                    <a:pt x="0" y="6"/>
                    <a:pt x="0" y="7"/>
                  </a:cubicBezTo>
                  <a:cubicBezTo>
                    <a:pt x="0" y="7"/>
                    <a:pt x="1" y="10"/>
                    <a:pt x="1" y="10"/>
                  </a:cubicBezTo>
                  <a:cubicBezTo>
                    <a:pt x="1" y="10"/>
                    <a:pt x="1" y="10"/>
                    <a:pt x="1" y="10"/>
                  </a:cubicBezTo>
                  <a:cubicBezTo>
                    <a:pt x="5" y="16"/>
                    <a:pt x="5" y="16"/>
                    <a:pt x="5" y="16"/>
                  </a:cubicBezTo>
                  <a:cubicBezTo>
                    <a:pt x="4" y="20"/>
                    <a:pt x="4" y="20"/>
                    <a:pt x="4" y="20"/>
                  </a:cubicBezTo>
                  <a:cubicBezTo>
                    <a:pt x="4" y="24"/>
                    <a:pt x="4" y="24"/>
                    <a:pt x="4" y="24"/>
                  </a:cubicBezTo>
                  <a:cubicBezTo>
                    <a:pt x="10" y="29"/>
                    <a:pt x="10" y="29"/>
                    <a:pt x="10" y="29"/>
                  </a:cubicBezTo>
                  <a:cubicBezTo>
                    <a:pt x="12" y="34"/>
                    <a:pt x="12" y="34"/>
                    <a:pt x="12" y="34"/>
                  </a:cubicBezTo>
                  <a:cubicBezTo>
                    <a:pt x="14" y="38"/>
                    <a:pt x="14" y="38"/>
                    <a:pt x="14" y="38"/>
                  </a:cubicBezTo>
                  <a:cubicBezTo>
                    <a:pt x="15" y="36"/>
                    <a:pt x="15" y="36"/>
                    <a:pt x="15" y="36"/>
                  </a:cubicBezTo>
                  <a:cubicBezTo>
                    <a:pt x="19" y="39"/>
                    <a:pt x="19" y="39"/>
                    <a:pt x="19" y="39"/>
                  </a:cubicBezTo>
                  <a:cubicBezTo>
                    <a:pt x="23" y="44"/>
                    <a:pt x="23" y="44"/>
                    <a:pt x="23" y="44"/>
                  </a:cubicBezTo>
                  <a:cubicBezTo>
                    <a:pt x="28" y="48"/>
                    <a:pt x="28" y="48"/>
                    <a:pt x="28" y="48"/>
                  </a:cubicBezTo>
                  <a:cubicBezTo>
                    <a:pt x="34" y="49"/>
                    <a:pt x="34" y="49"/>
                    <a:pt x="34" y="49"/>
                  </a:cubicBezTo>
                  <a:cubicBezTo>
                    <a:pt x="39" y="48"/>
                    <a:pt x="39" y="48"/>
                    <a:pt x="39" y="48"/>
                  </a:cubicBezTo>
                  <a:cubicBezTo>
                    <a:pt x="42" y="52"/>
                    <a:pt x="42" y="52"/>
                    <a:pt x="42" y="52"/>
                  </a:cubicBezTo>
                  <a:cubicBezTo>
                    <a:pt x="53" y="55"/>
                    <a:pt x="53" y="55"/>
                    <a:pt x="53" y="55"/>
                  </a:cubicBezTo>
                  <a:cubicBezTo>
                    <a:pt x="55" y="55"/>
                    <a:pt x="55" y="55"/>
                    <a:pt x="55" y="55"/>
                  </a:cubicBezTo>
                  <a:cubicBezTo>
                    <a:pt x="55" y="51"/>
                    <a:pt x="55" y="51"/>
                    <a:pt x="55" y="51"/>
                  </a:cubicBezTo>
                  <a:cubicBezTo>
                    <a:pt x="60" y="49"/>
                    <a:pt x="60" y="49"/>
                    <a:pt x="60" y="49"/>
                  </a:cubicBezTo>
                  <a:cubicBezTo>
                    <a:pt x="59" y="46"/>
                    <a:pt x="59" y="46"/>
                    <a:pt x="59" y="46"/>
                  </a:cubicBezTo>
                  <a:cubicBezTo>
                    <a:pt x="58" y="44"/>
                    <a:pt x="58" y="44"/>
                    <a:pt x="58" y="44"/>
                  </a:cubicBezTo>
                  <a:cubicBezTo>
                    <a:pt x="54" y="40"/>
                    <a:pt x="54" y="40"/>
                    <a:pt x="54" y="40"/>
                  </a:cubicBezTo>
                  <a:cubicBezTo>
                    <a:pt x="53" y="38"/>
                    <a:pt x="53" y="38"/>
                    <a:pt x="53" y="38"/>
                  </a:cubicBezTo>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60" name="Freeform 57">
              <a:extLst>
                <a:ext uri="{FF2B5EF4-FFF2-40B4-BE49-F238E27FC236}">
                  <a16:creationId xmlns:a16="http://schemas.microsoft.com/office/drawing/2014/main" id="{06A96B56-53AD-1165-8988-8AA846F70A93}"/>
                </a:ext>
              </a:extLst>
            </p:cNvPr>
            <p:cNvSpPr>
              <a:spLocks/>
            </p:cNvSpPr>
            <p:nvPr/>
          </p:nvSpPr>
          <p:spPr bwMode="auto">
            <a:xfrm>
              <a:off x="6006987" y="2500407"/>
              <a:ext cx="190172" cy="128897"/>
            </a:xfrm>
            <a:custGeom>
              <a:avLst/>
              <a:gdLst>
                <a:gd name="T0" fmla="*/ 2147483647 w 20"/>
                <a:gd name="T1" fmla="*/ 2147483647 h 14"/>
                <a:gd name="T2" fmla="*/ 2147483647 w 20"/>
                <a:gd name="T3" fmla="*/ 2147483647 h 14"/>
                <a:gd name="T4" fmla="*/ 2147483647 w 20"/>
                <a:gd name="T5" fmla="*/ 0 h 14"/>
                <a:gd name="T6" fmla="*/ 2147483647 w 20"/>
                <a:gd name="T7" fmla="*/ 2147483647 h 14"/>
                <a:gd name="T8" fmla="*/ 2147483647 w 20"/>
                <a:gd name="T9" fmla="*/ 0 h 14"/>
                <a:gd name="T10" fmla="*/ 2147483647 w 20"/>
                <a:gd name="T11" fmla="*/ 0 h 14"/>
                <a:gd name="T12" fmla="*/ 2147483647 w 20"/>
                <a:gd name="T13" fmla="*/ 2147483647 h 14"/>
                <a:gd name="T14" fmla="*/ 2147483647 w 20"/>
                <a:gd name="T15" fmla="*/ 2147483647 h 14"/>
                <a:gd name="T16" fmla="*/ 0 w 20"/>
                <a:gd name="T17" fmla="*/ 2147483647 h 14"/>
                <a:gd name="T18" fmla="*/ 2147483647 w 20"/>
                <a:gd name="T19" fmla="*/ 2147483647 h 14"/>
                <a:gd name="T20" fmla="*/ 2147483647 w 20"/>
                <a:gd name="T21" fmla="*/ 2147483647 h 14"/>
                <a:gd name="T22" fmla="*/ 2147483647 w 20"/>
                <a:gd name="T23" fmla="*/ 2147483647 h 14"/>
                <a:gd name="T24" fmla="*/ 2147483647 w 20"/>
                <a:gd name="T25" fmla="*/ 2147483647 h 14"/>
                <a:gd name="T26" fmla="*/ 2147483647 w 20"/>
                <a:gd name="T27" fmla="*/ 2147483647 h 14"/>
                <a:gd name="T28" fmla="*/ 2147483647 w 20"/>
                <a:gd name="T29" fmla="*/ 2147483647 h 14"/>
                <a:gd name="T30" fmla="*/ 2147483647 w 20"/>
                <a:gd name="T31" fmla="*/ 2147483647 h 14"/>
                <a:gd name="T32" fmla="*/ 2147483647 w 20"/>
                <a:gd name="T33" fmla="*/ 2147483647 h 14"/>
                <a:gd name="T34" fmla="*/ 2147483647 w 20"/>
                <a:gd name="T35" fmla="*/ 2147483647 h 14"/>
                <a:gd name="T36" fmla="*/ 2147483647 w 20"/>
                <a:gd name="T37" fmla="*/ 2147483647 h 14"/>
                <a:gd name="T38" fmla="*/ 2147483647 w 20"/>
                <a:gd name="T39" fmla="*/ 2147483647 h 14"/>
                <a:gd name="T40" fmla="*/ 2147483647 w 20"/>
                <a:gd name="T41" fmla="*/ 2147483647 h 14"/>
                <a:gd name="T42" fmla="*/ 2147483647 w 20"/>
                <a:gd name="T43" fmla="*/ 2147483647 h 14"/>
                <a:gd name="T44" fmla="*/ 2147483647 w 20"/>
                <a:gd name="T45" fmla="*/ 2147483647 h 1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0" h="14">
                  <a:moveTo>
                    <a:pt x="19" y="4"/>
                  </a:moveTo>
                  <a:cubicBezTo>
                    <a:pt x="17" y="2"/>
                    <a:pt x="17" y="2"/>
                    <a:pt x="17" y="2"/>
                  </a:cubicBezTo>
                  <a:cubicBezTo>
                    <a:pt x="15" y="0"/>
                    <a:pt x="15" y="0"/>
                    <a:pt x="15" y="0"/>
                  </a:cubicBezTo>
                  <a:cubicBezTo>
                    <a:pt x="13" y="1"/>
                    <a:pt x="13" y="1"/>
                    <a:pt x="13" y="1"/>
                  </a:cubicBezTo>
                  <a:cubicBezTo>
                    <a:pt x="9" y="0"/>
                    <a:pt x="9" y="0"/>
                    <a:pt x="9" y="0"/>
                  </a:cubicBezTo>
                  <a:cubicBezTo>
                    <a:pt x="5" y="0"/>
                    <a:pt x="5" y="0"/>
                    <a:pt x="5" y="0"/>
                  </a:cubicBezTo>
                  <a:cubicBezTo>
                    <a:pt x="1" y="1"/>
                    <a:pt x="1" y="1"/>
                    <a:pt x="1" y="1"/>
                  </a:cubicBezTo>
                  <a:cubicBezTo>
                    <a:pt x="1" y="3"/>
                    <a:pt x="1" y="5"/>
                    <a:pt x="1" y="5"/>
                  </a:cubicBezTo>
                  <a:cubicBezTo>
                    <a:pt x="0" y="6"/>
                    <a:pt x="0" y="6"/>
                    <a:pt x="0" y="6"/>
                  </a:cubicBezTo>
                  <a:cubicBezTo>
                    <a:pt x="2" y="6"/>
                    <a:pt x="2" y="6"/>
                    <a:pt x="2" y="6"/>
                  </a:cubicBezTo>
                  <a:cubicBezTo>
                    <a:pt x="4" y="7"/>
                    <a:pt x="4" y="7"/>
                    <a:pt x="4" y="7"/>
                  </a:cubicBezTo>
                  <a:cubicBezTo>
                    <a:pt x="6" y="8"/>
                    <a:pt x="6" y="8"/>
                    <a:pt x="6" y="8"/>
                  </a:cubicBezTo>
                  <a:cubicBezTo>
                    <a:pt x="7" y="10"/>
                    <a:pt x="7" y="10"/>
                    <a:pt x="7" y="10"/>
                  </a:cubicBezTo>
                  <a:cubicBezTo>
                    <a:pt x="6" y="12"/>
                    <a:pt x="6" y="12"/>
                    <a:pt x="6" y="12"/>
                  </a:cubicBezTo>
                  <a:cubicBezTo>
                    <a:pt x="7" y="12"/>
                    <a:pt x="7" y="12"/>
                    <a:pt x="7" y="12"/>
                  </a:cubicBezTo>
                  <a:cubicBezTo>
                    <a:pt x="9" y="14"/>
                    <a:pt x="9" y="14"/>
                    <a:pt x="9" y="14"/>
                  </a:cubicBezTo>
                  <a:cubicBezTo>
                    <a:pt x="11" y="13"/>
                    <a:pt x="11" y="13"/>
                    <a:pt x="11" y="13"/>
                  </a:cubicBezTo>
                  <a:cubicBezTo>
                    <a:pt x="13" y="12"/>
                    <a:pt x="13" y="12"/>
                    <a:pt x="13" y="12"/>
                  </a:cubicBezTo>
                  <a:cubicBezTo>
                    <a:pt x="13" y="12"/>
                    <a:pt x="15" y="12"/>
                    <a:pt x="16" y="12"/>
                  </a:cubicBezTo>
                  <a:cubicBezTo>
                    <a:pt x="17" y="12"/>
                    <a:pt x="16" y="9"/>
                    <a:pt x="16" y="9"/>
                  </a:cubicBezTo>
                  <a:cubicBezTo>
                    <a:pt x="18" y="7"/>
                    <a:pt x="18" y="7"/>
                    <a:pt x="18" y="7"/>
                  </a:cubicBezTo>
                  <a:cubicBezTo>
                    <a:pt x="20" y="4"/>
                    <a:pt x="20" y="4"/>
                    <a:pt x="20" y="4"/>
                  </a:cubicBezTo>
                  <a:cubicBezTo>
                    <a:pt x="19" y="4"/>
                    <a:pt x="19" y="4"/>
                    <a:pt x="19" y="4"/>
                  </a:cubicBezTo>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61" name="Freeform 58">
              <a:extLst>
                <a:ext uri="{FF2B5EF4-FFF2-40B4-BE49-F238E27FC236}">
                  <a16:creationId xmlns:a16="http://schemas.microsoft.com/office/drawing/2014/main" id="{13B41429-07E5-32F9-810E-E6B6A33160B9}"/>
                </a:ext>
              </a:extLst>
            </p:cNvPr>
            <p:cNvSpPr>
              <a:spLocks/>
            </p:cNvSpPr>
            <p:nvPr/>
          </p:nvSpPr>
          <p:spPr bwMode="auto">
            <a:xfrm>
              <a:off x="6090663" y="2322225"/>
              <a:ext cx="142630" cy="121315"/>
            </a:xfrm>
            <a:custGeom>
              <a:avLst/>
              <a:gdLst>
                <a:gd name="T0" fmla="*/ 2147483647 w 90"/>
                <a:gd name="T1" fmla="*/ 2147483647 h 78"/>
                <a:gd name="T2" fmla="*/ 2147483647 w 90"/>
                <a:gd name="T3" fmla="*/ 2147483647 h 78"/>
                <a:gd name="T4" fmla="*/ 2147483647 w 90"/>
                <a:gd name="T5" fmla="*/ 2147483647 h 78"/>
                <a:gd name="T6" fmla="*/ 2147483647 w 90"/>
                <a:gd name="T7" fmla="*/ 2147483647 h 78"/>
                <a:gd name="T8" fmla="*/ 2147483647 w 90"/>
                <a:gd name="T9" fmla="*/ 2147483647 h 78"/>
                <a:gd name="T10" fmla="*/ 2147483647 w 90"/>
                <a:gd name="T11" fmla="*/ 0 h 78"/>
                <a:gd name="T12" fmla="*/ 2147483647 w 90"/>
                <a:gd name="T13" fmla="*/ 0 h 78"/>
                <a:gd name="T14" fmla="*/ 2147483647 w 90"/>
                <a:gd name="T15" fmla="*/ 0 h 78"/>
                <a:gd name="T16" fmla="*/ 0 w 90"/>
                <a:gd name="T17" fmla="*/ 2147483647 h 78"/>
                <a:gd name="T18" fmla="*/ 0 w 90"/>
                <a:gd name="T19" fmla="*/ 2147483647 h 78"/>
                <a:gd name="T20" fmla="*/ 2147483647 w 90"/>
                <a:gd name="T21" fmla="*/ 2147483647 h 78"/>
                <a:gd name="T22" fmla="*/ 2147483647 w 90"/>
                <a:gd name="T23" fmla="*/ 2147483647 h 78"/>
                <a:gd name="T24" fmla="*/ 2147483647 w 90"/>
                <a:gd name="T25" fmla="*/ 2147483647 h 78"/>
                <a:gd name="T26" fmla="*/ 2147483647 w 90"/>
                <a:gd name="T27" fmla="*/ 2147483647 h 78"/>
                <a:gd name="T28" fmla="*/ 2147483647 w 90"/>
                <a:gd name="T29" fmla="*/ 2147483647 h 78"/>
                <a:gd name="T30" fmla="*/ 2147483647 w 90"/>
                <a:gd name="T31" fmla="*/ 2147483647 h 7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90" h="78">
                  <a:moveTo>
                    <a:pt x="54" y="66"/>
                  </a:moveTo>
                  <a:lnTo>
                    <a:pt x="78" y="78"/>
                  </a:lnTo>
                  <a:lnTo>
                    <a:pt x="84" y="42"/>
                  </a:lnTo>
                  <a:lnTo>
                    <a:pt x="84" y="30"/>
                  </a:lnTo>
                  <a:lnTo>
                    <a:pt x="90" y="6"/>
                  </a:lnTo>
                  <a:lnTo>
                    <a:pt x="84" y="0"/>
                  </a:lnTo>
                  <a:lnTo>
                    <a:pt x="72" y="0"/>
                  </a:lnTo>
                  <a:lnTo>
                    <a:pt x="36" y="0"/>
                  </a:lnTo>
                  <a:lnTo>
                    <a:pt x="0" y="18"/>
                  </a:lnTo>
                  <a:lnTo>
                    <a:pt x="0" y="30"/>
                  </a:lnTo>
                  <a:lnTo>
                    <a:pt x="6" y="42"/>
                  </a:lnTo>
                  <a:lnTo>
                    <a:pt x="12" y="48"/>
                  </a:lnTo>
                  <a:lnTo>
                    <a:pt x="18" y="54"/>
                  </a:lnTo>
                  <a:lnTo>
                    <a:pt x="12" y="60"/>
                  </a:lnTo>
                  <a:lnTo>
                    <a:pt x="36" y="54"/>
                  </a:lnTo>
                  <a:lnTo>
                    <a:pt x="54" y="6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62" name="Freeform 59">
              <a:extLst>
                <a:ext uri="{FF2B5EF4-FFF2-40B4-BE49-F238E27FC236}">
                  <a16:creationId xmlns:a16="http://schemas.microsoft.com/office/drawing/2014/main" id="{C849AA54-9DAF-7D09-0ED8-F88AEF672183}"/>
                </a:ext>
              </a:extLst>
            </p:cNvPr>
            <p:cNvSpPr>
              <a:spLocks/>
            </p:cNvSpPr>
            <p:nvPr/>
          </p:nvSpPr>
          <p:spPr bwMode="auto">
            <a:xfrm>
              <a:off x="6084958" y="2509884"/>
              <a:ext cx="279553" cy="252109"/>
            </a:xfrm>
            <a:custGeom>
              <a:avLst/>
              <a:gdLst>
                <a:gd name="T0" fmla="*/ 2147483647 w 30"/>
                <a:gd name="T1" fmla="*/ 2147483647 h 27"/>
                <a:gd name="T2" fmla="*/ 2147483647 w 30"/>
                <a:gd name="T3" fmla="*/ 2147483647 h 27"/>
                <a:gd name="T4" fmla="*/ 2147483647 w 30"/>
                <a:gd name="T5" fmla="*/ 2147483647 h 27"/>
                <a:gd name="T6" fmla="*/ 2147483647 w 30"/>
                <a:gd name="T7" fmla="*/ 2147483647 h 27"/>
                <a:gd name="T8" fmla="*/ 2147483647 w 30"/>
                <a:gd name="T9" fmla="*/ 0 h 27"/>
                <a:gd name="T10" fmla="*/ 2147483647 w 30"/>
                <a:gd name="T11" fmla="*/ 2147483647 h 27"/>
                <a:gd name="T12" fmla="*/ 2147483647 w 30"/>
                <a:gd name="T13" fmla="*/ 2147483647 h 27"/>
                <a:gd name="T14" fmla="*/ 2147483647 w 30"/>
                <a:gd name="T15" fmla="*/ 2147483647 h 27"/>
                <a:gd name="T16" fmla="*/ 2147483647 w 30"/>
                <a:gd name="T17" fmla="*/ 2147483647 h 27"/>
                <a:gd name="T18" fmla="*/ 2147483647 w 30"/>
                <a:gd name="T19" fmla="*/ 2147483647 h 27"/>
                <a:gd name="T20" fmla="*/ 2147483647 w 30"/>
                <a:gd name="T21" fmla="*/ 2147483647 h 27"/>
                <a:gd name="T22" fmla="*/ 2147483647 w 30"/>
                <a:gd name="T23" fmla="*/ 2147483647 h 27"/>
                <a:gd name="T24" fmla="*/ 2147483647 w 30"/>
                <a:gd name="T25" fmla="*/ 2147483647 h 27"/>
                <a:gd name="T26" fmla="*/ 2147483647 w 30"/>
                <a:gd name="T27" fmla="*/ 2147483647 h 27"/>
                <a:gd name="T28" fmla="*/ 2147483647 w 30"/>
                <a:gd name="T29" fmla="*/ 2147483647 h 27"/>
                <a:gd name="T30" fmla="*/ 2147483647 w 30"/>
                <a:gd name="T31" fmla="*/ 2147483647 h 27"/>
                <a:gd name="T32" fmla="*/ 0 w 30"/>
                <a:gd name="T33" fmla="*/ 2147483647 h 27"/>
                <a:gd name="T34" fmla="*/ 2147483647 w 30"/>
                <a:gd name="T35" fmla="*/ 2147483647 h 27"/>
                <a:gd name="T36" fmla="*/ 2147483647 w 30"/>
                <a:gd name="T37" fmla="*/ 2147483647 h 27"/>
                <a:gd name="T38" fmla="*/ 2147483647 w 30"/>
                <a:gd name="T39" fmla="*/ 2147483647 h 27"/>
                <a:gd name="T40" fmla="*/ 2147483647 w 30"/>
                <a:gd name="T41" fmla="*/ 2147483647 h 27"/>
                <a:gd name="T42" fmla="*/ 2147483647 w 30"/>
                <a:gd name="T43" fmla="*/ 2147483647 h 27"/>
                <a:gd name="T44" fmla="*/ 2147483647 w 30"/>
                <a:gd name="T45" fmla="*/ 2147483647 h 27"/>
                <a:gd name="T46" fmla="*/ 2147483647 w 30"/>
                <a:gd name="T47" fmla="*/ 2147483647 h 27"/>
                <a:gd name="T48" fmla="*/ 2147483647 w 30"/>
                <a:gd name="T49" fmla="*/ 2147483647 h 27"/>
                <a:gd name="T50" fmla="*/ 2147483647 w 30"/>
                <a:gd name="T51" fmla="*/ 2147483647 h 27"/>
                <a:gd name="T52" fmla="*/ 2147483647 w 30"/>
                <a:gd name="T53" fmla="*/ 2147483647 h 27"/>
                <a:gd name="T54" fmla="*/ 2147483647 w 30"/>
                <a:gd name="T55" fmla="*/ 2147483647 h 27"/>
                <a:gd name="T56" fmla="*/ 2147483647 w 30"/>
                <a:gd name="T57" fmla="*/ 2147483647 h 2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0" h="27">
                  <a:moveTo>
                    <a:pt x="30" y="14"/>
                  </a:moveTo>
                  <a:cubicBezTo>
                    <a:pt x="27" y="11"/>
                    <a:pt x="27" y="11"/>
                    <a:pt x="27" y="11"/>
                  </a:cubicBezTo>
                  <a:cubicBezTo>
                    <a:pt x="23" y="3"/>
                    <a:pt x="23" y="3"/>
                    <a:pt x="23" y="3"/>
                  </a:cubicBezTo>
                  <a:cubicBezTo>
                    <a:pt x="20" y="2"/>
                    <a:pt x="20" y="2"/>
                    <a:pt x="20" y="2"/>
                  </a:cubicBezTo>
                  <a:cubicBezTo>
                    <a:pt x="17" y="0"/>
                    <a:pt x="17" y="0"/>
                    <a:pt x="17" y="0"/>
                  </a:cubicBezTo>
                  <a:cubicBezTo>
                    <a:pt x="14" y="2"/>
                    <a:pt x="14" y="2"/>
                    <a:pt x="14" y="2"/>
                  </a:cubicBezTo>
                  <a:cubicBezTo>
                    <a:pt x="11" y="3"/>
                    <a:pt x="11" y="3"/>
                    <a:pt x="11" y="3"/>
                  </a:cubicBezTo>
                  <a:cubicBezTo>
                    <a:pt x="12" y="3"/>
                    <a:pt x="12" y="3"/>
                    <a:pt x="12" y="3"/>
                  </a:cubicBezTo>
                  <a:cubicBezTo>
                    <a:pt x="10" y="6"/>
                    <a:pt x="10" y="6"/>
                    <a:pt x="10" y="6"/>
                  </a:cubicBezTo>
                  <a:cubicBezTo>
                    <a:pt x="8" y="8"/>
                    <a:pt x="8" y="8"/>
                    <a:pt x="8" y="8"/>
                  </a:cubicBezTo>
                  <a:cubicBezTo>
                    <a:pt x="8" y="8"/>
                    <a:pt x="9" y="11"/>
                    <a:pt x="8" y="11"/>
                  </a:cubicBezTo>
                  <a:cubicBezTo>
                    <a:pt x="7" y="11"/>
                    <a:pt x="5" y="11"/>
                    <a:pt x="5" y="11"/>
                  </a:cubicBezTo>
                  <a:cubicBezTo>
                    <a:pt x="3" y="12"/>
                    <a:pt x="3" y="12"/>
                    <a:pt x="3" y="12"/>
                  </a:cubicBezTo>
                  <a:cubicBezTo>
                    <a:pt x="1" y="13"/>
                    <a:pt x="1" y="13"/>
                    <a:pt x="1" y="13"/>
                  </a:cubicBezTo>
                  <a:cubicBezTo>
                    <a:pt x="1" y="14"/>
                    <a:pt x="1" y="14"/>
                    <a:pt x="1" y="14"/>
                  </a:cubicBezTo>
                  <a:cubicBezTo>
                    <a:pt x="2" y="18"/>
                    <a:pt x="2" y="18"/>
                    <a:pt x="2" y="18"/>
                  </a:cubicBezTo>
                  <a:cubicBezTo>
                    <a:pt x="0" y="20"/>
                    <a:pt x="0" y="20"/>
                    <a:pt x="0" y="20"/>
                  </a:cubicBezTo>
                  <a:cubicBezTo>
                    <a:pt x="1" y="23"/>
                    <a:pt x="1" y="23"/>
                    <a:pt x="1" y="23"/>
                  </a:cubicBezTo>
                  <a:cubicBezTo>
                    <a:pt x="1" y="25"/>
                    <a:pt x="1" y="25"/>
                    <a:pt x="1" y="25"/>
                  </a:cubicBezTo>
                  <a:cubicBezTo>
                    <a:pt x="3" y="24"/>
                    <a:pt x="3" y="24"/>
                    <a:pt x="3" y="24"/>
                  </a:cubicBezTo>
                  <a:cubicBezTo>
                    <a:pt x="7" y="24"/>
                    <a:pt x="7" y="24"/>
                    <a:pt x="7" y="24"/>
                  </a:cubicBezTo>
                  <a:cubicBezTo>
                    <a:pt x="13" y="26"/>
                    <a:pt x="13" y="26"/>
                    <a:pt x="13" y="26"/>
                  </a:cubicBezTo>
                  <a:cubicBezTo>
                    <a:pt x="20" y="26"/>
                    <a:pt x="20" y="26"/>
                    <a:pt x="20" y="26"/>
                  </a:cubicBezTo>
                  <a:cubicBezTo>
                    <a:pt x="24" y="27"/>
                    <a:pt x="24" y="27"/>
                    <a:pt x="24" y="27"/>
                  </a:cubicBezTo>
                  <a:cubicBezTo>
                    <a:pt x="26" y="21"/>
                    <a:pt x="26" y="21"/>
                    <a:pt x="26" y="21"/>
                  </a:cubicBezTo>
                  <a:cubicBezTo>
                    <a:pt x="27" y="21"/>
                    <a:pt x="27" y="21"/>
                    <a:pt x="27" y="21"/>
                  </a:cubicBezTo>
                  <a:cubicBezTo>
                    <a:pt x="26" y="17"/>
                    <a:pt x="26" y="17"/>
                    <a:pt x="26" y="17"/>
                  </a:cubicBezTo>
                  <a:cubicBezTo>
                    <a:pt x="29" y="16"/>
                    <a:pt x="29" y="16"/>
                    <a:pt x="29" y="16"/>
                  </a:cubicBezTo>
                  <a:lnTo>
                    <a:pt x="30" y="14"/>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63" name="Freeform 60">
              <a:extLst>
                <a:ext uri="{FF2B5EF4-FFF2-40B4-BE49-F238E27FC236}">
                  <a16:creationId xmlns:a16="http://schemas.microsoft.com/office/drawing/2014/main" id="{8B8FD31B-3FF8-CCC9-B8FD-AE9EE9E4BBE3}"/>
                </a:ext>
              </a:extLst>
            </p:cNvPr>
            <p:cNvSpPr>
              <a:spLocks/>
            </p:cNvSpPr>
            <p:nvPr/>
          </p:nvSpPr>
          <p:spPr bwMode="auto">
            <a:xfrm>
              <a:off x="6016496" y="2407524"/>
              <a:ext cx="228207" cy="128897"/>
            </a:xfrm>
            <a:custGeom>
              <a:avLst/>
              <a:gdLst>
                <a:gd name="T0" fmla="*/ 2147483647 w 24"/>
                <a:gd name="T1" fmla="*/ 2147483647 h 14"/>
                <a:gd name="T2" fmla="*/ 2147483647 w 24"/>
                <a:gd name="T3" fmla="*/ 2147483647 h 14"/>
                <a:gd name="T4" fmla="*/ 2147483647 w 24"/>
                <a:gd name="T5" fmla="*/ 2147483647 h 14"/>
                <a:gd name="T6" fmla="*/ 2147483647 w 24"/>
                <a:gd name="T7" fmla="*/ 2147483647 h 14"/>
                <a:gd name="T8" fmla="*/ 2147483647 w 24"/>
                <a:gd name="T9" fmla="*/ 2147483647 h 14"/>
                <a:gd name="T10" fmla="*/ 2147483647 w 24"/>
                <a:gd name="T11" fmla="*/ 2147483647 h 14"/>
                <a:gd name="T12" fmla="*/ 2147483647 w 24"/>
                <a:gd name="T13" fmla="*/ 2147483647 h 14"/>
                <a:gd name="T14" fmla="*/ 2147483647 w 24"/>
                <a:gd name="T15" fmla="*/ 2147483647 h 14"/>
                <a:gd name="T16" fmla="*/ 2147483647 w 24"/>
                <a:gd name="T17" fmla="*/ 2147483647 h 14"/>
                <a:gd name="T18" fmla="*/ 2147483647 w 24"/>
                <a:gd name="T19" fmla="*/ 2147483647 h 14"/>
                <a:gd name="T20" fmla="*/ 2147483647 w 24"/>
                <a:gd name="T21" fmla="*/ 2147483647 h 14"/>
                <a:gd name="T22" fmla="*/ 2147483647 w 24"/>
                <a:gd name="T23" fmla="*/ 0 h 14"/>
                <a:gd name="T24" fmla="*/ 2147483647 w 24"/>
                <a:gd name="T25" fmla="*/ 2147483647 h 14"/>
                <a:gd name="T26" fmla="*/ 2147483647 w 24"/>
                <a:gd name="T27" fmla="*/ 2147483647 h 14"/>
                <a:gd name="T28" fmla="*/ 2147483647 w 24"/>
                <a:gd name="T29" fmla="*/ 2147483647 h 14"/>
                <a:gd name="T30" fmla="*/ 2147483647 w 24"/>
                <a:gd name="T31" fmla="*/ 2147483647 h 14"/>
                <a:gd name="T32" fmla="*/ 2147483647 w 24"/>
                <a:gd name="T33" fmla="*/ 2147483647 h 14"/>
                <a:gd name="T34" fmla="*/ 2147483647 w 24"/>
                <a:gd name="T35" fmla="*/ 2147483647 h 14"/>
                <a:gd name="T36" fmla="*/ 0 w 24"/>
                <a:gd name="T37" fmla="*/ 2147483647 h 14"/>
                <a:gd name="T38" fmla="*/ 2147483647 w 24"/>
                <a:gd name="T39" fmla="*/ 2147483647 h 14"/>
                <a:gd name="T40" fmla="*/ 2147483647 w 24"/>
                <a:gd name="T41" fmla="*/ 2147483647 h 1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4" h="14">
                  <a:moveTo>
                    <a:pt x="8" y="10"/>
                  </a:moveTo>
                  <a:cubicBezTo>
                    <a:pt x="12" y="11"/>
                    <a:pt x="12" y="11"/>
                    <a:pt x="12" y="11"/>
                  </a:cubicBezTo>
                  <a:cubicBezTo>
                    <a:pt x="14" y="10"/>
                    <a:pt x="14" y="10"/>
                    <a:pt x="14" y="10"/>
                  </a:cubicBezTo>
                  <a:cubicBezTo>
                    <a:pt x="16" y="12"/>
                    <a:pt x="16" y="12"/>
                    <a:pt x="16" y="12"/>
                  </a:cubicBezTo>
                  <a:cubicBezTo>
                    <a:pt x="18" y="14"/>
                    <a:pt x="18" y="14"/>
                    <a:pt x="18" y="14"/>
                  </a:cubicBezTo>
                  <a:cubicBezTo>
                    <a:pt x="21" y="13"/>
                    <a:pt x="21" y="13"/>
                    <a:pt x="21" y="13"/>
                  </a:cubicBezTo>
                  <a:cubicBezTo>
                    <a:pt x="24" y="11"/>
                    <a:pt x="24" y="11"/>
                    <a:pt x="24" y="11"/>
                  </a:cubicBezTo>
                  <a:cubicBezTo>
                    <a:pt x="23" y="10"/>
                    <a:pt x="23" y="10"/>
                    <a:pt x="23" y="10"/>
                  </a:cubicBezTo>
                  <a:cubicBezTo>
                    <a:pt x="21" y="5"/>
                    <a:pt x="21" y="5"/>
                    <a:pt x="21" y="5"/>
                  </a:cubicBezTo>
                  <a:cubicBezTo>
                    <a:pt x="21" y="4"/>
                    <a:pt x="21" y="4"/>
                    <a:pt x="21" y="4"/>
                  </a:cubicBezTo>
                  <a:cubicBezTo>
                    <a:pt x="17" y="2"/>
                    <a:pt x="17" y="2"/>
                    <a:pt x="17" y="2"/>
                  </a:cubicBezTo>
                  <a:cubicBezTo>
                    <a:pt x="14" y="0"/>
                    <a:pt x="14" y="0"/>
                    <a:pt x="14" y="0"/>
                  </a:cubicBezTo>
                  <a:cubicBezTo>
                    <a:pt x="10" y="1"/>
                    <a:pt x="10" y="1"/>
                    <a:pt x="10" y="1"/>
                  </a:cubicBezTo>
                  <a:cubicBezTo>
                    <a:pt x="9" y="5"/>
                    <a:pt x="9" y="5"/>
                    <a:pt x="9" y="5"/>
                  </a:cubicBezTo>
                  <a:cubicBezTo>
                    <a:pt x="8" y="6"/>
                    <a:pt x="8" y="6"/>
                    <a:pt x="8" y="6"/>
                  </a:cubicBezTo>
                  <a:cubicBezTo>
                    <a:pt x="5" y="3"/>
                    <a:pt x="5" y="3"/>
                    <a:pt x="5" y="3"/>
                  </a:cubicBezTo>
                  <a:cubicBezTo>
                    <a:pt x="3" y="3"/>
                    <a:pt x="3" y="3"/>
                    <a:pt x="3" y="3"/>
                  </a:cubicBezTo>
                  <a:cubicBezTo>
                    <a:pt x="3" y="3"/>
                    <a:pt x="1" y="7"/>
                    <a:pt x="1" y="8"/>
                  </a:cubicBezTo>
                  <a:cubicBezTo>
                    <a:pt x="1" y="8"/>
                    <a:pt x="0" y="10"/>
                    <a:pt x="0" y="11"/>
                  </a:cubicBezTo>
                  <a:cubicBezTo>
                    <a:pt x="4" y="10"/>
                    <a:pt x="4" y="10"/>
                    <a:pt x="4" y="10"/>
                  </a:cubicBezTo>
                  <a:lnTo>
                    <a:pt x="8" y="1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64" name="Freeform 61">
              <a:extLst>
                <a:ext uri="{FF2B5EF4-FFF2-40B4-BE49-F238E27FC236}">
                  <a16:creationId xmlns:a16="http://schemas.microsoft.com/office/drawing/2014/main" id="{73E7CF3B-7878-6633-61FE-3507BC409633}"/>
                </a:ext>
              </a:extLst>
            </p:cNvPr>
            <p:cNvSpPr>
              <a:spLocks/>
            </p:cNvSpPr>
            <p:nvPr/>
          </p:nvSpPr>
          <p:spPr bwMode="auto">
            <a:xfrm>
              <a:off x="4936317" y="4140057"/>
              <a:ext cx="226305" cy="168705"/>
            </a:xfrm>
            <a:custGeom>
              <a:avLst/>
              <a:gdLst>
                <a:gd name="T0" fmla="*/ 2147483647 w 24"/>
                <a:gd name="T1" fmla="*/ 2147483647 h 18"/>
                <a:gd name="T2" fmla="*/ 2147483647 w 24"/>
                <a:gd name="T3" fmla="*/ 2147483647 h 18"/>
                <a:gd name="T4" fmla="*/ 2147483647 w 24"/>
                <a:gd name="T5" fmla="*/ 2147483647 h 18"/>
                <a:gd name="T6" fmla="*/ 2147483647 w 24"/>
                <a:gd name="T7" fmla="*/ 2147483647 h 18"/>
                <a:gd name="T8" fmla="*/ 2147483647 w 24"/>
                <a:gd name="T9" fmla="*/ 2147483647 h 18"/>
                <a:gd name="T10" fmla="*/ 2147483647 w 24"/>
                <a:gd name="T11" fmla="*/ 2147483647 h 18"/>
                <a:gd name="T12" fmla="*/ 2147483647 w 24"/>
                <a:gd name="T13" fmla="*/ 2147483647 h 18"/>
                <a:gd name="T14" fmla="*/ 2147483647 w 24"/>
                <a:gd name="T15" fmla="*/ 2147483647 h 18"/>
                <a:gd name="T16" fmla="*/ 2147483647 w 24"/>
                <a:gd name="T17" fmla="*/ 2147483647 h 18"/>
                <a:gd name="T18" fmla="*/ 2147483647 w 24"/>
                <a:gd name="T19" fmla="*/ 2147483647 h 18"/>
                <a:gd name="T20" fmla="*/ 2147483647 w 24"/>
                <a:gd name="T21" fmla="*/ 2147483647 h 18"/>
                <a:gd name="T22" fmla="*/ 2147483647 w 24"/>
                <a:gd name="T23" fmla="*/ 2147483647 h 18"/>
                <a:gd name="T24" fmla="*/ 2147483647 w 24"/>
                <a:gd name="T25" fmla="*/ 2147483647 h 18"/>
                <a:gd name="T26" fmla="*/ 2147483647 w 24"/>
                <a:gd name="T27" fmla="*/ 2147483647 h 18"/>
                <a:gd name="T28" fmla="*/ 2147483647 w 24"/>
                <a:gd name="T29" fmla="*/ 2147483647 h 18"/>
                <a:gd name="T30" fmla="*/ 2147483647 w 24"/>
                <a:gd name="T31" fmla="*/ 2147483647 h 18"/>
                <a:gd name="T32" fmla="*/ 2147483647 w 24"/>
                <a:gd name="T33" fmla="*/ 0 h 18"/>
                <a:gd name="T34" fmla="*/ 2147483647 w 24"/>
                <a:gd name="T35" fmla="*/ 0 h 18"/>
                <a:gd name="T36" fmla="*/ 2147483647 w 24"/>
                <a:gd name="T37" fmla="*/ 2147483647 h 18"/>
                <a:gd name="T38" fmla="*/ 2147483647 w 24"/>
                <a:gd name="T39" fmla="*/ 2147483647 h 18"/>
                <a:gd name="T40" fmla="*/ 2147483647 w 24"/>
                <a:gd name="T41" fmla="*/ 2147483647 h 18"/>
                <a:gd name="T42" fmla="*/ 0 w 24"/>
                <a:gd name="T43" fmla="*/ 2147483647 h 18"/>
                <a:gd name="T44" fmla="*/ 2147483647 w 24"/>
                <a:gd name="T45" fmla="*/ 2147483647 h 18"/>
                <a:gd name="T46" fmla="*/ 2147483647 w 24"/>
                <a:gd name="T47" fmla="*/ 2147483647 h 18"/>
                <a:gd name="T48" fmla="*/ 2147483647 w 24"/>
                <a:gd name="T49" fmla="*/ 2147483647 h 18"/>
                <a:gd name="T50" fmla="*/ 2147483647 w 24"/>
                <a:gd name="T51" fmla="*/ 2147483647 h 1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4" h="18">
                  <a:moveTo>
                    <a:pt x="9" y="10"/>
                  </a:moveTo>
                  <a:cubicBezTo>
                    <a:pt x="13" y="10"/>
                    <a:pt x="13" y="10"/>
                    <a:pt x="13" y="10"/>
                  </a:cubicBezTo>
                  <a:cubicBezTo>
                    <a:pt x="15" y="13"/>
                    <a:pt x="15" y="13"/>
                    <a:pt x="15" y="13"/>
                  </a:cubicBezTo>
                  <a:cubicBezTo>
                    <a:pt x="16" y="14"/>
                    <a:pt x="16" y="14"/>
                    <a:pt x="16" y="14"/>
                  </a:cubicBezTo>
                  <a:cubicBezTo>
                    <a:pt x="18" y="15"/>
                    <a:pt x="18" y="15"/>
                    <a:pt x="18" y="15"/>
                  </a:cubicBezTo>
                  <a:cubicBezTo>
                    <a:pt x="18" y="15"/>
                    <a:pt x="19" y="18"/>
                    <a:pt x="20" y="18"/>
                  </a:cubicBezTo>
                  <a:cubicBezTo>
                    <a:pt x="20" y="18"/>
                    <a:pt x="21" y="17"/>
                    <a:pt x="22" y="17"/>
                  </a:cubicBezTo>
                  <a:cubicBezTo>
                    <a:pt x="23" y="17"/>
                    <a:pt x="24" y="16"/>
                    <a:pt x="24" y="16"/>
                  </a:cubicBezTo>
                  <a:cubicBezTo>
                    <a:pt x="24" y="12"/>
                    <a:pt x="24" y="12"/>
                    <a:pt x="24" y="12"/>
                  </a:cubicBezTo>
                  <a:cubicBezTo>
                    <a:pt x="24" y="8"/>
                    <a:pt x="24" y="8"/>
                    <a:pt x="24" y="8"/>
                  </a:cubicBezTo>
                  <a:cubicBezTo>
                    <a:pt x="23" y="8"/>
                    <a:pt x="23" y="8"/>
                    <a:pt x="23" y="8"/>
                  </a:cubicBezTo>
                  <a:cubicBezTo>
                    <a:pt x="21" y="3"/>
                    <a:pt x="21" y="3"/>
                    <a:pt x="21" y="3"/>
                  </a:cubicBezTo>
                  <a:cubicBezTo>
                    <a:pt x="21" y="3"/>
                    <a:pt x="21" y="1"/>
                    <a:pt x="20" y="1"/>
                  </a:cubicBezTo>
                  <a:cubicBezTo>
                    <a:pt x="20" y="1"/>
                    <a:pt x="16" y="2"/>
                    <a:pt x="16" y="2"/>
                  </a:cubicBezTo>
                  <a:cubicBezTo>
                    <a:pt x="12" y="2"/>
                    <a:pt x="12" y="2"/>
                    <a:pt x="12" y="2"/>
                  </a:cubicBezTo>
                  <a:cubicBezTo>
                    <a:pt x="12" y="1"/>
                    <a:pt x="12" y="1"/>
                    <a:pt x="12" y="1"/>
                  </a:cubicBezTo>
                  <a:cubicBezTo>
                    <a:pt x="7" y="0"/>
                    <a:pt x="7" y="0"/>
                    <a:pt x="7" y="0"/>
                  </a:cubicBezTo>
                  <a:cubicBezTo>
                    <a:pt x="5" y="0"/>
                    <a:pt x="5" y="0"/>
                    <a:pt x="5" y="0"/>
                  </a:cubicBezTo>
                  <a:cubicBezTo>
                    <a:pt x="5" y="1"/>
                    <a:pt x="5" y="1"/>
                    <a:pt x="5" y="1"/>
                  </a:cubicBezTo>
                  <a:cubicBezTo>
                    <a:pt x="5" y="4"/>
                    <a:pt x="5" y="4"/>
                    <a:pt x="5" y="4"/>
                  </a:cubicBezTo>
                  <a:cubicBezTo>
                    <a:pt x="3" y="4"/>
                    <a:pt x="3" y="4"/>
                    <a:pt x="3" y="4"/>
                  </a:cubicBezTo>
                  <a:cubicBezTo>
                    <a:pt x="0" y="6"/>
                    <a:pt x="0" y="6"/>
                    <a:pt x="0" y="6"/>
                  </a:cubicBezTo>
                  <a:cubicBezTo>
                    <a:pt x="1" y="6"/>
                    <a:pt x="1" y="6"/>
                    <a:pt x="1" y="6"/>
                  </a:cubicBezTo>
                  <a:cubicBezTo>
                    <a:pt x="6" y="13"/>
                    <a:pt x="6" y="13"/>
                    <a:pt x="6" y="13"/>
                  </a:cubicBezTo>
                  <a:cubicBezTo>
                    <a:pt x="8" y="12"/>
                    <a:pt x="8" y="12"/>
                    <a:pt x="8" y="12"/>
                  </a:cubicBezTo>
                  <a:lnTo>
                    <a:pt x="9" y="1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65" name="Freeform 62">
              <a:extLst>
                <a:ext uri="{FF2B5EF4-FFF2-40B4-BE49-F238E27FC236}">
                  <a16:creationId xmlns:a16="http://schemas.microsoft.com/office/drawing/2014/main" id="{B853F83D-DC91-9F73-9DE7-1FE7AF00A188}"/>
                </a:ext>
              </a:extLst>
            </p:cNvPr>
            <p:cNvSpPr>
              <a:spLocks/>
            </p:cNvSpPr>
            <p:nvPr/>
          </p:nvSpPr>
          <p:spPr bwMode="auto">
            <a:xfrm>
              <a:off x="4881166" y="4018742"/>
              <a:ext cx="176861" cy="132689"/>
            </a:xfrm>
            <a:custGeom>
              <a:avLst/>
              <a:gdLst>
                <a:gd name="T0" fmla="*/ 2147483647 w 114"/>
                <a:gd name="T1" fmla="*/ 2147483647 h 85"/>
                <a:gd name="T2" fmla="*/ 2147483647 w 114"/>
                <a:gd name="T3" fmla="*/ 2147483647 h 85"/>
                <a:gd name="T4" fmla="*/ 2147483647 w 114"/>
                <a:gd name="T5" fmla="*/ 2147483647 h 85"/>
                <a:gd name="T6" fmla="*/ 2147483647 w 114"/>
                <a:gd name="T7" fmla="*/ 2147483647 h 85"/>
                <a:gd name="T8" fmla="*/ 2147483647 w 114"/>
                <a:gd name="T9" fmla="*/ 2147483647 h 85"/>
                <a:gd name="T10" fmla="*/ 2147483647 w 114"/>
                <a:gd name="T11" fmla="*/ 2147483647 h 85"/>
                <a:gd name="T12" fmla="*/ 2147483647 w 114"/>
                <a:gd name="T13" fmla="*/ 2147483647 h 85"/>
                <a:gd name="T14" fmla="*/ 2147483647 w 114"/>
                <a:gd name="T15" fmla="*/ 2147483647 h 85"/>
                <a:gd name="T16" fmla="*/ 2147483647 w 114"/>
                <a:gd name="T17" fmla="*/ 2147483647 h 85"/>
                <a:gd name="T18" fmla="*/ 2147483647 w 114"/>
                <a:gd name="T19" fmla="*/ 2147483647 h 85"/>
                <a:gd name="T20" fmla="*/ 2147483647 w 114"/>
                <a:gd name="T21" fmla="*/ 2147483647 h 85"/>
                <a:gd name="T22" fmla="*/ 2147483647 w 114"/>
                <a:gd name="T23" fmla="*/ 0 h 85"/>
                <a:gd name="T24" fmla="*/ 2147483647 w 114"/>
                <a:gd name="T25" fmla="*/ 2147483647 h 85"/>
                <a:gd name="T26" fmla="*/ 2147483647 w 114"/>
                <a:gd name="T27" fmla="*/ 2147483647 h 85"/>
                <a:gd name="T28" fmla="*/ 0 w 114"/>
                <a:gd name="T29" fmla="*/ 2147483647 h 85"/>
                <a:gd name="T30" fmla="*/ 2147483647 w 114"/>
                <a:gd name="T31" fmla="*/ 2147483647 h 85"/>
                <a:gd name="T32" fmla="*/ 2147483647 w 114"/>
                <a:gd name="T33" fmla="*/ 2147483647 h 85"/>
                <a:gd name="T34" fmla="*/ 2147483647 w 114"/>
                <a:gd name="T35" fmla="*/ 2147483647 h 85"/>
                <a:gd name="T36" fmla="*/ 2147483647 w 114"/>
                <a:gd name="T37" fmla="*/ 2147483647 h 8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4" h="85">
                  <a:moveTo>
                    <a:pt x="54" y="79"/>
                  </a:moveTo>
                  <a:lnTo>
                    <a:pt x="66" y="79"/>
                  </a:lnTo>
                  <a:lnTo>
                    <a:pt x="78" y="79"/>
                  </a:lnTo>
                  <a:lnTo>
                    <a:pt x="108" y="85"/>
                  </a:lnTo>
                  <a:lnTo>
                    <a:pt x="114" y="85"/>
                  </a:lnTo>
                  <a:lnTo>
                    <a:pt x="102" y="61"/>
                  </a:lnTo>
                  <a:lnTo>
                    <a:pt x="96" y="43"/>
                  </a:lnTo>
                  <a:lnTo>
                    <a:pt x="96" y="36"/>
                  </a:lnTo>
                  <a:lnTo>
                    <a:pt x="84" y="30"/>
                  </a:lnTo>
                  <a:lnTo>
                    <a:pt x="72" y="18"/>
                  </a:lnTo>
                  <a:lnTo>
                    <a:pt x="42" y="0"/>
                  </a:lnTo>
                  <a:lnTo>
                    <a:pt x="30" y="6"/>
                  </a:lnTo>
                  <a:lnTo>
                    <a:pt x="12" y="6"/>
                  </a:lnTo>
                  <a:lnTo>
                    <a:pt x="0" y="43"/>
                  </a:lnTo>
                  <a:lnTo>
                    <a:pt x="12" y="85"/>
                  </a:lnTo>
                  <a:lnTo>
                    <a:pt x="18" y="85"/>
                  </a:lnTo>
                  <a:lnTo>
                    <a:pt x="24" y="85"/>
                  </a:lnTo>
                  <a:lnTo>
                    <a:pt x="54" y="79"/>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66" name="Freeform 63">
              <a:extLst>
                <a:ext uri="{FF2B5EF4-FFF2-40B4-BE49-F238E27FC236}">
                  <a16:creationId xmlns:a16="http://schemas.microsoft.com/office/drawing/2014/main" id="{29F85B9A-0EC8-809F-297C-449EFF1553F6}"/>
                </a:ext>
              </a:extLst>
            </p:cNvPr>
            <p:cNvSpPr>
              <a:spLocks/>
            </p:cNvSpPr>
            <p:nvPr/>
          </p:nvSpPr>
          <p:spPr bwMode="auto">
            <a:xfrm>
              <a:off x="4890675" y="3694603"/>
              <a:ext cx="357524" cy="381005"/>
            </a:xfrm>
            <a:custGeom>
              <a:avLst/>
              <a:gdLst>
                <a:gd name="T0" fmla="*/ 2147483647 w 38"/>
                <a:gd name="T1" fmla="*/ 2147483647 h 41"/>
                <a:gd name="T2" fmla="*/ 2147483647 w 38"/>
                <a:gd name="T3" fmla="*/ 2147483647 h 41"/>
                <a:gd name="T4" fmla="*/ 2147483647 w 38"/>
                <a:gd name="T5" fmla="*/ 2147483647 h 41"/>
                <a:gd name="T6" fmla="*/ 2147483647 w 38"/>
                <a:gd name="T7" fmla="*/ 2147483647 h 41"/>
                <a:gd name="T8" fmla="*/ 2147483647 w 38"/>
                <a:gd name="T9" fmla="*/ 2147483647 h 41"/>
                <a:gd name="T10" fmla="*/ 2147483647 w 38"/>
                <a:gd name="T11" fmla="*/ 2147483647 h 41"/>
                <a:gd name="T12" fmla="*/ 2147483647 w 38"/>
                <a:gd name="T13" fmla="*/ 2147483647 h 41"/>
                <a:gd name="T14" fmla="*/ 2147483647 w 38"/>
                <a:gd name="T15" fmla="*/ 2147483647 h 41"/>
                <a:gd name="T16" fmla="*/ 2147483647 w 38"/>
                <a:gd name="T17" fmla="*/ 2147483647 h 41"/>
                <a:gd name="T18" fmla="*/ 2147483647 w 38"/>
                <a:gd name="T19" fmla="*/ 2147483647 h 41"/>
                <a:gd name="T20" fmla="*/ 2147483647 w 38"/>
                <a:gd name="T21" fmla="*/ 2147483647 h 41"/>
                <a:gd name="T22" fmla="*/ 2147483647 w 38"/>
                <a:gd name="T23" fmla="*/ 2147483647 h 41"/>
                <a:gd name="T24" fmla="*/ 2147483647 w 38"/>
                <a:gd name="T25" fmla="*/ 2147483647 h 41"/>
                <a:gd name="T26" fmla="*/ 2147483647 w 38"/>
                <a:gd name="T27" fmla="*/ 0 h 41"/>
                <a:gd name="T28" fmla="*/ 2147483647 w 38"/>
                <a:gd name="T29" fmla="*/ 2147483647 h 41"/>
                <a:gd name="T30" fmla="*/ 2147483647 w 38"/>
                <a:gd name="T31" fmla="*/ 2147483647 h 41"/>
                <a:gd name="T32" fmla="*/ 2147483647 w 38"/>
                <a:gd name="T33" fmla="*/ 2147483647 h 41"/>
                <a:gd name="T34" fmla="*/ 2147483647 w 38"/>
                <a:gd name="T35" fmla="*/ 2147483647 h 41"/>
                <a:gd name="T36" fmla="*/ 2147483647 w 38"/>
                <a:gd name="T37" fmla="*/ 2147483647 h 41"/>
                <a:gd name="T38" fmla="*/ 2147483647 w 38"/>
                <a:gd name="T39" fmla="*/ 2147483647 h 41"/>
                <a:gd name="T40" fmla="*/ 0 w 38"/>
                <a:gd name="T41" fmla="*/ 2147483647 h 41"/>
                <a:gd name="T42" fmla="*/ 2147483647 w 38"/>
                <a:gd name="T43" fmla="*/ 2147483647 h 41"/>
                <a:gd name="T44" fmla="*/ 2147483647 w 38"/>
                <a:gd name="T45" fmla="*/ 2147483647 h 41"/>
                <a:gd name="T46" fmla="*/ 2147483647 w 38"/>
                <a:gd name="T47" fmla="*/ 2147483647 h 41"/>
                <a:gd name="T48" fmla="*/ 2147483647 w 38"/>
                <a:gd name="T49" fmla="*/ 2147483647 h 41"/>
                <a:gd name="T50" fmla="*/ 2147483647 w 38"/>
                <a:gd name="T51" fmla="*/ 2147483647 h 4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8" h="41">
                  <a:moveTo>
                    <a:pt x="6" y="35"/>
                  </a:moveTo>
                  <a:cubicBezTo>
                    <a:pt x="11" y="38"/>
                    <a:pt x="11" y="38"/>
                    <a:pt x="11" y="38"/>
                  </a:cubicBezTo>
                  <a:cubicBezTo>
                    <a:pt x="13" y="40"/>
                    <a:pt x="13" y="40"/>
                    <a:pt x="13" y="40"/>
                  </a:cubicBezTo>
                  <a:cubicBezTo>
                    <a:pt x="15" y="41"/>
                    <a:pt x="15" y="41"/>
                    <a:pt x="15" y="41"/>
                  </a:cubicBezTo>
                  <a:cubicBezTo>
                    <a:pt x="15" y="41"/>
                    <a:pt x="15" y="41"/>
                    <a:pt x="15" y="41"/>
                  </a:cubicBezTo>
                  <a:cubicBezTo>
                    <a:pt x="18" y="38"/>
                    <a:pt x="18" y="38"/>
                    <a:pt x="18" y="38"/>
                  </a:cubicBezTo>
                  <a:cubicBezTo>
                    <a:pt x="20" y="40"/>
                    <a:pt x="20" y="40"/>
                    <a:pt x="20" y="40"/>
                  </a:cubicBezTo>
                  <a:cubicBezTo>
                    <a:pt x="21" y="39"/>
                    <a:pt x="21" y="39"/>
                    <a:pt x="21" y="39"/>
                  </a:cubicBezTo>
                  <a:cubicBezTo>
                    <a:pt x="35" y="39"/>
                    <a:pt x="35" y="39"/>
                    <a:pt x="35" y="39"/>
                  </a:cubicBezTo>
                  <a:cubicBezTo>
                    <a:pt x="38" y="37"/>
                    <a:pt x="38" y="37"/>
                    <a:pt x="38" y="37"/>
                  </a:cubicBezTo>
                  <a:cubicBezTo>
                    <a:pt x="36" y="36"/>
                    <a:pt x="36" y="36"/>
                    <a:pt x="36" y="36"/>
                  </a:cubicBezTo>
                  <a:cubicBezTo>
                    <a:pt x="33" y="7"/>
                    <a:pt x="33" y="7"/>
                    <a:pt x="33" y="7"/>
                  </a:cubicBezTo>
                  <a:cubicBezTo>
                    <a:pt x="36" y="7"/>
                    <a:pt x="36" y="7"/>
                    <a:pt x="36" y="7"/>
                  </a:cubicBezTo>
                  <a:cubicBezTo>
                    <a:pt x="27" y="0"/>
                    <a:pt x="27" y="0"/>
                    <a:pt x="27" y="0"/>
                  </a:cubicBezTo>
                  <a:cubicBezTo>
                    <a:pt x="27" y="3"/>
                    <a:pt x="27" y="3"/>
                    <a:pt x="27" y="3"/>
                  </a:cubicBezTo>
                  <a:cubicBezTo>
                    <a:pt x="17" y="3"/>
                    <a:pt x="17" y="3"/>
                    <a:pt x="17" y="3"/>
                  </a:cubicBezTo>
                  <a:cubicBezTo>
                    <a:pt x="16" y="11"/>
                    <a:pt x="16" y="11"/>
                    <a:pt x="16" y="11"/>
                  </a:cubicBezTo>
                  <a:cubicBezTo>
                    <a:pt x="14" y="13"/>
                    <a:pt x="14" y="13"/>
                    <a:pt x="14" y="13"/>
                  </a:cubicBezTo>
                  <a:cubicBezTo>
                    <a:pt x="14" y="13"/>
                    <a:pt x="14" y="20"/>
                    <a:pt x="13" y="20"/>
                  </a:cubicBezTo>
                  <a:cubicBezTo>
                    <a:pt x="13" y="20"/>
                    <a:pt x="5" y="19"/>
                    <a:pt x="1" y="19"/>
                  </a:cubicBezTo>
                  <a:cubicBezTo>
                    <a:pt x="0" y="20"/>
                    <a:pt x="0" y="20"/>
                    <a:pt x="0" y="20"/>
                  </a:cubicBezTo>
                  <a:cubicBezTo>
                    <a:pt x="3" y="26"/>
                    <a:pt x="3" y="26"/>
                    <a:pt x="3" y="26"/>
                  </a:cubicBezTo>
                  <a:cubicBezTo>
                    <a:pt x="3" y="33"/>
                    <a:pt x="3" y="33"/>
                    <a:pt x="3" y="33"/>
                  </a:cubicBezTo>
                  <a:cubicBezTo>
                    <a:pt x="1" y="36"/>
                    <a:pt x="1" y="36"/>
                    <a:pt x="1" y="36"/>
                  </a:cubicBezTo>
                  <a:cubicBezTo>
                    <a:pt x="4" y="36"/>
                    <a:pt x="4" y="36"/>
                    <a:pt x="4" y="36"/>
                  </a:cubicBezTo>
                  <a:lnTo>
                    <a:pt x="6" y="35"/>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67" name="Freeform 64">
              <a:extLst>
                <a:ext uri="{FF2B5EF4-FFF2-40B4-BE49-F238E27FC236}">
                  <a16:creationId xmlns:a16="http://schemas.microsoft.com/office/drawing/2014/main" id="{732F6538-0B3A-520A-18A9-CB6A245B37AC}"/>
                </a:ext>
              </a:extLst>
            </p:cNvPr>
            <p:cNvSpPr>
              <a:spLocks/>
            </p:cNvSpPr>
            <p:nvPr/>
          </p:nvSpPr>
          <p:spPr bwMode="auto">
            <a:xfrm>
              <a:off x="6121090" y="3535377"/>
              <a:ext cx="338507" cy="326035"/>
            </a:xfrm>
            <a:custGeom>
              <a:avLst/>
              <a:gdLst>
                <a:gd name="T0" fmla="*/ 0 w 36"/>
                <a:gd name="T1" fmla="*/ 2147483647 h 35"/>
                <a:gd name="T2" fmla="*/ 2147483647 w 36"/>
                <a:gd name="T3" fmla="*/ 2147483647 h 35"/>
                <a:gd name="T4" fmla="*/ 2147483647 w 36"/>
                <a:gd name="T5" fmla="*/ 2147483647 h 35"/>
                <a:gd name="T6" fmla="*/ 2147483647 w 36"/>
                <a:gd name="T7" fmla="*/ 2147483647 h 35"/>
                <a:gd name="T8" fmla="*/ 2147483647 w 36"/>
                <a:gd name="T9" fmla="*/ 2147483647 h 35"/>
                <a:gd name="T10" fmla="*/ 2147483647 w 36"/>
                <a:gd name="T11" fmla="*/ 2147483647 h 35"/>
                <a:gd name="T12" fmla="*/ 2147483647 w 36"/>
                <a:gd name="T13" fmla="*/ 2147483647 h 35"/>
                <a:gd name="T14" fmla="*/ 2147483647 w 36"/>
                <a:gd name="T15" fmla="*/ 2147483647 h 35"/>
                <a:gd name="T16" fmla="*/ 2147483647 w 36"/>
                <a:gd name="T17" fmla="*/ 2147483647 h 35"/>
                <a:gd name="T18" fmla="*/ 2147483647 w 36"/>
                <a:gd name="T19" fmla="*/ 2147483647 h 35"/>
                <a:gd name="T20" fmla="*/ 2147483647 w 36"/>
                <a:gd name="T21" fmla="*/ 2147483647 h 35"/>
                <a:gd name="T22" fmla="*/ 2147483647 w 36"/>
                <a:gd name="T23" fmla="*/ 2147483647 h 35"/>
                <a:gd name="T24" fmla="*/ 2147483647 w 36"/>
                <a:gd name="T25" fmla="*/ 2147483647 h 35"/>
                <a:gd name="T26" fmla="*/ 2147483647 w 36"/>
                <a:gd name="T27" fmla="*/ 2147483647 h 35"/>
                <a:gd name="T28" fmla="*/ 2147483647 w 36"/>
                <a:gd name="T29" fmla="*/ 2147483647 h 35"/>
                <a:gd name="T30" fmla="*/ 2147483647 w 36"/>
                <a:gd name="T31" fmla="*/ 2147483647 h 35"/>
                <a:gd name="T32" fmla="*/ 2147483647 w 36"/>
                <a:gd name="T33" fmla="*/ 2147483647 h 35"/>
                <a:gd name="T34" fmla="*/ 2147483647 w 36"/>
                <a:gd name="T35" fmla="*/ 2147483647 h 35"/>
                <a:gd name="T36" fmla="*/ 2147483647 w 36"/>
                <a:gd name="T37" fmla="*/ 2147483647 h 35"/>
                <a:gd name="T38" fmla="*/ 2147483647 w 36"/>
                <a:gd name="T39" fmla="*/ 2147483647 h 35"/>
                <a:gd name="T40" fmla="*/ 2147483647 w 36"/>
                <a:gd name="T41" fmla="*/ 0 h 35"/>
                <a:gd name="T42" fmla="*/ 2147483647 w 36"/>
                <a:gd name="T43" fmla="*/ 0 h 35"/>
                <a:gd name="T44" fmla="*/ 2147483647 w 36"/>
                <a:gd name="T45" fmla="*/ 2147483647 h 35"/>
                <a:gd name="T46" fmla="*/ 0 w 36"/>
                <a:gd name="T47" fmla="*/ 2147483647 h 3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6" h="35">
                  <a:moveTo>
                    <a:pt x="0" y="5"/>
                  </a:moveTo>
                  <a:cubicBezTo>
                    <a:pt x="0" y="5"/>
                    <a:pt x="1" y="7"/>
                    <a:pt x="1" y="8"/>
                  </a:cubicBezTo>
                  <a:cubicBezTo>
                    <a:pt x="1" y="8"/>
                    <a:pt x="2" y="10"/>
                    <a:pt x="2" y="10"/>
                  </a:cubicBezTo>
                  <a:cubicBezTo>
                    <a:pt x="2" y="10"/>
                    <a:pt x="1" y="35"/>
                    <a:pt x="2" y="35"/>
                  </a:cubicBezTo>
                  <a:cubicBezTo>
                    <a:pt x="2" y="35"/>
                    <a:pt x="2" y="35"/>
                    <a:pt x="3" y="35"/>
                  </a:cubicBezTo>
                  <a:cubicBezTo>
                    <a:pt x="7" y="35"/>
                    <a:pt x="29" y="35"/>
                    <a:pt x="29" y="35"/>
                  </a:cubicBezTo>
                  <a:cubicBezTo>
                    <a:pt x="34" y="32"/>
                    <a:pt x="34" y="32"/>
                    <a:pt x="34" y="32"/>
                  </a:cubicBezTo>
                  <a:cubicBezTo>
                    <a:pt x="36" y="30"/>
                    <a:pt x="36" y="30"/>
                    <a:pt x="36" y="30"/>
                  </a:cubicBezTo>
                  <a:cubicBezTo>
                    <a:pt x="36" y="30"/>
                    <a:pt x="36" y="30"/>
                    <a:pt x="36" y="30"/>
                  </a:cubicBezTo>
                  <a:cubicBezTo>
                    <a:pt x="33" y="23"/>
                    <a:pt x="33" y="23"/>
                    <a:pt x="33" y="23"/>
                  </a:cubicBezTo>
                  <a:cubicBezTo>
                    <a:pt x="29" y="15"/>
                    <a:pt x="29" y="15"/>
                    <a:pt x="29" y="15"/>
                  </a:cubicBezTo>
                  <a:cubicBezTo>
                    <a:pt x="24" y="8"/>
                    <a:pt x="24" y="8"/>
                    <a:pt x="24" y="8"/>
                  </a:cubicBezTo>
                  <a:cubicBezTo>
                    <a:pt x="31" y="12"/>
                    <a:pt x="31" y="12"/>
                    <a:pt x="31" y="12"/>
                  </a:cubicBezTo>
                  <a:cubicBezTo>
                    <a:pt x="34" y="9"/>
                    <a:pt x="34" y="9"/>
                    <a:pt x="34" y="9"/>
                  </a:cubicBezTo>
                  <a:cubicBezTo>
                    <a:pt x="33" y="9"/>
                    <a:pt x="33" y="9"/>
                    <a:pt x="33" y="9"/>
                  </a:cubicBezTo>
                  <a:cubicBezTo>
                    <a:pt x="30" y="1"/>
                    <a:pt x="30" y="1"/>
                    <a:pt x="30" y="1"/>
                  </a:cubicBezTo>
                  <a:cubicBezTo>
                    <a:pt x="28" y="3"/>
                    <a:pt x="28" y="3"/>
                    <a:pt x="28" y="3"/>
                  </a:cubicBezTo>
                  <a:cubicBezTo>
                    <a:pt x="22" y="2"/>
                    <a:pt x="22" y="2"/>
                    <a:pt x="22" y="2"/>
                  </a:cubicBezTo>
                  <a:cubicBezTo>
                    <a:pt x="19" y="1"/>
                    <a:pt x="19" y="1"/>
                    <a:pt x="19" y="1"/>
                  </a:cubicBezTo>
                  <a:cubicBezTo>
                    <a:pt x="12" y="3"/>
                    <a:pt x="12" y="3"/>
                    <a:pt x="12" y="3"/>
                  </a:cubicBezTo>
                  <a:cubicBezTo>
                    <a:pt x="6" y="0"/>
                    <a:pt x="6" y="0"/>
                    <a:pt x="6" y="0"/>
                  </a:cubicBezTo>
                  <a:cubicBezTo>
                    <a:pt x="2" y="0"/>
                    <a:pt x="2" y="0"/>
                    <a:pt x="2" y="0"/>
                  </a:cubicBezTo>
                  <a:cubicBezTo>
                    <a:pt x="1" y="2"/>
                    <a:pt x="1" y="2"/>
                    <a:pt x="1" y="2"/>
                  </a:cubicBezTo>
                  <a:lnTo>
                    <a:pt x="0" y="5"/>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68" name="Freeform 65">
              <a:extLst>
                <a:ext uri="{FF2B5EF4-FFF2-40B4-BE49-F238E27FC236}">
                  <a16:creationId xmlns:a16="http://schemas.microsoft.com/office/drawing/2014/main" id="{8EB8FEC2-14E6-1082-9CA5-992A3B4BC9B8}"/>
                </a:ext>
              </a:extLst>
            </p:cNvPr>
            <p:cNvSpPr>
              <a:spLocks/>
            </p:cNvSpPr>
            <p:nvPr/>
          </p:nvSpPr>
          <p:spPr bwMode="auto">
            <a:xfrm>
              <a:off x="5658972" y="3478511"/>
              <a:ext cx="490645" cy="464409"/>
            </a:xfrm>
            <a:custGeom>
              <a:avLst/>
              <a:gdLst>
                <a:gd name="T0" fmla="*/ 2147483647 w 52"/>
                <a:gd name="T1" fmla="*/ 2147483647 h 50"/>
                <a:gd name="T2" fmla="*/ 2147483647 w 52"/>
                <a:gd name="T3" fmla="*/ 2147483647 h 50"/>
                <a:gd name="T4" fmla="*/ 2147483647 w 52"/>
                <a:gd name="T5" fmla="*/ 2147483647 h 50"/>
                <a:gd name="T6" fmla="*/ 0 w 52"/>
                <a:gd name="T7" fmla="*/ 2147483647 h 50"/>
                <a:gd name="T8" fmla="*/ 0 w 52"/>
                <a:gd name="T9" fmla="*/ 2147483647 h 50"/>
                <a:gd name="T10" fmla="*/ 2147483647 w 52"/>
                <a:gd name="T11" fmla="*/ 2147483647 h 50"/>
                <a:gd name="T12" fmla="*/ 2147483647 w 52"/>
                <a:gd name="T13" fmla="*/ 2147483647 h 50"/>
                <a:gd name="T14" fmla="*/ 2147483647 w 52"/>
                <a:gd name="T15" fmla="*/ 2147483647 h 50"/>
                <a:gd name="T16" fmla="*/ 2147483647 w 52"/>
                <a:gd name="T17" fmla="*/ 2147483647 h 50"/>
                <a:gd name="T18" fmla="*/ 2147483647 w 52"/>
                <a:gd name="T19" fmla="*/ 2147483647 h 50"/>
                <a:gd name="T20" fmla="*/ 2147483647 w 52"/>
                <a:gd name="T21" fmla="*/ 2147483647 h 50"/>
                <a:gd name="T22" fmla="*/ 2147483647 w 52"/>
                <a:gd name="T23" fmla="*/ 2147483647 h 50"/>
                <a:gd name="T24" fmla="*/ 2147483647 w 52"/>
                <a:gd name="T25" fmla="*/ 2147483647 h 50"/>
                <a:gd name="T26" fmla="*/ 2147483647 w 52"/>
                <a:gd name="T27" fmla="*/ 2147483647 h 50"/>
                <a:gd name="T28" fmla="*/ 2147483647 w 52"/>
                <a:gd name="T29" fmla="*/ 2147483647 h 50"/>
                <a:gd name="T30" fmla="*/ 2147483647 w 52"/>
                <a:gd name="T31" fmla="*/ 2147483647 h 50"/>
                <a:gd name="T32" fmla="*/ 2147483647 w 52"/>
                <a:gd name="T33" fmla="*/ 2147483647 h 50"/>
                <a:gd name="T34" fmla="*/ 2147483647 w 52"/>
                <a:gd name="T35" fmla="*/ 2147483647 h 50"/>
                <a:gd name="T36" fmla="*/ 2147483647 w 52"/>
                <a:gd name="T37" fmla="*/ 2147483647 h 50"/>
                <a:gd name="T38" fmla="*/ 2147483647 w 52"/>
                <a:gd name="T39" fmla="*/ 2147483647 h 50"/>
                <a:gd name="T40" fmla="*/ 2147483647 w 52"/>
                <a:gd name="T41" fmla="*/ 2147483647 h 50"/>
                <a:gd name="T42" fmla="*/ 2147483647 w 52"/>
                <a:gd name="T43" fmla="*/ 2147483647 h 50"/>
                <a:gd name="T44" fmla="*/ 2147483647 w 52"/>
                <a:gd name="T45" fmla="*/ 2147483647 h 50"/>
                <a:gd name="T46" fmla="*/ 2147483647 w 52"/>
                <a:gd name="T47" fmla="*/ 2147483647 h 50"/>
                <a:gd name="T48" fmla="*/ 2147483647 w 52"/>
                <a:gd name="T49" fmla="*/ 2147483647 h 50"/>
                <a:gd name="T50" fmla="*/ 2147483647 w 52"/>
                <a:gd name="T51" fmla="*/ 2147483647 h 50"/>
                <a:gd name="T52" fmla="*/ 2147483647 w 52"/>
                <a:gd name="T53" fmla="*/ 2147483647 h 50"/>
                <a:gd name="T54" fmla="*/ 2147483647 w 52"/>
                <a:gd name="T55" fmla="*/ 2147483647 h 50"/>
                <a:gd name="T56" fmla="*/ 2147483647 w 52"/>
                <a:gd name="T57" fmla="*/ 2147483647 h 50"/>
                <a:gd name="T58" fmla="*/ 2147483647 w 52"/>
                <a:gd name="T59" fmla="*/ 2147483647 h 50"/>
                <a:gd name="T60" fmla="*/ 2147483647 w 52"/>
                <a:gd name="T61" fmla="*/ 2147483647 h 50"/>
                <a:gd name="T62" fmla="*/ 2147483647 w 52"/>
                <a:gd name="T63" fmla="*/ 2147483647 h 50"/>
                <a:gd name="T64" fmla="*/ 2147483647 w 52"/>
                <a:gd name="T65" fmla="*/ 2147483647 h 50"/>
                <a:gd name="T66" fmla="*/ 2147483647 w 52"/>
                <a:gd name="T67" fmla="*/ 0 h 50"/>
                <a:gd name="T68" fmla="*/ 2147483647 w 52"/>
                <a:gd name="T69" fmla="*/ 2147483647 h 50"/>
                <a:gd name="T70" fmla="*/ 2147483647 w 52"/>
                <a:gd name="T71" fmla="*/ 2147483647 h 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 h="50">
                  <a:moveTo>
                    <a:pt x="4" y="6"/>
                  </a:moveTo>
                  <a:cubicBezTo>
                    <a:pt x="3" y="9"/>
                    <a:pt x="3" y="9"/>
                    <a:pt x="3" y="9"/>
                  </a:cubicBezTo>
                  <a:cubicBezTo>
                    <a:pt x="2" y="10"/>
                    <a:pt x="2" y="10"/>
                    <a:pt x="2" y="10"/>
                  </a:cubicBezTo>
                  <a:cubicBezTo>
                    <a:pt x="0" y="12"/>
                    <a:pt x="0" y="12"/>
                    <a:pt x="0" y="12"/>
                  </a:cubicBezTo>
                  <a:cubicBezTo>
                    <a:pt x="0" y="29"/>
                    <a:pt x="0" y="29"/>
                    <a:pt x="0" y="29"/>
                  </a:cubicBezTo>
                  <a:cubicBezTo>
                    <a:pt x="6" y="34"/>
                    <a:pt x="6" y="34"/>
                    <a:pt x="6" y="34"/>
                  </a:cubicBezTo>
                  <a:cubicBezTo>
                    <a:pt x="9" y="35"/>
                    <a:pt x="9" y="35"/>
                    <a:pt x="9" y="35"/>
                  </a:cubicBezTo>
                  <a:cubicBezTo>
                    <a:pt x="17" y="36"/>
                    <a:pt x="17" y="36"/>
                    <a:pt x="17" y="36"/>
                  </a:cubicBezTo>
                  <a:cubicBezTo>
                    <a:pt x="19" y="38"/>
                    <a:pt x="19" y="38"/>
                    <a:pt x="19" y="38"/>
                  </a:cubicBezTo>
                  <a:cubicBezTo>
                    <a:pt x="23" y="36"/>
                    <a:pt x="23" y="36"/>
                    <a:pt x="23" y="36"/>
                  </a:cubicBezTo>
                  <a:cubicBezTo>
                    <a:pt x="47" y="49"/>
                    <a:pt x="47" y="49"/>
                    <a:pt x="47" y="49"/>
                  </a:cubicBezTo>
                  <a:cubicBezTo>
                    <a:pt x="47" y="48"/>
                    <a:pt x="47" y="48"/>
                    <a:pt x="47" y="48"/>
                  </a:cubicBezTo>
                  <a:cubicBezTo>
                    <a:pt x="47" y="49"/>
                    <a:pt x="47" y="49"/>
                    <a:pt x="47" y="49"/>
                  </a:cubicBezTo>
                  <a:cubicBezTo>
                    <a:pt x="48" y="50"/>
                    <a:pt x="48" y="50"/>
                    <a:pt x="48" y="50"/>
                  </a:cubicBezTo>
                  <a:cubicBezTo>
                    <a:pt x="48" y="47"/>
                    <a:pt x="48" y="47"/>
                    <a:pt x="48" y="47"/>
                  </a:cubicBezTo>
                  <a:cubicBezTo>
                    <a:pt x="51" y="47"/>
                    <a:pt x="51" y="47"/>
                    <a:pt x="51" y="47"/>
                  </a:cubicBezTo>
                  <a:cubicBezTo>
                    <a:pt x="52" y="41"/>
                    <a:pt x="52" y="41"/>
                    <a:pt x="52" y="41"/>
                  </a:cubicBezTo>
                  <a:cubicBezTo>
                    <a:pt x="51" y="41"/>
                    <a:pt x="51" y="41"/>
                    <a:pt x="51" y="41"/>
                  </a:cubicBezTo>
                  <a:cubicBezTo>
                    <a:pt x="50" y="41"/>
                    <a:pt x="51" y="16"/>
                    <a:pt x="51" y="16"/>
                  </a:cubicBezTo>
                  <a:cubicBezTo>
                    <a:pt x="51" y="16"/>
                    <a:pt x="50" y="14"/>
                    <a:pt x="50" y="14"/>
                  </a:cubicBezTo>
                  <a:cubicBezTo>
                    <a:pt x="50" y="13"/>
                    <a:pt x="49" y="11"/>
                    <a:pt x="49" y="11"/>
                  </a:cubicBezTo>
                  <a:cubicBezTo>
                    <a:pt x="50" y="8"/>
                    <a:pt x="50" y="8"/>
                    <a:pt x="50" y="8"/>
                  </a:cubicBezTo>
                  <a:cubicBezTo>
                    <a:pt x="51" y="6"/>
                    <a:pt x="51" y="6"/>
                    <a:pt x="51" y="6"/>
                  </a:cubicBezTo>
                  <a:cubicBezTo>
                    <a:pt x="48" y="5"/>
                    <a:pt x="48" y="5"/>
                    <a:pt x="48" y="5"/>
                  </a:cubicBezTo>
                  <a:cubicBezTo>
                    <a:pt x="45" y="3"/>
                    <a:pt x="45" y="3"/>
                    <a:pt x="45" y="3"/>
                  </a:cubicBezTo>
                  <a:cubicBezTo>
                    <a:pt x="41" y="2"/>
                    <a:pt x="41" y="2"/>
                    <a:pt x="41" y="2"/>
                  </a:cubicBezTo>
                  <a:cubicBezTo>
                    <a:pt x="35" y="4"/>
                    <a:pt x="35" y="4"/>
                    <a:pt x="35" y="4"/>
                  </a:cubicBezTo>
                  <a:cubicBezTo>
                    <a:pt x="35" y="8"/>
                    <a:pt x="35" y="8"/>
                    <a:pt x="35" y="8"/>
                  </a:cubicBezTo>
                  <a:cubicBezTo>
                    <a:pt x="29" y="10"/>
                    <a:pt x="29" y="10"/>
                    <a:pt x="29" y="10"/>
                  </a:cubicBezTo>
                  <a:cubicBezTo>
                    <a:pt x="25" y="7"/>
                    <a:pt x="25" y="7"/>
                    <a:pt x="25" y="7"/>
                  </a:cubicBezTo>
                  <a:cubicBezTo>
                    <a:pt x="22" y="5"/>
                    <a:pt x="22" y="5"/>
                    <a:pt x="22" y="5"/>
                  </a:cubicBezTo>
                  <a:cubicBezTo>
                    <a:pt x="20" y="3"/>
                    <a:pt x="20" y="3"/>
                    <a:pt x="20" y="3"/>
                  </a:cubicBezTo>
                  <a:cubicBezTo>
                    <a:pt x="13" y="2"/>
                    <a:pt x="13" y="2"/>
                    <a:pt x="13" y="2"/>
                  </a:cubicBezTo>
                  <a:cubicBezTo>
                    <a:pt x="8" y="0"/>
                    <a:pt x="8" y="0"/>
                    <a:pt x="8" y="0"/>
                  </a:cubicBezTo>
                  <a:cubicBezTo>
                    <a:pt x="8" y="2"/>
                    <a:pt x="8" y="2"/>
                    <a:pt x="8" y="2"/>
                  </a:cubicBezTo>
                  <a:lnTo>
                    <a:pt x="4" y="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69" name="Freeform 66">
              <a:extLst>
                <a:ext uri="{FF2B5EF4-FFF2-40B4-BE49-F238E27FC236}">
                  <a16:creationId xmlns:a16="http://schemas.microsoft.com/office/drawing/2014/main" id="{C08CF0EE-8426-BBDD-0500-21A9F8C7C608}"/>
                </a:ext>
              </a:extLst>
            </p:cNvPr>
            <p:cNvSpPr>
              <a:spLocks/>
            </p:cNvSpPr>
            <p:nvPr/>
          </p:nvSpPr>
          <p:spPr bwMode="auto">
            <a:xfrm>
              <a:off x="5611428" y="3340135"/>
              <a:ext cx="123613" cy="231257"/>
            </a:xfrm>
            <a:custGeom>
              <a:avLst/>
              <a:gdLst>
                <a:gd name="T0" fmla="*/ 2147483647 w 78"/>
                <a:gd name="T1" fmla="*/ 2147483647 h 150"/>
                <a:gd name="T2" fmla="*/ 2147483647 w 78"/>
                <a:gd name="T3" fmla="*/ 2147483647 h 150"/>
                <a:gd name="T4" fmla="*/ 2147483647 w 78"/>
                <a:gd name="T5" fmla="*/ 2147483647 h 150"/>
                <a:gd name="T6" fmla="*/ 0 w 78"/>
                <a:gd name="T7" fmla="*/ 2147483647 h 150"/>
                <a:gd name="T8" fmla="*/ 0 w 78"/>
                <a:gd name="T9" fmla="*/ 2147483647 h 150"/>
                <a:gd name="T10" fmla="*/ 2147483647 w 78"/>
                <a:gd name="T11" fmla="*/ 2147483647 h 150"/>
                <a:gd name="T12" fmla="*/ 2147483647 w 78"/>
                <a:gd name="T13" fmla="*/ 2147483647 h 150"/>
                <a:gd name="T14" fmla="*/ 2147483647 w 78"/>
                <a:gd name="T15" fmla="*/ 2147483647 h 150"/>
                <a:gd name="T16" fmla="*/ 2147483647 w 78"/>
                <a:gd name="T17" fmla="*/ 2147483647 h 150"/>
                <a:gd name="T18" fmla="*/ 2147483647 w 78"/>
                <a:gd name="T19" fmla="*/ 2147483647 h 150"/>
                <a:gd name="T20" fmla="*/ 2147483647 w 78"/>
                <a:gd name="T21" fmla="*/ 2147483647 h 150"/>
                <a:gd name="T22" fmla="*/ 2147483647 w 78"/>
                <a:gd name="T23" fmla="*/ 2147483647 h 150"/>
                <a:gd name="T24" fmla="*/ 2147483647 w 78"/>
                <a:gd name="T25" fmla="*/ 2147483647 h 150"/>
                <a:gd name="T26" fmla="*/ 2147483647 w 78"/>
                <a:gd name="T27" fmla="*/ 2147483647 h 150"/>
                <a:gd name="T28" fmla="*/ 2147483647 w 78"/>
                <a:gd name="T29" fmla="*/ 2147483647 h 150"/>
                <a:gd name="T30" fmla="*/ 2147483647 w 78"/>
                <a:gd name="T31" fmla="*/ 2147483647 h 150"/>
                <a:gd name="T32" fmla="*/ 2147483647 w 78"/>
                <a:gd name="T33" fmla="*/ 2147483647 h 150"/>
                <a:gd name="T34" fmla="*/ 2147483647 w 78"/>
                <a:gd name="T35" fmla="*/ 2147483647 h 150"/>
                <a:gd name="T36" fmla="*/ 2147483647 w 78"/>
                <a:gd name="T37" fmla="*/ 0 h 150"/>
                <a:gd name="T38" fmla="*/ 2147483647 w 78"/>
                <a:gd name="T39" fmla="*/ 0 h 150"/>
                <a:gd name="T40" fmla="*/ 2147483647 w 78"/>
                <a:gd name="T41" fmla="*/ 2147483647 h 150"/>
                <a:gd name="T42" fmla="*/ 2147483647 w 78"/>
                <a:gd name="T43" fmla="*/ 2147483647 h 15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78" h="150">
                  <a:moveTo>
                    <a:pt x="18" y="12"/>
                  </a:moveTo>
                  <a:lnTo>
                    <a:pt x="18" y="30"/>
                  </a:lnTo>
                  <a:lnTo>
                    <a:pt x="18" y="54"/>
                  </a:lnTo>
                  <a:lnTo>
                    <a:pt x="0" y="78"/>
                  </a:lnTo>
                  <a:lnTo>
                    <a:pt x="0" y="90"/>
                  </a:lnTo>
                  <a:lnTo>
                    <a:pt x="12" y="102"/>
                  </a:lnTo>
                  <a:lnTo>
                    <a:pt x="18" y="108"/>
                  </a:lnTo>
                  <a:lnTo>
                    <a:pt x="36" y="120"/>
                  </a:lnTo>
                  <a:lnTo>
                    <a:pt x="36" y="144"/>
                  </a:lnTo>
                  <a:lnTo>
                    <a:pt x="42" y="150"/>
                  </a:lnTo>
                  <a:lnTo>
                    <a:pt x="48" y="144"/>
                  </a:lnTo>
                  <a:lnTo>
                    <a:pt x="54" y="126"/>
                  </a:lnTo>
                  <a:lnTo>
                    <a:pt x="78" y="102"/>
                  </a:lnTo>
                  <a:lnTo>
                    <a:pt x="78" y="90"/>
                  </a:lnTo>
                  <a:lnTo>
                    <a:pt x="60" y="84"/>
                  </a:lnTo>
                  <a:lnTo>
                    <a:pt x="42" y="72"/>
                  </a:lnTo>
                  <a:lnTo>
                    <a:pt x="66" y="36"/>
                  </a:lnTo>
                  <a:lnTo>
                    <a:pt x="60" y="12"/>
                  </a:lnTo>
                  <a:lnTo>
                    <a:pt x="36" y="0"/>
                  </a:lnTo>
                  <a:lnTo>
                    <a:pt x="24" y="0"/>
                  </a:lnTo>
                  <a:lnTo>
                    <a:pt x="24" y="6"/>
                  </a:lnTo>
                  <a:lnTo>
                    <a:pt x="18" y="12"/>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70" name="Freeform 67">
              <a:extLst>
                <a:ext uri="{FF2B5EF4-FFF2-40B4-BE49-F238E27FC236}">
                  <a16:creationId xmlns:a16="http://schemas.microsoft.com/office/drawing/2014/main" id="{3B79DA2A-53D9-2039-08E2-DD8EADE2398E}"/>
                </a:ext>
              </a:extLst>
            </p:cNvPr>
            <p:cNvSpPr>
              <a:spLocks/>
            </p:cNvSpPr>
            <p:nvPr/>
          </p:nvSpPr>
          <p:spPr bwMode="auto">
            <a:xfrm>
              <a:off x="5004779" y="3395106"/>
              <a:ext cx="355622" cy="271063"/>
            </a:xfrm>
            <a:custGeom>
              <a:avLst/>
              <a:gdLst>
                <a:gd name="T0" fmla="*/ 2147483647 w 228"/>
                <a:gd name="T1" fmla="*/ 2147483647 h 174"/>
                <a:gd name="T2" fmla="*/ 2147483647 w 228"/>
                <a:gd name="T3" fmla="*/ 2147483647 h 174"/>
                <a:gd name="T4" fmla="*/ 2147483647 w 228"/>
                <a:gd name="T5" fmla="*/ 2147483647 h 174"/>
                <a:gd name="T6" fmla="*/ 2147483647 w 228"/>
                <a:gd name="T7" fmla="*/ 2147483647 h 174"/>
                <a:gd name="T8" fmla="*/ 2147483647 w 228"/>
                <a:gd name="T9" fmla="*/ 2147483647 h 174"/>
                <a:gd name="T10" fmla="*/ 2147483647 w 228"/>
                <a:gd name="T11" fmla="*/ 2147483647 h 174"/>
                <a:gd name="T12" fmla="*/ 2147483647 w 228"/>
                <a:gd name="T13" fmla="*/ 2147483647 h 174"/>
                <a:gd name="T14" fmla="*/ 2147483647 w 228"/>
                <a:gd name="T15" fmla="*/ 2147483647 h 174"/>
                <a:gd name="T16" fmla="*/ 2147483647 w 228"/>
                <a:gd name="T17" fmla="*/ 2147483647 h 174"/>
                <a:gd name="T18" fmla="*/ 2147483647 w 228"/>
                <a:gd name="T19" fmla="*/ 2147483647 h 174"/>
                <a:gd name="T20" fmla="*/ 2147483647 w 228"/>
                <a:gd name="T21" fmla="*/ 2147483647 h 174"/>
                <a:gd name="T22" fmla="*/ 2147483647 w 228"/>
                <a:gd name="T23" fmla="*/ 2147483647 h 174"/>
                <a:gd name="T24" fmla="*/ 2147483647 w 228"/>
                <a:gd name="T25" fmla="*/ 2147483647 h 174"/>
                <a:gd name="T26" fmla="*/ 2147483647 w 228"/>
                <a:gd name="T27" fmla="*/ 0 h 174"/>
                <a:gd name="T28" fmla="*/ 2147483647 w 228"/>
                <a:gd name="T29" fmla="*/ 2147483647 h 174"/>
                <a:gd name="T30" fmla="*/ 2147483647 w 228"/>
                <a:gd name="T31" fmla="*/ 2147483647 h 174"/>
                <a:gd name="T32" fmla="*/ 2147483647 w 228"/>
                <a:gd name="T33" fmla="*/ 2147483647 h 174"/>
                <a:gd name="T34" fmla="*/ 2147483647 w 228"/>
                <a:gd name="T35" fmla="*/ 2147483647 h 174"/>
                <a:gd name="T36" fmla="*/ 2147483647 w 228"/>
                <a:gd name="T37" fmla="*/ 2147483647 h 174"/>
                <a:gd name="T38" fmla="*/ 0 w 228"/>
                <a:gd name="T39" fmla="*/ 2147483647 h 174"/>
                <a:gd name="T40" fmla="*/ 2147483647 w 228"/>
                <a:gd name="T41" fmla="*/ 2147483647 h 174"/>
                <a:gd name="T42" fmla="*/ 2147483647 w 228"/>
                <a:gd name="T43" fmla="*/ 2147483647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8" h="174">
                  <a:moveTo>
                    <a:pt x="90" y="156"/>
                  </a:moveTo>
                  <a:lnTo>
                    <a:pt x="114" y="138"/>
                  </a:lnTo>
                  <a:lnTo>
                    <a:pt x="144" y="120"/>
                  </a:lnTo>
                  <a:lnTo>
                    <a:pt x="180" y="108"/>
                  </a:lnTo>
                  <a:lnTo>
                    <a:pt x="186" y="96"/>
                  </a:lnTo>
                  <a:lnTo>
                    <a:pt x="192" y="84"/>
                  </a:lnTo>
                  <a:lnTo>
                    <a:pt x="216" y="78"/>
                  </a:lnTo>
                  <a:lnTo>
                    <a:pt x="228" y="72"/>
                  </a:lnTo>
                  <a:lnTo>
                    <a:pt x="222" y="42"/>
                  </a:lnTo>
                  <a:lnTo>
                    <a:pt x="216" y="12"/>
                  </a:lnTo>
                  <a:lnTo>
                    <a:pt x="210" y="12"/>
                  </a:lnTo>
                  <a:lnTo>
                    <a:pt x="186" y="12"/>
                  </a:lnTo>
                  <a:lnTo>
                    <a:pt x="168" y="12"/>
                  </a:lnTo>
                  <a:lnTo>
                    <a:pt x="144" y="0"/>
                  </a:lnTo>
                  <a:lnTo>
                    <a:pt x="120" y="36"/>
                  </a:lnTo>
                  <a:lnTo>
                    <a:pt x="96" y="60"/>
                  </a:lnTo>
                  <a:lnTo>
                    <a:pt x="72" y="90"/>
                  </a:lnTo>
                  <a:lnTo>
                    <a:pt x="66" y="138"/>
                  </a:lnTo>
                  <a:lnTo>
                    <a:pt x="12" y="162"/>
                  </a:lnTo>
                  <a:lnTo>
                    <a:pt x="0" y="174"/>
                  </a:lnTo>
                  <a:lnTo>
                    <a:pt x="84" y="174"/>
                  </a:lnTo>
                  <a:lnTo>
                    <a:pt x="90" y="15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71" name="Freeform 68">
              <a:extLst>
                <a:ext uri="{FF2B5EF4-FFF2-40B4-BE49-F238E27FC236}">
                  <a16:creationId xmlns:a16="http://schemas.microsoft.com/office/drawing/2014/main" id="{6520BDFA-F368-927F-E7DD-DC87C2ADA57A}"/>
                </a:ext>
              </a:extLst>
            </p:cNvPr>
            <p:cNvSpPr>
              <a:spLocks/>
            </p:cNvSpPr>
            <p:nvPr/>
          </p:nvSpPr>
          <p:spPr bwMode="auto">
            <a:xfrm>
              <a:off x="4898282" y="3666170"/>
              <a:ext cx="245322" cy="212302"/>
            </a:xfrm>
            <a:custGeom>
              <a:avLst/>
              <a:gdLst>
                <a:gd name="T0" fmla="*/ 2147483647 w 26"/>
                <a:gd name="T1" fmla="*/ 2147483647 h 23"/>
                <a:gd name="T2" fmla="*/ 2147483647 w 26"/>
                <a:gd name="T3" fmla="*/ 2147483647 h 23"/>
                <a:gd name="T4" fmla="*/ 2147483647 w 26"/>
                <a:gd name="T5" fmla="*/ 2147483647 h 23"/>
                <a:gd name="T6" fmla="*/ 2147483647 w 26"/>
                <a:gd name="T7" fmla="*/ 2147483647 h 23"/>
                <a:gd name="T8" fmla="*/ 2147483647 w 26"/>
                <a:gd name="T9" fmla="*/ 2147483647 h 23"/>
                <a:gd name="T10" fmla="*/ 2147483647 w 26"/>
                <a:gd name="T11" fmla="*/ 2147483647 h 23"/>
                <a:gd name="T12" fmla="*/ 2147483647 w 26"/>
                <a:gd name="T13" fmla="*/ 0 h 23"/>
                <a:gd name="T14" fmla="*/ 2147483647 w 26"/>
                <a:gd name="T15" fmla="*/ 0 h 23"/>
                <a:gd name="T16" fmla="*/ 2147483647 w 26"/>
                <a:gd name="T17" fmla="*/ 2147483647 h 23"/>
                <a:gd name="T18" fmla="*/ 2147483647 w 26"/>
                <a:gd name="T19" fmla="*/ 2147483647 h 23"/>
                <a:gd name="T20" fmla="*/ 0 w 26"/>
                <a:gd name="T21" fmla="*/ 2147483647 h 23"/>
                <a:gd name="T22" fmla="*/ 2147483647 w 26"/>
                <a:gd name="T23" fmla="*/ 2147483647 h 23"/>
                <a:gd name="T24" fmla="*/ 2147483647 w 26"/>
                <a:gd name="T25" fmla="*/ 2147483647 h 2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6" h="23">
                  <a:moveTo>
                    <a:pt x="13" y="16"/>
                  </a:moveTo>
                  <a:cubicBezTo>
                    <a:pt x="15" y="14"/>
                    <a:pt x="15" y="14"/>
                    <a:pt x="15" y="14"/>
                  </a:cubicBezTo>
                  <a:cubicBezTo>
                    <a:pt x="16" y="6"/>
                    <a:pt x="16" y="6"/>
                    <a:pt x="16" y="6"/>
                  </a:cubicBezTo>
                  <a:cubicBezTo>
                    <a:pt x="26" y="6"/>
                    <a:pt x="26" y="6"/>
                    <a:pt x="26" y="6"/>
                  </a:cubicBezTo>
                  <a:cubicBezTo>
                    <a:pt x="26" y="3"/>
                    <a:pt x="26" y="3"/>
                    <a:pt x="26" y="3"/>
                  </a:cubicBezTo>
                  <a:cubicBezTo>
                    <a:pt x="25" y="3"/>
                    <a:pt x="25" y="3"/>
                    <a:pt x="25" y="3"/>
                  </a:cubicBezTo>
                  <a:cubicBezTo>
                    <a:pt x="25" y="0"/>
                    <a:pt x="25" y="0"/>
                    <a:pt x="25" y="0"/>
                  </a:cubicBezTo>
                  <a:cubicBezTo>
                    <a:pt x="11" y="0"/>
                    <a:pt x="11" y="0"/>
                    <a:pt x="11" y="0"/>
                  </a:cubicBezTo>
                  <a:cubicBezTo>
                    <a:pt x="9" y="2"/>
                    <a:pt x="9" y="2"/>
                    <a:pt x="9" y="2"/>
                  </a:cubicBezTo>
                  <a:cubicBezTo>
                    <a:pt x="4" y="13"/>
                    <a:pt x="4" y="13"/>
                    <a:pt x="4" y="13"/>
                  </a:cubicBezTo>
                  <a:cubicBezTo>
                    <a:pt x="0" y="22"/>
                    <a:pt x="0" y="22"/>
                    <a:pt x="0" y="22"/>
                  </a:cubicBezTo>
                  <a:cubicBezTo>
                    <a:pt x="4" y="22"/>
                    <a:pt x="12" y="23"/>
                    <a:pt x="12" y="23"/>
                  </a:cubicBezTo>
                  <a:cubicBezTo>
                    <a:pt x="13" y="23"/>
                    <a:pt x="13" y="16"/>
                    <a:pt x="13" y="16"/>
                  </a:cubicBez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72" name="Freeform 69">
              <a:extLst>
                <a:ext uri="{FF2B5EF4-FFF2-40B4-BE49-F238E27FC236}">
                  <a16:creationId xmlns:a16="http://schemas.microsoft.com/office/drawing/2014/main" id="{8568BE05-23A2-67AA-7A51-19C5BBB63801}"/>
                </a:ext>
              </a:extLst>
            </p:cNvPr>
            <p:cNvSpPr>
              <a:spLocks/>
            </p:cNvSpPr>
            <p:nvPr/>
          </p:nvSpPr>
          <p:spPr bwMode="auto">
            <a:xfrm>
              <a:off x="4909693" y="4140057"/>
              <a:ext cx="74167" cy="56867"/>
            </a:xfrm>
            <a:custGeom>
              <a:avLst/>
              <a:gdLst>
                <a:gd name="T0" fmla="*/ 2147483647 w 48"/>
                <a:gd name="T1" fmla="*/ 2147483647 h 36"/>
                <a:gd name="T2" fmla="*/ 2147483647 w 48"/>
                <a:gd name="T3" fmla="*/ 2147483647 h 36"/>
                <a:gd name="T4" fmla="*/ 2147483647 w 48"/>
                <a:gd name="T5" fmla="*/ 0 h 36"/>
                <a:gd name="T6" fmla="*/ 2147483647 w 48"/>
                <a:gd name="T7" fmla="*/ 0 h 36"/>
                <a:gd name="T8" fmla="*/ 2147483647 w 48"/>
                <a:gd name="T9" fmla="*/ 2147483647 h 36"/>
                <a:gd name="T10" fmla="*/ 0 w 48"/>
                <a:gd name="T11" fmla="*/ 2147483647 h 36"/>
                <a:gd name="T12" fmla="*/ 2147483647 w 48"/>
                <a:gd name="T13" fmla="*/ 2147483647 h 36"/>
                <a:gd name="T14" fmla="*/ 2147483647 w 48"/>
                <a:gd name="T15" fmla="*/ 2147483647 h 36"/>
                <a:gd name="T16" fmla="*/ 2147483647 w 48"/>
                <a:gd name="T17" fmla="*/ 2147483647 h 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8" h="36">
                  <a:moveTo>
                    <a:pt x="48" y="24"/>
                  </a:moveTo>
                  <a:lnTo>
                    <a:pt x="48" y="6"/>
                  </a:lnTo>
                  <a:lnTo>
                    <a:pt x="48" y="0"/>
                  </a:lnTo>
                  <a:lnTo>
                    <a:pt x="36" y="0"/>
                  </a:lnTo>
                  <a:lnTo>
                    <a:pt x="6" y="6"/>
                  </a:lnTo>
                  <a:lnTo>
                    <a:pt x="0" y="6"/>
                  </a:lnTo>
                  <a:lnTo>
                    <a:pt x="18" y="36"/>
                  </a:lnTo>
                  <a:lnTo>
                    <a:pt x="36" y="24"/>
                  </a:lnTo>
                  <a:lnTo>
                    <a:pt x="48" y="24"/>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73" name="Freeform 70">
              <a:extLst>
                <a:ext uri="{FF2B5EF4-FFF2-40B4-BE49-F238E27FC236}">
                  <a16:creationId xmlns:a16="http://schemas.microsoft.com/office/drawing/2014/main" id="{A32E7F5E-5710-7EEF-4467-BB197014E6DE}"/>
                </a:ext>
              </a:extLst>
            </p:cNvPr>
            <p:cNvSpPr>
              <a:spLocks/>
            </p:cNvSpPr>
            <p:nvPr/>
          </p:nvSpPr>
          <p:spPr bwMode="auto">
            <a:xfrm>
              <a:off x="6046924" y="3815919"/>
              <a:ext cx="486841" cy="595203"/>
            </a:xfrm>
            <a:custGeom>
              <a:avLst/>
              <a:gdLst>
                <a:gd name="T0" fmla="*/ 2147483647 w 52"/>
                <a:gd name="T1" fmla="*/ 2147483647 h 64"/>
                <a:gd name="T2" fmla="*/ 2147483647 w 52"/>
                <a:gd name="T3" fmla="*/ 2147483647 h 64"/>
                <a:gd name="T4" fmla="*/ 2147483647 w 52"/>
                <a:gd name="T5" fmla="*/ 2147483647 h 64"/>
                <a:gd name="T6" fmla="*/ 2147483647 w 52"/>
                <a:gd name="T7" fmla="*/ 2147483647 h 64"/>
                <a:gd name="T8" fmla="*/ 2147483647 w 52"/>
                <a:gd name="T9" fmla="*/ 2147483647 h 64"/>
                <a:gd name="T10" fmla="*/ 2147483647 w 52"/>
                <a:gd name="T11" fmla="*/ 2147483647 h 64"/>
                <a:gd name="T12" fmla="*/ 2147483647 w 52"/>
                <a:gd name="T13" fmla="*/ 2147483647 h 64"/>
                <a:gd name="T14" fmla="*/ 2147483647 w 52"/>
                <a:gd name="T15" fmla="*/ 2147483647 h 64"/>
                <a:gd name="T16" fmla="*/ 2147483647 w 52"/>
                <a:gd name="T17" fmla="*/ 2147483647 h 64"/>
                <a:gd name="T18" fmla="*/ 0 w 52"/>
                <a:gd name="T19" fmla="*/ 2147483647 h 64"/>
                <a:gd name="T20" fmla="*/ 2147483647 w 52"/>
                <a:gd name="T21" fmla="*/ 2147483647 h 64"/>
                <a:gd name="T22" fmla="*/ 2147483647 w 52"/>
                <a:gd name="T23" fmla="*/ 2147483647 h 64"/>
                <a:gd name="T24" fmla="*/ 2147483647 w 52"/>
                <a:gd name="T25" fmla="*/ 2147483647 h 64"/>
                <a:gd name="T26" fmla="*/ 2147483647 w 52"/>
                <a:gd name="T27" fmla="*/ 2147483647 h 64"/>
                <a:gd name="T28" fmla="*/ 2147483647 w 52"/>
                <a:gd name="T29" fmla="*/ 2147483647 h 64"/>
                <a:gd name="T30" fmla="*/ 2147483647 w 52"/>
                <a:gd name="T31" fmla="*/ 2147483647 h 64"/>
                <a:gd name="T32" fmla="*/ 2147483647 w 52"/>
                <a:gd name="T33" fmla="*/ 2147483647 h 64"/>
                <a:gd name="T34" fmla="*/ 2147483647 w 52"/>
                <a:gd name="T35" fmla="*/ 2147483647 h 64"/>
                <a:gd name="T36" fmla="*/ 2147483647 w 52"/>
                <a:gd name="T37" fmla="*/ 2147483647 h 64"/>
                <a:gd name="T38" fmla="*/ 2147483647 w 52"/>
                <a:gd name="T39" fmla="*/ 2147483647 h 64"/>
                <a:gd name="T40" fmla="*/ 2147483647 w 52"/>
                <a:gd name="T41" fmla="*/ 2147483647 h 64"/>
                <a:gd name="T42" fmla="*/ 2147483647 w 52"/>
                <a:gd name="T43" fmla="*/ 2147483647 h 64"/>
                <a:gd name="T44" fmla="*/ 2147483647 w 52"/>
                <a:gd name="T45" fmla="*/ 2147483647 h 64"/>
                <a:gd name="T46" fmla="*/ 2147483647 w 52"/>
                <a:gd name="T47" fmla="*/ 2147483647 h 64"/>
                <a:gd name="T48" fmla="*/ 2147483647 w 52"/>
                <a:gd name="T49" fmla="*/ 2147483647 h 64"/>
                <a:gd name="T50" fmla="*/ 2147483647 w 52"/>
                <a:gd name="T51" fmla="*/ 2147483647 h 64"/>
                <a:gd name="T52" fmla="*/ 2147483647 w 52"/>
                <a:gd name="T53" fmla="*/ 2147483647 h 64"/>
                <a:gd name="T54" fmla="*/ 2147483647 w 52"/>
                <a:gd name="T55" fmla="*/ 2147483647 h 64"/>
                <a:gd name="T56" fmla="*/ 2147483647 w 52"/>
                <a:gd name="T57" fmla="*/ 2147483647 h 64"/>
                <a:gd name="T58" fmla="*/ 2147483647 w 52"/>
                <a:gd name="T59" fmla="*/ 2147483647 h 64"/>
                <a:gd name="T60" fmla="*/ 2147483647 w 52"/>
                <a:gd name="T61" fmla="*/ 2147483647 h 64"/>
                <a:gd name="T62" fmla="*/ 2147483647 w 52"/>
                <a:gd name="T63" fmla="*/ 2147483647 h 64"/>
                <a:gd name="T64" fmla="*/ 2147483647 w 52"/>
                <a:gd name="T65" fmla="*/ 2147483647 h 64"/>
                <a:gd name="T66" fmla="*/ 2147483647 w 52"/>
                <a:gd name="T67" fmla="*/ 2147483647 h 64"/>
                <a:gd name="T68" fmla="*/ 2147483647 w 52"/>
                <a:gd name="T69" fmla="*/ 2147483647 h 64"/>
                <a:gd name="T70" fmla="*/ 2147483647 w 52"/>
                <a:gd name="T71" fmla="*/ 0 h 64"/>
                <a:gd name="T72" fmla="*/ 2147483647 w 52"/>
                <a:gd name="T73" fmla="*/ 2147483647 h 64"/>
                <a:gd name="T74" fmla="*/ 2147483647 w 52"/>
                <a:gd name="T75" fmla="*/ 2147483647 h 6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52" h="64">
                  <a:moveTo>
                    <a:pt x="37" y="5"/>
                  </a:moveTo>
                  <a:cubicBezTo>
                    <a:pt x="37" y="5"/>
                    <a:pt x="15" y="5"/>
                    <a:pt x="11" y="5"/>
                  </a:cubicBezTo>
                  <a:cubicBezTo>
                    <a:pt x="10" y="11"/>
                    <a:pt x="10" y="11"/>
                    <a:pt x="10" y="11"/>
                  </a:cubicBezTo>
                  <a:cubicBezTo>
                    <a:pt x="7" y="11"/>
                    <a:pt x="7" y="11"/>
                    <a:pt x="7" y="11"/>
                  </a:cubicBezTo>
                  <a:cubicBezTo>
                    <a:pt x="7" y="14"/>
                    <a:pt x="7" y="14"/>
                    <a:pt x="7" y="14"/>
                  </a:cubicBezTo>
                  <a:cubicBezTo>
                    <a:pt x="6" y="13"/>
                    <a:pt x="6" y="13"/>
                    <a:pt x="6" y="13"/>
                  </a:cubicBezTo>
                  <a:cubicBezTo>
                    <a:pt x="5" y="25"/>
                    <a:pt x="5" y="25"/>
                    <a:pt x="5" y="25"/>
                  </a:cubicBezTo>
                  <a:cubicBezTo>
                    <a:pt x="2" y="27"/>
                    <a:pt x="2" y="27"/>
                    <a:pt x="2" y="27"/>
                  </a:cubicBezTo>
                  <a:cubicBezTo>
                    <a:pt x="1" y="32"/>
                    <a:pt x="1" y="32"/>
                    <a:pt x="1" y="32"/>
                  </a:cubicBezTo>
                  <a:cubicBezTo>
                    <a:pt x="0" y="35"/>
                    <a:pt x="0" y="35"/>
                    <a:pt x="0" y="35"/>
                  </a:cubicBezTo>
                  <a:cubicBezTo>
                    <a:pt x="3" y="41"/>
                    <a:pt x="3" y="41"/>
                    <a:pt x="3" y="41"/>
                  </a:cubicBezTo>
                  <a:cubicBezTo>
                    <a:pt x="5" y="45"/>
                    <a:pt x="5" y="45"/>
                    <a:pt x="5" y="45"/>
                  </a:cubicBezTo>
                  <a:cubicBezTo>
                    <a:pt x="8" y="50"/>
                    <a:pt x="8" y="50"/>
                    <a:pt x="8" y="50"/>
                  </a:cubicBezTo>
                  <a:cubicBezTo>
                    <a:pt x="12" y="52"/>
                    <a:pt x="12" y="52"/>
                    <a:pt x="12" y="52"/>
                  </a:cubicBezTo>
                  <a:cubicBezTo>
                    <a:pt x="18" y="58"/>
                    <a:pt x="18" y="58"/>
                    <a:pt x="18" y="58"/>
                  </a:cubicBezTo>
                  <a:cubicBezTo>
                    <a:pt x="20" y="61"/>
                    <a:pt x="20" y="61"/>
                    <a:pt x="20" y="61"/>
                  </a:cubicBezTo>
                  <a:cubicBezTo>
                    <a:pt x="25" y="61"/>
                    <a:pt x="25" y="61"/>
                    <a:pt x="25" y="61"/>
                  </a:cubicBezTo>
                  <a:cubicBezTo>
                    <a:pt x="29" y="64"/>
                    <a:pt x="29" y="64"/>
                    <a:pt x="29" y="64"/>
                  </a:cubicBezTo>
                  <a:cubicBezTo>
                    <a:pt x="36" y="63"/>
                    <a:pt x="36" y="63"/>
                    <a:pt x="36" y="63"/>
                  </a:cubicBezTo>
                  <a:cubicBezTo>
                    <a:pt x="41" y="61"/>
                    <a:pt x="41" y="61"/>
                    <a:pt x="41" y="61"/>
                  </a:cubicBezTo>
                  <a:cubicBezTo>
                    <a:pt x="44" y="61"/>
                    <a:pt x="44" y="61"/>
                    <a:pt x="44" y="61"/>
                  </a:cubicBezTo>
                  <a:cubicBezTo>
                    <a:pt x="44" y="59"/>
                    <a:pt x="44" y="59"/>
                    <a:pt x="44" y="59"/>
                  </a:cubicBezTo>
                  <a:cubicBezTo>
                    <a:pt x="42" y="57"/>
                    <a:pt x="42" y="57"/>
                    <a:pt x="42" y="57"/>
                  </a:cubicBezTo>
                  <a:cubicBezTo>
                    <a:pt x="39" y="54"/>
                    <a:pt x="39" y="54"/>
                    <a:pt x="39" y="54"/>
                  </a:cubicBezTo>
                  <a:cubicBezTo>
                    <a:pt x="35" y="51"/>
                    <a:pt x="35" y="51"/>
                    <a:pt x="35" y="51"/>
                  </a:cubicBezTo>
                  <a:cubicBezTo>
                    <a:pt x="36" y="48"/>
                    <a:pt x="36" y="48"/>
                    <a:pt x="36" y="48"/>
                  </a:cubicBezTo>
                  <a:cubicBezTo>
                    <a:pt x="38" y="48"/>
                    <a:pt x="38" y="48"/>
                    <a:pt x="38" y="48"/>
                  </a:cubicBezTo>
                  <a:cubicBezTo>
                    <a:pt x="39" y="42"/>
                    <a:pt x="39" y="42"/>
                    <a:pt x="39" y="42"/>
                  </a:cubicBezTo>
                  <a:cubicBezTo>
                    <a:pt x="43" y="38"/>
                    <a:pt x="43" y="38"/>
                    <a:pt x="43" y="38"/>
                  </a:cubicBezTo>
                  <a:cubicBezTo>
                    <a:pt x="46" y="32"/>
                    <a:pt x="46" y="32"/>
                    <a:pt x="46" y="32"/>
                  </a:cubicBezTo>
                  <a:cubicBezTo>
                    <a:pt x="47" y="21"/>
                    <a:pt x="47" y="21"/>
                    <a:pt x="47" y="21"/>
                  </a:cubicBezTo>
                  <a:cubicBezTo>
                    <a:pt x="50" y="19"/>
                    <a:pt x="50" y="19"/>
                    <a:pt x="50" y="19"/>
                  </a:cubicBezTo>
                  <a:cubicBezTo>
                    <a:pt x="52" y="18"/>
                    <a:pt x="52" y="18"/>
                    <a:pt x="52" y="18"/>
                  </a:cubicBezTo>
                  <a:cubicBezTo>
                    <a:pt x="50" y="13"/>
                    <a:pt x="50" y="13"/>
                    <a:pt x="50" y="13"/>
                  </a:cubicBezTo>
                  <a:cubicBezTo>
                    <a:pt x="47" y="4"/>
                    <a:pt x="47" y="4"/>
                    <a:pt x="47" y="4"/>
                  </a:cubicBezTo>
                  <a:cubicBezTo>
                    <a:pt x="44" y="0"/>
                    <a:pt x="44" y="0"/>
                    <a:pt x="44" y="0"/>
                  </a:cubicBezTo>
                  <a:cubicBezTo>
                    <a:pt x="42" y="2"/>
                    <a:pt x="42" y="2"/>
                    <a:pt x="42" y="2"/>
                  </a:cubicBezTo>
                  <a:lnTo>
                    <a:pt x="37" y="5"/>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74" name="Freeform 71">
              <a:extLst>
                <a:ext uri="{FF2B5EF4-FFF2-40B4-BE49-F238E27FC236}">
                  <a16:creationId xmlns:a16="http://schemas.microsoft.com/office/drawing/2014/main" id="{B5CFE812-D2C7-1861-1E89-8E29E6E0E233}"/>
                </a:ext>
              </a:extLst>
            </p:cNvPr>
            <p:cNvSpPr>
              <a:spLocks/>
            </p:cNvSpPr>
            <p:nvPr/>
          </p:nvSpPr>
          <p:spPr bwMode="auto">
            <a:xfrm>
              <a:off x="5143604" y="4206402"/>
              <a:ext cx="178762" cy="176286"/>
            </a:xfrm>
            <a:custGeom>
              <a:avLst/>
              <a:gdLst>
                <a:gd name="T0" fmla="*/ 2147483647 w 19"/>
                <a:gd name="T1" fmla="*/ 2147483647 h 19"/>
                <a:gd name="T2" fmla="*/ 2147483647 w 19"/>
                <a:gd name="T3" fmla="*/ 2147483647 h 19"/>
                <a:gd name="T4" fmla="*/ 2147483647 w 19"/>
                <a:gd name="T5" fmla="*/ 2147483647 h 19"/>
                <a:gd name="T6" fmla="*/ 2147483647 w 19"/>
                <a:gd name="T7" fmla="*/ 2147483647 h 19"/>
                <a:gd name="T8" fmla="*/ 2147483647 w 19"/>
                <a:gd name="T9" fmla="*/ 2147483647 h 19"/>
                <a:gd name="T10" fmla="*/ 2147483647 w 19"/>
                <a:gd name="T11" fmla="*/ 2147483647 h 19"/>
                <a:gd name="T12" fmla="*/ 2147483647 w 19"/>
                <a:gd name="T13" fmla="*/ 0 h 19"/>
                <a:gd name="T14" fmla="*/ 2147483647 w 19"/>
                <a:gd name="T15" fmla="*/ 0 h 19"/>
                <a:gd name="T16" fmla="*/ 2147483647 w 19"/>
                <a:gd name="T17" fmla="*/ 0 h 19"/>
                <a:gd name="T18" fmla="*/ 2147483647 w 19"/>
                <a:gd name="T19" fmla="*/ 2147483647 h 19"/>
                <a:gd name="T20" fmla="*/ 2147483647 w 19"/>
                <a:gd name="T21" fmla="*/ 2147483647 h 19"/>
                <a:gd name="T22" fmla="*/ 2147483647 w 19"/>
                <a:gd name="T23" fmla="*/ 2147483647 h 19"/>
                <a:gd name="T24" fmla="*/ 2147483647 w 19"/>
                <a:gd name="T25" fmla="*/ 2147483647 h 19"/>
                <a:gd name="T26" fmla="*/ 0 w 19"/>
                <a:gd name="T27" fmla="*/ 2147483647 h 19"/>
                <a:gd name="T28" fmla="*/ 2147483647 w 19"/>
                <a:gd name="T29" fmla="*/ 2147483647 h 19"/>
                <a:gd name="T30" fmla="*/ 2147483647 w 19"/>
                <a:gd name="T31" fmla="*/ 2147483647 h 19"/>
                <a:gd name="T32" fmla="*/ 2147483647 w 19"/>
                <a:gd name="T33" fmla="*/ 2147483647 h 19"/>
                <a:gd name="T34" fmla="*/ 2147483647 w 19"/>
                <a:gd name="T35" fmla="*/ 2147483647 h 19"/>
                <a:gd name="T36" fmla="*/ 2147483647 w 19"/>
                <a:gd name="T37" fmla="*/ 2147483647 h 19"/>
                <a:gd name="T38" fmla="*/ 2147483647 w 19"/>
                <a:gd name="T39" fmla="*/ 2147483647 h 19"/>
                <a:gd name="T40" fmla="*/ 2147483647 w 19"/>
                <a:gd name="T41" fmla="*/ 2147483647 h 19"/>
                <a:gd name="T42" fmla="*/ 2147483647 w 19"/>
                <a:gd name="T43" fmla="*/ 2147483647 h 19"/>
                <a:gd name="T44" fmla="*/ 2147483647 w 19"/>
                <a:gd name="T45" fmla="*/ 2147483647 h 1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9" h="19">
                  <a:moveTo>
                    <a:pt x="17" y="10"/>
                  </a:moveTo>
                  <a:cubicBezTo>
                    <a:pt x="19" y="6"/>
                    <a:pt x="19" y="6"/>
                    <a:pt x="19" y="6"/>
                  </a:cubicBezTo>
                  <a:cubicBezTo>
                    <a:pt x="17" y="2"/>
                    <a:pt x="17" y="2"/>
                    <a:pt x="17" y="2"/>
                  </a:cubicBezTo>
                  <a:cubicBezTo>
                    <a:pt x="12" y="3"/>
                    <a:pt x="12" y="3"/>
                    <a:pt x="12" y="3"/>
                  </a:cubicBezTo>
                  <a:cubicBezTo>
                    <a:pt x="10" y="1"/>
                    <a:pt x="10" y="1"/>
                    <a:pt x="10" y="1"/>
                  </a:cubicBezTo>
                  <a:cubicBezTo>
                    <a:pt x="8" y="1"/>
                    <a:pt x="8" y="1"/>
                    <a:pt x="8" y="1"/>
                  </a:cubicBezTo>
                  <a:cubicBezTo>
                    <a:pt x="6" y="0"/>
                    <a:pt x="6" y="0"/>
                    <a:pt x="6" y="0"/>
                  </a:cubicBezTo>
                  <a:cubicBezTo>
                    <a:pt x="5" y="0"/>
                    <a:pt x="5" y="0"/>
                    <a:pt x="5" y="0"/>
                  </a:cubicBezTo>
                  <a:cubicBezTo>
                    <a:pt x="3" y="0"/>
                    <a:pt x="3" y="0"/>
                    <a:pt x="3" y="0"/>
                  </a:cubicBezTo>
                  <a:cubicBezTo>
                    <a:pt x="1" y="1"/>
                    <a:pt x="1" y="1"/>
                    <a:pt x="1" y="1"/>
                  </a:cubicBezTo>
                  <a:cubicBezTo>
                    <a:pt x="2" y="1"/>
                    <a:pt x="2" y="1"/>
                    <a:pt x="2" y="1"/>
                  </a:cubicBezTo>
                  <a:cubicBezTo>
                    <a:pt x="2" y="5"/>
                    <a:pt x="2" y="5"/>
                    <a:pt x="2" y="5"/>
                  </a:cubicBezTo>
                  <a:cubicBezTo>
                    <a:pt x="2" y="9"/>
                    <a:pt x="2" y="9"/>
                    <a:pt x="2" y="9"/>
                  </a:cubicBezTo>
                  <a:cubicBezTo>
                    <a:pt x="2" y="9"/>
                    <a:pt x="1" y="10"/>
                    <a:pt x="0" y="10"/>
                  </a:cubicBezTo>
                  <a:cubicBezTo>
                    <a:pt x="1" y="11"/>
                    <a:pt x="1" y="11"/>
                    <a:pt x="1" y="11"/>
                  </a:cubicBezTo>
                  <a:cubicBezTo>
                    <a:pt x="1" y="11"/>
                    <a:pt x="0" y="14"/>
                    <a:pt x="1" y="14"/>
                  </a:cubicBezTo>
                  <a:cubicBezTo>
                    <a:pt x="1" y="14"/>
                    <a:pt x="4" y="16"/>
                    <a:pt x="4" y="16"/>
                  </a:cubicBezTo>
                  <a:cubicBezTo>
                    <a:pt x="4" y="19"/>
                    <a:pt x="4" y="19"/>
                    <a:pt x="4" y="19"/>
                  </a:cubicBezTo>
                  <a:cubicBezTo>
                    <a:pt x="8" y="19"/>
                    <a:pt x="8" y="19"/>
                    <a:pt x="8" y="19"/>
                  </a:cubicBezTo>
                  <a:cubicBezTo>
                    <a:pt x="15" y="16"/>
                    <a:pt x="15" y="16"/>
                    <a:pt x="15" y="16"/>
                  </a:cubicBezTo>
                  <a:cubicBezTo>
                    <a:pt x="18" y="16"/>
                    <a:pt x="18" y="16"/>
                    <a:pt x="18" y="16"/>
                  </a:cubicBezTo>
                  <a:cubicBezTo>
                    <a:pt x="17" y="13"/>
                    <a:pt x="17" y="13"/>
                    <a:pt x="17" y="13"/>
                  </a:cubicBezTo>
                  <a:lnTo>
                    <a:pt x="17" y="1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75" name="Freeform 72">
              <a:extLst>
                <a:ext uri="{FF2B5EF4-FFF2-40B4-BE49-F238E27FC236}">
                  <a16:creationId xmlns:a16="http://schemas.microsoft.com/office/drawing/2014/main" id="{D40A4361-807F-3272-F7D6-48E496AE4CA7}"/>
                </a:ext>
              </a:extLst>
            </p:cNvPr>
            <p:cNvSpPr>
              <a:spLocks/>
            </p:cNvSpPr>
            <p:nvPr/>
          </p:nvSpPr>
          <p:spPr bwMode="auto">
            <a:xfrm>
              <a:off x="5052321" y="4272746"/>
              <a:ext cx="127416" cy="109942"/>
            </a:xfrm>
            <a:custGeom>
              <a:avLst/>
              <a:gdLst>
                <a:gd name="T0" fmla="*/ 2147483647 w 14"/>
                <a:gd name="T1" fmla="*/ 2147483647 h 12"/>
                <a:gd name="T2" fmla="*/ 2147483647 w 14"/>
                <a:gd name="T3" fmla="*/ 2147483647 h 12"/>
                <a:gd name="T4" fmla="*/ 2147483647 w 14"/>
                <a:gd name="T5" fmla="*/ 2147483647 h 12"/>
                <a:gd name="T6" fmla="*/ 2147483647 w 14"/>
                <a:gd name="T7" fmla="*/ 2147483647 h 12"/>
                <a:gd name="T8" fmla="*/ 2147483647 w 14"/>
                <a:gd name="T9" fmla="*/ 2147483647 h 12"/>
                <a:gd name="T10" fmla="*/ 2147483647 w 14"/>
                <a:gd name="T11" fmla="*/ 0 h 12"/>
                <a:gd name="T12" fmla="*/ 2147483647 w 14"/>
                <a:gd name="T13" fmla="*/ 2147483647 h 12"/>
                <a:gd name="T14" fmla="*/ 2147483647 w 14"/>
                <a:gd name="T15" fmla="*/ 2147483647 h 12"/>
                <a:gd name="T16" fmla="*/ 0 w 14"/>
                <a:gd name="T17" fmla="*/ 2147483647 h 12"/>
                <a:gd name="T18" fmla="*/ 2147483647 w 14"/>
                <a:gd name="T19" fmla="*/ 2147483647 h 12"/>
                <a:gd name="T20" fmla="*/ 2147483647 w 14"/>
                <a:gd name="T21" fmla="*/ 2147483647 h 12"/>
                <a:gd name="T22" fmla="*/ 2147483647 w 14"/>
                <a:gd name="T23" fmla="*/ 2147483647 h 12"/>
                <a:gd name="T24" fmla="*/ 2147483647 w 14"/>
                <a:gd name="T25" fmla="*/ 2147483647 h 12"/>
                <a:gd name="T26" fmla="*/ 2147483647 w 14"/>
                <a:gd name="T27" fmla="*/ 2147483647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 h="12">
                  <a:moveTo>
                    <a:pt x="11" y="7"/>
                  </a:moveTo>
                  <a:cubicBezTo>
                    <a:pt x="10" y="7"/>
                    <a:pt x="11" y="4"/>
                    <a:pt x="11" y="4"/>
                  </a:cubicBezTo>
                  <a:cubicBezTo>
                    <a:pt x="10" y="3"/>
                    <a:pt x="10" y="3"/>
                    <a:pt x="10" y="3"/>
                  </a:cubicBezTo>
                  <a:cubicBezTo>
                    <a:pt x="9" y="3"/>
                    <a:pt x="8" y="4"/>
                    <a:pt x="8" y="4"/>
                  </a:cubicBezTo>
                  <a:cubicBezTo>
                    <a:pt x="7" y="4"/>
                    <a:pt x="6" y="1"/>
                    <a:pt x="6" y="1"/>
                  </a:cubicBezTo>
                  <a:cubicBezTo>
                    <a:pt x="4" y="0"/>
                    <a:pt x="4" y="0"/>
                    <a:pt x="4" y="0"/>
                  </a:cubicBezTo>
                  <a:cubicBezTo>
                    <a:pt x="3" y="2"/>
                    <a:pt x="3" y="2"/>
                    <a:pt x="3" y="2"/>
                  </a:cubicBezTo>
                  <a:cubicBezTo>
                    <a:pt x="1" y="3"/>
                    <a:pt x="1" y="3"/>
                    <a:pt x="1" y="3"/>
                  </a:cubicBezTo>
                  <a:cubicBezTo>
                    <a:pt x="0" y="5"/>
                    <a:pt x="0" y="5"/>
                    <a:pt x="0" y="5"/>
                  </a:cubicBezTo>
                  <a:cubicBezTo>
                    <a:pt x="1" y="6"/>
                    <a:pt x="1" y="6"/>
                    <a:pt x="1" y="6"/>
                  </a:cubicBezTo>
                  <a:cubicBezTo>
                    <a:pt x="10" y="12"/>
                    <a:pt x="10" y="12"/>
                    <a:pt x="10" y="12"/>
                  </a:cubicBezTo>
                  <a:cubicBezTo>
                    <a:pt x="14" y="12"/>
                    <a:pt x="14" y="12"/>
                    <a:pt x="14" y="12"/>
                  </a:cubicBezTo>
                  <a:cubicBezTo>
                    <a:pt x="14" y="9"/>
                    <a:pt x="14" y="9"/>
                    <a:pt x="14" y="9"/>
                  </a:cubicBezTo>
                  <a:cubicBezTo>
                    <a:pt x="14" y="9"/>
                    <a:pt x="11" y="7"/>
                    <a:pt x="11" y="7"/>
                  </a:cubicBez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76" name="Freeform 73">
              <a:extLst>
                <a:ext uri="{FF2B5EF4-FFF2-40B4-BE49-F238E27FC236}">
                  <a16:creationId xmlns:a16="http://schemas.microsoft.com/office/drawing/2014/main" id="{1BEA1DB4-08BE-003E-A757-87382D45CD61}"/>
                </a:ext>
              </a:extLst>
            </p:cNvPr>
            <p:cNvSpPr>
              <a:spLocks/>
            </p:cNvSpPr>
            <p:nvPr/>
          </p:nvSpPr>
          <p:spPr bwMode="auto">
            <a:xfrm>
              <a:off x="4993369" y="4234835"/>
              <a:ext cx="95086" cy="83404"/>
            </a:xfrm>
            <a:custGeom>
              <a:avLst/>
              <a:gdLst>
                <a:gd name="T0" fmla="*/ 2147483647 w 60"/>
                <a:gd name="T1" fmla="*/ 2147483647 h 54"/>
                <a:gd name="T2" fmla="*/ 2147483647 w 60"/>
                <a:gd name="T3" fmla="*/ 2147483647 h 54"/>
                <a:gd name="T4" fmla="*/ 2147483647 w 60"/>
                <a:gd name="T5" fmla="*/ 2147483647 h 54"/>
                <a:gd name="T6" fmla="*/ 2147483647 w 60"/>
                <a:gd name="T7" fmla="*/ 0 h 54"/>
                <a:gd name="T8" fmla="*/ 2147483647 w 60"/>
                <a:gd name="T9" fmla="*/ 0 h 54"/>
                <a:gd name="T10" fmla="*/ 2147483647 w 60"/>
                <a:gd name="T11" fmla="*/ 2147483647 h 54"/>
                <a:gd name="T12" fmla="*/ 0 w 60"/>
                <a:gd name="T13" fmla="*/ 2147483647 h 54"/>
                <a:gd name="T14" fmla="*/ 2147483647 w 60"/>
                <a:gd name="T15" fmla="*/ 2147483647 h 54"/>
                <a:gd name="T16" fmla="*/ 2147483647 w 60"/>
                <a:gd name="T17" fmla="*/ 2147483647 h 54"/>
                <a:gd name="T18" fmla="*/ 2147483647 w 60"/>
                <a:gd name="T19" fmla="*/ 2147483647 h 54"/>
                <a:gd name="T20" fmla="*/ 2147483647 w 60"/>
                <a:gd name="T21" fmla="*/ 2147483647 h 5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0" h="54">
                  <a:moveTo>
                    <a:pt x="54" y="36"/>
                  </a:moveTo>
                  <a:lnTo>
                    <a:pt x="60" y="24"/>
                  </a:lnTo>
                  <a:lnTo>
                    <a:pt x="54" y="18"/>
                  </a:lnTo>
                  <a:lnTo>
                    <a:pt x="42" y="0"/>
                  </a:lnTo>
                  <a:lnTo>
                    <a:pt x="18" y="0"/>
                  </a:lnTo>
                  <a:lnTo>
                    <a:pt x="12" y="12"/>
                  </a:lnTo>
                  <a:lnTo>
                    <a:pt x="0" y="18"/>
                  </a:lnTo>
                  <a:lnTo>
                    <a:pt x="12" y="30"/>
                  </a:lnTo>
                  <a:lnTo>
                    <a:pt x="36" y="54"/>
                  </a:lnTo>
                  <a:lnTo>
                    <a:pt x="42" y="42"/>
                  </a:lnTo>
                  <a:lnTo>
                    <a:pt x="54" y="3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77" name="Rectangle 76">
              <a:extLst>
                <a:ext uri="{FF2B5EF4-FFF2-40B4-BE49-F238E27FC236}">
                  <a16:creationId xmlns:a16="http://schemas.microsoft.com/office/drawing/2014/main" id="{178941A6-99F4-B351-7C84-8AE06E100F8A}"/>
                </a:ext>
              </a:extLst>
            </p:cNvPr>
            <p:cNvSpPr>
              <a:spLocks noChangeArrowheads="1"/>
            </p:cNvSpPr>
            <p:nvPr/>
          </p:nvSpPr>
          <p:spPr bwMode="auto">
            <a:xfrm>
              <a:off x="5132194" y="3666170"/>
              <a:ext cx="11410" cy="28434"/>
            </a:xfrm>
            <a:prstGeom prst="rect">
              <a:avLst/>
            </a:pr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78" name="Freeform 75">
              <a:extLst>
                <a:ext uri="{FF2B5EF4-FFF2-40B4-BE49-F238E27FC236}">
                  <a16:creationId xmlns:a16="http://schemas.microsoft.com/office/drawing/2014/main" id="{798F362B-65E4-62CE-A195-C63E9600B450}"/>
                </a:ext>
              </a:extLst>
            </p:cNvPr>
            <p:cNvSpPr>
              <a:spLocks/>
            </p:cNvSpPr>
            <p:nvPr/>
          </p:nvSpPr>
          <p:spPr bwMode="auto">
            <a:xfrm>
              <a:off x="5132194" y="3340135"/>
              <a:ext cx="614257" cy="602785"/>
            </a:xfrm>
            <a:custGeom>
              <a:avLst/>
              <a:gdLst>
                <a:gd name="T0" fmla="*/ 2147483647 w 390"/>
                <a:gd name="T1" fmla="*/ 2147483647 h 390"/>
                <a:gd name="T2" fmla="*/ 2147483647 w 390"/>
                <a:gd name="T3" fmla="*/ 2147483647 h 390"/>
                <a:gd name="T4" fmla="*/ 2147483647 w 390"/>
                <a:gd name="T5" fmla="*/ 2147483647 h 390"/>
                <a:gd name="T6" fmla="*/ 2147483647 w 390"/>
                <a:gd name="T7" fmla="*/ 2147483647 h 390"/>
                <a:gd name="T8" fmla="*/ 2147483647 w 390"/>
                <a:gd name="T9" fmla="*/ 2147483647 h 390"/>
                <a:gd name="T10" fmla="*/ 2147483647 w 390"/>
                <a:gd name="T11" fmla="*/ 2147483647 h 390"/>
                <a:gd name="T12" fmla="*/ 2147483647 w 390"/>
                <a:gd name="T13" fmla="*/ 2147483647 h 390"/>
                <a:gd name="T14" fmla="*/ 2147483647 w 390"/>
                <a:gd name="T15" fmla="*/ 2147483647 h 390"/>
                <a:gd name="T16" fmla="*/ 2147483647 w 390"/>
                <a:gd name="T17" fmla="*/ 2147483647 h 390"/>
                <a:gd name="T18" fmla="*/ 2147483647 w 390"/>
                <a:gd name="T19" fmla="*/ 2147483647 h 390"/>
                <a:gd name="T20" fmla="*/ 2147483647 w 390"/>
                <a:gd name="T21" fmla="*/ 2147483647 h 390"/>
                <a:gd name="T22" fmla="*/ 2147483647 w 390"/>
                <a:gd name="T23" fmla="*/ 2147483647 h 390"/>
                <a:gd name="T24" fmla="*/ 2147483647 w 390"/>
                <a:gd name="T25" fmla="*/ 2147483647 h 390"/>
                <a:gd name="T26" fmla="*/ 2147483647 w 390"/>
                <a:gd name="T27" fmla="*/ 2147483647 h 390"/>
                <a:gd name="T28" fmla="*/ 2147483647 w 390"/>
                <a:gd name="T29" fmla="*/ 2147483647 h 390"/>
                <a:gd name="T30" fmla="*/ 2147483647 w 390"/>
                <a:gd name="T31" fmla="*/ 2147483647 h 390"/>
                <a:gd name="T32" fmla="*/ 2147483647 w 390"/>
                <a:gd name="T33" fmla="*/ 2147483647 h 390"/>
                <a:gd name="T34" fmla="*/ 2147483647 w 390"/>
                <a:gd name="T35" fmla="*/ 2147483647 h 390"/>
                <a:gd name="T36" fmla="*/ 2147483647 w 390"/>
                <a:gd name="T37" fmla="*/ 2147483647 h 390"/>
                <a:gd name="T38" fmla="*/ 2147483647 w 390"/>
                <a:gd name="T39" fmla="*/ 2147483647 h 390"/>
                <a:gd name="T40" fmla="*/ 2147483647 w 390"/>
                <a:gd name="T41" fmla="*/ 2147483647 h 390"/>
                <a:gd name="T42" fmla="*/ 2147483647 w 390"/>
                <a:gd name="T43" fmla="*/ 2147483647 h 390"/>
                <a:gd name="T44" fmla="*/ 2147483647 w 390"/>
                <a:gd name="T45" fmla="*/ 2147483647 h 390"/>
                <a:gd name="T46" fmla="*/ 2147483647 w 390"/>
                <a:gd name="T47" fmla="*/ 2147483647 h 390"/>
                <a:gd name="T48" fmla="*/ 2147483647 w 390"/>
                <a:gd name="T49" fmla="*/ 0 h 390"/>
                <a:gd name="T50" fmla="*/ 2147483647 w 390"/>
                <a:gd name="T51" fmla="*/ 2147483647 h 390"/>
                <a:gd name="T52" fmla="*/ 2147483647 w 390"/>
                <a:gd name="T53" fmla="*/ 2147483647 h 390"/>
                <a:gd name="T54" fmla="*/ 2147483647 w 390"/>
                <a:gd name="T55" fmla="*/ 2147483647 h 390"/>
                <a:gd name="T56" fmla="*/ 2147483647 w 390"/>
                <a:gd name="T57" fmla="*/ 2147483647 h 390"/>
                <a:gd name="T58" fmla="*/ 2147483647 w 390"/>
                <a:gd name="T59" fmla="*/ 2147483647 h 390"/>
                <a:gd name="T60" fmla="*/ 2147483647 w 390"/>
                <a:gd name="T61" fmla="*/ 2147483647 h 390"/>
                <a:gd name="T62" fmla="*/ 2147483647 w 390"/>
                <a:gd name="T63" fmla="*/ 2147483647 h 390"/>
                <a:gd name="T64" fmla="*/ 2147483647 w 390"/>
                <a:gd name="T65" fmla="*/ 2147483647 h 390"/>
                <a:gd name="T66" fmla="*/ 2147483647 w 390"/>
                <a:gd name="T67" fmla="*/ 2147483647 h 390"/>
                <a:gd name="T68" fmla="*/ 2147483647 w 390"/>
                <a:gd name="T69" fmla="*/ 2147483647 h 390"/>
                <a:gd name="T70" fmla="*/ 2147483647 w 390"/>
                <a:gd name="T71" fmla="*/ 2147483647 h 390"/>
                <a:gd name="T72" fmla="*/ 2147483647 w 390"/>
                <a:gd name="T73" fmla="*/ 2147483647 h 390"/>
                <a:gd name="T74" fmla="*/ 2147483647 w 390"/>
                <a:gd name="T75" fmla="*/ 2147483647 h 390"/>
                <a:gd name="T76" fmla="*/ 2147483647 w 390"/>
                <a:gd name="T77" fmla="*/ 2147483647 h 390"/>
                <a:gd name="T78" fmla="*/ 0 w 390"/>
                <a:gd name="T79" fmla="*/ 2147483647 h 390"/>
                <a:gd name="T80" fmla="*/ 2147483647 w 390"/>
                <a:gd name="T81" fmla="*/ 2147483647 h 390"/>
                <a:gd name="T82" fmla="*/ 2147483647 w 390"/>
                <a:gd name="T83" fmla="*/ 2147483647 h 390"/>
                <a:gd name="T84" fmla="*/ 2147483647 w 390"/>
                <a:gd name="T85" fmla="*/ 2147483647 h 39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390" h="390">
                  <a:moveTo>
                    <a:pt x="60" y="270"/>
                  </a:moveTo>
                  <a:lnTo>
                    <a:pt x="216" y="378"/>
                  </a:lnTo>
                  <a:lnTo>
                    <a:pt x="228" y="390"/>
                  </a:lnTo>
                  <a:lnTo>
                    <a:pt x="246" y="390"/>
                  </a:lnTo>
                  <a:lnTo>
                    <a:pt x="282" y="372"/>
                  </a:lnTo>
                  <a:lnTo>
                    <a:pt x="390" y="300"/>
                  </a:lnTo>
                  <a:lnTo>
                    <a:pt x="384" y="300"/>
                  </a:lnTo>
                  <a:lnTo>
                    <a:pt x="366" y="276"/>
                  </a:lnTo>
                  <a:lnTo>
                    <a:pt x="354" y="270"/>
                  </a:lnTo>
                  <a:lnTo>
                    <a:pt x="342" y="246"/>
                  </a:lnTo>
                  <a:lnTo>
                    <a:pt x="348" y="234"/>
                  </a:lnTo>
                  <a:lnTo>
                    <a:pt x="348" y="174"/>
                  </a:lnTo>
                  <a:lnTo>
                    <a:pt x="342" y="162"/>
                  </a:lnTo>
                  <a:lnTo>
                    <a:pt x="348" y="150"/>
                  </a:lnTo>
                  <a:lnTo>
                    <a:pt x="342" y="144"/>
                  </a:lnTo>
                  <a:lnTo>
                    <a:pt x="342" y="120"/>
                  </a:lnTo>
                  <a:lnTo>
                    <a:pt x="324" y="108"/>
                  </a:lnTo>
                  <a:lnTo>
                    <a:pt x="318" y="102"/>
                  </a:lnTo>
                  <a:lnTo>
                    <a:pt x="306" y="90"/>
                  </a:lnTo>
                  <a:lnTo>
                    <a:pt x="306" y="78"/>
                  </a:lnTo>
                  <a:lnTo>
                    <a:pt x="324" y="54"/>
                  </a:lnTo>
                  <a:lnTo>
                    <a:pt x="324" y="30"/>
                  </a:lnTo>
                  <a:lnTo>
                    <a:pt x="324" y="12"/>
                  </a:lnTo>
                  <a:lnTo>
                    <a:pt x="330" y="6"/>
                  </a:lnTo>
                  <a:lnTo>
                    <a:pt x="330" y="0"/>
                  </a:lnTo>
                  <a:lnTo>
                    <a:pt x="318" y="6"/>
                  </a:lnTo>
                  <a:lnTo>
                    <a:pt x="288" y="12"/>
                  </a:lnTo>
                  <a:lnTo>
                    <a:pt x="222" y="12"/>
                  </a:lnTo>
                  <a:lnTo>
                    <a:pt x="162" y="30"/>
                  </a:lnTo>
                  <a:lnTo>
                    <a:pt x="132" y="48"/>
                  </a:lnTo>
                  <a:lnTo>
                    <a:pt x="138" y="78"/>
                  </a:lnTo>
                  <a:lnTo>
                    <a:pt x="144" y="108"/>
                  </a:lnTo>
                  <a:lnTo>
                    <a:pt x="132" y="114"/>
                  </a:lnTo>
                  <a:lnTo>
                    <a:pt x="108" y="120"/>
                  </a:lnTo>
                  <a:lnTo>
                    <a:pt x="102" y="132"/>
                  </a:lnTo>
                  <a:lnTo>
                    <a:pt x="96" y="144"/>
                  </a:lnTo>
                  <a:lnTo>
                    <a:pt x="60" y="156"/>
                  </a:lnTo>
                  <a:lnTo>
                    <a:pt x="30" y="174"/>
                  </a:lnTo>
                  <a:lnTo>
                    <a:pt x="6" y="192"/>
                  </a:lnTo>
                  <a:lnTo>
                    <a:pt x="0" y="210"/>
                  </a:lnTo>
                  <a:lnTo>
                    <a:pt x="6" y="210"/>
                  </a:lnTo>
                  <a:lnTo>
                    <a:pt x="6" y="228"/>
                  </a:lnTo>
                  <a:lnTo>
                    <a:pt x="60" y="27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79" name="Freeform 76">
              <a:extLst>
                <a:ext uri="{FF2B5EF4-FFF2-40B4-BE49-F238E27FC236}">
                  <a16:creationId xmlns:a16="http://schemas.microsoft.com/office/drawing/2014/main" id="{F3B6B731-1B6A-F3BB-8551-99546B212DC2}"/>
                </a:ext>
              </a:extLst>
            </p:cNvPr>
            <p:cNvSpPr>
              <a:spLocks/>
            </p:cNvSpPr>
            <p:nvPr/>
          </p:nvSpPr>
          <p:spPr bwMode="auto">
            <a:xfrm>
              <a:off x="5132194" y="3340135"/>
              <a:ext cx="614257" cy="602785"/>
            </a:xfrm>
            <a:custGeom>
              <a:avLst/>
              <a:gdLst>
                <a:gd name="T0" fmla="*/ 2147483647 w 390"/>
                <a:gd name="T1" fmla="*/ 2147483647 h 390"/>
                <a:gd name="T2" fmla="*/ 2147483647 w 390"/>
                <a:gd name="T3" fmla="*/ 2147483647 h 390"/>
                <a:gd name="T4" fmla="*/ 2147483647 w 390"/>
                <a:gd name="T5" fmla="*/ 2147483647 h 390"/>
                <a:gd name="T6" fmla="*/ 2147483647 w 390"/>
                <a:gd name="T7" fmla="*/ 2147483647 h 390"/>
                <a:gd name="T8" fmla="*/ 2147483647 w 390"/>
                <a:gd name="T9" fmla="*/ 2147483647 h 390"/>
                <a:gd name="T10" fmla="*/ 2147483647 w 390"/>
                <a:gd name="T11" fmla="*/ 2147483647 h 390"/>
                <a:gd name="T12" fmla="*/ 2147483647 w 390"/>
                <a:gd name="T13" fmla="*/ 2147483647 h 390"/>
                <a:gd name="T14" fmla="*/ 2147483647 w 390"/>
                <a:gd name="T15" fmla="*/ 2147483647 h 390"/>
                <a:gd name="T16" fmla="*/ 2147483647 w 390"/>
                <a:gd name="T17" fmla="*/ 2147483647 h 390"/>
                <a:gd name="T18" fmla="*/ 2147483647 w 390"/>
                <a:gd name="T19" fmla="*/ 2147483647 h 390"/>
                <a:gd name="T20" fmla="*/ 2147483647 w 390"/>
                <a:gd name="T21" fmla="*/ 2147483647 h 390"/>
                <a:gd name="T22" fmla="*/ 2147483647 w 390"/>
                <a:gd name="T23" fmla="*/ 2147483647 h 390"/>
                <a:gd name="T24" fmla="*/ 2147483647 w 390"/>
                <a:gd name="T25" fmla="*/ 2147483647 h 390"/>
                <a:gd name="T26" fmla="*/ 2147483647 w 390"/>
                <a:gd name="T27" fmla="*/ 2147483647 h 390"/>
                <a:gd name="T28" fmla="*/ 2147483647 w 390"/>
                <a:gd name="T29" fmla="*/ 2147483647 h 390"/>
                <a:gd name="T30" fmla="*/ 2147483647 w 390"/>
                <a:gd name="T31" fmla="*/ 2147483647 h 390"/>
                <a:gd name="T32" fmla="*/ 2147483647 w 390"/>
                <a:gd name="T33" fmla="*/ 2147483647 h 390"/>
                <a:gd name="T34" fmla="*/ 2147483647 w 390"/>
                <a:gd name="T35" fmla="*/ 2147483647 h 390"/>
                <a:gd name="T36" fmla="*/ 2147483647 w 390"/>
                <a:gd name="T37" fmla="*/ 2147483647 h 390"/>
                <a:gd name="T38" fmla="*/ 2147483647 w 390"/>
                <a:gd name="T39" fmla="*/ 2147483647 h 390"/>
                <a:gd name="T40" fmla="*/ 2147483647 w 390"/>
                <a:gd name="T41" fmla="*/ 2147483647 h 390"/>
                <a:gd name="T42" fmla="*/ 2147483647 w 390"/>
                <a:gd name="T43" fmla="*/ 2147483647 h 390"/>
                <a:gd name="T44" fmla="*/ 2147483647 w 390"/>
                <a:gd name="T45" fmla="*/ 2147483647 h 390"/>
                <a:gd name="T46" fmla="*/ 2147483647 w 390"/>
                <a:gd name="T47" fmla="*/ 2147483647 h 390"/>
                <a:gd name="T48" fmla="*/ 2147483647 w 390"/>
                <a:gd name="T49" fmla="*/ 0 h 390"/>
                <a:gd name="T50" fmla="*/ 2147483647 w 390"/>
                <a:gd name="T51" fmla="*/ 2147483647 h 390"/>
                <a:gd name="T52" fmla="*/ 2147483647 w 390"/>
                <a:gd name="T53" fmla="*/ 2147483647 h 390"/>
                <a:gd name="T54" fmla="*/ 2147483647 w 390"/>
                <a:gd name="T55" fmla="*/ 2147483647 h 390"/>
                <a:gd name="T56" fmla="*/ 2147483647 w 390"/>
                <a:gd name="T57" fmla="*/ 2147483647 h 390"/>
                <a:gd name="T58" fmla="*/ 2147483647 w 390"/>
                <a:gd name="T59" fmla="*/ 2147483647 h 390"/>
                <a:gd name="T60" fmla="*/ 2147483647 w 390"/>
                <a:gd name="T61" fmla="*/ 2147483647 h 390"/>
                <a:gd name="T62" fmla="*/ 2147483647 w 390"/>
                <a:gd name="T63" fmla="*/ 2147483647 h 390"/>
                <a:gd name="T64" fmla="*/ 2147483647 w 390"/>
                <a:gd name="T65" fmla="*/ 2147483647 h 390"/>
                <a:gd name="T66" fmla="*/ 2147483647 w 390"/>
                <a:gd name="T67" fmla="*/ 2147483647 h 390"/>
                <a:gd name="T68" fmla="*/ 2147483647 w 390"/>
                <a:gd name="T69" fmla="*/ 2147483647 h 390"/>
                <a:gd name="T70" fmla="*/ 2147483647 w 390"/>
                <a:gd name="T71" fmla="*/ 2147483647 h 390"/>
                <a:gd name="T72" fmla="*/ 2147483647 w 390"/>
                <a:gd name="T73" fmla="*/ 2147483647 h 390"/>
                <a:gd name="T74" fmla="*/ 2147483647 w 390"/>
                <a:gd name="T75" fmla="*/ 2147483647 h 390"/>
                <a:gd name="T76" fmla="*/ 2147483647 w 390"/>
                <a:gd name="T77" fmla="*/ 2147483647 h 390"/>
                <a:gd name="T78" fmla="*/ 0 w 390"/>
                <a:gd name="T79" fmla="*/ 2147483647 h 390"/>
                <a:gd name="T80" fmla="*/ 2147483647 w 390"/>
                <a:gd name="T81" fmla="*/ 2147483647 h 390"/>
                <a:gd name="T82" fmla="*/ 2147483647 w 390"/>
                <a:gd name="T83" fmla="*/ 2147483647 h 390"/>
                <a:gd name="T84" fmla="*/ 2147483647 w 390"/>
                <a:gd name="T85" fmla="*/ 2147483647 h 39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390" h="390">
                  <a:moveTo>
                    <a:pt x="60" y="270"/>
                  </a:moveTo>
                  <a:lnTo>
                    <a:pt x="216" y="378"/>
                  </a:lnTo>
                  <a:lnTo>
                    <a:pt x="228" y="390"/>
                  </a:lnTo>
                  <a:lnTo>
                    <a:pt x="246" y="390"/>
                  </a:lnTo>
                  <a:lnTo>
                    <a:pt x="282" y="372"/>
                  </a:lnTo>
                  <a:lnTo>
                    <a:pt x="390" y="300"/>
                  </a:lnTo>
                  <a:lnTo>
                    <a:pt x="384" y="300"/>
                  </a:lnTo>
                  <a:lnTo>
                    <a:pt x="366" y="276"/>
                  </a:lnTo>
                  <a:lnTo>
                    <a:pt x="354" y="270"/>
                  </a:lnTo>
                  <a:lnTo>
                    <a:pt x="342" y="246"/>
                  </a:lnTo>
                  <a:lnTo>
                    <a:pt x="348" y="234"/>
                  </a:lnTo>
                  <a:lnTo>
                    <a:pt x="348" y="174"/>
                  </a:lnTo>
                  <a:lnTo>
                    <a:pt x="342" y="162"/>
                  </a:lnTo>
                  <a:lnTo>
                    <a:pt x="348" y="150"/>
                  </a:lnTo>
                  <a:lnTo>
                    <a:pt x="342" y="144"/>
                  </a:lnTo>
                  <a:lnTo>
                    <a:pt x="342" y="120"/>
                  </a:lnTo>
                  <a:lnTo>
                    <a:pt x="324" y="108"/>
                  </a:lnTo>
                  <a:lnTo>
                    <a:pt x="318" y="102"/>
                  </a:lnTo>
                  <a:lnTo>
                    <a:pt x="306" y="90"/>
                  </a:lnTo>
                  <a:lnTo>
                    <a:pt x="306" y="78"/>
                  </a:lnTo>
                  <a:lnTo>
                    <a:pt x="324" y="54"/>
                  </a:lnTo>
                  <a:lnTo>
                    <a:pt x="324" y="30"/>
                  </a:lnTo>
                  <a:lnTo>
                    <a:pt x="324" y="12"/>
                  </a:lnTo>
                  <a:lnTo>
                    <a:pt x="330" y="6"/>
                  </a:lnTo>
                  <a:lnTo>
                    <a:pt x="330" y="0"/>
                  </a:lnTo>
                  <a:lnTo>
                    <a:pt x="318" y="6"/>
                  </a:lnTo>
                  <a:lnTo>
                    <a:pt x="288" y="12"/>
                  </a:lnTo>
                  <a:lnTo>
                    <a:pt x="222" y="12"/>
                  </a:lnTo>
                  <a:lnTo>
                    <a:pt x="162" y="30"/>
                  </a:lnTo>
                  <a:lnTo>
                    <a:pt x="132" y="48"/>
                  </a:lnTo>
                  <a:lnTo>
                    <a:pt x="138" y="78"/>
                  </a:lnTo>
                  <a:lnTo>
                    <a:pt x="144" y="108"/>
                  </a:lnTo>
                  <a:lnTo>
                    <a:pt x="132" y="114"/>
                  </a:lnTo>
                  <a:lnTo>
                    <a:pt x="108" y="120"/>
                  </a:lnTo>
                  <a:lnTo>
                    <a:pt x="102" y="132"/>
                  </a:lnTo>
                  <a:lnTo>
                    <a:pt x="96" y="144"/>
                  </a:lnTo>
                  <a:lnTo>
                    <a:pt x="60" y="156"/>
                  </a:lnTo>
                  <a:lnTo>
                    <a:pt x="30" y="174"/>
                  </a:lnTo>
                  <a:lnTo>
                    <a:pt x="6" y="192"/>
                  </a:lnTo>
                  <a:lnTo>
                    <a:pt x="0" y="210"/>
                  </a:lnTo>
                  <a:lnTo>
                    <a:pt x="6" y="210"/>
                  </a:lnTo>
                  <a:lnTo>
                    <a:pt x="6" y="228"/>
                  </a:lnTo>
                  <a:lnTo>
                    <a:pt x="60" y="270"/>
                  </a:lnTo>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80" name="Freeform 77">
              <a:extLst>
                <a:ext uri="{FF2B5EF4-FFF2-40B4-BE49-F238E27FC236}">
                  <a16:creationId xmlns:a16="http://schemas.microsoft.com/office/drawing/2014/main" id="{E2BA589E-C68C-A489-BE70-BB3C0F5BFC38}"/>
                </a:ext>
              </a:extLst>
            </p:cNvPr>
            <p:cNvSpPr>
              <a:spLocks/>
            </p:cNvSpPr>
            <p:nvPr/>
          </p:nvSpPr>
          <p:spPr bwMode="auto">
            <a:xfrm>
              <a:off x="6881780" y="3328762"/>
              <a:ext cx="30428" cy="20852"/>
            </a:xfrm>
            <a:custGeom>
              <a:avLst/>
              <a:gdLst>
                <a:gd name="T0" fmla="*/ 0 w 18"/>
                <a:gd name="T1" fmla="*/ 0 h 12"/>
                <a:gd name="T2" fmla="*/ 2147483647 w 18"/>
                <a:gd name="T3" fmla="*/ 2147483647 h 12"/>
                <a:gd name="T4" fmla="*/ 2147483647 w 18"/>
                <a:gd name="T5" fmla="*/ 2147483647 h 12"/>
                <a:gd name="T6" fmla="*/ 2147483647 w 18"/>
                <a:gd name="T7" fmla="*/ 0 h 12"/>
                <a:gd name="T8" fmla="*/ 0 w 18"/>
                <a:gd name="T9" fmla="*/ 0 h 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2">
                  <a:moveTo>
                    <a:pt x="0" y="0"/>
                  </a:moveTo>
                  <a:lnTo>
                    <a:pt x="18" y="12"/>
                  </a:lnTo>
                  <a:lnTo>
                    <a:pt x="6" y="0"/>
                  </a:lnTo>
                  <a:lnTo>
                    <a:pt x="0"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81" name="Freeform 78">
              <a:extLst>
                <a:ext uri="{FF2B5EF4-FFF2-40B4-BE49-F238E27FC236}">
                  <a16:creationId xmlns:a16="http://schemas.microsoft.com/office/drawing/2014/main" id="{DCE1EF09-492A-FD1F-075C-47F688BE2ECF}"/>
                </a:ext>
              </a:extLst>
            </p:cNvPr>
            <p:cNvSpPr>
              <a:spLocks/>
            </p:cNvSpPr>
            <p:nvPr/>
          </p:nvSpPr>
          <p:spPr bwMode="auto">
            <a:xfrm>
              <a:off x="6838041" y="3283268"/>
              <a:ext cx="17115" cy="28434"/>
            </a:xfrm>
            <a:custGeom>
              <a:avLst/>
              <a:gdLst>
                <a:gd name="T0" fmla="*/ 0 w 12"/>
                <a:gd name="T1" fmla="*/ 0 h 18"/>
                <a:gd name="T2" fmla="*/ 2147483647 w 12"/>
                <a:gd name="T3" fmla="*/ 2147483647 h 18"/>
                <a:gd name="T4" fmla="*/ 2147483647 w 12"/>
                <a:gd name="T5" fmla="*/ 2147483647 h 18"/>
                <a:gd name="T6" fmla="*/ 0 w 1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 h="18">
                  <a:moveTo>
                    <a:pt x="0" y="0"/>
                  </a:moveTo>
                  <a:lnTo>
                    <a:pt x="12" y="18"/>
                  </a:lnTo>
                  <a:lnTo>
                    <a:pt x="12" y="12"/>
                  </a:lnTo>
                  <a:lnTo>
                    <a:pt x="0"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82" name="Freeform 79">
              <a:extLst>
                <a:ext uri="{FF2B5EF4-FFF2-40B4-BE49-F238E27FC236}">
                  <a16:creationId xmlns:a16="http://schemas.microsoft.com/office/drawing/2014/main" id="{58E6C679-6245-D9A3-0105-BCAD89FA29F5}"/>
                </a:ext>
              </a:extLst>
            </p:cNvPr>
            <p:cNvSpPr>
              <a:spLocks/>
            </p:cNvSpPr>
            <p:nvPr/>
          </p:nvSpPr>
          <p:spPr bwMode="auto">
            <a:xfrm>
              <a:off x="6006987" y="1596229"/>
              <a:ext cx="319490" cy="699459"/>
            </a:xfrm>
            <a:custGeom>
              <a:avLst/>
              <a:gdLst>
                <a:gd name="T0" fmla="*/ 2147483647 w 34"/>
                <a:gd name="T1" fmla="*/ 2147483647 h 75"/>
                <a:gd name="T2" fmla="*/ 2147483647 w 34"/>
                <a:gd name="T3" fmla="*/ 2147483647 h 75"/>
                <a:gd name="T4" fmla="*/ 2147483647 w 34"/>
                <a:gd name="T5" fmla="*/ 2147483647 h 75"/>
                <a:gd name="T6" fmla="*/ 2147483647 w 34"/>
                <a:gd name="T7" fmla="*/ 2147483647 h 75"/>
                <a:gd name="T8" fmla="*/ 2147483647 w 34"/>
                <a:gd name="T9" fmla="*/ 2147483647 h 75"/>
                <a:gd name="T10" fmla="*/ 2147483647 w 34"/>
                <a:gd name="T11" fmla="*/ 2147483647 h 75"/>
                <a:gd name="T12" fmla="*/ 2147483647 w 34"/>
                <a:gd name="T13" fmla="*/ 2147483647 h 75"/>
                <a:gd name="T14" fmla="*/ 2147483647 w 34"/>
                <a:gd name="T15" fmla="*/ 2147483647 h 75"/>
                <a:gd name="T16" fmla="*/ 2147483647 w 34"/>
                <a:gd name="T17" fmla="*/ 2147483647 h 75"/>
                <a:gd name="T18" fmla="*/ 2147483647 w 34"/>
                <a:gd name="T19" fmla="*/ 2147483647 h 75"/>
                <a:gd name="T20" fmla="*/ 2147483647 w 34"/>
                <a:gd name="T21" fmla="*/ 2147483647 h 75"/>
                <a:gd name="T22" fmla="*/ 2147483647 w 34"/>
                <a:gd name="T23" fmla="*/ 2147483647 h 75"/>
                <a:gd name="T24" fmla="*/ 2147483647 w 34"/>
                <a:gd name="T25" fmla="*/ 2147483647 h 75"/>
                <a:gd name="T26" fmla="*/ 2147483647 w 34"/>
                <a:gd name="T27" fmla="*/ 2147483647 h 75"/>
                <a:gd name="T28" fmla="*/ 2147483647 w 34"/>
                <a:gd name="T29" fmla="*/ 2147483647 h 75"/>
                <a:gd name="T30" fmla="*/ 2147483647 w 34"/>
                <a:gd name="T31" fmla="*/ 2147483647 h 75"/>
                <a:gd name="T32" fmla="*/ 2147483647 w 34"/>
                <a:gd name="T33" fmla="*/ 2147483647 h 75"/>
                <a:gd name="T34" fmla="*/ 2147483647 w 34"/>
                <a:gd name="T35" fmla="*/ 2147483647 h 75"/>
                <a:gd name="T36" fmla="*/ 2147483647 w 34"/>
                <a:gd name="T37" fmla="*/ 2147483647 h 75"/>
                <a:gd name="T38" fmla="*/ 2147483647 w 34"/>
                <a:gd name="T39" fmla="*/ 2147483647 h 75"/>
                <a:gd name="T40" fmla="*/ 2147483647 w 34"/>
                <a:gd name="T41" fmla="*/ 2147483647 h 75"/>
                <a:gd name="T42" fmla="*/ 2147483647 w 34"/>
                <a:gd name="T43" fmla="*/ 0 h 75"/>
                <a:gd name="T44" fmla="*/ 2147483647 w 34"/>
                <a:gd name="T45" fmla="*/ 2147483647 h 75"/>
                <a:gd name="T46" fmla="*/ 2147483647 w 34"/>
                <a:gd name="T47" fmla="*/ 2147483647 h 75"/>
                <a:gd name="T48" fmla="*/ 2147483647 w 34"/>
                <a:gd name="T49" fmla="*/ 2147483647 h 75"/>
                <a:gd name="T50" fmla="*/ 2147483647 w 34"/>
                <a:gd name="T51" fmla="*/ 2147483647 h 75"/>
                <a:gd name="T52" fmla="*/ 2147483647 w 34"/>
                <a:gd name="T53" fmla="*/ 2147483647 h 75"/>
                <a:gd name="T54" fmla="*/ 2147483647 w 34"/>
                <a:gd name="T55" fmla="*/ 2147483647 h 75"/>
                <a:gd name="T56" fmla="*/ 2147483647 w 34"/>
                <a:gd name="T57" fmla="*/ 2147483647 h 75"/>
                <a:gd name="T58" fmla="*/ 2147483647 w 34"/>
                <a:gd name="T59" fmla="*/ 2147483647 h 75"/>
                <a:gd name="T60" fmla="*/ 2147483647 w 34"/>
                <a:gd name="T61" fmla="*/ 2147483647 h 75"/>
                <a:gd name="T62" fmla="*/ 2147483647 w 34"/>
                <a:gd name="T63" fmla="*/ 2147483647 h 75"/>
                <a:gd name="T64" fmla="*/ 0 w 34"/>
                <a:gd name="T65" fmla="*/ 2147483647 h 75"/>
                <a:gd name="T66" fmla="*/ 2147483647 w 34"/>
                <a:gd name="T67" fmla="*/ 2147483647 h 75"/>
                <a:gd name="T68" fmla="*/ 2147483647 w 34"/>
                <a:gd name="T69" fmla="*/ 2147483647 h 75"/>
                <a:gd name="T70" fmla="*/ 2147483647 w 34"/>
                <a:gd name="T71" fmla="*/ 2147483647 h 75"/>
                <a:gd name="T72" fmla="*/ 2147483647 w 34"/>
                <a:gd name="T73" fmla="*/ 2147483647 h 75"/>
                <a:gd name="T74" fmla="*/ 2147483647 w 34"/>
                <a:gd name="T75" fmla="*/ 2147483647 h 75"/>
                <a:gd name="T76" fmla="*/ 2147483647 w 34"/>
                <a:gd name="T77" fmla="*/ 2147483647 h 75"/>
                <a:gd name="T78" fmla="*/ 2147483647 w 34"/>
                <a:gd name="T79" fmla="*/ 2147483647 h 75"/>
                <a:gd name="T80" fmla="*/ 2147483647 w 34"/>
                <a:gd name="T81" fmla="*/ 2147483647 h 75"/>
                <a:gd name="T82" fmla="*/ 2147483647 w 34"/>
                <a:gd name="T83" fmla="*/ 2147483647 h 75"/>
                <a:gd name="T84" fmla="*/ 2147483647 w 34"/>
                <a:gd name="T85" fmla="*/ 2147483647 h 75"/>
                <a:gd name="T86" fmla="*/ 2147483647 w 34"/>
                <a:gd name="T87" fmla="*/ 2147483647 h 75"/>
                <a:gd name="T88" fmla="*/ 2147483647 w 34"/>
                <a:gd name="T89" fmla="*/ 2147483647 h 75"/>
                <a:gd name="T90" fmla="*/ 2147483647 w 34"/>
                <a:gd name="T91" fmla="*/ 2147483647 h 75"/>
                <a:gd name="T92" fmla="*/ 2147483647 w 34"/>
                <a:gd name="T93" fmla="*/ 2147483647 h 75"/>
                <a:gd name="T94" fmla="*/ 2147483647 w 34"/>
                <a:gd name="T95" fmla="*/ 2147483647 h 75"/>
                <a:gd name="T96" fmla="*/ 2147483647 w 34"/>
                <a:gd name="T97" fmla="*/ 2147483647 h 75"/>
                <a:gd name="T98" fmla="*/ 2147483647 w 34"/>
                <a:gd name="T99" fmla="*/ 2147483647 h 75"/>
                <a:gd name="T100" fmla="*/ 2147483647 w 34"/>
                <a:gd name="T101" fmla="*/ 2147483647 h 75"/>
                <a:gd name="T102" fmla="*/ 2147483647 w 34"/>
                <a:gd name="T103" fmla="*/ 2147483647 h 75"/>
                <a:gd name="T104" fmla="*/ 2147483647 w 34"/>
                <a:gd name="T105" fmla="*/ 2147483647 h 75"/>
                <a:gd name="T106" fmla="*/ 2147483647 w 34"/>
                <a:gd name="T107" fmla="*/ 2147483647 h 75"/>
                <a:gd name="T108" fmla="*/ 2147483647 w 34"/>
                <a:gd name="T109" fmla="*/ 2147483647 h 75"/>
                <a:gd name="T110" fmla="*/ 2147483647 w 34"/>
                <a:gd name="T111" fmla="*/ 2147483647 h 75"/>
                <a:gd name="T112" fmla="*/ 2147483647 w 34"/>
                <a:gd name="T113" fmla="*/ 2147483647 h 75"/>
                <a:gd name="T114" fmla="*/ 2147483647 w 34"/>
                <a:gd name="T115" fmla="*/ 2147483647 h 7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4" h="75">
                  <a:moveTo>
                    <a:pt x="34" y="55"/>
                  </a:moveTo>
                  <a:cubicBezTo>
                    <a:pt x="32" y="54"/>
                    <a:pt x="32" y="54"/>
                    <a:pt x="32" y="54"/>
                  </a:cubicBezTo>
                  <a:cubicBezTo>
                    <a:pt x="30" y="52"/>
                    <a:pt x="30" y="52"/>
                    <a:pt x="30" y="52"/>
                  </a:cubicBezTo>
                  <a:cubicBezTo>
                    <a:pt x="31" y="47"/>
                    <a:pt x="31" y="47"/>
                    <a:pt x="31" y="47"/>
                  </a:cubicBezTo>
                  <a:cubicBezTo>
                    <a:pt x="31" y="47"/>
                    <a:pt x="30" y="46"/>
                    <a:pt x="30" y="45"/>
                  </a:cubicBezTo>
                  <a:cubicBezTo>
                    <a:pt x="29" y="45"/>
                    <a:pt x="30" y="43"/>
                    <a:pt x="30" y="43"/>
                  </a:cubicBezTo>
                  <a:cubicBezTo>
                    <a:pt x="29" y="42"/>
                    <a:pt x="29" y="42"/>
                    <a:pt x="29" y="42"/>
                  </a:cubicBezTo>
                  <a:cubicBezTo>
                    <a:pt x="29" y="40"/>
                    <a:pt x="29" y="40"/>
                    <a:pt x="29" y="40"/>
                  </a:cubicBezTo>
                  <a:cubicBezTo>
                    <a:pt x="28" y="38"/>
                    <a:pt x="28" y="38"/>
                    <a:pt x="28" y="38"/>
                  </a:cubicBezTo>
                  <a:cubicBezTo>
                    <a:pt x="30" y="36"/>
                    <a:pt x="30" y="36"/>
                    <a:pt x="30" y="36"/>
                  </a:cubicBezTo>
                  <a:cubicBezTo>
                    <a:pt x="27" y="27"/>
                    <a:pt x="27" y="27"/>
                    <a:pt x="27" y="27"/>
                  </a:cubicBezTo>
                  <a:cubicBezTo>
                    <a:pt x="30" y="21"/>
                    <a:pt x="30" y="21"/>
                    <a:pt x="30" y="21"/>
                  </a:cubicBezTo>
                  <a:cubicBezTo>
                    <a:pt x="28" y="17"/>
                    <a:pt x="28" y="17"/>
                    <a:pt x="28" y="17"/>
                  </a:cubicBezTo>
                  <a:cubicBezTo>
                    <a:pt x="25" y="15"/>
                    <a:pt x="25" y="15"/>
                    <a:pt x="25" y="15"/>
                  </a:cubicBezTo>
                  <a:cubicBezTo>
                    <a:pt x="25" y="14"/>
                    <a:pt x="25" y="14"/>
                    <a:pt x="25" y="14"/>
                  </a:cubicBezTo>
                  <a:cubicBezTo>
                    <a:pt x="25" y="10"/>
                    <a:pt x="25" y="10"/>
                    <a:pt x="25" y="10"/>
                  </a:cubicBezTo>
                  <a:cubicBezTo>
                    <a:pt x="25" y="10"/>
                    <a:pt x="25" y="10"/>
                    <a:pt x="25" y="10"/>
                  </a:cubicBezTo>
                  <a:cubicBezTo>
                    <a:pt x="26" y="9"/>
                    <a:pt x="26" y="9"/>
                    <a:pt x="26" y="9"/>
                  </a:cubicBezTo>
                  <a:cubicBezTo>
                    <a:pt x="26" y="8"/>
                    <a:pt x="26" y="8"/>
                    <a:pt x="26" y="8"/>
                  </a:cubicBezTo>
                  <a:cubicBezTo>
                    <a:pt x="27" y="6"/>
                    <a:pt x="27" y="6"/>
                    <a:pt x="27" y="6"/>
                  </a:cubicBezTo>
                  <a:cubicBezTo>
                    <a:pt x="27" y="3"/>
                    <a:pt x="27" y="3"/>
                    <a:pt x="27" y="3"/>
                  </a:cubicBezTo>
                  <a:cubicBezTo>
                    <a:pt x="24" y="0"/>
                    <a:pt x="24" y="0"/>
                    <a:pt x="24" y="0"/>
                  </a:cubicBezTo>
                  <a:cubicBezTo>
                    <a:pt x="19" y="1"/>
                    <a:pt x="19" y="1"/>
                    <a:pt x="19" y="1"/>
                  </a:cubicBezTo>
                  <a:cubicBezTo>
                    <a:pt x="17" y="3"/>
                    <a:pt x="17" y="3"/>
                    <a:pt x="17" y="3"/>
                  </a:cubicBezTo>
                  <a:cubicBezTo>
                    <a:pt x="15" y="8"/>
                    <a:pt x="15" y="8"/>
                    <a:pt x="15" y="8"/>
                  </a:cubicBezTo>
                  <a:cubicBezTo>
                    <a:pt x="12" y="11"/>
                    <a:pt x="12" y="11"/>
                    <a:pt x="12" y="11"/>
                  </a:cubicBezTo>
                  <a:cubicBezTo>
                    <a:pt x="11" y="10"/>
                    <a:pt x="11" y="10"/>
                    <a:pt x="11" y="10"/>
                  </a:cubicBezTo>
                  <a:cubicBezTo>
                    <a:pt x="8" y="11"/>
                    <a:pt x="8" y="11"/>
                    <a:pt x="8" y="11"/>
                  </a:cubicBezTo>
                  <a:cubicBezTo>
                    <a:pt x="5" y="10"/>
                    <a:pt x="5" y="10"/>
                    <a:pt x="5" y="10"/>
                  </a:cubicBezTo>
                  <a:cubicBezTo>
                    <a:pt x="3" y="8"/>
                    <a:pt x="3" y="8"/>
                    <a:pt x="3" y="8"/>
                  </a:cubicBezTo>
                  <a:cubicBezTo>
                    <a:pt x="2" y="6"/>
                    <a:pt x="2" y="6"/>
                    <a:pt x="2" y="6"/>
                  </a:cubicBezTo>
                  <a:cubicBezTo>
                    <a:pt x="1" y="8"/>
                    <a:pt x="1" y="8"/>
                    <a:pt x="1" y="8"/>
                  </a:cubicBezTo>
                  <a:cubicBezTo>
                    <a:pt x="0" y="8"/>
                    <a:pt x="0" y="8"/>
                    <a:pt x="0" y="8"/>
                  </a:cubicBezTo>
                  <a:cubicBezTo>
                    <a:pt x="1" y="10"/>
                    <a:pt x="1" y="10"/>
                    <a:pt x="1" y="10"/>
                  </a:cubicBezTo>
                  <a:cubicBezTo>
                    <a:pt x="4" y="13"/>
                    <a:pt x="4" y="13"/>
                    <a:pt x="4" y="13"/>
                  </a:cubicBezTo>
                  <a:cubicBezTo>
                    <a:pt x="6" y="14"/>
                    <a:pt x="6" y="14"/>
                    <a:pt x="6" y="14"/>
                  </a:cubicBezTo>
                  <a:cubicBezTo>
                    <a:pt x="7" y="14"/>
                    <a:pt x="7" y="14"/>
                    <a:pt x="7" y="14"/>
                  </a:cubicBezTo>
                  <a:cubicBezTo>
                    <a:pt x="9" y="19"/>
                    <a:pt x="9" y="19"/>
                    <a:pt x="9" y="19"/>
                  </a:cubicBezTo>
                  <a:cubicBezTo>
                    <a:pt x="9" y="23"/>
                    <a:pt x="9" y="23"/>
                    <a:pt x="9" y="23"/>
                  </a:cubicBezTo>
                  <a:cubicBezTo>
                    <a:pt x="9" y="26"/>
                    <a:pt x="9" y="26"/>
                    <a:pt x="9" y="26"/>
                  </a:cubicBezTo>
                  <a:cubicBezTo>
                    <a:pt x="10" y="29"/>
                    <a:pt x="10" y="29"/>
                    <a:pt x="10" y="29"/>
                  </a:cubicBezTo>
                  <a:cubicBezTo>
                    <a:pt x="10" y="30"/>
                    <a:pt x="10" y="30"/>
                    <a:pt x="10" y="30"/>
                  </a:cubicBezTo>
                  <a:cubicBezTo>
                    <a:pt x="10" y="35"/>
                    <a:pt x="10" y="35"/>
                    <a:pt x="10" y="35"/>
                  </a:cubicBezTo>
                  <a:cubicBezTo>
                    <a:pt x="10" y="36"/>
                    <a:pt x="10" y="36"/>
                    <a:pt x="10" y="36"/>
                  </a:cubicBezTo>
                  <a:cubicBezTo>
                    <a:pt x="12" y="36"/>
                    <a:pt x="12" y="36"/>
                    <a:pt x="12" y="36"/>
                  </a:cubicBezTo>
                  <a:cubicBezTo>
                    <a:pt x="14" y="40"/>
                    <a:pt x="14" y="40"/>
                    <a:pt x="14" y="40"/>
                  </a:cubicBezTo>
                  <a:cubicBezTo>
                    <a:pt x="9" y="49"/>
                    <a:pt x="9" y="49"/>
                    <a:pt x="9" y="49"/>
                  </a:cubicBezTo>
                  <a:cubicBezTo>
                    <a:pt x="4" y="53"/>
                    <a:pt x="4" y="53"/>
                    <a:pt x="4" y="53"/>
                  </a:cubicBezTo>
                  <a:cubicBezTo>
                    <a:pt x="1" y="58"/>
                    <a:pt x="1" y="58"/>
                    <a:pt x="1" y="58"/>
                  </a:cubicBezTo>
                  <a:cubicBezTo>
                    <a:pt x="2" y="66"/>
                    <a:pt x="2" y="66"/>
                    <a:pt x="2" y="66"/>
                  </a:cubicBezTo>
                  <a:cubicBezTo>
                    <a:pt x="3" y="71"/>
                    <a:pt x="3" y="71"/>
                    <a:pt x="3" y="71"/>
                  </a:cubicBezTo>
                  <a:cubicBezTo>
                    <a:pt x="5" y="73"/>
                    <a:pt x="5" y="73"/>
                    <a:pt x="5" y="73"/>
                  </a:cubicBezTo>
                  <a:cubicBezTo>
                    <a:pt x="7" y="75"/>
                    <a:pt x="7" y="75"/>
                    <a:pt x="7" y="75"/>
                  </a:cubicBezTo>
                  <a:cubicBezTo>
                    <a:pt x="12" y="75"/>
                    <a:pt x="12" y="75"/>
                    <a:pt x="12" y="75"/>
                  </a:cubicBezTo>
                  <a:cubicBezTo>
                    <a:pt x="20" y="72"/>
                    <a:pt x="20" y="72"/>
                    <a:pt x="20" y="72"/>
                  </a:cubicBezTo>
                  <a:cubicBezTo>
                    <a:pt x="22" y="72"/>
                    <a:pt x="22" y="72"/>
                    <a:pt x="22" y="72"/>
                  </a:cubicBezTo>
                  <a:cubicBezTo>
                    <a:pt x="34" y="58"/>
                    <a:pt x="34" y="58"/>
                    <a:pt x="34" y="58"/>
                  </a:cubicBezTo>
                  <a:lnTo>
                    <a:pt x="34" y="55"/>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83" name="Freeform 80">
              <a:extLst>
                <a:ext uri="{FF2B5EF4-FFF2-40B4-BE49-F238E27FC236}">
                  <a16:creationId xmlns:a16="http://schemas.microsoft.com/office/drawing/2014/main" id="{A3684970-CD78-7EF0-1265-9DE12CD46FAF}"/>
                </a:ext>
              </a:extLst>
            </p:cNvPr>
            <p:cNvSpPr>
              <a:spLocks/>
            </p:cNvSpPr>
            <p:nvPr/>
          </p:nvSpPr>
          <p:spPr bwMode="auto">
            <a:xfrm>
              <a:off x="6335986" y="2705126"/>
              <a:ext cx="19017" cy="9477"/>
            </a:xfrm>
            <a:custGeom>
              <a:avLst/>
              <a:gdLst>
                <a:gd name="T0" fmla="*/ 2147483647 w 12"/>
                <a:gd name="T1" fmla="*/ 2147483647 h 6"/>
                <a:gd name="T2" fmla="*/ 0 w 12"/>
                <a:gd name="T3" fmla="*/ 0 h 6"/>
                <a:gd name="T4" fmla="*/ 0 w 12"/>
                <a:gd name="T5" fmla="*/ 2147483647 h 6"/>
                <a:gd name="T6" fmla="*/ 2147483647 w 12"/>
                <a:gd name="T7" fmla="*/ 2147483647 h 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 h="6">
                  <a:moveTo>
                    <a:pt x="12" y="6"/>
                  </a:moveTo>
                  <a:lnTo>
                    <a:pt x="0" y="0"/>
                  </a:lnTo>
                  <a:lnTo>
                    <a:pt x="0" y="6"/>
                  </a:lnTo>
                  <a:lnTo>
                    <a:pt x="12" y="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84" name="Freeform 81">
              <a:extLst>
                <a:ext uri="{FF2B5EF4-FFF2-40B4-BE49-F238E27FC236}">
                  <a16:creationId xmlns:a16="http://schemas.microsoft.com/office/drawing/2014/main" id="{CDC8730B-C3EF-22CE-9F3A-EB123797C3D2}"/>
                </a:ext>
              </a:extLst>
            </p:cNvPr>
            <p:cNvSpPr>
              <a:spLocks/>
            </p:cNvSpPr>
            <p:nvPr/>
          </p:nvSpPr>
          <p:spPr bwMode="auto">
            <a:xfrm>
              <a:off x="6214275" y="811471"/>
              <a:ext cx="4543218" cy="2424409"/>
            </a:xfrm>
            <a:custGeom>
              <a:avLst/>
              <a:gdLst>
                <a:gd name="T0" fmla="*/ 2147483647 w 483"/>
                <a:gd name="T1" fmla="*/ 2147483647 h 260"/>
                <a:gd name="T2" fmla="*/ 2147483647 w 483"/>
                <a:gd name="T3" fmla="*/ 2147483647 h 260"/>
                <a:gd name="T4" fmla="*/ 2147483647 w 483"/>
                <a:gd name="T5" fmla="*/ 2147483647 h 260"/>
                <a:gd name="T6" fmla="*/ 2147483647 w 483"/>
                <a:gd name="T7" fmla="*/ 2147483647 h 260"/>
                <a:gd name="T8" fmla="*/ 2147483647 w 483"/>
                <a:gd name="T9" fmla="*/ 2147483647 h 260"/>
                <a:gd name="T10" fmla="*/ 2147483647 w 483"/>
                <a:gd name="T11" fmla="*/ 2147483647 h 260"/>
                <a:gd name="T12" fmla="*/ 2147483647 w 483"/>
                <a:gd name="T13" fmla="*/ 2147483647 h 260"/>
                <a:gd name="T14" fmla="*/ 2147483647 w 483"/>
                <a:gd name="T15" fmla="*/ 2147483647 h 260"/>
                <a:gd name="T16" fmla="*/ 2147483647 w 483"/>
                <a:gd name="T17" fmla="*/ 2147483647 h 260"/>
                <a:gd name="T18" fmla="*/ 2147483647 w 483"/>
                <a:gd name="T19" fmla="*/ 2147483647 h 260"/>
                <a:gd name="T20" fmla="*/ 2147483647 w 483"/>
                <a:gd name="T21" fmla="*/ 2147483647 h 260"/>
                <a:gd name="T22" fmla="*/ 2147483647 w 483"/>
                <a:gd name="T23" fmla="*/ 2147483647 h 260"/>
                <a:gd name="T24" fmla="*/ 2147483647 w 483"/>
                <a:gd name="T25" fmla="*/ 2147483647 h 260"/>
                <a:gd name="T26" fmla="*/ 2147483647 w 483"/>
                <a:gd name="T27" fmla="*/ 2147483647 h 260"/>
                <a:gd name="T28" fmla="*/ 2147483647 w 483"/>
                <a:gd name="T29" fmla="*/ 2147483647 h 260"/>
                <a:gd name="T30" fmla="*/ 2147483647 w 483"/>
                <a:gd name="T31" fmla="*/ 2147483647 h 260"/>
                <a:gd name="T32" fmla="*/ 2147483647 w 483"/>
                <a:gd name="T33" fmla="*/ 2147483647 h 260"/>
                <a:gd name="T34" fmla="*/ 2147483647 w 483"/>
                <a:gd name="T35" fmla="*/ 2147483647 h 260"/>
                <a:gd name="T36" fmla="*/ 2147483647 w 483"/>
                <a:gd name="T37" fmla="*/ 2147483647 h 260"/>
                <a:gd name="T38" fmla="*/ 2147483647 w 483"/>
                <a:gd name="T39" fmla="*/ 2147483647 h 260"/>
                <a:gd name="T40" fmla="*/ 2147483647 w 483"/>
                <a:gd name="T41" fmla="*/ 2147483647 h 260"/>
                <a:gd name="T42" fmla="*/ 2147483647 w 483"/>
                <a:gd name="T43" fmla="*/ 2147483647 h 260"/>
                <a:gd name="T44" fmla="*/ 2147483647 w 483"/>
                <a:gd name="T45" fmla="*/ 2147483647 h 260"/>
                <a:gd name="T46" fmla="*/ 2147483647 w 483"/>
                <a:gd name="T47" fmla="*/ 2147483647 h 260"/>
                <a:gd name="T48" fmla="*/ 2147483647 w 483"/>
                <a:gd name="T49" fmla="*/ 2147483647 h 260"/>
                <a:gd name="T50" fmla="*/ 2147483647 w 483"/>
                <a:gd name="T51" fmla="*/ 2147483647 h 260"/>
                <a:gd name="T52" fmla="*/ 2147483647 w 483"/>
                <a:gd name="T53" fmla="*/ 2147483647 h 260"/>
                <a:gd name="T54" fmla="*/ 2147483647 w 483"/>
                <a:gd name="T55" fmla="*/ 2147483647 h 260"/>
                <a:gd name="T56" fmla="*/ 2147483647 w 483"/>
                <a:gd name="T57" fmla="*/ 2147483647 h 260"/>
                <a:gd name="T58" fmla="*/ 2147483647 w 483"/>
                <a:gd name="T59" fmla="*/ 2147483647 h 260"/>
                <a:gd name="T60" fmla="*/ 2147483647 w 483"/>
                <a:gd name="T61" fmla="*/ 2147483647 h 260"/>
                <a:gd name="T62" fmla="*/ 2147483647 w 483"/>
                <a:gd name="T63" fmla="*/ 2147483647 h 260"/>
                <a:gd name="T64" fmla="*/ 2147483647 w 483"/>
                <a:gd name="T65" fmla="*/ 2147483647 h 260"/>
                <a:gd name="T66" fmla="*/ 2147483647 w 483"/>
                <a:gd name="T67" fmla="*/ 2147483647 h 260"/>
                <a:gd name="T68" fmla="*/ 2147483647 w 483"/>
                <a:gd name="T69" fmla="*/ 2147483647 h 260"/>
                <a:gd name="T70" fmla="*/ 2147483647 w 483"/>
                <a:gd name="T71" fmla="*/ 2147483647 h 260"/>
                <a:gd name="T72" fmla="*/ 2147483647 w 483"/>
                <a:gd name="T73" fmla="*/ 2147483647 h 260"/>
                <a:gd name="T74" fmla="*/ 2147483647 w 483"/>
                <a:gd name="T75" fmla="*/ 2147483647 h 260"/>
                <a:gd name="T76" fmla="*/ 2147483647 w 483"/>
                <a:gd name="T77" fmla="*/ 2147483647 h 260"/>
                <a:gd name="T78" fmla="*/ 2147483647 w 483"/>
                <a:gd name="T79" fmla="*/ 2147483647 h 260"/>
                <a:gd name="T80" fmla="*/ 2147483647 w 483"/>
                <a:gd name="T81" fmla="*/ 2147483647 h 260"/>
                <a:gd name="T82" fmla="*/ 2147483647 w 483"/>
                <a:gd name="T83" fmla="*/ 2147483647 h 260"/>
                <a:gd name="T84" fmla="*/ 2147483647 w 483"/>
                <a:gd name="T85" fmla="*/ 2147483647 h 260"/>
                <a:gd name="T86" fmla="*/ 2147483647 w 483"/>
                <a:gd name="T87" fmla="*/ 2147483647 h 260"/>
                <a:gd name="T88" fmla="*/ 2147483647 w 483"/>
                <a:gd name="T89" fmla="*/ 2147483647 h 260"/>
                <a:gd name="T90" fmla="*/ 2147483647 w 483"/>
                <a:gd name="T91" fmla="*/ 2147483647 h 260"/>
                <a:gd name="T92" fmla="*/ 2147483647 w 483"/>
                <a:gd name="T93" fmla="*/ 2147483647 h 260"/>
                <a:gd name="T94" fmla="*/ 2147483647 w 483"/>
                <a:gd name="T95" fmla="*/ 2147483647 h 260"/>
                <a:gd name="T96" fmla="*/ 2147483647 w 483"/>
                <a:gd name="T97" fmla="*/ 2147483647 h 260"/>
                <a:gd name="T98" fmla="*/ 2147483647 w 483"/>
                <a:gd name="T99" fmla="*/ 2147483647 h 260"/>
                <a:gd name="T100" fmla="*/ 2147483647 w 483"/>
                <a:gd name="T101" fmla="*/ 2147483647 h 260"/>
                <a:gd name="T102" fmla="*/ 2147483647 w 483"/>
                <a:gd name="T103" fmla="*/ 2147483647 h 260"/>
                <a:gd name="T104" fmla="*/ 2147483647 w 483"/>
                <a:gd name="T105" fmla="*/ 2147483647 h 260"/>
                <a:gd name="T106" fmla="*/ 2147483647 w 483"/>
                <a:gd name="T107" fmla="*/ 2147483647 h 260"/>
                <a:gd name="T108" fmla="*/ 2147483647 w 483"/>
                <a:gd name="T109" fmla="*/ 2147483647 h 260"/>
                <a:gd name="T110" fmla="*/ 2147483647 w 483"/>
                <a:gd name="T111" fmla="*/ 2147483647 h 260"/>
                <a:gd name="T112" fmla="*/ 2147483647 w 483"/>
                <a:gd name="T113" fmla="*/ 2147483647 h 260"/>
                <a:gd name="T114" fmla="*/ 2147483647 w 483"/>
                <a:gd name="T115" fmla="*/ 2147483647 h 260"/>
                <a:gd name="T116" fmla="*/ 2147483647 w 483"/>
                <a:gd name="T117" fmla="*/ 2147483647 h 260"/>
                <a:gd name="T118" fmla="*/ 2147483647 w 483"/>
                <a:gd name="T119" fmla="*/ 2147483647 h 260"/>
                <a:gd name="T120" fmla="*/ 2147483647 w 483"/>
                <a:gd name="T121" fmla="*/ 2147483647 h 260"/>
                <a:gd name="T122" fmla="*/ 2147483647 w 483"/>
                <a:gd name="T123" fmla="*/ 2147483647 h 260"/>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483" h="260">
                  <a:moveTo>
                    <a:pt x="482" y="127"/>
                  </a:moveTo>
                  <a:cubicBezTo>
                    <a:pt x="483" y="96"/>
                    <a:pt x="483" y="96"/>
                    <a:pt x="483" y="96"/>
                  </a:cubicBezTo>
                  <a:cubicBezTo>
                    <a:pt x="480" y="95"/>
                    <a:pt x="480" y="95"/>
                    <a:pt x="480" y="95"/>
                  </a:cubicBezTo>
                  <a:cubicBezTo>
                    <a:pt x="478" y="94"/>
                    <a:pt x="478" y="94"/>
                    <a:pt x="478" y="94"/>
                  </a:cubicBezTo>
                  <a:cubicBezTo>
                    <a:pt x="478" y="94"/>
                    <a:pt x="474" y="90"/>
                    <a:pt x="474" y="90"/>
                  </a:cubicBezTo>
                  <a:cubicBezTo>
                    <a:pt x="473" y="89"/>
                    <a:pt x="470" y="89"/>
                    <a:pt x="470" y="89"/>
                  </a:cubicBezTo>
                  <a:cubicBezTo>
                    <a:pt x="463" y="88"/>
                    <a:pt x="463" y="88"/>
                    <a:pt x="463" y="88"/>
                  </a:cubicBezTo>
                  <a:cubicBezTo>
                    <a:pt x="459" y="87"/>
                    <a:pt x="459" y="87"/>
                    <a:pt x="459" y="87"/>
                  </a:cubicBezTo>
                  <a:cubicBezTo>
                    <a:pt x="456" y="87"/>
                    <a:pt x="456" y="87"/>
                    <a:pt x="456" y="87"/>
                  </a:cubicBezTo>
                  <a:cubicBezTo>
                    <a:pt x="454" y="87"/>
                    <a:pt x="454" y="87"/>
                    <a:pt x="454" y="87"/>
                  </a:cubicBezTo>
                  <a:cubicBezTo>
                    <a:pt x="455" y="95"/>
                    <a:pt x="455" y="95"/>
                    <a:pt x="455" y="95"/>
                  </a:cubicBezTo>
                  <a:cubicBezTo>
                    <a:pt x="455" y="95"/>
                    <a:pt x="451" y="97"/>
                    <a:pt x="451" y="97"/>
                  </a:cubicBezTo>
                  <a:cubicBezTo>
                    <a:pt x="450" y="97"/>
                    <a:pt x="448" y="94"/>
                    <a:pt x="448" y="94"/>
                  </a:cubicBezTo>
                  <a:cubicBezTo>
                    <a:pt x="445" y="91"/>
                    <a:pt x="445" y="91"/>
                    <a:pt x="445" y="91"/>
                  </a:cubicBezTo>
                  <a:cubicBezTo>
                    <a:pt x="445" y="89"/>
                    <a:pt x="445" y="89"/>
                    <a:pt x="445" y="89"/>
                  </a:cubicBezTo>
                  <a:cubicBezTo>
                    <a:pt x="440" y="89"/>
                    <a:pt x="440" y="89"/>
                    <a:pt x="440" y="89"/>
                  </a:cubicBezTo>
                  <a:cubicBezTo>
                    <a:pt x="437" y="90"/>
                    <a:pt x="437" y="90"/>
                    <a:pt x="437" y="90"/>
                  </a:cubicBezTo>
                  <a:cubicBezTo>
                    <a:pt x="431" y="89"/>
                    <a:pt x="431" y="89"/>
                    <a:pt x="431" y="89"/>
                  </a:cubicBezTo>
                  <a:cubicBezTo>
                    <a:pt x="426" y="89"/>
                    <a:pt x="426" y="89"/>
                    <a:pt x="426" y="89"/>
                  </a:cubicBezTo>
                  <a:cubicBezTo>
                    <a:pt x="423" y="90"/>
                    <a:pt x="423" y="90"/>
                    <a:pt x="423" y="90"/>
                  </a:cubicBezTo>
                  <a:cubicBezTo>
                    <a:pt x="419" y="87"/>
                    <a:pt x="419" y="87"/>
                    <a:pt x="419" y="87"/>
                  </a:cubicBezTo>
                  <a:cubicBezTo>
                    <a:pt x="419" y="80"/>
                    <a:pt x="419" y="80"/>
                    <a:pt x="419" y="80"/>
                  </a:cubicBezTo>
                  <a:cubicBezTo>
                    <a:pt x="413" y="77"/>
                    <a:pt x="413" y="77"/>
                    <a:pt x="413" y="77"/>
                  </a:cubicBezTo>
                  <a:cubicBezTo>
                    <a:pt x="403" y="77"/>
                    <a:pt x="403" y="77"/>
                    <a:pt x="403" y="77"/>
                  </a:cubicBezTo>
                  <a:cubicBezTo>
                    <a:pt x="394" y="77"/>
                    <a:pt x="394" y="77"/>
                    <a:pt x="394" y="77"/>
                  </a:cubicBezTo>
                  <a:cubicBezTo>
                    <a:pt x="393" y="75"/>
                    <a:pt x="393" y="75"/>
                    <a:pt x="393" y="75"/>
                  </a:cubicBezTo>
                  <a:cubicBezTo>
                    <a:pt x="392" y="72"/>
                    <a:pt x="392" y="72"/>
                    <a:pt x="392" y="72"/>
                  </a:cubicBezTo>
                  <a:cubicBezTo>
                    <a:pt x="386" y="69"/>
                    <a:pt x="386" y="69"/>
                    <a:pt x="386" y="69"/>
                  </a:cubicBezTo>
                  <a:cubicBezTo>
                    <a:pt x="386" y="64"/>
                    <a:pt x="386" y="64"/>
                    <a:pt x="386" y="64"/>
                  </a:cubicBezTo>
                  <a:cubicBezTo>
                    <a:pt x="362" y="59"/>
                    <a:pt x="362" y="59"/>
                    <a:pt x="362" y="59"/>
                  </a:cubicBezTo>
                  <a:cubicBezTo>
                    <a:pt x="361" y="61"/>
                    <a:pt x="361" y="61"/>
                    <a:pt x="361" y="61"/>
                  </a:cubicBezTo>
                  <a:cubicBezTo>
                    <a:pt x="356" y="65"/>
                    <a:pt x="356" y="65"/>
                    <a:pt x="356" y="65"/>
                  </a:cubicBezTo>
                  <a:cubicBezTo>
                    <a:pt x="357" y="71"/>
                    <a:pt x="357" y="71"/>
                    <a:pt x="357" y="71"/>
                  </a:cubicBezTo>
                  <a:cubicBezTo>
                    <a:pt x="351" y="73"/>
                    <a:pt x="351" y="73"/>
                    <a:pt x="351" y="73"/>
                  </a:cubicBezTo>
                  <a:cubicBezTo>
                    <a:pt x="347" y="72"/>
                    <a:pt x="347" y="72"/>
                    <a:pt x="347" y="72"/>
                  </a:cubicBezTo>
                  <a:cubicBezTo>
                    <a:pt x="342" y="70"/>
                    <a:pt x="342" y="70"/>
                    <a:pt x="342" y="70"/>
                  </a:cubicBezTo>
                  <a:cubicBezTo>
                    <a:pt x="340" y="72"/>
                    <a:pt x="340" y="72"/>
                    <a:pt x="340" y="72"/>
                  </a:cubicBezTo>
                  <a:cubicBezTo>
                    <a:pt x="336" y="71"/>
                    <a:pt x="336" y="71"/>
                    <a:pt x="336" y="71"/>
                  </a:cubicBezTo>
                  <a:cubicBezTo>
                    <a:pt x="332" y="68"/>
                    <a:pt x="332" y="68"/>
                    <a:pt x="332" y="68"/>
                  </a:cubicBezTo>
                  <a:cubicBezTo>
                    <a:pt x="331" y="74"/>
                    <a:pt x="331" y="74"/>
                    <a:pt x="331" y="74"/>
                  </a:cubicBezTo>
                  <a:cubicBezTo>
                    <a:pt x="328" y="78"/>
                    <a:pt x="328" y="78"/>
                    <a:pt x="328" y="78"/>
                  </a:cubicBezTo>
                  <a:cubicBezTo>
                    <a:pt x="323" y="73"/>
                    <a:pt x="323" y="73"/>
                    <a:pt x="323" y="73"/>
                  </a:cubicBezTo>
                  <a:cubicBezTo>
                    <a:pt x="320" y="67"/>
                    <a:pt x="320" y="67"/>
                    <a:pt x="320" y="67"/>
                  </a:cubicBezTo>
                  <a:cubicBezTo>
                    <a:pt x="323" y="60"/>
                    <a:pt x="323" y="60"/>
                    <a:pt x="323" y="60"/>
                  </a:cubicBezTo>
                  <a:cubicBezTo>
                    <a:pt x="323" y="57"/>
                    <a:pt x="323" y="57"/>
                    <a:pt x="323" y="57"/>
                  </a:cubicBezTo>
                  <a:cubicBezTo>
                    <a:pt x="320" y="52"/>
                    <a:pt x="320" y="52"/>
                    <a:pt x="320" y="52"/>
                  </a:cubicBezTo>
                  <a:cubicBezTo>
                    <a:pt x="316" y="51"/>
                    <a:pt x="316" y="51"/>
                    <a:pt x="316" y="51"/>
                  </a:cubicBezTo>
                  <a:cubicBezTo>
                    <a:pt x="312" y="51"/>
                    <a:pt x="312" y="51"/>
                    <a:pt x="312" y="51"/>
                  </a:cubicBezTo>
                  <a:cubicBezTo>
                    <a:pt x="310" y="49"/>
                    <a:pt x="310" y="49"/>
                    <a:pt x="310" y="49"/>
                  </a:cubicBezTo>
                  <a:cubicBezTo>
                    <a:pt x="306" y="46"/>
                    <a:pt x="306" y="46"/>
                    <a:pt x="306" y="46"/>
                  </a:cubicBezTo>
                  <a:cubicBezTo>
                    <a:pt x="303" y="50"/>
                    <a:pt x="303" y="50"/>
                    <a:pt x="303" y="50"/>
                  </a:cubicBezTo>
                  <a:cubicBezTo>
                    <a:pt x="301" y="55"/>
                    <a:pt x="301" y="55"/>
                    <a:pt x="301" y="55"/>
                  </a:cubicBezTo>
                  <a:cubicBezTo>
                    <a:pt x="292" y="55"/>
                    <a:pt x="292" y="55"/>
                    <a:pt x="292" y="55"/>
                  </a:cubicBezTo>
                  <a:cubicBezTo>
                    <a:pt x="287" y="53"/>
                    <a:pt x="287" y="53"/>
                    <a:pt x="287" y="53"/>
                  </a:cubicBezTo>
                  <a:cubicBezTo>
                    <a:pt x="286" y="49"/>
                    <a:pt x="286" y="49"/>
                    <a:pt x="286" y="49"/>
                  </a:cubicBezTo>
                  <a:cubicBezTo>
                    <a:pt x="277" y="49"/>
                    <a:pt x="277" y="49"/>
                    <a:pt x="277" y="49"/>
                  </a:cubicBezTo>
                  <a:cubicBezTo>
                    <a:pt x="272" y="52"/>
                    <a:pt x="272" y="52"/>
                    <a:pt x="272" y="52"/>
                  </a:cubicBezTo>
                  <a:cubicBezTo>
                    <a:pt x="271" y="49"/>
                    <a:pt x="271" y="49"/>
                    <a:pt x="271" y="49"/>
                  </a:cubicBezTo>
                  <a:cubicBezTo>
                    <a:pt x="268" y="45"/>
                    <a:pt x="268" y="45"/>
                    <a:pt x="268" y="45"/>
                  </a:cubicBezTo>
                  <a:cubicBezTo>
                    <a:pt x="264" y="44"/>
                    <a:pt x="264" y="44"/>
                    <a:pt x="264" y="44"/>
                  </a:cubicBezTo>
                  <a:cubicBezTo>
                    <a:pt x="259" y="49"/>
                    <a:pt x="259" y="49"/>
                    <a:pt x="259" y="49"/>
                  </a:cubicBezTo>
                  <a:cubicBezTo>
                    <a:pt x="253" y="52"/>
                    <a:pt x="253" y="52"/>
                    <a:pt x="253" y="52"/>
                  </a:cubicBezTo>
                  <a:cubicBezTo>
                    <a:pt x="247" y="57"/>
                    <a:pt x="247" y="57"/>
                    <a:pt x="247" y="57"/>
                  </a:cubicBezTo>
                  <a:cubicBezTo>
                    <a:pt x="251" y="51"/>
                    <a:pt x="251" y="51"/>
                    <a:pt x="251" y="51"/>
                  </a:cubicBezTo>
                  <a:cubicBezTo>
                    <a:pt x="255" y="48"/>
                    <a:pt x="255" y="48"/>
                    <a:pt x="255" y="48"/>
                  </a:cubicBezTo>
                  <a:cubicBezTo>
                    <a:pt x="262" y="39"/>
                    <a:pt x="262" y="39"/>
                    <a:pt x="262" y="39"/>
                  </a:cubicBezTo>
                  <a:cubicBezTo>
                    <a:pt x="266" y="35"/>
                    <a:pt x="266" y="35"/>
                    <a:pt x="266" y="35"/>
                  </a:cubicBezTo>
                  <a:cubicBezTo>
                    <a:pt x="270" y="29"/>
                    <a:pt x="270" y="29"/>
                    <a:pt x="270" y="29"/>
                  </a:cubicBezTo>
                  <a:cubicBezTo>
                    <a:pt x="268" y="19"/>
                    <a:pt x="268" y="19"/>
                    <a:pt x="268" y="19"/>
                  </a:cubicBezTo>
                  <a:cubicBezTo>
                    <a:pt x="260" y="12"/>
                    <a:pt x="260" y="12"/>
                    <a:pt x="260" y="12"/>
                  </a:cubicBezTo>
                  <a:cubicBezTo>
                    <a:pt x="254" y="11"/>
                    <a:pt x="254" y="11"/>
                    <a:pt x="254" y="11"/>
                  </a:cubicBezTo>
                  <a:cubicBezTo>
                    <a:pt x="254" y="8"/>
                    <a:pt x="254" y="8"/>
                    <a:pt x="254" y="8"/>
                  </a:cubicBezTo>
                  <a:cubicBezTo>
                    <a:pt x="249" y="1"/>
                    <a:pt x="249" y="1"/>
                    <a:pt x="249" y="1"/>
                  </a:cubicBezTo>
                  <a:cubicBezTo>
                    <a:pt x="249" y="1"/>
                    <a:pt x="242" y="0"/>
                    <a:pt x="241" y="0"/>
                  </a:cubicBezTo>
                  <a:cubicBezTo>
                    <a:pt x="241" y="1"/>
                    <a:pt x="233" y="9"/>
                    <a:pt x="233" y="9"/>
                  </a:cubicBezTo>
                  <a:cubicBezTo>
                    <a:pt x="231" y="16"/>
                    <a:pt x="231" y="16"/>
                    <a:pt x="231" y="16"/>
                  </a:cubicBezTo>
                  <a:cubicBezTo>
                    <a:pt x="222" y="22"/>
                    <a:pt x="222" y="22"/>
                    <a:pt x="222" y="22"/>
                  </a:cubicBezTo>
                  <a:cubicBezTo>
                    <a:pt x="216" y="19"/>
                    <a:pt x="216" y="19"/>
                    <a:pt x="216" y="19"/>
                  </a:cubicBezTo>
                  <a:cubicBezTo>
                    <a:pt x="206" y="23"/>
                    <a:pt x="206" y="23"/>
                    <a:pt x="206" y="23"/>
                  </a:cubicBezTo>
                  <a:cubicBezTo>
                    <a:pt x="195" y="29"/>
                    <a:pt x="195" y="29"/>
                    <a:pt x="195" y="29"/>
                  </a:cubicBezTo>
                  <a:cubicBezTo>
                    <a:pt x="190" y="35"/>
                    <a:pt x="190" y="35"/>
                    <a:pt x="190" y="35"/>
                  </a:cubicBezTo>
                  <a:cubicBezTo>
                    <a:pt x="190" y="35"/>
                    <a:pt x="189" y="46"/>
                    <a:pt x="188" y="46"/>
                  </a:cubicBezTo>
                  <a:cubicBezTo>
                    <a:pt x="187" y="46"/>
                    <a:pt x="172" y="50"/>
                    <a:pt x="172" y="50"/>
                  </a:cubicBezTo>
                  <a:cubicBezTo>
                    <a:pt x="169" y="54"/>
                    <a:pt x="169" y="54"/>
                    <a:pt x="169" y="54"/>
                  </a:cubicBezTo>
                  <a:cubicBezTo>
                    <a:pt x="169" y="54"/>
                    <a:pt x="171" y="63"/>
                    <a:pt x="170" y="64"/>
                  </a:cubicBezTo>
                  <a:cubicBezTo>
                    <a:pt x="170" y="64"/>
                    <a:pt x="167" y="63"/>
                    <a:pt x="167" y="63"/>
                  </a:cubicBezTo>
                  <a:cubicBezTo>
                    <a:pt x="162" y="61"/>
                    <a:pt x="162" y="61"/>
                    <a:pt x="162" y="61"/>
                  </a:cubicBezTo>
                  <a:cubicBezTo>
                    <a:pt x="162" y="61"/>
                    <a:pt x="160" y="65"/>
                    <a:pt x="158" y="66"/>
                  </a:cubicBezTo>
                  <a:cubicBezTo>
                    <a:pt x="155" y="67"/>
                    <a:pt x="155" y="62"/>
                    <a:pt x="155" y="62"/>
                  </a:cubicBezTo>
                  <a:cubicBezTo>
                    <a:pt x="152" y="59"/>
                    <a:pt x="152" y="59"/>
                    <a:pt x="152" y="59"/>
                  </a:cubicBezTo>
                  <a:cubicBezTo>
                    <a:pt x="150" y="59"/>
                    <a:pt x="150" y="59"/>
                    <a:pt x="150" y="59"/>
                  </a:cubicBezTo>
                  <a:cubicBezTo>
                    <a:pt x="148" y="65"/>
                    <a:pt x="148" y="65"/>
                    <a:pt x="148" y="65"/>
                  </a:cubicBezTo>
                  <a:cubicBezTo>
                    <a:pt x="148" y="65"/>
                    <a:pt x="148" y="70"/>
                    <a:pt x="148" y="70"/>
                  </a:cubicBezTo>
                  <a:cubicBezTo>
                    <a:pt x="149" y="71"/>
                    <a:pt x="148" y="79"/>
                    <a:pt x="148" y="79"/>
                  </a:cubicBezTo>
                  <a:cubicBezTo>
                    <a:pt x="145" y="80"/>
                    <a:pt x="145" y="80"/>
                    <a:pt x="145" y="80"/>
                  </a:cubicBezTo>
                  <a:cubicBezTo>
                    <a:pt x="143" y="76"/>
                    <a:pt x="143" y="76"/>
                    <a:pt x="143" y="76"/>
                  </a:cubicBezTo>
                  <a:cubicBezTo>
                    <a:pt x="145" y="68"/>
                    <a:pt x="145" y="68"/>
                    <a:pt x="145" y="68"/>
                  </a:cubicBezTo>
                  <a:cubicBezTo>
                    <a:pt x="144" y="63"/>
                    <a:pt x="144" y="63"/>
                    <a:pt x="144" y="63"/>
                  </a:cubicBezTo>
                  <a:cubicBezTo>
                    <a:pt x="143" y="58"/>
                    <a:pt x="143" y="58"/>
                    <a:pt x="143" y="58"/>
                  </a:cubicBezTo>
                  <a:cubicBezTo>
                    <a:pt x="137" y="56"/>
                    <a:pt x="137" y="56"/>
                    <a:pt x="137" y="56"/>
                  </a:cubicBezTo>
                  <a:cubicBezTo>
                    <a:pt x="131" y="56"/>
                    <a:pt x="131" y="56"/>
                    <a:pt x="131" y="56"/>
                  </a:cubicBezTo>
                  <a:cubicBezTo>
                    <a:pt x="128" y="70"/>
                    <a:pt x="128" y="70"/>
                    <a:pt x="128" y="70"/>
                  </a:cubicBezTo>
                  <a:cubicBezTo>
                    <a:pt x="125" y="73"/>
                    <a:pt x="125" y="73"/>
                    <a:pt x="125" y="73"/>
                  </a:cubicBezTo>
                  <a:cubicBezTo>
                    <a:pt x="123" y="76"/>
                    <a:pt x="123" y="76"/>
                    <a:pt x="123" y="76"/>
                  </a:cubicBezTo>
                  <a:cubicBezTo>
                    <a:pt x="126" y="81"/>
                    <a:pt x="126" y="81"/>
                    <a:pt x="126" y="81"/>
                  </a:cubicBezTo>
                  <a:cubicBezTo>
                    <a:pt x="125" y="86"/>
                    <a:pt x="125" y="86"/>
                    <a:pt x="125" y="86"/>
                  </a:cubicBezTo>
                  <a:cubicBezTo>
                    <a:pt x="126" y="88"/>
                    <a:pt x="126" y="88"/>
                    <a:pt x="126" y="88"/>
                  </a:cubicBezTo>
                  <a:cubicBezTo>
                    <a:pt x="132" y="94"/>
                    <a:pt x="132" y="94"/>
                    <a:pt x="132" y="94"/>
                  </a:cubicBezTo>
                  <a:cubicBezTo>
                    <a:pt x="128" y="101"/>
                    <a:pt x="128" y="101"/>
                    <a:pt x="128" y="101"/>
                  </a:cubicBezTo>
                  <a:cubicBezTo>
                    <a:pt x="121" y="94"/>
                    <a:pt x="121" y="94"/>
                    <a:pt x="121" y="94"/>
                  </a:cubicBezTo>
                  <a:cubicBezTo>
                    <a:pt x="113" y="88"/>
                    <a:pt x="113" y="88"/>
                    <a:pt x="113" y="88"/>
                  </a:cubicBezTo>
                  <a:cubicBezTo>
                    <a:pt x="108" y="88"/>
                    <a:pt x="108" y="88"/>
                    <a:pt x="108" y="88"/>
                  </a:cubicBezTo>
                  <a:cubicBezTo>
                    <a:pt x="103" y="88"/>
                    <a:pt x="103" y="88"/>
                    <a:pt x="103" y="88"/>
                  </a:cubicBezTo>
                  <a:cubicBezTo>
                    <a:pt x="104" y="95"/>
                    <a:pt x="104" y="95"/>
                    <a:pt x="104" y="95"/>
                  </a:cubicBezTo>
                  <a:cubicBezTo>
                    <a:pt x="102" y="96"/>
                    <a:pt x="102" y="96"/>
                    <a:pt x="102" y="96"/>
                  </a:cubicBezTo>
                  <a:cubicBezTo>
                    <a:pt x="98" y="95"/>
                    <a:pt x="98" y="95"/>
                    <a:pt x="98" y="95"/>
                  </a:cubicBezTo>
                  <a:cubicBezTo>
                    <a:pt x="93" y="97"/>
                    <a:pt x="93" y="97"/>
                    <a:pt x="93" y="97"/>
                  </a:cubicBezTo>
                  <a:cubicBezTo>
                    <a:pt x="89" y="98"/>
                    <a:pt x="89" y="98"/>
                    <a:pt x="89" y="98"/>
                  </a:cubicBezTo>
                  <a:cubicBezTo>
                    <a:pt x="85" y="99"/>
                    <a:pt x="85" y="99"/>
                    <a:pt x="85" y="99"/>
                  </a:cubicBezTo>
                  <a:cubicBezTo>
                    <a:pt x="83" y="97"/>
                    <a:pt x="83" y="97"/>
                    <a:pt x="83" y="97"/>
                  </a:cubicBezTo>
                  <a:cubicBezTo>
                    <a:pt x="79" y="98"/>
                    <a:pt x="79" y="98"/>
                    <a:pt x="79" y="98"/>
                  </a:cubicBezTo>
                  <a:cubicBezTo>
                    <a:pt x="73" y="102"/>
                    <a:pt x="73" y="102"/>
                    <a:pt x="73" y="102"/>
                  </a:cubicBezTo>
                  <a:cubicBezTo>
                    <a:pt x="66" y="106"/>
                    <a:pt x="66" y="106"/>
                    <a:pt x="66" y="106"/>
                  </a:cubicBezTo>
                  <a:cubicBezTo>
                    <a:pt x="64" y="107"/>
                    <a:pt x="64" y="107"/>
                    <a:pt x="64" y="107"/>
                  </a:cubicBezTo>
                  <a:cubicBezTo>
                    <a:pt x="62" y="112"/>
                    <a:pt x="62" y="112"/>
                    <a:pt x="62" y="112"/>
                  </a:cubicBezTo>
                  <a:cubicBezTo>
                    <a:pt x="59" y="112"/>
                    <a:pt x="59" y="112"/>
                    <a:pt x="59" y="112"/>
                  </a:cubicBezTo>
                  <a:cubicBezTo>
                    <a:pt x="56" y="109"/>
                    <a:pt x="56" y="109"/>
                    <a:pt x="56" y="109"/>
                  </a:cubicBezTo>
                  <a:cubicBezTo>
                    <a:pt x="57" y="106"/>
                    <a:pt x="57" y="106"/>
                    <a:pt x="57" y="106"/>
                  </a:cubicBezTo>
                  <a:cubicBezTo>
                    <a:pt x="60" y="104"/>
                    <a:pt x="60" y="104"/>
                    <a:pt x="60" y="104"/>
                  </a:cubicBezTo>
                  <a:cubicBezTo>
                    <a:pt x="59" y="100"/>
                    <a:pt x="59" y="100"/>
                    <a:pt x="59" y="100"/>
                  </a:cubicBezTo>
                  <a:cubicBezTo>
                    <a:pt x="55" y="99"/>
                    <a:pt x="55" y="99"/>
                    <a:pt x="55" y="99"/>
                  </a:cubicBezTo>
                  <a:cubicBezTo>
                    <a:pt x="53" y="99"/>
                    <a:pt x="53" y="99"/>
                    <a:pt x="53" y="99"/>
                  </a:cubicBezTo>
                  <a:cubicBezTo>
                    <a:pt x="50" y="98"/>
                    <a:pt x="50" y="98"/>
                    <a:pt x="50" y="98"/>
                  </a:cubicBezTo>
                  <a:cubicBezTo>
                    <a:pt x="52" y="102"/>
                    <a:pt x="52" y="102"/>
                    <a:pt x="52" y="102"/>
                  </a:cubicBezTo>
                  <a:cubicBezTo>
                    <a:pt x="52" y="109"/>
                    <a:pt x="52" y="109"/>
                    <a:pt x="52" y="109"/>
                  </a:cubicBezTo>
                  <a:cubicBezTo>
                    <a:pt x="54" y="112"/>
                    <a:pt x="54" y="112"/>
                    <a:pt x="54" y="112"/>
                  </a:cubicBezTo>
                  <a:cubicBezTo>
                    <a:pt x="52" y="118"/>
                    <a:pt x="52" y="118"/>
                    <a:pt x="52" y="118"/>
                  </a:cubicBezTo>
                  <a:cubicBezTo>
                    <a:pt x="49" y="116"/>
                    <a:pt x="49" y="116"/>
                    <a:pt x="49" y="116"/>
                  </a:cubicBezTo>
                  <a:cubicBezTo>
                    <a:pt x="46" y="116"/>
                    <a:pt x="46" y="116"/>
                    <a:pt x="46" y="116"/>
                  </a:cubicBezTo>
                  <a:cubicBezTo>
                    <a:pt x="43" y="118"/>
                    <a:pt x="43" y="118"/>
                    <a:pt x="43" y="118"/>
                  </a:cubicBezTo>
                  <a:cubicBezTo>
                    <a:pt x="40" y="121"/>
                    <a:pt x="40" y="121"/>
                    <a:pt x="40" y="121"/>
                  </a:cubicBezTo>
                  <a:cubicBezTo>
                    <a:pt x="38" y="123"/>
                    <a:pt x="38" y="123"/>
                    <a:pt x="38" y="123"/>
                  </a:cubicBezTo>
                  <a:cubicBezTo>
                    <a:pt x="41" y="130"/>
                    <a:pt x="41" y="130"/>
                    <a:pt x="41" y="130"/>
                  </a:cubicBezTo>
                  <a:cubicBezTo>
                    <a:pt x="41" y="130"/>
                    <a:pt x="39" y="129"/>
                    <a:pt x="39" y="129"/>
                  </a:cubicBezTo>
                  <a:cubicBezTo>
                    <a:pt x="38" y="128"/>
                    <a:pt x="33" y="128"/>
                    <a:pt x="33" y="128"/>
                  </a:cubicBezTo>
                  <a:cubicBezTo>
                    <a:pt x="30" y="127"/>
                    <a:pt x="30" y="127"/>
                    <a:pt x="30" y="127"/>
                  </a:cubicBezTo>
                  <a:cubicBezTo>
                    <a:pt x="30" y="129"/>
                    <a:pt x="30" y="129"/>
                    <a:pt x="30" y="129"/>
                  </a:cubicBezTo>
                  <a:cubicBezTo>
                    <a:pt x="32" y="132"/>
                    <a:pt x="32" y="132"/>
                    <a:pt x="32" y="132"/>
                  </a:cubicBezTo>
                  <a:cubicBezTo>
                    <a:pt x="33" y="135"/>
                    <a:pt x="33" y="135"/>
                    <a:pt x="33" y="135"/>
                  </a:cubicBezTo>
                  <a:cubicBezTo>
                    <a:pt x="31" y="136"/>
                    <a:pt x="31" y="136"/>
                    <a:pt x="31" y="136"/>
                  </a:cubicBezTo>
                  <a:cubicBezTo>
                    <a:pt x="26" y="133"/>
                    <a:pt x="26" y="133"/>
                    <a:pt x="26" y="133"/>
                  </a:cubicBezTo>
                  <a:cubicBezTo>
                    <a:pt x="23" y="130"/>
                    <a:pt x="23" y="130"/>
                    <a:pt x="23" y="130"/>
                  </a:cubicBezTo>
                  <a:cubicBezTo>
                    <a:pt x="23" y="128"/>
                    <a:pt x="23" y="128"/>
                    <a:pt x="23" y="128"/>
                  </a:cubicBezTo>
                  <a:cubicBezTo>
                    <a:pt x="21" y="123"/>
                    <a:pt x="21" y="123"/>
                    <a:pt x="21" y="123"/>
                  </a:cubicBezTo>
                  <a:cubicBezTo>
                    <a:pt x="23" y="121"/>
                    <a:pt x="23" y="121"/>
                    <a:pt x="23" y="121"/>
                  </a:cubicBezTo>
                  <a:cubicBezTo>
                    <a:pt x="23" y="118"/>
                    <a:pt x="23" y="118"/>
                    <a:pt x="23" y="118"/>
                  </a:cubicBezTo>
                  <a:cubicBezTo>
                    <a:pt x="19" y="116"/>
                    <a:pt x="19" y="116"/>
                    <a:pt x="19" y="116"/>
                  </a:cubicBezTo>
                  <a:cubicBezTo>
                    <a:pt x="15" y="113"/>
                    <a:pt x="15" y="113"/>
                    <a:pt x="15" y="113"/>
                  </a:cubicBezTo>
                  <a:cubicBezTo>
                    <a:pt x="14" y="111"/>
                    <a:pt x="14" y="111"/>
                    <a:pt x="14" y="111"/>
                  </a:cubicBezTo>
                  <a:cubicBezTo>
                    <a:pt x="16" y="111"/>
                    <a:pt x="16" y="111"/>
                    <a:pt x="16" y="111"/>
                  </a:cubicBezTo>
                  <a:cubicBezTo>
                    <a:pt x="18" y="112"/>
                    <a:pt x="18" y="112"/>
                    <a:pt x="18" y="112"/>
                  </a:cubicBezTo>
                  <a:cubicBezTo>
                    <a:pt x="18" y="112"/>
                    <a:pt x="22" y="113"/>
                    <a:pt x="22" y="113"/>
                  </a:cubicBezTo>
                  <a:cubicBezTo>
                    <a:pt x="23" y="113"/>
                    <a:pt x="24" y="116"/>
                    <a:pt x="24" y="116"/>
                  </a:cubicBezTo>
                  <a:cubicBezTo>
                    <a:pt x="31" y="118"/>
                    <a:pt x="31" y="118"/>
                    <a:pt x="31" y="118"/>
                  </a:cubicBezTo>
                  <a:cubicBezTo>
                    <a:pt x="38" y="117"/>
                    <a:pt x="38" y="117"/>
                    <a:pt x="38" y="117"/>
                  </a:cubicBezTo>
                  <a:cubicBezTo>
                    <a:pt x="42" y="114"/>
                    <a:pt x="42" y="114"/>
                    <a:pt x="42" y="114"/>
                  </a:cubicBezTo>
                  <a:cubicBezTo>
                    <a:pt x="43" y="109"/>
                    <a:pt x="43" y="109"/>
                    <a:pt x="43" y="109"/>
                  </a:cubicBezTo>
                  <a:cubicBezTo>
                    <a:pt x="36" y="101"/>
                    <a:pt x="36" y="101"/>
                    <a:pt x="36" y="101"/>
                  </a:cubicBezTo>
                  <a:cubicBezTo>
                    <a:pt x="30" y="97"/>
                    <a:pt x="30" y="97"/>
                    <a:pt x="30" y="97"/>
                  </a:cubicBezTo>
                  <a:cubicBezTo>
                    <a:pt x="26" y="93"/>
                    <a:pt x="26" y="93"/>
                    <a:pt x="26" y="93"/>
                  </a:cubicBezTo>
                  <a:cubicBezTo>
                    <a:pt x="20" y="91"/>
                    <a:pt x="20" y="91"/>
                    <a:pt x="20" y="91"/>
                  </a:cubicBezTo>
                  <a:cubicBezTo>
                    <a:pt x="17" y="90"/>
                    <a:pt x="17" y="90"/>
                    <a:pt x="17" y="90"/>
                  </a:cubicBezTo>
                  <a:cubicBezTo>
                    <a:pt x="17" y="87"/>
                    <a:pt x="17" y="87"/>
                    <a:pt x="17" y="87"/>
                  </a:cubicBezTo>
                  <a:cubicBezTo>
                    <a:pt x="13" y="87"/>
                    <a:pt x="13" y="87"/>
                    <a:pt x="13" y="87"/>
                  </a:cubicBezTo>
                  <a:cubicBezTo>
                    <a:pt x="10" y="87"/>
                    <a:pt x="10" y="87"/>
                    <a:pt x="10" y="87"/>
                  </a:cubicBezTo>
                  <a:cubicBezTo>
                    <a:pt x="9" y="87"/>
                    <a:pt x="9" y="87"/>
                    <a:pt x="9" y="87"/>
                  </a:cubicBezTo>
                  <a:cubicBezTo>
                    <a:pt x="8" y="89"/>
                    <a:pt x="8" y="89"/>
                    <a:pt x="8" y="89"/>
                  </a:cubicBezTo>
                  <a:cubicBezTo>
                    <a:pt x="4" y="93"/>
                    <a:pt x="4" y="93"/>
                    <a:pt x="4" y="93"/>
                  </a:cubicBezTo>
                  <a:cubicBezTo>
                    <a:pt x="4" y="93"/>
                    <a:pt x="4" y="93"/>
                    <a:pt x="4" y="93"/>
                  </a:cubicBezTo>
                  <a:cubicBezTo>
                    <a:pt x="4" y="94"/>
                    <a:pt x="4" y="94"/>
                    <a:pt x="4" y="94"/>
                  </a:cubicBezTo>
                  <a:cubicBezTo>
                    <a:pt x="3" y="95"/>
                    <a:pt x="3" y="95"/>
                    <a:pt x="3" y="95"/>
                  </a:cubicBezTo>
                  <a:cubicBezTo>
                    <a:pt x="3" y="96"/>
                    <a:pt x="3" y="96"/>
                    <a:pt x="3" y="96"/>
                  </a:cubicBezTo>
                  <a:cubicBezTo>
                    <a:pt x="2" y="99"/>
                    <a:pt x="2" y="99"/>
                    <a:pt x="2" y="99"/>
                  </a:cubicBezTo>
                  <a:cubicBezTo>
                    <a:pt x="3" y="100"/>
                    <a:pt x="3" y="100"/>
                    <a:pt x="3" y="100"/>
                  </a:cubicBezTo>
                  <a:cubicBezTo>
                    <a:pt x="6" y="102"/>
                    <a:pt x="6" y="102"/>
                    <a:pt x="6" y="102"/>
                  </a:cubicBezTo>
                  <a:cubicBezTo>
                    <a:pt x="8" y="107"/>
                    <a:pt x="8" y="107"/>
                    <a:pt x="8" y="107"/>
                  </a:cubicBezTo>
                  <a:cubicBezTo>
                    <a:pt x="4" y="112"/>
                    <a:pt x="4" y="112"/>
                    <a:pt x="4" y="112"/>
                  </a:cubicBezTo>
                  <a:cubicBezTo>
                    <a:pt x="8" y="122"/>
                    <a:pt x="8" y="122"/>
                    <a:pt x="8" y="122"/>
                  </a:cubicBezTo>
                  <a:cubicBezTo>
                    <a:pt x="6" y="124"/>
                    <a:pt x="6" y="124"/>
                    <a:pt x="6" y="124"/>
                  </a:cubicBezTo>
                  <a:cubicBezTo>
                    <a:pt x="7" y="126"/>
                    <a:pt x="7" y="126"/>
                    <a:pt x="7" y="126"/>
                  </a:cubicBezTo>
                  <a:cubicBezTo>
                    <a:pt x="6" y="127"/>
                    <a:pt x="6" y="127"/>
                    <a:pt x="6" y="127"/>
                  </a:cubicBezTo>
                  <a:cubicBezTo>
                    <a:pt x="8" y="129"/>
                    <a:pt x="8" y="129"/>
                    <a:pt x="8" y="129"/>
                  </a:cubicBezTo>
                  <a:cubicBezTo>
                    <a:pt x="8" y="129"/>
                    <a:pt x="7" y="131"/>
                    <a:pt x="7" y="131"/>
                  </a:cubicBezTo>
                  <a:cubicBezTo>
                    <a:pt x="8" y="131"/>
                    <a:pt x="9" y="133"/>
                    <a:pt x="9" y="133"/>
                  </a:cubicBezTo>
                  <a:cubicBezTo>
                    <a:pt x="8" y="137"/>
                    <a:pt x="8" y="137"/>
                    <a:pt x="8" y="137"/>
                  </a:cubicBezTo>
                  <a:cubicBezTo>
                    <a:pt x="10" y="140"/>
                    <a:pt x="10" y="140"/>
                    <a:pt x="10" y="140"/>
                  </a:cubicBezTo>
                  <a:cubicBezTo>
                    <a:pt x="12" y="141"/>
                    <a:pt x="12" y="141"/>
                    <a:pt x="12" y="141"/>
                  </a:cubicBezTo>
                  <a:cubicBezTo>
                    <a:pt x="11" y="143"/>
                    <a:pt x="11" y="143"/>
                    <a:pt x="11" y="143"/>
                  </a:cubicBezTo>
                  <a:cubicBezTo>
                    <a:pt x="0" y="157"/>
                    <a:pt x="0" y="157"/>
                    <a:pt x="0" y="157"/>
                  </a:cubicBezTo>
                  <a:cubicBezTo>
                    <a:pt x="2" y="157"/>
                    <a:pt x="2" y="157"/>
                    <a:pt x="2" y="157"/>
                  </a:cubicBezTo>
                  <a:cubicBezTo>
                    <a:pt x="4" y="158"/>
                    <a:pt x="4" y="158"/>
                    <a:pt x="4" y="158"/>
                  </a:cubicBezTo>
                  <a:cubicBezTo>
                    <a:pt x="4" y="163"/>
                    <a:pt x="4" y="163"/>
                    <a:pt x="4" y="163"/>
                  </a:cubicBezTo>
                  <a:cubicBezTo>
                    <a:pt x="1" y="163"/>
                    <a:pt x="1" y="163"/>
                    <a:pt x="1" y="163"/>
                  </a:cubicBezTo>
                  <a:cubicBezTo>
                    <a:pt x="2" y="164"/>
                    <a:pt x="2" y="164"/>
                    <a:pt x="2" y="164"/>
                  </a:cubicBezTo>
                  <a:cubicBezTo>
                    <a:pt x="1" y="168"/>
                    <a:pt x="1" y="168"/>
                    <a:pt x="1" y="168"/>
                  </a:cubicBezTo>
                  <a:cubicBezTo>
                    <a:pt x="1" y="171"/>
                    <a:pt x="1" y="171"/>
                    <a:pt x="1" y="171"/>
                  </a:cubicBezTo>
                  <a:cubicBezTo>
                    <a:pt x="0" y="178"/>
                    <a:pt x="0" y="178"/>
                    <a:pt x="0" y="178"/>
                  </a:cubicBezTo>
                  <a:cubicBezTo>
                    <a:pt x="2" y="183"/>
                    <a:pt x="2" y="183"/>
                    <a:pt x="2" y="183"/>
                  </a:cubicBezTo>
                  <a:cubicBezTo>
                    <a:pt x="6" y="185"/>
                    <a:pt x="6" y="185"/>
                    <a:pt x="6" y="185"/>
                  </a:cubicBezTo>
                  <a:cubicBezTo>
                    <a:pt x="9" y="186"/>
                    <a:pt x="9" y="186"/>
                    <a:pt x="9" y="186"/>
                  </a:cubicBezTo>
                  <a:cubicBezTo>
                    <a:pt x="13" y="195"/>
                    <a:pt x="13" y="195"/>
                    <a:pt x="13" y="195"/>
                  </a:cubicBezTo>
                  <a:cubicBezTo>
                    <a:pt x="16" y="197"/>
                    <a:pt x="16" y="197"/>
                    <a:pt x="16" y="197"/>
                  </a:cubicBezTo>
                  <a:cubicBezTo>
                    <a:pt x="15" y="199"/>
                    <a:pt x="15" y="199"/>
                    <a:pt x="15" y="199"/>
                  </a:cubicBezTo>
                  <a:cubicBezTo>
                    <a:pt x="12" y="201"/>
                    <a:pt x="12" y="201"/>
                    <a:pt x="12" y="201"/>
                  </a:cubicBezTo>
                  <a:cubicBezTo>
                    <a:pt x="13" y="204"/>
                    <a:pt x="13" y="204"/>
                    <a:pt x="13" y="204"/>
                  </a:cubicBezTo>
                  <a:cubicBezTo>
                    <a:pt x="15" y="205"/>
                    <a:pt x="15" y="205"/>
                    <a:pt x="15" y="205"/>
                  </a:cubicBezTo>
                  <a:cubicBezTo>
                    <a:pt x="18" y="205"/>
                    <a:pt x="18" y="205"/>
                    <a:pt x="18" y="205"/>
                  </a:cubicBezTo>
                  <a:cubicBezTo>
                    <a:pt x="21" y="208"/>
                    <a:pt x="21" y="208"/>
                    <a:pt x="21" y="208"/>
                  </a:cubicBezTo>
                  <a:cubicBezTo>
                    <a:pt x="22" y="209"/>
                    <a:pt x="22" y="209"/>
                    <a:pt x="22" y="209"/>
                  </a:cubicBezTo>
                  <a:cubicBezTo>
                    <a:pt x="34" y="214"/>
                    <a:pt x="34" y="214"/>
                    <a:pt x="34" y="214"/>
                  </a:cubicBezTo>
                  <a:cubicBezTo>
                    <a:pt x="35" y="214"/>
                    <a:pt x="35" y="214"/>
                    <a:pt x="35" y="214"/>
                  </a:cubicBezTo>
                  <a:cubicBezTo>
                    <a:pt x="34" y="219"/>
                    <a:pt x="34" y="219"/>
                    <a:pt x="34" y="219"/>
                  </a:cubicBezTo>
                  <a:cubicBezTo>
                    <a:pt x="32" y="220"/>
                    <a:pt x="32" y="220"/>
                    <a:pt x="32" y="220"/>
                  </a:cubicBezTo>
                  <a:cubicBezTo>
                    <a:pt x="30" y="223"/>
                    <a:pt x="30" y="223"/>
                    <a:pt x="30" y="223"/>
                  </a:cubicBezTo>
                  <a:cubicBezTo>
                    <a:pt x="28" y="225"/>
                    <a:pt x="28" y="225"/>
                    <a:pt x="28" y="225"/>
                  </a:cubicBezTo>
                  <a:cubicBezTo>
                    <a:pt x="31" y="224"/>
                    <a:pt x="31" y="224"/>
                    <a:pt x="31" y="224"/>
                  </a:cubicBezTo>
                  <a:cubicBezTo>
                    <a:pt x="29" y="228"/>
                    <a:pt x="29" y="228"/>
                    <a:pt x="29" y="228"/>
                  </a:cubicBezTo>
                  <a:cubicBezTo>
                    <a:pt x="26" y="232"/>
                    <a:pt x="26" y="232"/>
                    <a:pt x="26" y="232"/>
                  </a:cubicBezTo>
                  <a:cubicBezTo>
                    <a:pt x="29" y="236"/>
                    <a:pt x="29" y="236"/>
                    <a:pt x="29" y="236"/>
                  </a:cubicBezTo>
                  <a:cubicBezTo>
                    <a:pt x="35" y="239"/>
                    <a:pt x="35" y="239"/>
                    <a:pt x="35" y="239"/>
                  </a:cubicBezTo>
                  <a:cubicBezTo>
                    <a:pt x="40" y="244"/>
                    <a:pt x="40" y="244"/>
                    <a:pt x="40" y="244"/>
                  </a:cubicBezTo>
                  <a:cubicBezTo>
                    <a:pt x="40" y="247"/>
                    <a:pt x="40" y="247"/>
                    <a:pt x="40" y="247"/>
                  </a:cubicBezTo>
                  <a:cubicBezTo>
                    <a:pt x="42" y="248"/>
                    <a:pt x="42" y="248"/>
                    <a:pt x="42" y="248"/>
                  </a:cubicBezTo>
                  <a:cubicBezTo>
                    <a:pt x="45" y="248"/>
                    <a:pt x="45" y="248"/>
                    <a:pt x="45" y="248"/>
                  </a:cubicBezTo>
                  <a:cubicBezTo>
                    <a:pt x="47" y="250"/>
                    <a:pt x="47" y="250"/>
                    <a:pt x="47" y="250"/>
                  </a:cubicBezTo>
                  <a:cubicBezTo>
                    <a:pt x="50" y="255"/>
                    <a:pt x="50" y="255"/>
                    <a:pt x="50" y="255"/>
                  </a:cubicBezTo>
                  <a:cubicBezTo>
                    <a:pt x="49" y="256"/>
                    <a:pt x="49" y="256"/>
                    <a:pt x="49" y="256"/>
                  </a:cubicBezTo>
                  <a:cubicBezTo>
                    <a:pt x="52" y="259"/>
                    <a:pt x="52" y="259"/>
                    <a:pt x="52" y="259"/>
                  </a:cubicBezTo>
                  <a:cubicBezTo>
                    <a:pt x="56" y="259"/>
                    <a:pt x="56" y="259"/>
                    <a:pt x="56" y="259"/>
                  </a:cubicBezTo>
                  <a:cubicBezTo>
                    <a:pt x="59" y="256"/>
                    <a:pt x="59" y="256"/>
                    <a:pt x="59" y="256"/>
                  </a:cubicBezTo>
                  <a:cubicBezTo>
                    <a:pt x="61" y="258"/>
                    <a:pt x="61" y="258"/>
                    <a:pt x="61" y="258"/>
                  </a:cubicBezTo>
                  <a:cubicBezTo>
                    <a:pt x="61" y="260"/>
                    <a:pt x="61" y="260"/>
                    <a:pt x="61" y="260"/>
                  </a:cubicBezTo>
                  <a:cubicBezTo>
                    <a:pt x="62" y="260"/>
                    <a:pt x="62" y="260"/>
                    <a:pt x="62" y="260"/>
                  </a:cubicBezTo>
                  <a:cubicBezTo>
                    <a:pt x="64" y="257"/>
                    <a:pt x="64" y="257"/>
                    <a:pt x="64" y="257"/>
                  </a:cubicBezTo>
                  <a:cubicBezTo>
                    <a:pt x="67" y="253"/>
                    <a:pt x="67" y="253"/>
                    <a:pt x="67" y="253"/>
                  </a:cubicBezTo>
                  <a:cubicBezTo>
                    <a:pt x="67" y="253"/>
                    <a:pt x="64" y="244"/>
                    <a:pt x="63" y="244"/>
                  </a:cubicBezTo>
                  <a:cubicBezTo>
                    <a:pt x="62" y="243"/>
                    <a:pt x="56" y="235"/>
                    <a:pt x="56" y="235"/>
                  </a:cubicBezTo>
                  <a:cubicBezTo>
                    <a:pt x="59" y="229"/>
                    <a:pt x="59" y="229"/>
                    <a:pt x="59" y="229"/>
                  </a:cubicBezTo>
                  <a:cubicBezTo>
                    <a:pt x="63" y="226"/>
                    <a:pt x="63" y="226"/>
                    <a:pt x="63" y="226"/>
                  </a:cubicBezTo>
                  <a:cubicBezTo>
                    <a:pt x="63" y="225"/>
                    <a:pt x="63" y="225"/>
                    <a:pt x="63" y="225"/>
                  </a:cubicBezTo>
                  <a:cubicBezTo>
                    <a:pt x="64" y="226"/>
                    <a:pt x="64" y="226"/>
                    <a:pt x="64" y="226"/>
                  </a:cubicBezTo>
                  <a:cubicBezTo>
                    <a:pt x="63" y="224"/>
                    <a:pt x="63" y="224"/>
                    <a:pt x="63" y="224"/>
                  </a:cubicBezTo>
                  <a:cubicBezTo>
                    <a:pt x="63" y="224"/>
                    <a:pt x="63" y="224"/>
                    <a:pt x="63" y="224"/>
                  </a:cubicBezTo>
                  <a:cubicBezTo>
                    <a:pt x="63" y="224"/>
                    <a:pt x="63" y="224"/>
                    <a:pt x="63" y="224"/>
                  </a:cubicBezTo>
                  <a:cubicBezTo>
                    <a:pt x="60" y="222"/>
                    <a:pt x="60" y="222"/>
                    <a:pt x="60" y="222"/>
                  </a:cubicBezTo>
                  <a:cubicBezTo>
                    <a:pt x="63" y="214"/>
                    <a:pt x="63" y="214"/>
                    <a:pt x="63" y="214"/>
                  </a:cubicBezTo>
                  <a:cubicBezTo>
                    <a:pt x="73" y="210"/>
                    <a:pt x="73" y="210"/>
                    <a:pt x="73" y="210"/>
                  </a:cubicBezTo>
                  <a:cubicBezTo>
                    <a:pt x="82" y="209"/>
                    <a:pt x="82" y="209"/>
                    <a:pt x="82" y="209"/>
                  </a:cubicBezTo>
                  <a:cubicBezTo>
                    <a:pt x="87" y="212"/>
                    <a:pt x="87" y="212"/>
                    <a:pt x="87" y="212"/>
                  </a:cubicBezTo>
                  <a:cubicBezTo>
                    <a:pt x="93" y="211"/>
                    <a:pt x="93" y="211"/>
                    <a:pt x="93" y="211"/>
                  </a:cubicBezTo>
                  <a:cubicBezTo>
                    <a:pt x="100" y="213"/>
                    <a:pt x="100" y="213"/>
                    <a:pt x="100" y="213"/>
                  </a:cubicBezTo>
                  <a:cubicBezTo>
                    <a:pt x="107" y="211"/>
                    <a:pt x="107" y="211"/>
                    <a:pt x="107" y="211"/>
                  </a:cubicBezTo>
                  <a:cubicBezTo>
                    <a:pt x="105" y="205"/>
                    <a:pt x="105" y="205"/>
                    <a:pt x="105" y="205"/>
                  </a:cubicBezTo>
                  <a:cubicBezTo>
                    <a:pt x="109" y="196"/>
                    <a:pt x="109" y="196"/>
                    <a:pt x="109" y="196"/>
                  </a:cubicBezTo>
                  <a:cubicBezTo>
                    <a:pt x="122" y="191"/>
                    <a:pt x="122" y="191"/>
                    <a:pt x="122" y="191"/>
                  </a:cubicBezTo>
                  <a:cubicBezTo>
                    <a:pt x="134" y="189"/>
                    <a:pt x="134" y="189"/>
                    <a:pt x="134" y="189"/>
                  </a:cubicBezTo>
                  <a:cubicBezTo>
                    <a:pt x="142" y="198"/>
                    <a:pt x="142" y="198"/>
                    <a:pt x="142" y="198"/>
                  </a:cubicBezTo>
                  <a:cubicBezTo>
                    <a:pt x="151" y="195"/>
                    <a:pt x="151" y="195"/>
                    <a:pt x="151" y="195"/>
                  </a:cubicBezTo>
                  <a:cubicBezTo>
                    <a:pt x="156" y="194"/>
                    <a:pt x="156" y="194"/>
                    <a:pt x="156" y="194"/>
                  </a:cubicBezTo>
                  <a:cubicBezTo>
                    <a:pt x="160" y="203"/>
                    <a:pt x="160" y="203"/>
                    <a:pt x="160" y="203"/>
                  </a:cubicBezTo>
                  <a:cubicBezTo>
                    <a:pt x="164" y="212"/>
                    <a:pt x="164" y="212"/>
                    <a:pt x="164" y="212"/>
                  </a:cubicBezTo>
                  <a:cubicBezTo>
                    <a:pt x="174" y="212"/>
                    <a:pt x="174" y="212"/>
                    <a:pt x="174" y="212"/>
                  </a:cubicBezTo>
                  <a:cubicBezTo>
                    <a:pt x="182" y="216"/>
                    <a:pt x="182" y="216"/>
                    <a:pt x="182" y="216"/>
                  </a:cubicBezTo>
                  <a:cubicBezTo>
                    <a:pt x="189" y="217"/>
                    <a:pt x="189" y="217"/>
                    <a:pt x="189" y="217"/>
                  </a:cubicBezTo>
                  <a:cubicBezTo>
                    <a:pt x="189" y="223"/>
                    <a:pt x="189" y="223"/>
                    <a:pt x="189" y="223"/>
                  </a:cubicBezTo>
                  <a:cubicBezTo>
                    <a:pt x="191" y="222"/>
                    <a:pt x="191" y="222"/>
                    <a:pt x="191" y="222"/>
                  </a:cubicBezTo>
                  <a:cubicBezTo>
                    <a:pt x="192" y="223"/>
                    <a:pt x="192" y="223"/>
                    <a:pt x="192" y="223"/>
                  </a:cubicBezTo>
                  <a:cubicBezTo>
                    <a:pt x="194" y="219"/>
                    <a:pt x="194" y="219"/>
                    <a:pt x="194" y="219"/>
                  </a:cubicBezTo>
                  <a:cubicBezTo>
                    <a:pt x="201" y="214"/>
                    <a:pt x="201" y="214"/>
                    <a:pt x="201" y="214"/>
                  </a:cubicBezTo>
                  <a:cubicBezTo>
                    <a:pt x="212" y="213"/>
                    <a:pt x="212" y="213"/>
                    <a:pt x="212" y="213"/>
                  </a:cubicBezTo>
                  <a:cubicBezTo>
                    <a:pt x="220" y="217"/>
                    <a:pt x="220" y="217"/>
                    <a:pt x="220" y="217"/>
                  </a:cubicBezTo>
                  <a:cubicBezTo>
                    <a:pt x="224" y="211"/>
                    <a:pt x="224" y="211"/>
                    <a:pt x="224" y="211"/>
                  </a:cubicBezTo>
                  <a:cubicBezTo>
                    <a:pt x="228" y="206"/>
                    <a:pt x="228" y="206"/>
                    <a:pt x="228" y="206"/>
                  </a:cubicBezTo>
                  <a:cubicBezTo>
                    <a:pt x="240" y="211"/>
                    <a:pt x="240" y="211"/>
                    <a:pt x="240" y="211"/>
                  </a:cubicBezTo>
                  <a:cubicBezTo>
                    <a:pt x="243" y="215"/>
                    <a:pt x="243" y="215"/>
                    <a:pt x="243" y="215"/>
                  </a:cubicBezTo>
                  <a:cubicBezTo>
                    <a:pt x="253" y="215"/>
                    <a:pt x="253" y="215"/>
                    <a:pt x="253" y="215"/>
                  </a:cubicBezTo>
                  <a:cubicBezTo>
                    <a:pt x="259" y="220"/>
                    <a:pt x="259" y="220"/>
                    <a:pt x="259" y="220"/>
                  </a:cubicBezTo>
                  <a:cubicBezTo>
                    <a:pt x="275" y="216"/>
                    <a:pt x="275" y="216"/>
                    <a:pt x="275" y="216"/>
                  </a:cubicBezTo>
                  <a:cubicBezTo>
                    <a:pt x="282" y="218"/>
                    <a:pt x="282" y="218"/>
                    <a:pt x="282" y="218"/>
                  </a:cubicBezTo>
                  <a:cubicBezTo>
                    <a:pt x="283" y="216"/>
                    <a:pt x="283" y="216"/>
                    <a:pt x="283" y="216"/>
                  </a:cubicBezTo>
                  <a:cubicBezTo>
                    <a:pt x="289" y="216"/>
                    <a:pt x="289" y="216"/>
                    <a:pt x="289" y="216"/>
                  </a:cubicBezTo>
                  <a:cubicBezTo>
                    <a:pt x="295" y="205"/>
                    <a:pt x="295" y="205"/>
                    <a:pt x="295" y="205"/>
                  </a:cubicBezTo>
                  <a:cubicBezTo>
                    <a:pt x="298" y="200"/>
                    <a:pt x="298" y="200"/>
                    <a:pt x="298" y="200"/>
                  </a:cubicBezTo>
                  <a:cubicBezTo>
                    <a:pt x="307" y="200"/>
                    <a:pt x="307" y="200"/>
                    <a:pt x="307" y="200"/>
                  </a:cubicBezTo>
                  <a:cubicBezTo>
                    <a:pt x="317" y="218"/>
                    <a:pt x="317" y="218"/>
                    <a:pt x="317" y="218"/>
                  </a:cubicBezTo>
                  <a:cubicBezTo>
                    <a:pt x="325" y="220"/>
                    <a:pt x="325" y="220"/>
                    <a:pt x="325" y="220"/>
                  </a:cubicBezTo>
                  <a:cubicBezTo>
                    <a:pt x="327" y="224"/>
                    <a:pt x="327" y="224"/>
                    <a:pt x="327" y="224"/>
                  </a:cubicBezTo>
                  <a:cubicBezTo>
                    <a:pt x="339" y="223"/>
                    <a:pt x="339" y="223"/>
                    <a:pt x="339" y="223"/>
                  </a:cubicBezTo>
                  <a:cubicBezTo>
                    <a:pt x="334" y="238"/>
                    <a:pt x="334" y="238"/>
                    <a:pt x="334" y="238"/>
                  </a:cubicBezTo>
                  <a:cubicBezTo>
                    <a:pt x="329" y="239"/>
                    <a:pt x="329" y="239"/>
                    <a:pt x="329" y="239"/>
                  </a:cubicBezTo>
                  <a:cubicBezTo>
                    <a:pt x="326" y="250"/>
                    <a:pt x="326" y="250"/>
                    <a:pt x="326" y="250"/>
                  </a:cubicBezTo>
                  <a:cubicBezTo>
                    <a:pt x="327" y="250"/>
                    <a:pt x="327" y="250"/>
                    <a:pt x="327" y="250"/>
                  </a:cubicBezTo>
                  <a:cubicBezTo>
                    <a:pt x="329" y="250"/>
                    <a:pt x="329" y="250"/>
                    <a:pt x="329" y="250"/>
                  </a:cubicBezTo>
                  <a:cubicBezTo>
                    <a:pt x="331" y="249"/>
                    <a:pt x="331" y="249"/>
                    <a:pt x="331" y="249"/>
                  </a:cubicBezTo>
                  <a:cubicBezTo>
                    <a:pt x="332" y="249"/>
                    <a:pt x="332" y="249"/>
                    <a:pt x="332" y="249"/>
                  </a:cubicBezTo>
                  <a:cubicBezTo>
                    <a:pt x="335" y="250"/>
                    <a:pt x="335" y="250"/>
                    <a:pt x="335" y="250"/>
                  </a:cubicBezTo>
                  <a:cubicBezTo>
                    <a:pt x="342" y="245"/>
                    <a:pt x="342" y="245"/>
                    <a:pt x="342" y="245"/>
                  </a:cubicBezTo>
                  <a:cubicBezTo>
                    <a:pt x="345" y="241"/>
                    <a:pt x="345" y="241"/>
                    <a:pt x="345" y="241"/>
                  </a:cubicBezTo>
                  <a:cubicBezTo>
                    <a:pt x="353" y="230"/>
                    <a:pt x="353" y="230"/>
                    <a:pt x="353" y="230"/>
                  </a:cubicBezTo>
                  <a:cubicBezTo>
                    <a:pt x="357" y="223"/>
                    <a:pt x="357" y="223"/>
                    <a:pt x="357" y="223"/>
                  </a:cubicBezTo>
                  <a:cubicBezTo>
                    <a:pt x="358" y="214"/>
                    <a:pt x="358" y="214"/>
                    <a:pt x="358" y="214"/>
                  </a:cubicBezTo>
                  <a:cubicBezTo>
                    <a:pt x="360" y="203"/>
                    <a:pt x="360" y="203"/>
                    <a:pt x="360" y="203"/>
                  </a:cubicBezTo>
                  <a:cubicBezTo>
                    <a:pt x="360" y="199"/>
                    <a:pt x="360" y="199"/>
                    <a:pt x="360" y="199"/>
                  </a:cubicBezTo>
                  <a:cubicBezTo>
                    <a:pt x="355" y="194"/>
                    <a:pt x="355" y="194"/>
                    <a:pt x="355" y="194"/>
                  </a:cubicBezTo>
                  <a:cubicBezTo>
                    <a:pt x="355" y="194"/>
                    <a:pt x="349" y="198"/>
                    <a:pt x="349" y="198"/>
                  </a:cubicBezTo>
                  <a:cubicBezTo>
                    <a:pt x="348" y="198"/>
                    <a:pt x="346" y="196"/>
                    <a:pt x="346" y="196"/>
                  </a:cubicBezTo>
                  <a:cubicBezTo>
                    <a:pt x="344" y="192"/>
                    <a:pt x="344" y="192"/>
                    <a:pt x="344" y="192"/>
                  </a:cubicBezTo>
                  <a:cubicBezTo>
                    <a:pt x="341" y="192"/>
                    <a:pt x="341" y="192"/>
                    <a:pt x="341" y="192"/>
                  </a:cubicBezTo>
                  <a:cubicBezTo>
                    <a:pt x="344" y="190"/>
                    <a:pt x="344" y="190"/>
                    <a:pt x="344" y="190"/>
                  </a:cubicBezTo>
                  <a:cubicBezTo>
                    <a:pt x="349" y="185"/>
                    <a:pt x="349" y="185"/>
                    <a:pt x="349" y="185"/>
                  </a:cubicBezTo>
                  <a:cubicBezTo>
                    <a:pt x="353" y="180"/>
                    <a:pt x="353" y="180"/>
                    <a:pt x="353" y="180"/>
                  </a:cubicBezTo>
                  <a:cubicBezTo>
                    <a:pt x="354" y="178"/>
                    <a:pt x="354" y="178"/>
                    <a:pt x="354" y="178"/>
                  </a:cubicBezTo>
                  <a:cubicBezTo>
                    <a:pt x="367" y="165"/>
                    <a:pt x="367" y="165"/>
                    <a:pt x="367" y="165"/>
                  </a:cubicBezTo>
                  <a:cubicBezTo>
                    <a:pt x="371" y="164"/>
                    <a:pt x="371" y="164"/>
                    <a:pt x="371" y="164"/>
                  </a:cubicBezTo>
                  <a:cubicBezTo>
                    <a:pt x="381" y="164"/>
                    <a:pt x="381" y="164"/>
                    <a:pt x="381" y="164"/>
                  </a:cubicBezTo>
                  <a:cubicBezTo>
                    <a:pt x="386" y="163"/>
                    <a:pt x="386" y="163"/>
                    <a:pt x="386" y="163"/>
                  </a:cubicBezTo>
                  <a:cubicBezTo>
                    <a:pt x="392" y="165"/>
                    <a:pt x="392" y="165"/>
                    <a:pt x="392" y="165"/>
                  </a:cubicBezTo>
                  <a:cubicBezTo>
                    <a:pt x="392" y="168"/>
                    <a:pt x="392" y="168"/>
                    <a:pt x="392" y="168"/>
                  </a:cubicBezTo>
                  <a:cubicBezTo>
                    <a:pt x="392" y="168"/>
                    <a:pt x="400" y="166"/>
                    <a:pt x="401" y="166"/>
                  </a:cubicBezTo>
                  <a:cubicBezTo>
                    <a:pt x="401" y="167"/>
                    <a:pt x="403" y="166"/>
                    <a:pt x="403" y="166"/>
                  </a:cubicBezTo>
                  <a:cubicBezTo>
                    <a:pt x="402" y="164"/>
                    <a:pt x="402" y="164"/>
                    <a:pt x="402" y="164"/>
                  </a:cubicBezTo>
                  <a:cubicBezTo>
                    <a:pt x="403" y="159"/>
                    <a:pt x="403" y="159"/>
                    <a:pt x="403" y="159"/>
                  </a:cubicBezTo>
                  <a:cubicBezTo>
                    <a:pt x="406" y="153"/>
                    <a:pt x="406" y="153"/>
                    <a:pt x="406" y="153"/>
                  </a:cubicBezTo>
                  <a:cubicBezTo>
                    <a:pt x="411" y="149"/>
                    <a:pt x="411" y="149"/>
                    <a:pt x="411" y="149"/>
                  </a:cubicBezTo>
                  <a:cubicBezTo>
                    <a:pt x="419" y="150"/>
                    <a:pt x="419" y="150"/>
                    <a:pt x="419" y="150"/>
                  </a:cubicBezTo>
                  <a:cubicBezTo>
                    <a:pt x="421" y="155"/>
                    <a:pt x="421" y="155"/>
                    <a:pt x="421" y="155"/>
                  </a:cubicBezTo>
                  <a:cubicBezTo>
                    <a:pt x="426" y="151"/>
                    <a:pt x="426" y="151"/>
                    <a:pt x="426" y="151"/>
                  </a:cubicBezTo>
                  <a:cubicBezTo>
                    <a:pt x="433" y="144"/>
                    <a:pt x="433" y="144"/>
                    <a:pt x="433" y="144"/>
                  </a:cubicBezTo>
                  <a:cubicBezTo>
                    <a:pt x="433" y="152"/>
                    <a:pt x="433" y="152"/>
                    <a:pt x="433" y="152"/>
                  </a:cubicBezTo>
                  <a:cubicBezTo>
                    <a:pt x="427" y="158"/>
                    <a:pt x="427" y="158"/>
                    <a:pt x="427" y="158"/>
                  </a:cubicBezTo>
                  <a:cubicBezTo>
                    <a:pt x="423" y="160"/>
                    <a:pt x="423" y="160"/>
                    <a:pt x="423" y="160"/>
                  </a:cubicBezTo>
                  <a:cubicBezTo>
                    <a:pt x="419" y="166"/>
                    <a:pt x="419" y="166"/>
                    <a:pt x="419" y="166"/>
                  </a:cubicBezTo>
                  <a:cubicBezTo>
                    <a:pt x="416" y="171"/>
                    <a:pt x="416" y="171"/>
                    <a:pt x="416" y="171"/>
                  </a:cubicBezTo>
                  <a:cubicBezTo>
                    <a:pt x="416" y="171"/>
                    <a:pt x="411" y="173"/>
                    <a:pt x="411" y="174"/>
                  </a:cubicBezTo>
                  <a:cubicBezTo>
                    <a:pt x="410" y="174"/>
                    <a:pt x="409" y="175"/>
                    <a:pt x="409" y="175"/>
                  </a:cubicBezTo>
                  <a:cubicBezTo>
                    <a:pt x="405" y="186"/>
                    <a:pt x="405" y="186"/>
                    <a:pt x="405" y="186"/>
                  </a:cubicBezTo>
                  <a:cubicBezTo>
                    <a:pt x="410" y="210"/>
                    <a:pt x="410" y="210"/>
                    <a:pt x="410" y="210"/>
                  </a:cubicBezTo>
                  <a:cubicBezTo>
                    <a:pt x="416" y="202"/>
                    <a:pt x="416" y="202"/>
                    <a:pt x="416" y="202"/>
                  </a:cubicBezTo>
                  <a:cubicBezTo>
                    <a:pt x="418" y="201"/>
                    <a:pt x="418" y="201"/>
                    <a:pt x="418" y="201"/>
                  </a:cubicBezTo>
                  <a:cubicBezTo>
                    <a:pt x="420" y="196"/>
                    <a:pt x="420" y="196"/>
                    <a:pt x="420" y="196"/>
                  </a:cubicBezTo>
                  <a:cubicBezTo>
                    <a:pt x="422" y="193"/>
                    <a:pt x="422" y="193"/>
                    <a:pt x="422" y="193"/>
                  </a:cubicBezTo>
                  <a:cubicBezTo>
                    <a:pt x="426" y="191"/>
                    <a:pt x="426" y="191"/>
                    <a:pt x="426" y="191"/>
                  </a:cubicBezTo>
                  <a:cubicBezTo>
                    <a:pt x="426" y="186"/>
                    <a:pt x="426" y="186"/>
                    <a:pt x="426" y="186"/>
                  </a:cubicBezTo>
                  <a:cubicBezTo>
                    <a:pt x="427" y="184"/>
                    <a:pt x="427" y="184"/>
                    <a:pt x="427" y="184"/>
                  </a:cubicBezTo>
                  <a:cubicBezTo>
                    <a:pt x="429" y="177"/>
                    <a:pt x="429" y="177"/>
                    <a:pt x="429" y="177"/>
                  </a:cubicBezTo>
                  <a:cubicBezTo>
                    <a:pt x="429" y="175"/>
                    <a:pt x="429" y="175"/>
                    <a:pt x="429" y="175"/>
                  </a:cubicBezTo>
                  <a:cubicBezTo>
                    <a:pt x="426" y="174"/>
                    <a:pt x="426" y="174"/>
                    <a:pt x="426" y="174"/>
                  </a:cubicBezTo>
                  <a:cubicBezTo>
                    <a:pt x="430" y="165"/>
                    <a:pt x="430" y="165"/>
                    <a:pt x="430" y="165"/>
                  </a:cubicBezTo>
                  <a:cubicBezTo>
                    <a:pt x="432" y="162"/>
                    <a:pt x="432" y="162"/>
                    <a:pt x="432" y="162"/>
                  </a:cubicBezTo>
                  <a:cubicBezTo>
                    <a:pt x="435" y="161"/>
                    <a:pt x="435" y="161"/>
                    <a:pt x="435" y="161"/>
                  </a:cubicBezTo>
                  <a:cubicBezTo>
                    <a:pt x="438" y="160"/>
                    <a:pt x="438" y="160"/>
                    <a:pt x="438" y="160"/>
                  </a:cubicBezTo>
                  <a:cubicBezTo>
                    <a:pt x="439" y="162"/>
                    <a:pt x="439" y="162"/>
                    <a:pt x="439" y="162"/>
                  </a:cubicBezTo>
                  <a:cubicBezTo>
                    <a:pt x="446" y="157"/>
                    <a:pt x="446" y="157"/>
                    <a:pt x="446" y="157"/>
                  </a:cubicBezTo>
                  <a:cubicBezTo>
                    <a:pt x="446" y="157"/>
                    <a:pt x="452" y="162"/>
                    <a:pt x="452" y="162"/>
                  </a:cubicBezTo>
                  <a:cubicBezTo>
                    <a:pt x="453" y="162"/>
                    <a:pt x="454" y="157"/>
                    <a:pt x="454" y="157"/>
                  </a:cubicBezTo>
                  <a:cubicBezTo>
                    <a:pt x="457" y="156"/>
                    <a:pt x="457" y="156"/>
                    <a:pt x="457" y="156"/>
                  </a:cubicBezTo>
                  <a:cubicBezTo>
                    <a:pt x="457" y="156"/>
                    <a:pt x="463" y="150"/>
                    <a:pt x="464" y="149"/>
                  </a:cubicBezTo>
                  <a:cubicBezTo>
                    <a:pt x="464" y="149"/>
                    <a:pt x="472" y="145"/>
                    <a:pt x="472" y="145"/>
                  </a:cubicBezTo>
                  <a:cubicBezTo>
                    <a:pt x="473" y="145"/>
                    <a:pt x="476" y="145"/>
                    <a:pt x="476" y="145"/>
                  </a:cubicBezTo>
                  <a:cubicBezTo>
                    <a:pt x="480" y="146"/>
                    <a:pt x="480" y="146"/>
                    <a:pt x="480" y="146"/>
                  </a:cubicBezTo>
                  <a:cubicBezTo>
                    <a:pt x="480" y="144"/>
                    <a:pt x="480" y="144"/>
                    <a:pt x="480" y="144"/>
                  </a:cubicBezTo>
                  <a:cubicBezTo>
                    <a:pt x="479" y="140"/>
                    <a:pt x="479" y="140"/>
                    <a:pt x="479" y="140"/>
                  </a:cubicBezTo>
                  <a:cubicBezTo>
                    <a:pt x="478" y="135"/>
                    <a:pt x="478" y="135"/>
                    <a:pt x="478" y="135"/>
                  </a:cubicBezTo>
                  <a:cubicBezTo>
                    <a:pt x="474" y="131"/>
                    <a:pt x="474" y="131"/>
                    <a:pt x="474" y="131"/>
                  </a:cubicBezTo>
                  <a:cubicBezTo>
                    <a:pt x="477" y="129"/>
                    <a:pt x="477" y="129"/>
                    <a:pt x="477" y="129"/>
                  </a:cubicBezTo>
                  <a:lnTo>
                    <a:pt x="482" y="127"/>
                  </a:lnTo>
                  <a:close/>
                </a:path>
              </a:pathLst>
            </a:custGeom>
            <a:solidFill>
              <a:srgbClr val="D9D9D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dirty="0">
                <a:solidFill>
                  <a:srgbClr val="7F7F7F"/>
                </a:solidFill>
                <a:latin typeface="Calibri" panose="020F0502020204030204" pitchFamily="34" charset="0"/>
                <a:cs typeface="Calibri" panose="020F0502020204030204" pitchFamily="34" charset="0"/>
              </a:endParaRPr>
            </a:p>
          </p:txBody>
        </p:sp>
        <p:sp>
          <p:nvSpPr>
            <p:cNvPr id="85" name="Freeform 82">
              <a:extLst>
                <a:ext uri="{FF2B5EF4-FFF2-40B4-BE49-F238E27FC236}">
                  <a16:creationId xmlns:a16="http://schemas.microsoft.com/office/drawing/2014/main" id="{D5703042-4BB5-F52C-1F29-2040B49FC092}"/>
                </a:ext>
              </a:extLst>
            </p:cNvPr>
            <p:cNvSpPr>
              <a:spLocks/>
            </p:cNvSpPr>
            <p:nvPr/>
          </p:nvSpPr>
          <p:spPr bwMode="auto">
            <a:xfrm>
              <a:off x="6912207" y="3340135"/>
              <a:ext cx="85578" cy="9478"/>
            </a:xfrm>
            <a:custGeom>
              <a:avLst/>
              <a:gdLst>
                <a:gd name="T0" fmla="*/ 2147483647 w 54"/>
                <a:gd name="T1" fmla="*/ 2147483647 h 6"/>
                <a:gd name="T2" fmla="*/ 2147483647 w 54"/>
                <a:gd name="T3" fmla="*/ 2147483647 h 6"/>
                <a:gd name="T4" fmla="*/ 2147483647 w 54"/>
                <a:gd name="T5" fmla="*/ 0 h 6"/>
                <a:gd name="T6" fmla="*/ 0 w 54"/>
                <a:gd name="T7" fmla="*/ 2147483647 h 6"/>
                <a:gd name="T8" fmla="*/ 2147483647 w 54"/>
                <a:gd name="T9" fmla="*/ 2147483647 h 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6">
                  <a:moveTo>
                    <a:pt x="6" y="6"/>
                  </a:moveTo>
                  <a:lnTo>
                    <a:pt x="30" y="6"/>
                  </a:lnTo>
                  <a:lnTo>
                    <a:pt x="54" y="0"/>
                  </a:lnTo>
                  <a:lnTo>
                    <a:pt x="0" y="6"/>
                  </a:lnTo>
                  <a:lnTo>
                    <a:pt x="6" y="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86" name="Freeform 83">
              <a:extLst>
                <a:ext uri="{FF2B5EF4-FFF2-40B4-BE49-F238E27FC236}">
                  <a16:creationId xmlns:a16="http://schemas.microsoft.com/office/drawing/2014/main" id="{4866B6D2-7DBC-7B64-F6EB-F63D72DFEAA8}"/>
                </a:ext>
              </a:extLst>
            </p:cNvPr>
            <p:cNvSpPr>
              <a:spLocks/>
            </p:cNvSpPr>
            <p:nvPr/>
          </p:nvSpPr>
          <p:spPr bwMode="auto">
            <a:xfrm>
              <a:off x="6780989" y="2555377"/>
              <a:ext cx="1211398" cy="847312"/>
            </a:xfrm>
            <a:custGeom>
              <a:avLst/>
              <a:gdLst>
                <a:gd name="T0" fmla="*/ 2147483647 w 129"/>
                <a:gd name="T1" fmla="*/ 2147483647 h 91"/>
                <a:gd name="T2" fmla="*/ 2147483647 w 129"/>
                <a:gd name="T3" fmla="*/ 2147483647 h 91"/>
                <a:gd name="T4" fmla="*/ 2147483647 w 129"/>
                <a:gd name="T5" fmla="*/ 2147483647 h 91"/>
                <a:gd name="T6" fmla="*/ 2147483647 w 129"/>
                <a:gd name="T7" fmla="*/ 2147483647 h 91"/>
                <a:gd name="T8" fmla="*/ 2147483647 w 129"/>
                <a:gd name="T9" fmla="*/ 2147483647 h 91"/>
                <a:gd name="T10" fmla="*/ 2147483647 w 129"/>
                <a:gd name="T11" fmla="*/ 2147483647 h 91"/>
                <a:gd name="T12" fmla="*/ 2147483647 w 129"/>
                <a:gd name="T13" fmla="*/ 2147483647 h 91"/>
                <a:gd name="T14" fmla="*/ 2147483647 w 129"/>
                <a:gd name="T15" fmla="*/ 2147483647 h 91"/>
                <a:gd name="T16" fmla="*/ 2147483647 w 129"/>
                <a:gd name="T17" fmla="*/ 2147483647 h 91"/>
                <a:gd name="T18" fmla="*/ 2147483647 w 129"/>
                <a:gd name="T19" fmla="*/ 2147483647 h 91"/>
                <a:gd name="T20" fmla="*/ 2147483647 w 129"/>
                <a:gd name="T21" fmla="*/ 2147483647 h 91"/>
                <a:gd name="T22" fmla="*/ 2147483647 w 129"/>
                <a:gd name="T23" fmla="*/ 2147483647 h 91"/>
                <a:gd name="T24" fmla="*/ 2147483647 w 129"/>
                <a:gd name="T25" fmla="*/ 2147483647 h 91"/>
                <a:gd name="T26" fmla="*/ 2147483647 w 129"/>
                <a:gd name="T27" fmla="*/ 2147483647 h 91"/>
                <a:gd name="T28" fmla="*/ 2147483647 w 129"/>
                <a:gd name="T29" fmla="*/ 2147483647 h 91"/>
                <a:gd name="T30" fmla="*/ 0 w 129"/>
                <a:gd name="T31" fmla="*/ 2147483647 h 91"/>
                <a:gd name="T32" fmla="*/ 2147483647 w 129"/>
                <a:gd name="T33" fmla="*/ 2147483647 h 91"/>
                <a:gd name="T34" fmla="*/ 2147483647 w 129"/>
                <a:gd name="T35" fmla="*/ 2147483647 h 91"/>
                <a:gd name="T36" fmla="*/ 2147483647 w 129"/>
                <a:gd name="T37" fmla="*/ 2147483647 h 91"/>
                <a:gd name="T38" fmla="*/ 2147483647 w 129"/>
                <a:gd name="T39" fmla="*/ 2147483647 h 91"/>
                <a:gd name="T40" fmla="*/ 2147483647 w 129"/>
                <a:gd name="T41" fmla="*/ 2147483647 h 91"/>
                <a:gd name="T42" fmla="*/ 2147483647 w 129"/>
                <a:gd name="T43" fmla="*/ 2147483647 h 91"/>
                <a:gd name="T44" fmla="*/ 2147483647 w 129"/>
                <a:gd name="T45" fmla="*/ 2147483647 h 91"/>
                <a:gd name="T46" fmla="*/ 2147483647 w 129"/>
                <a:gd name="T47" fmla="*/ 2147483647 h 91"/>
                <a:gd name="T48" fmla="*/ 2147483647 w 129"/>
                <a:gd name="T49" fmla="*/ 2147483647 h 91"/>
                <a:gd name="T50" fmla="*/ 2147483647 w 129"/>
                <a:gd name="T51" fmla="*/ 2147483647 h 91"/>
                <a:gd name="T52" fmla="*/ 2147483647 w 129"/>
                <a:gd name="T53" fmla="*/ 2147483647 h 91"/>
                <a:gd name="T54" fmla="*/ 2147483647 w 129"/>
                <a:gd name="T55" fmla="*/ 2147483647 h 91"/>
                <a:gd name="T56" fmla="*/ 2147483647 w 129"/>
                <a:gd name="T57" fmla="*/ 2147483647 h 91"/>
                <a:gd name="T58" fmla="*/ 2147483647 w 129"/>
                <a:gd name="T59" fmla="*/ 2147483647 h 91"/>
                <a:gd name="T60" fmla="*/ 2147483647 w 129"/>
                <a:gd name="T61" fmla="*/ 2147483647 h 91"/>
                <a:gd name="T62" fmla="*/ 2147483647 w 129"/>
                <a:gd name="T63" fmla="*/ 2147483647 h 91"/>
                <a:gd name="T64" fmla="*/ 2147483647 w 129"/>
                <a:gd name="T65" fmla="*/ 2147483647 h 91"/>
                <a:gd name="T66" fmla="*/ 2147483647 w 129"/>
                <a:gd name="T67" fmla="*/ 2147483647 h 91"/>
                <a:gd name="T68" fmla="*/ 2147483647 w 129"/>
                <a:gd name="T69" fmla="*/ 2147483647 h 9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29" h="91">
                  <a:moveTo>
                    <a:pt x="89" y="79"/>
                  </a:moveTo>
                  <a:cubicBezTo>
                    <a:pt x="87" y="77"/>
                    <a:pt x="87" y="77"/>
                    <a:pt x="87" y="77"/>
                  </a:cubicBezTo>
                  <a:cubicBezTo>
                    <a:pt x="88" y="73"/>
                    <a:pt x="88" y="73"/>
                    <a:pt x="88" y="73"/>
                  </a:cubicBezTo>
                  <a:cubicBezTo>
                    <a:pt x="96" y="71"/>
                    <a:pt x="96" y="71"/>
                    <a:pt x="96" y="71"/>
                  </a:cubicBezTo>
                  <a:cubicBezTo>
                    <a:pt x="101" y="67"/>
                    <a:pt x="101" y="67"/>
                    <a:pt x="101" y="67"/>
                  </a:cubicBezTo>
                  <a:cubicBezTo>
                    <a:pt x="105" y="63"/>
                    <a:pt x="105" y="63"/>
                    <a:pt x="105" y="63"/>
                  </a:cubicBezTo>
                  <a:cubicBezTo>
                    <a:pt x="107" y="51"/>
                    <a:pt x="107" y="51"/>
                    <a:pt x="107" y="51"/>
                  </a:cubicBezTo>
                  <a:cubicBezTo>
                    <a:pt x="114" y="50"/>
                    <a:pt x="114" y="50"/>
                    <a:pt x="114" y="50"/>
                  </a:cubicBezTo>
                  <a:cubicBezTo>
                    <a:pt x="116" y="40"/>
                    <a:pt x="116" y="40"/>
                    <a:pt x="116" y="40"/>
                  </a:cubicBezTo>
                  <a:cubicBezTo>
                    <a:pt x="124" y="41"/>
                    <a:pt x="124" y="41"/>
                    <a:pt x="124" y="41"/>
                  </a:cubicBezTo>
                  <a:cubicBezTo>
                    <a:pt x="126" y="35"/>
                    <a:pt x="126" y="35"/>
                    <a:pt x="126" y="35"/>
                  </a:cubicBezTo>
                  <a:cubicBezTo>
                    <a:pt x="129" y="34"/>
                    <a:pt x="129" y="34"/>
                    <a:pt x="129" y="34"/>
                  </a:cubicBezTo>
                  <a:cubicBezTo>
                    <a:pt x="129" y="29"/>
                    <a:pt x="129" y="29"/>
                    <a:pt x="129" y="29"/>
                  </a:cubicBezTo>
                  <a:cubicBezTo>
                    <a:pt x="122" y="27"/>
                    <a:pt x="122" y="27"/>
                    <a:pt x="122" y="27"/>
                  </a:cubicBezTo>
                  <a:cubicBezTo>
                    <a:pt x="114" y="23"/>
                    <a:pt x="114" y="23"/>
                    <a:pt x="114" y="23"/>
                  </a:cubicBezTo>
                  <a:cubicBezTo>
                    <a:pt x="104" y="23"/>
                    <a:pt x="104" y="23"/>
                    <a:pt x="104" y="23"/>
                  </a:cubicBezTo>
                  <a:cubicBezTo>
                    <a:pt x="100" y="14"/>
                    <a:pt x="100" y="14"/>
                    <a:pt x="100" y="14"/>
                  </a:cubicBezTo>
                  <a:cubicBezTo>
                    <a:pt x="96" y="6"/>
                    <a:pt x="96" y="6"/>
                    <a:pt x="96" y="6"/>
                  </a:cubicBezTo>
                  <a:cubicBezTo>
                    <a:pt x="91" y="6"/>
                    <a:pt x="91" y="6"/>
                    <a:pt x="91" y="6"/>
                  </a:cubicBezTo>
                  <a:cubicBezTo>
                    <a:pt x="82" y="9"/>
                    <a:pt x="82" y="9"/>
                    <a:pt x="82" y="9"/>
                  </a:cubicBezTo>
                  <a:cubicBezTo>
                    <a:pt x="74" y="0"/>
                    <a:pt x="74" y="0"/>
                    <a:pt x="74" y="0"/>
                  </a:cubicBezTo>
                  <a:cubicBezTo>
                    <a:pt x="62" y="3"/>
                    <a:pt x="62" y="3"/>
                    <a:pt x="62" y="3"/>
                  </a:cubicBezTo>
                  <a:cubicBezTo>
                    <a:pt x="49" y="7"/>
                    <a:pt x="49" y="7"/>
                    <a:pt x="49" y="7"/>
                  </a:cubicBezTo>
                  <a:cubicBezTo>
                    <a:pt x="45" y="16"/>
                    <a:pt x="45" y="16"/>
                    <a:pt x="45" y="16"/>
                  </a:cubicBezTo>
                  <a:cubicBezTo>
                    <a:pt x="47" y="23"/>
                    <a:pt x="47" y="23"/>
                    <a:pt x="47" y="23"/>
                  </a:cubicBezTo>
                  <a:cubicBezTo>
                    <a:pt x="40" y="24"/>
                    <a:pt x="40" y="24"/>
                    <a:pt x="40" y="24"/>
                  </a:cubicBezTo>
                  <a:cubicBezTo>
                    <a:pt x="33" y="23"/>
                    <a:pt x="33" y="23"/>
                    <a:pt x="33" y="23"/>
                  </a:cubicBezTo>
                  <a:cubicBezTo>
                    <a:pt x="27" y="24"/>
                    <a:pt x="27" y="24"/>
                    <a:pt x="27" y="24"/>
                  </a:cubicBezTo>
                  <a:cubicBezTo>
                    <a:pt x="22" y="20"/>
                    <a:pt x="22" y="20"/>
                    <a:pt x="22" y="20"/>
                  </a:cubicBezTo>
                  <a:cubicBezTo>
                    <a:pt x="13" y="21"/>
                    <a:pt x="13" y="21"/>
                    <a:pt x="13" y="21"/>
                  </a:cubicBezTo>
                  <a:cubicBezTo>
                    <a:pt x="3" y="26"/>
                    <a:pt x="3" y="26"/>
                    <a:pt x="3" y="26"/>
                  </a:cubicBezTo>
                  <a:cubicBezTo>
                    <a:pt x="0" y="33"/>
                    <a:pt x="0" y="33"/>
                    <a:pt x="0" y="33"/>
                  </a:cubicBezTo>
                  <a:cubicBezTo>
                    <a:pt x="4" y="37"/>
                    <a:pt x="4" y="37"/>
                    <a:pt x="4" y="37"/>
                  </a:cubicBezTo>
                  <a:cubicBezTo>
                    <a:pt x="6" y="42"/>
                    <a:pt x="6" y="42"/>
                    <a:pt x="6" y="42"/>
                  </a:cubicBezTo>
                  <a:cubicBezTo>
                    <a:pt x="13" y="41"/>
                    <a:pt x="13" y="41"/>
                    <a:pt x="13" y="41"/>
                  </a:cubicBezTo>
                  <a:cubicBezTo>
                    <a:pt x="19" y="41"/>
                    <a:pt x="19" y="41"/>
                    <a:pt x="19" y="41"/>
                  </a:cubicBezTo>
                  <a:cubicBezTo>
                    <a:pt x="26" y="49"/>
                    <a:pt x="26" y="49"/>
                    <a:pt x="26" y="49"/>
                  </a:cubicBezTo>
                  <a:cubicBezTo>
                    <a:pt x="20" y="50"/>
                    <a:pt x="20" y="50"/>
                    <a:pt x="20" y="50"/>
                  </a:cubicBezTo>
                  <a:cubicBezTo>
                    <a:pt x="16" y="50"/>
                    <a:pt x="16" y="50"/>
                    <a:pt x="16" y="50"/>
                  </a:cubicBezTo>
                  <a:cubicBezTo>
                    <a:pt x="13" y="52"/>
                    <a:pt x="13" y="52"/>
                    <a:pt x="13" y="52"/>
                  </a:cubicBezTo>
                  <a:cubicBezTo>
                    <a:pt x="16" y="59"/>
                    <a:pt x="16" y="59"/>
                    <a:pt x="16" y="59"/>
                  </a:cubicBezTo>
                  <a:cubicBezTo>
                    <a:pt x="16" y="59"/>
                    <a:pt x="20" y="62"/>
                    <a:pt x="20" y="63"/>
                  </a:cubicBezTo>
                  <a:cubicBezTo>
                    <a:pt x="20" y="64"/>
                    <a:pt x="20" y="72"/>
                    <a:pt x="20" y="72"/>
                  </a:cubicBezTo>
                  <a:cubicBezTo>
                    <a:pt x="24" y="76"/>
                    <a:pt x="24" y="76"/>
                    <a:pt x="24" y="76"/>
                  </a:cubicBezTo>
                  <a:cubicBezTo>
                    <a:pt x="23" y="84"/>
                    <a:pt x="23" y="84"/>
                    <a:pt x="23" y="84"/>
                  </a:cubicBezTo>
                  <a:cubicBezTo>
                    <a:pt x="24" y="82"/>
                    <a:pt x="24" y="82"/>
                    <a:pt x="24" y="82"/>
                  </a:cubicBezTo>
                  <a:cubicBezTo>
                    <a:pt x="29" y="80"/>
                    <a:pt x="29" y="80"/>
                    <a:pt x="29" y="80"/>
                  </a:cubicBezTo>
                  <a:cubicBezTo>
                    <a:pt x="33" y="79"/>
                    <a:pt x="33" y="79"/>
                    <a:pt x="33" y="79"/>
                  </a:cubicBezTo>
                  <a:cubicBezTo>
                    <a:pt x="38" y="82"/>
                    <a:pt x="38" y="82"/>
                    <a:pt x="38" y="82"/>
                  </a:cubicBezTo>
                  <a:cubicBezTo>
                    <a:pt x="42" y="85"/>
                    <a:pt x="42" y="85"/>
                    <a:pt x="42" y="85"/>
                  </a:cubicBezTo>
                  <a:cubicBezTo>
                    <a:pt x="46" y="86"/>
                    <a:pt x="46" y="86"/>
                    <a:pt x="46" y="86"/>
                  </a:cubicBezTo>
                  <a:cubicBezTo>
                    <a:pt x="46" y="89"/>
                    <a:pt x="46" y="89"/>
                    <a:pt x="46" y="89"/>
                  </a:cubicBezTo>
                  <a:cubicBezTo>
                    <a:pt x="48" y="90"/>
                    <a:pt x="48" y="90"/>
                    <a:pt x="48" y="90"/>
                  </a:cubicBezTo>
                  <a:cubicBezTo>
                    <a:pt x="51" y="91"/>
                    <a:pt x="51" y="91"/>
                    <a:pt x="51" y="91"/>
                  </a:cubicBezTo>
                  <a:cubicBezTo>
                    <a:pt x="53" y="89"/>
                    <a:pt x="53" y="89"/>
                    <a:pt x="53" y="89"/>
                  </a:cubicBezTo>
                  <a:cubicBezTo>
                    <a:pt x="58" y="87"/>
                    <a:pt x="58" y="87"/>
                    <a:pt x="58" y="87"/>
                  </a:cubicBezTo>
                  <a:cubicBezTo>
                    <a:pt x="59" y="82"/>
                    <a:pt x="59" y="82"/>
                    <a:pt x="59" y="82"/>
                  </a:cubicBezTo>
                  <a:cubicBezTo>
                    <a:pt x="63" y="83"/>
                    <a:pt x="63" y="83"/>
                    <a:pt x="63" y="83"/>
                  </a:cubicBezTo>
                  <a:cubicBezTo>
                    <a:pt x="66" y="83"/>
                    <a:pt x="66" y="83"/>
                    <a:pt x="66" y="83"/>
                  </a:cubicBezTo>
                  <a:cubicBezTo>
                    <a:pt x="68" y="85"/>
                    <a:pt x="68" y="85"/>
                    <a:pt x="68" y="85"/>
                  </a:cubicBezTo>
                  <a:cubicBezTo>
                    <a:pt x="72" y="84"/>
                    <a:pt x="72" y="84"/>
                    <a:pt x="72" y="84"/>
                  </a:cubicBezTo>
                  <a:cubicBezTo>
                    <a:pt x="74" y="82"/>
                    <a:pt x="74" y="82"/>
                    <a:pt x="74" y="82"/>
                  </a:cubicBezTo>
                  <a:cubicBezTo>
                    <a:pt x="77" y="79"/>
                    <a:pt x="77" y="79"/>
                    <a:pt x="77" y="79"/>
                  </a:cubicBezTo>
                  <a:cubicBezTo>
                    <a:pt x="78" y="80"/>
                    <a:pt x="78" y="80"/>
                    <a:pt x="78" y="80"/>
                  </a:cubicBezTo>
                  <a:cubicBezTo>
                    <a:pt x="79" y="83"/>
                    <a:pt x="79" y="83"/>
                    <a:pt x="79" y="83"/>
                  </a:cubicBezTo>
                  <a:cubicBezTo>
                    <a:pt x="82" y="83"/>
                    <a:pt x="82" y="83"/>
                    <a:pt x="82" y="83"/>
                  </a:cubicBezTo>
                  <a:cubicBezTo>
                    <a:pt x="86" y="82"/>
                    <a:pt x="86" y="82"/>
                    <a:pt x="86" y="82"/>
                  </a:cubicBezTo>
                  <a:cubicBezTo>
                    <a:pt x="88" y="82"/>
                    <a:pt x="88" y="82"/>
                    <a:pt x="88" y="82"/>
                  </a:cubicBezTo>
                  <a:cubicBezTo>
                    <a:pt x="88" y="83"/>
                    <a:pt x="88" y="83"/>
                    <a:pt x="88" y="83"/>
                  </a:cubicBezTo>
                  <a:cubicBezTo>
                    <a:pt x="90" y="82"/>
                    <a:pt x="90" y="82"/>
                    <a:pt x="90" y="82"/>
                  </a:cubicBezTo>
                  <a:lnTo>
                    <a:pt x="89" y="79"/>
                  </a:ln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dirty="0">
                <a:solidFill>
                  <a:srgbClr val="7F7F7F"/>
                </a:solidFill>
                <a:latin typeface="Calibri" panose="020F0502020204030204" pitchFamily="34" charset="0"/>
                <a:cs typeface="Calibri" panose="020F0502020204030204" pitchFamily="34" charset="0"/>
              </a:endParaRPr>
            </a:p>
          </p:txBody>
        </p:sp>
        <p:sp>
          <p:nvSpPr>
            <p:cNvPr id="87" name="Freeform 84">
              <a:extLst>
                <a:ext uri="{FF2B5EF4-FFF2-40B4-BE49-F238E27FC236}">
                  <a16:creationId xmlns:a16="http://schemas.microsoft.com/office/drawing/2014/main" id="{3046850B-457D-198D-01CD-7C65A3479B97}"/>
                </a:ext>
              </a:extLst>
            </p:cNvPr>
            <p:cNvSpPr>
              <a:spLocks/>
            </p:cNvSpPr>
            <p:nvPr/>
          </p:nvSpPr>
          <p:spPr bwMode="auto">
            <a:xfrm>
              <a:off x="6855156" y="3311702"/>
              <a:ext cx="26624" cy="17059"/>
            </a:xfrm>
            <a:custGeom>
              <a:avLst/>
              <a:gdLst>
                <a:gd name="T0" fmla="*/ 0 w 18"/>
                <a:gd name="T1" fmla="*/ 0 h 12"/>
                <a:gd name="T2" fmla="*/ 0 w 18"/>
                <a:gd name="T3" fmla="*/ 2147483647 h 12"/>
                <a:gd name="T4" fmla="*/ 2147483647 w 18"/>
                <a:gd name="T5" fmla="*/ 2147483647 h 12"/>
                <a:gd name="T6" fmla="*/ 2147483647 w 18"/>
                <a:gd name="T7" fmla="*/ 2147483647 h 12"/>
                <a:gd name="T8" fmla="*/ 0 w 18"/>
                <a:gd name="T9" fmla="*/ 0 h 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2">
                  <a:moveTo>
                    <a:pt x="0" y="0"/>
                  </a:moveTo>
                  <a:lnTo>
                    <a:pt x="0" y="12"/>
                  </a:lnTo>
                  <a:lnTo>
                    <a:pt x="18" y="12"/>
                  </a:lnTo>
                  <a:lnTo>
                    <a:pt x="12" y="12"/>
                  </a:lnTo>
                  <a:lnTo>
                    <a:pt x="0"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88" name="Rectangle 87">
              <a:extLst>
                <a:ext uri="{FF2B5EF4-FFF2-40B4-BE49-F238E27FC236}">
                  <a16:creationId xmlns:a16="http://schemas.microsoft.com/office/drawing/2014/main" id="{F38A2E4F-D9E7-0D9E-1887-EE9B5DA92E6F}"/>
                </a:ext>
              </a:extLst>
            </p:cNvPr>
            <p:cNvSpPr>
              <a:spLocks noChangeArrowheads="1"/>
            </p:cNvSpPr>
            <p:nvPr/>
          </p:nvSpPr>
          <p:spPr bwMode="auto">
            <a:xfrm>
              <a:off x="5875768" y="2871935"/>
              <a:ext cx="11410" cy="1895"/>
            </a:xfrm>
            <a:prstGeom prst="rect">
              <a:avLst/>
            </a:pr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89" name="Freeform 86">
              <a:extLst>
                <a:ext uri="{FF2B5EF4-FFF2-40B4-BE49-F238E27FC236}">
                  <a16:creationId xmlns:a16="http://schemas.microsoft.com/office/drawing/2014/main" id="{DBD0FF21-3F99-FD47-0C56-D803A34275C2}"/>
                </a:ext>
              </a:extLst>
            </p:cNvPr>
            <p:cNvSpPr>
              <a:spLocks/>
            </p:cNvSpPr>
            <p:nvPr/>
          </p:nvSpPr>
          <p:spPr bwMode="auto">
            <a:xfrm>
              <a:off x="5531556" y="1491974"/>
              <a:ext cx="777806" cy="915550"/>
            </a:xfrm>
            <a:custGeom>
              <a:avLst/>
              <a:gdLst>
                <a:gd name="T0" fmla="*/ 2147483647 w 83"/>
                <a:gd name="T1" fmla="*/ 2147483647 h 98"/>
                <a:gd name="T2" fmla="*/ 2147483647 w 83"/>
                <a:gd name="T3" fmla="*/ 2147483647 h 98"/>
                <a:gd name="T4" fmla="*/ 2147483647 w 83"/>
                <a:gd name="T5" fmla="*/ 2147483647 h 98"/>
                <a:gd name="T6" fmla="*/ 2147483647 w 83"/>
                <a:gd name="T7" fmla="*/ 2147483647 h 98"/>
                <a:gd name="T8" fmla="*/ 2147483647 w 83"/>
                <a:gd name="T9" fmla="*/ 2147483647 h 98"/>
                <a:gd name="T10" fmla="*/ 2147483647 w 83"/>
                <a:gd name="T11" fmla="*/ 2147483647 h 98"/>
                <a:gd name="T12" fmla="*/ 2147483647 w 83"/>
                <a:gd name="T13" fmla="*/ 2147483647 h 98"/>
                <a:gd name="T14" fmla="*/ 2147483647 w 83"/>
                <a:gd name="T15" fmla="*/ 2147483647 h 98"/>
                <a:gd name="T16" fmla="*/ 2147483647 w 83"/>
                <a:gd name="T17" fmla="*/ 2147483647 h 98"/>
                <a:gd name="T18" fmla="*/ 2147483647 w 83"/>
                <a:gd name="T19" fmla="*/ 2147483647 h 98"/>
                <a:gd name="T20" fmla="*/ 2147483647 w 83"/>
                <a:gd name="T21" fmla="*/ 2147483647 h 98"/>
                <a:gd name="T22" fmla="*/ 2147483647 w 83"/>
                <a:gd name="T23" fmla="*/ 2147483647 h 98"/>
                <a:gd name="T24" fmla="*/ 2147483647 w 83"/>
                <a:gd name="T25" fmla="*/ 2147483647 h 98"/>
                <a:gd name="T26" fmla="*/ 2147483647 w 83"/>
                <a:gd name="T27" fmla="*/ 2147483647 h 98"/>
                <a:gd name="T28" fmla="*/ 2147483647 w 83"/>
                <a:gd name="T29" fmla="*/ 2147483647 h 98"/>
                <a:gd name="T30" fmla="*/ 2147483647 w 83"/>
                <a:gd name="T31" fmla="*/ 2147483647 h 98"/>
                <a:gd name="T32" fmla="*/ 2147483647 w 83"/>
                <a:gd name="T33" fmla="*/ 2147483647 h 98"/>
                <a:gd name="T34" fmla="*/ 2147483647 w 83"/>
                <a:gd name="T35" fmla="*/ 2147483647 h 98"/>
                <a:gd name="T36" fmla="*/ 2147483647 w 83"/>
                <a:gd name="T37" fmla="*/ 2147483647 h 98"/>
                <a:gd name="T38" fmla="*/ 2147483647 w 83"/>
                <a:gd name="T39" fmla="*/ 2147483647 h 98"/>
                <a:gd name="T40" fmla="*/ 2147483647 w 83"/>
                <a:gd name="T41" fmla="*/ 2147483647 h 98"/>
                <a:gd name="T42" fmla="*/ 2147483647 w 83"/>
                <a:gd name="T43" fmla="*/ 2147483647 h 98"/>
                <a:gd name="T44" fmla="*/ 2147483647 w 83"/>
                <a:gd name="T45" fmla="*/ 2147483647 h 98"/>
                <a:gd name="T46" fmla="*/ 2147483647 w 83"/>
                <a:gd name="T47" fmla="*/ 2147483647 h 98"/>
                <a:gd name="T48" fmla="*/ 2147483647 w 83"/>
                <a:gd name="T49" fmla="*/ 2147483647 h 98"/>
                <a:gd name="T50" fmla="*/ 2147483647 w 83"/>
                <a:gd name="T51" fmla="*/ 0 h 98"/>
                <a:gd name="T52" fmla="*/ 2147483647 w 83"/>
                <a:gd name="T53" fmla="*/ 2147483647 h 98"/>
                <a:gd name="T54" fmla="*/ 2147483647 w 83"/>
                <a:gd name="T55" fmla="*/ 2147483647 h 98"/>
                <a:gd name="T56" fmla="*/ 2147483647 w 83"/>
                <a:gd name="T57" fmla="*/ 2147483647 h 98"/>
                <a:gd name="T58" fmla="*/ 2147483647 w 83"/>
                <a:gd name="T59" fmla="*/ 2147483647 h 98"/>
                <a:gd name="T60" fmla="*/ 2147483647 w 83"/>
                <a:gd name="T61" fmla="*/ 2147483647 h 98"/>
                <a:gd name="T62" fmla="*/ 2147483647 w 83"/>
                <a:gd name="T63" fmla="*/ 2147483647 h 98"/>
                <a:gd name="T64" fmla="*/ 2147483647 w 83"/>
                <a:gd name="T65" fmla="*/ 2147483647 h 98"/>
                <a:gd name="T66" fmla="*/ 2147483647 w 83"/>
                <a:gd name="T67" fmla="*/ 2147483647 h 98"/>
                <a:gd name="T68" fmla="*/ 2147483647 w 83"/>
                <a:gd name="T69" fmla="*/ 2147483647 h 98"/>
                <a:gd name="T70" fmla="*/ 2147483647 w 83"/>
                <a:gd name="T71" fmla="*/ 2147483647 h 98"/>
                <a:gd name="T72" fmla="*/ 2147483647 w 83"/>
                <a:gd name="T73" fmla="*/ 2147483647 h 98"/>
                <a:gd name="T74" fmla="*/ 2147483647 w 83"/>
                <a:gd name="T75" fmla="*/ 2147483647 h 98"/>
                <a:gd name="T76" fmla="*/ 2147483647 w 83"/>
                <a:gd name="T77" fmla="*/ 2147483647 h 98"/>
                <a:gd name="T78" fmla="*/ 2147483647 w 83"/>
                <a:gd name="T79" fmla="*/ 2147483647 h 98"/>
                <a:gd name="T80" fmla="*/ 2147483647 w 83"/>
                <a:gd name="T81" fmla="*/ 2147483647 h 98"/>
                <a:gd name="T82" fmla="*/ 2147483647 w 83"/>
                <a:gd name="T83" fmla="*/ 2147483647 h 98"/>
                <a:gd name="T84" fmla="*/ 2147483647 w 83"/>
                <a:gd name="T85" fmla="*/ 2147483647 h 98"/>
                <a:gd name="T86" fmla="*/ 2147483647 w 83"/>
                <a:gd name="T87" fmla="*/ 2147483647 h 98"/>
                <a:gd name="T88" fmla="*/ 2147483647 w 83"/>
                <a:gd name="T89" fmla="*/ 2147483647 h 98"/>
                <a:gd name="T90" fmla="*/ 2147483647 w 83"/>
                <a:gd name="T91" fmla="*/ 2147483647 h 9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83" h="98">
                  <a:moveTo>
                    <a:pt x="23" y="87"/>
                  </a:moveTo>
                  <a:cubicBezTo>
                    <a:pt x="23" y="87"/>
                    <a:pt x="24" y="87"/>
                    <a:pt x="24" y="86"/>
                  </a:cubicBezTo>
                  <a:cubicBezTo>
                    <a:pt x="24" y="86"/>
                    <a:pt x="24" y="82"/>
                    <a:pt x="24" y="82"/>
                  </a:cubicBezTo>
                  <a:cubicBezTo>
                    <a:pt x="24" y="80"/>
                    <a:pt x="24" y="80"/>
                    <a:pt x="24" y="80"/>
                  </a:cubicBezTo>
                  <a:cubicBezTo>
                    <a:pt x="26" y="78"/>
                    <a:pt x="26" y="78"/>
                    <a:pt x="26" y="78"/>
                  </a:cubicBezTo>
                  <a:cubicBezTo>
                    <a:pt x="24" y="75"/>
                    <a:pt x="24" y="75"/>
                    <a:pt x="24" y="75"/>
                  </a:cubicBezTo>
                  <a:cubicBezTo>
                    <a:pt x="24" y="75"/>
                    <a:pt x="23" y="70"/>
                    <a:pt x="23" y="70"/>
                  </a:cubicBezTo>
                  <a:cubicBezTo>
                    <a:pt x="23" y="69"/>
                    <a:pt x="24" y="65"/>
                    <a:pt x="24" y="65"/>
                  </a:cubicBezTo>
                  <a:cubicBezTo>
                    <a:pt x="24" y="65"/>
                    <a:pt x="24" y="62"/>
                    <a:pt x="24" y="62"/>
                  </a:cubicBezTo>
                  <a:cubicBezTo>
                    <a:pt x="26" y="60"/>
                    <a:pt x="26" y="60"/>
                    <a:pt x="26" y="60"/>
                  </a:cubicBezTo>
                  <a:cubicBezTo>
                    <a:pt x="30" y="59"/>
                    <a:pt x="30" y="59"/>
                    <a:pt x="30" y="59"/>
                  </a:cubicBezTo>
                  <a:cubicBezTo>
                    <a:pt x="30" y="56"/>
                    <a:pt x="30" y="56"/>
                    <a:pt x="30" y="56"/>
                  </a:cubicBezTo>
                  <a:cubicBezTo>
                    <a:pt x="29" y="54"/>
                    <a:pt x="29" y="54"/>
                    <a:pt x="29" y="54"/>
                  </a:cubicBezTo>
                  <a:cubicBezTo>
                    <a:pt x="31" y="50"/>
                    <a:pt x="31" y="50"/>
                    <a:pt x="31" y="50"/>
                  </a:cubicBezTo>
                  <a:cubicBezTo>
                    <a:pt x="32" y="44"/>
                    <a:pt x="32" y="44"/>
                    <a:pt x="32" y="44"/>
                  </a:cubicBezTo>
                  <a:cubicBezTo>
                    <a:pt x="34" y="43"/>
                    <a:pt x="34" y="43"/>
                    <a:pt x="34" y="43"/>
                  </a:cubicBezTo>
                  <a:cubicBezTo>
                    <a:pt x="36" y="38"/>
                    <a:pt x="36" y="38"/>
                    <a:pt x="36" y="38"/>
                  </a:cubicBezTo>
                  <a:cubicBezTo>
                    <a:pt x="38" y="35"/>
                    <a:pt x="38" y="35"/>
                    <a:pt x="38" y="35"/>
                  </a:cubicBezTo>
                  <a:cubicBezTo>
                    <a:pt x="37" y="32"/>
                    <a:pt x="37" y="32"/>
                    <a:pt x="37" y="32"/>
                  </a:cubicBezTo>
                  <a:cubicBezTo>
                    <a:pt x="38" y="30"/>
                    <a:pt x="38" y="30"/>
                    <a:pt x="38" y="30"/>
                  </a:cubicBezTo>
                  <a:cubicBezTo>
                    <a:pt x="41" y="28"/>
                    <a:pt x="41" y="28"/>
                    <a:pt x="41" y="28"/>
                  </a:cubicBezTo>
                  <a:cubicBezTo>
                    <a:pt x="42" y="28"/>
                    <a:pt x="42" y="28"/>
                    <a:pt x="42" y="28"/>
                  </a:cubicBezTo>
                  <a:cubicBezTo>
                    <a:pt x="44" y="24"/>
                    <a:pt x="44" y="24"/>
                    <a:pt x="44" y="24"/>
                  </a:cubicBezTo>
                  <a:cubicBezTo>
                    <a:pt x="47" y="24"/>
                    <a:pt x="47" y="24"/>
                    <a:pt x="47" y="24"/>
                  </a:cubicBezTo>
                  <a:cubicBezTo>
                    <a:pt x="49" y="24"/>
                    <a:pt x="49" y="24"/>
                    <a:pt x="49" y="24"/>
                  </a:cubicBezTo>
                  <a:cubicBezTo>
                    <a:pt x="49" y="22"/>
                    <a:pt x="49" y="22"/>
                    <a:pt x="49" y="22"/>
                  </a:cubicBezTo>
                  <a:cubicBezTo>
                    <a:pt x="50" y="19"/>
                    <a:pt x="50" y="19"/>
                    <a:pt x="50" y="19"/>
                  </a:cubicBezTo>
                  <a:cubicBezTo>
                    <a:pt x="51" y="19"/>
                    <a:pt x="51" y="19"/>
                    <a:pt x="51" y="19"/>
                  </a:cubicBezTo>
                  <a:cubicBezTo>
                    <a:pt x="52" y="19"/>
                    <a:pt x="52" y="19"/>
                    <a:pt x="52" y="19"/>
                  </a:cubicBezTo>
                  <a:cubicBezTo>
                    <a:pt x="53" y="17"/>
                    <a:pt x="53" y="17"/>
                    <a:pt x="53" y="17"/>
                  </a:cubicBezTo>
                  <a:cubicBezTo>
                    <a:pt x="54" y="19"/>
                    <a:pt x="54" y="19"/>
                    <a:pt x="54" y="19"/>
                  </a:cubicBezTo>
                  <a:cubicBezTo>
                    <a:pt x="56" y="21"/>
                    <a:pt x="56" y="21"/>
                    <a:pt x="56" y="21"/>
                  </a:cubicBezTo>
                  <a:cubicBezTo>
                    <a:pt x="59" y="22"/>
                    <a:pt x="59" y="22"/>
                    <a:pt x="59" y="22"/>
                  </a:cubicBezTo>
                  <a:cubicBezTo>
                    <a:pt x="62" y="21"/>
                    <a:pt x="62" y="21"/>
                    <a:pt x="62" y="21"/>
                  </a:cubicBezTo>
                  <a:cubicBezTo>
                    <a:pt x="63" y="22"/>
                    <a:pt x="63" y="22"/>
                    <a:pt x="63" y="22"/>
                  </a:cubicBezTo>
                  <a:cubicBezTo>
                    <a:pt x="66" y="19"/>
                    <a:pt x="66" y="19"/>
                    <a:pt x="66" y="19"/>
                  </a:cubicBezTo>
                  <a:cubicBezTo>
                    <a:pt x="68" y="14"/>
                    <a:pt x="68" y="14"/>
                    <a:pt x="68" y="14"/>
                  </a:cubicBezTo>
                  <a:cubicBezTo>
                    <a:pt x="70" y="12"/>
                    <a:pt x="70" y="12"/>
                    <a:pt x="70" y="12"/>
                  </a:cubicBezTo>
                  <a:cubicBezTo>
                    <a:pt x="75" y="11"/>
                    <a:pt x="75" y="11"/>
                    <a:pt x="75" y="11"/>
                  </a:cubicBezTo>
                  <a:cubicBezTo>
                    <a:pt x="78" y="14"/>
                    <a:pt x="78" y="14"/>
                    <a:pt x="78" y="14"/>
                  </a:cubicBezTo>
                  <a:cubicBezTo>
                    <a:pt x="78" y="17"/>
                    <a:pt x="78" y="17"/>
                    <a:pt x="78" y="17"/>
                  </a:cubicBezTo>
                  <a:cubicBezTo>
                    <a:pt x="77" y="19"/>
                    <a:pt x="77" y="19"/>
                    <a:pt x="77" y="19"/>
                  </a:cubicBezTo>
                  <a:cubicBezTo>
                    <a:pt x="78" y="18"/>
                    <a:pt x="78" y="18"/>
                    <a:pt x="78" y="18"/>
                  </a:cubicBezTo>
                  <a:cubicBezTo>
                    <a:pt x="77" y="19"/>
                    <a:pt x="77" y="19"/>
                    <a:pt x="77" y="19"/>
                  </a:cubicBezTo>
                  <a:cubicBezTo>
                    <a:pt x="77" y="19"/>
                    <a:pt x="77" y="19"/>
                    <a:pt x="77" y="19"/>
                  </a:cubicBezTo>
                  <a:cubicBezTo>
                    <a:pt x="81" y="15"/>
                    <a:pt x="81" y="15"/>
                    <a:pt x="81" y="15"/>
                  </a:cubicBezTo>
                  <a:cubicBezTo>
                    <a:pt x="82" y="13"/>
                    <a:pt x="82" y="13"/>
                    <a:pt x="82" y="13"/>
                  </a:cubicBezTo>
                  <a:cubicBezTo>
                    <a:pt x="81" y="12"/>
                    <a:pt x="81" y="12"/>
                    <a:pt x="81" y="12"/>
                  </a:cubicBezTo>
                  <a:cubicBezTo>
                    <a:pt x="80" y="9"/>
                    <a:pt x="80" y="9"/>
                    <a:pt x="80" y="9"/>
                  </a:cubicBezTo>
                  <a:cubicBezTo>
                    <a:pt x="83" y="6"/>
                    <a:pt x="83" y="6"/>
                    <a:pt x="83" y="6"/>
                  </a:cubicBezTo>
                  <a:cubicBezTo>
                    <a:pt x="80" y="4"/>
                    <a:pt x="80" y="4"/>
                    <a:pt x="80" y="4"/>
                  </a:cubicBezTo>
                  <a:cubicBezTo>
                    <a:pt x="76" y="0"/>
                    <a:pt x="76" y="0"/>
                    <a:pt x="76" y="0"/>
                  </a:cubicBezTo>
                  <a:cubicBezTo>
                    <a:pt x="72" y="4"/>
                    <a:pt x="72" y="4"/>
                    <a:pt x="72" y="4"/>
                  </a:cubicBezTo>
                  <a:cubicBezTo>
                    <a:pt x="69" y="2"/>
                    <a:pt x="69" y="2"/>
                    <a:pt x="69" y="2"/>
                  </a:cubicBezTo>
                  <a:cubicBezTo>
                    <a:pt x="69" y="1"/>
                    <a:pt x="69" y="1"/>
                    <a:pt x="69" y="1"/>
                  </a:cubicBezTo>
                  <a:cubicBezTo>
                    <a:pt x="66" y="1"/>
                    <a:pt x="66" y="1"/>
                    <a:pt x="66" y="1"/>
                  </a:cubicBezTo>
                  <a:cubicBezTo>
                    <a:pt x="62" y="1"/>
                    <a:pt x="62" y="1"/>
                    <a:pt x="62" y="1"/>
                  </a:cubicBezTo>
                  <a:cubicBezTo>
                    <a:pt x="59" y="5"/>
                    <a:pt x="59" y="5"/>
                    <a:pt x="59" y="5"/>
                  </a:cubicBezTo>
                  <a:cubicBezTo>
                    <a:pt x="56" y="6"/>
                    <a:pt x="56" y="6"/>
                    <a:pt x="56" y="6"/>
                  </a:cubicBezTo>
                  <a:cubicBezTo>
                    <a:pt x="55" y="6"/>
                    <a:pt x="55" y="6"/>
                    <a:pt x="55" y="6"/>
                  </a:cubicBezTo>
                  <a:cubicBezTo>
                    <a:pt x="53" y="8"/>
                    <a:pt x="53" y="8"/>
                    <a:pt x="53" y="8"/>
                  </a:cubicBezTo>
                  <a:cubicBezTo>
                    <a:pt x="50" y="8"/>
                    <a:pt x="50" y="8"/>
                    <a:pt x="50" y="8"/>
                  </a:cubicBezTo>
                  <a:cubicBezTo>
                    <a:pt x="48" y="13"/>
                    <a:pt x="48" y="13"/>
                    <a:pt x="48" y="13"/>
                  </a:cubicBezTo>
                  <a:cubicBezTo>
                    <a:pt x="43" y="14"/>
                    <a:pt x="43" y="14"/>
                    <a:pt x="43" y="14"/>
                  </a:cubicBezTo>
                  <a:cubicBezTo>
                    <a:pt x="41" y="19"/>
                    <a:pt x="41" y="19"/>
                    <a:pt x="41" y="19"/>
                  </a:cubicBezTo>
                  <a:cubicBezTo>
                    <a:pt x="40" y="22"/>
                    <a:pt x="40" y="22"/>
                    <a:pt x="40" y="22"/>
                  </a:cubicBezTo>
                  <a:cubicBezTo>
                    <a:pt x="37" y="22"/>
                    <a:pt x="37" y="22"/>
                    <a:pt x="37" y="22"/>
                  </a:cubicBezTo>
                  <a:cubicBezTo>
                    <a:pt x="32" y="28"/>
                    <a:pt x="32" y="28"/>
                    <a:pt x="32" y="28"/>
                  </a:cubicBezTo>
                  <a:cubicBezTo>
                    <a:pt x="32" y="31"/>
                    <a:pt x="32" y="31"/>
                    <a:pt x="32" y="31"/>
                  </a:cubicBezTo>
                  <a:cubicBezTo>
                    <a:pt x="28" y="38"/>
                    <a:pt x="28" y="38"/>
                    <a:pt x="28" y="38"/>
                  </a:cubicBezTo>
                  <a:cubicBezTo>
                    <a:pt x="26" y="41"/>
                    <a:pt x="26" y="41"/>
                    <a:pt x="26" y="41"/>
                  </a:cubicBezTo>
                  <a:cubicBezTo>
                    <a:pt x="25" y="46"/>
                    <a:pt x="25" y="46"/>
                    <a:pt x="25" y="46"/>
                  </a:cubicBezTo>
                  <a:cubicBezTo>
                    <a:pt x="23" y="49"/>
                    <a:pt x="23" y="49"/>
                    <a:pt x="23" y="49"/>
                  </a:cubicBezTo>
                  <a:cubicBezTo>
                    <a:pt x="17" y="60"/>
                    <a:pt x="17" y="60"/>
                    <a:pt x="17" y="60"/>
                  </a:cubicBezTo>
                  <a:cubicBezTo>
                    <a:pt x="13" y="63"/>
                    <a:pt x="13" y="63"/>
                    <a:pt x="13" y="63"/>
                  </a:cubicBezTo>
                  <a:cubicBezTo>
                    <a:pt x="8" y="65"/>
                    <a:pt x="8" y="65"/>
                    <a:pt x="8" y="65"/>
                  </a:cubicBezTo>
                  <a:cubicBezTo>
                    <a:pt x="6" y="69"/>
                    <a:pt x="6" y="69"/>
                    <a:pt x="6" y="69"/>
                  </a:cubicBezTo>
                  <a:cubicBezTo>
                    <a:pt x="4" y="71"/>
                    <a:pt x="4" y="71"/>
                    <a:pt x="4" y="71"/>
                  </a:cubicBezTo>
                  <a:cubicBezTo>
                    <a:pt x="3" y="73"/>
                    <a:pt x="3" y="73"/>
                    <a:pt x="3" y="73"/>
                  </a:cubicBezTo>
                  <a:cubicBezTo>
                    <a:pt x="2" y="76"/>
                    <a:pt x="2" y="76"/>
                    <a:pt x="2" y="76"/>
                  </a:cubicBezTo>
                  <a:cubicBezTo>
                    <a:pt x="0" y="79"/>
                    <a:pt x="0" y="79"/>
                    <a:pt x="0" y="79"/>
                  </a:cubicBezTo>
                  <a:cubicBezTo>
                    <a:pt x="1" y="84"/>
                    <a:pt x="1" y="84"/>
                    <a:pt x="1" y="84"/>
                  </a:cubicBezTo>
                  <a:cubicBezTo>
                    <a:pt x="2" y="87"/>
                    <a:pt x="2" y="87"/>
                    <a:pt x="2" y="87"/>
                  </a:cubicBezTo>
                  <a:cubicBezTo>
                    <a:pt x="3" y="91"/>
                    <a:pt x="3" y="91"/>
                    <a:pt x="3" y="91"/>
                  </a:cubicBezTo>
                  <a:cubicBezTo>
                    <a:pt x="3" y="95"/>
                    <a:pt x="3" y="95"/>
                    <a:pt x="3" y="95"/>
                  </a:cubicBezTo>
                  <a:cubicBezTo>
                    <a:pt x="7" y="98"/>
                    <a:pt x="7" y="98"/>
                    <a:pt x="7" y="98"/>
                  </a:cubicBezTo>
                  <a:cubicBezTo>
                    <a:pt x="11" y="97"/>
                    <a:pt x="11" y="97"/>
                    <a:pt x="11" y="97"/>
                  </a:cubicBezTo>
                  <a:cubicBezTo>
                    <a:pt x="16" y="93"/>
                    <a:pt x="16" y="93"/>
                    <a:pt x="16" y="93"/>
                  </a:cubicBezTo>
                  <a:cubicBezTo>
                    <a:pt x="19" y="91"/>
                    <a:pt x="19" y="91"/>
                    <a:pt x="19" y="91"/>
                  </a:cubicBezTo>
                  <a:cubicBezTo>
                    <a:pt x="20" y="92"/>
                    <a:pt x="20" y="92"/>
                    <a:pt x="20" y="92"/>
                  </a:cubicBezTo>
                  <a:cubicBezTo>
                    <a:pt x="20" y="93"/>
                    <a:pt x="20" y="93"/>
                    <a:pt x="20" y="93"/>
                  </a:cubicBezTo>
                  <a:cubicBezTo>
                    <a:pt x="21" y="92"/>
                    <a:pt x="21" y="92"/>
                    <a:pt x="21" y="92"/>
                  </a:cubicBezTo>
                  <a:lnTo>
                    <a:pt x="23" y="87"/>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90" name="Freeform 87">
              <a:extLst>
                <a:ext uri="{FF2B5EF4-FFF2-40B4-BE49-F238E27FC236}">
                  <a16:creationId xmlns:a16="http://schemas.microsoft.com/office/drawing/2014/main" id="{1770A0CB-A54F-D72A-A0C3-AEA9698AF032}"/>
                </a:ext>
              </a:extLst>
            </p:cNvPr>
            <p:cNvSpPr>
              <a:spLocks/>
            </p:cNvSpPr>
            <p:nvPr/>
          </p:nvSpPr>
          <p:spPr bwMode="auto">
            <a:xfrm>
              <a:off x="5717925" y="1670156"/>
              <a:ext cx="384148" cy="875744"/>
            </a:xfrm>
            <a:custGeom>
              <a:avLst/>
              <a:gdLst>
                <a:gd name="T0" fmla="*/ 329757991 w 10000"/>
                <a:gd name="T1" fmla="*/ 900343932 h 9895"/>
                <a:gd name="T2" fmla="*/ 321712352 w 10000"/>
                <a:gd name="T3" fmla="*/ 642988176 h 9895"/>
                <a:gd name="T4" fmla="*/ 305620110 w 10000"/>
                <a:gd name="T5" fmla="*/ 257355682 h 9895"/>
                <a:gd name="T6" fmla="*/ 281514137 w 10000"/>
                <a:gd name="T7" fmla="*/ 214195752 h 9895"/>
                <a:gd name="T8" fmla="*/ 249329623 w 10000"/>
                <a:gd name="T9" fmla="*/ 0 h 9895"/>
                <a:gd name="T10" fmla="*/ 233237382 w 10000"/>
                <a:gd name="T11" fmla="*/ 128677878 h 9895"/>
                <a:gd name="T12" fmla="*/ 217145140 w 10000"/>
                <a:gd name="T13" fmla="*/ 214195752 h 9895"/>
                <a:gd name="T14" fmla="*/ 176947920 w 10000"/>
                <a:gd name="T15" fmla="*/ 385627008 h 9895"/>
                <a:gd name="T16" fmla="*/ 144763406 w 10000"/>
                <a:gd name="T17" fmla="*/ 471551434 h 9895"/>
                <a:gd name="T18" fmla="*/ 144763406 w 10000"/>
                <a:gd name="T19" fmla="*/ 685741627 h 9895"/>
                <a:gd name="T20" fmla="*/ 112612851 w 10000"/>
                <a:gd name="T21" fmla="*/ 1028615184 h 9895"/>
                <a:gd name="T22" fmla="*/ 88473944 w 10000"/>
                <a:gd name="T23" fmla="*/ 1328729803 h 9895"/>
                <a:gd name="T24" fmla="*/ 80428336 w 10000"/>
                <a:gd name="T25" fmla="*/ 1586085559 h 9895"/>
                <a:gd name="T26" fmla="*/ 48243854 w 10000"/>
                <a:gd name="T27" fmla="*/ 1757522301 h 9895"/>
                <a:gd name="T28" fmla="*/ 32184514 w 10000"/>
                <a:gd name="T29" fmla="*/ 1971718053 h 9895"/>
                <a:gd name="T30" fmla="*/ 32184514 w 10000"/>
                <a:gd name="T31" fmla="*/ 2147483647 h 9895"/>
                <a:gd name="T32" fmla="*/ 32184514 w 10000"/>
                <a:gd name="T33" fmla="*/ 2147483647 h 9895"/>
                <a:gd name="T34" fmla="*/ 32184514 w 10000"/>
                <a:gd name="T35" fmla="*/ 2147483647 h 9895"/>
                <a:gd name="T36" fmla="*/ 8045607 w 10000"/>
                <a:gd name="T37" fmla="*/ 2147483647 h 9895"/>
                <a:gd name="T38" fmla="*/ 16092241 w 10000"/>
                <a:gd name="T39" fmla="*/ 2147483647 h 9895"/>
                <a:gd name="T40" fmla="*/ 57377416 w 10000"/>
                <a:gd name="T41" fmla="*/ 2147483647 h 9895"/>
                <a:gd name="T42" fmla="*/ 62950940 w 10000"/>
                <a:gd name="T43" fmla="*/ 2147483647 h 9895"/>
                <a:gd name="T44" fmla="*/ 80428336 w 10000"/>
                <a:gd name="T45" fmla="*/ 2147483647 h 9895"/>
                <a:gd name="T46" fmla="*/ 104566217 w 10000"/>
                <a:gd name="T47" fmla="*/ 2147483647 h 9895"/>
                <a:gd name="T48" fmla="*/ 144763406 w 10000"/>
                <a:gd name="T49" fmla="*/ 2147483647 h 9895"/>
                <a:gd name="T50" fmla="*/ 152810071 w 10000"/>
                <a:gd name="T51" fmla="*/ 2147483647 h 9895"/>
                <a:gd name="T52" fmla="*/ 193040161 w 10000"/>
                <a:gd name="T53" fmla="*/ 2147483647 h 9895"/>
                <a:gd name="T54" fmla="*/ 184994553 w 10000"/>
                <a:gd name="T55" fmla="*/ 2147483647 h 9895"/>
                <a:gd name="T56" fmla="*/ 168902312 w 10000"/>
                <a:gd name="T57" fmla="*/ 2147483647 h 9895"/>
                <a:gd name="T58" fmla="*/ 193040161 w 10000"/>
                <a:gd name="T59" fmla="*/ 1971718053 h 9895"/>
                <a:gd name="T60" fmla="*/ 265421864 w 10000"/>
                <a:gd name="T61" fmla="*/ 1714768849 h 9895"/>
                <a:gd name="T62" fmla="*/ 265421864 w 10000"/>
                <a:gd name="T63" fmla="*/ 1457407681 h 9895"/>
                <a:gd name="T64" fmla="*/ 305620110 w 10000"/>
                <a:gd name="T65" fmla="*/ 1157293062 h 9895"/>
                <a:gd name="T66" fmla="*/ 329757991 w 10000"/>
                <a:gd name="T67" fmla="*/ 1157293062 h 989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0000" h="9895">
                  <a:moveTo>
                    <a:pt x="10000" y="2316"/>
                  </a:moveTo>
                  <a:lnTo>
                    <a:pt x="10000" y="2211"/>
                  </a:lnTo>
                  <a:lnTo>
                    <a:pt x="9756" y="1895"/>
                  </a:lnTo>
                  <a:lnTo>
                    <a:pt x="9756" y="1579"/>
                  </a:lnTo>
                  <a:lnTo>
                    <a:pt x="9756" y="1158"/>
                  </a:lnTo>
                  <a:lnTo>
                    <a:pt x="9268" y="632"/>
                  </a:lnTo>
                  <a:lnTo>
                    <a:pt x="9024" y="632"/>
                  </a:lnTo>
                  <a:lnTo>
                    <a:pt x="8537" y="526"/>
                  </a:lnTo>
                  <a:lnTo>
                    <a:pt x="7805" y="211"/>
                  </a:lnTo>
                  <a:lnTo>
                    <a:pt x="7561" y="0"/>
                  </a:lnTo>
                  <a:lnTo>
                    <a:pt x="7317" y="0"/>
                  </a:lnTo>
                  <a:lnTo>
                    <a:pt x="7073" y="316"/>
                  </a:lnTo>
                  <a:lnTo>
                    <a:pt x="7073" y="526"/>
                  </a:lnTo>
                  <a:lnTo>
                    <a:pt x="6585" y="526"/>
                  </a:lnTo>
                  <a:lnTo>
                    <a:pt x="5854" y="526"/>
                  </a:lnTo>
                  <a:lnTo>
                    <a:pt x="5366" y="947"/>
                  </a:lnTo>
                  <a:lnTo>
                    <a:pt x="5122" y="947"/>
                  </a:lnTo>
                  <a:lnTo>
                    <a:pt x="4390" y="1158"/>
                  </a:lnTo>
                  <a:lnTo>
                    <a:pt x="4146" y="1368"/>
                  </a:lnTo>
                  <a:lnTo>
                    <a:pt x="4390" y="1684"/>
                  </a:lnTo>
                  <a:lnTo>
                    <a:pt x="3902" y="2000"/>
                  </a:lnTo>
                  <a:lnTo>
                    <a:pt x="3415" y="2526"/>
                  </a:lnTo>
                  <a:lnTo>
                    <a:pt x="2927" y="2632"/>
                  </a:lnTo>
                  <a:lnTo>
                    <a:pt x="2683" y="3263"/>
                  </a:lnTo>
                  <a:lnTo>
                    <a:pt x="2195" y="3684"/>
                  </a:lnTo>
                  <a:lnTo>
                    <a:pt x="2439" y="3895"/>
                  </a:lnTo>
                  <a:lnTo>
                    <a:pt x="2439" y="4211"/>
                  </a:lnTo>
                  <a:lnTo>
                    <a:pt x="1463" y="4316"/>
                  </a:lnTo>
                  <a:lnTo>
                    <a:pt x="976" y="4526"/>
                  </a:lnTo>
                  <a:lnTo>
                    <a:pt x="976" y="4842"/>
                  </a:lnTo>
                  <a:cubicBezTo>
                    <a:pt x="976" y="4842"/>
                    <a:pt x="732" y="5263"/>
                    <a:pt x="732" y="5368"/>
                  </a:cubicBezTo>
                  <a:cubicBezTo>
                    <a:pt x="813" y="5544"/>
                    <a:pt x="895" y="5719"/>
                    <a:pt x="976" y="5895"/>
                  </a:cubicBezTo>
                  <a:lnTo>
                    <a:pt x="1463" y="6211"/>
                  </a:lnTo>
                  <a:lnTo>
                    <a:pt x="976" y="6421"/>
                  </a:lnTo>
                  <a:lnTo>
                    <a:pt x="976" y="6632"/>
                  </a:lnTo>
                  <a:lnTo>
                    <a:pt x="976" y="7053"/>
                  </a:lnTo>
                  <a:cubicBezTo>
                    <a:pt x="976" y="7158"/>
                    <a:pt x="732" y="7158"/>
                    <a:pt x="732" y="7158"/>
                  </a:cubicBezTo>
                  <a:lnTo>
                    <a:pt x="244" y="7684"/>
                  </a:lnTo>
                  <a:lnTo>
                    <a:pt x="0" y="7789"/>
                  </a:lnTo>
                  <a:cubicBezTo>
                    <a:pt x="488" y="8316"/>
                    <a:pt x="329" y="8217"/>
                    <a:pt x="488" y="8316"/>
                  </a:cubicBezTo>
                  <a:cubicBezTo>
                    <a:pt x="647" y="8415"/>
                    <a:pt x="746" y="8264"/>
                    <a:pt x="955" y="8384"/>
                  </a:cubicBezTo>
                  <a:cubicBezTo>
                    <a:pt x="1164" y="8504"/>
                    <a:pt x="1597" y="8867"/>
                    <a:pt x="1740" y="9038"/>
                  </a:cubicBezTo>
                  <a:cubicBezTo>
                    <a:pt x="1883" y="9209"/>
                    <a:pt x="1786" y="9301"/>
                    <a:pt x="1814" y="9410"/>
                  </a:cubicBezTo>
                  <a:cubicBezTo>
                    <a:pt x="1842" y="9519"/>
                    <a:pt x="1865" y="9637"/>
                    <a:pt x="1909" y="9693"/>
                  </a:cubicBezTo>
                  <a:cubicBezTo>
                    <a:pt x="1953" y="9749"/>
                    <a:pt x="1990" y="9709"/>
                    <a:pt x="2078" y="9743"/>
                  </a:cubicBezTo>
                  <a:cubicBezTo>
                    <a:pt x="2166" y="9777"/>
                    <a:pt x="2338" y="9905"/>
                    <a:pt x="2439" y="9895"/>
                  </a:cubicBezTo>
                  <a:cubicBezTo>
                    <a:pt x="2540" y="9885"/>
                    <a:pt x="2602" y="9754"/>
                    <a:pt x="2683" y="9684"/>
                  </a:cubicBezTo>
                  <a:lnTo>
                    <a:pt x="3171" y="9474"/>
                  </a:lnTo>
                  <a:lnTo>
                    <a:pt x="3902" y="9474"/>
                  </a:lnTo>
                  <a:lnTo>
                    <a:pt x="4390" y="9053"/>
                  </a:lnTo>
                  <a:cubicBezTo>
                    <a:pt x="4471" y="8807"/>
                    <a:pt x="4553" y="8562"/>
                    <a:pt x="4634" y="8316"/>
                  </a:cubicBezTo>
                  <a:lnTo>
                    <a:pt x="4634" y="7895"/>
                  </a:lnTo>
                  <a:lnTo>
                    <a:pt x="5122" y="7789"/>
                  </a:lnTo>
                  <a:lnTo>
                    <a:pt x="5854" y="7684"/>
                  </a:lnTo>
                  <a:lnTo>
                    <a:pt x="5854" y="7158"/>
                  </a:lnTo>
                  <a:lnTo>
                    <a:pt x="5610" y="6842"/>
                  </a:lnTo>
                  <a:lnTo>
                    <a:pt x="4878" y="6632"/>
                  </a:lnTo>
                  <a:cubicBezTo>
                    <a:pt x="4959" y="6386"/>
                    <a:pt x="5041" y="6141"/>
                    <a:pt x="5122" y="5895"/>
                  </a:cubicBezTo>
                  <a:lnTo>
                    <a:pt x="5122" y="5368"/>
                  </a:lnTo>
                  <a:lnTo>
                    <a:pt x="5854" y="4842"/>
                  </a:lnTo>
                  <a:lnTo>
                    <a:pt x="6585" y="4632"/>
                  </a:lnTo>
                  <a:lnTo>
                    <a:pt x="8049" y="4211"/>
                  </a:lnTo>
                  <a:lnTo>
                    <a:pt x="8293" y="3895"/>
                  </a:lnTo>
                  <a:lnTo>
                    <a:pt x="8049" y="3579"/>
                  </a:lnTo>
                  <a:lnTo>
                    <a:pt x="8537" y="3263"/>
                  </a:lnTo>
                  <a:lnTo>
                    <a:pt x="9268" y="2842"/>
                  </a:lnTo>
                  <a:lnTo>
                    <a:pt x="10000" y="2947"/>
                  </a:lnTo>
                  <a:lnTo>
                    <a:pt x="10000" y="2842"/>
                  </a:lnTo>
                  <a:lnTo>
                    <a:pt x="10000" y="231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91" name="Freeform 88">
              <a:extLst>
                <a:ext uri="{FF2B5EF4-FFF2-40B4-BE49-F238E27FC236}">
                  <a16:creationId xmlns:a16="http://schemas.microsoft.com/office/drawing/2014/main" id="{CD9AC011-6F10-D312-BE80-553F7385F3C3}"/>
                </a:ext>
              </a:extLst>
            </p:cNvPr>
            <p:cNvSpPr>
              <a:spLocks/>
            </p:cNvSpPr>
            <p:nvPr/>
          </p:nvSpPr>
          <p:spPr bwMode="auto">
            <a:xfrm>
              <a:off x="6046924" y="2705126"/>
              <a:ext cx="534384" cy="343094"/>
            </a:xfrm>
            <a:custGeom>
              <a:avLst/>
              <a:gdLst>
                <a:gd name="T0" fmla="*/ 2147483647 w 57"/>
                <a:gd name="T1" fmla="*/ 2147483647 h 37"/>
                <a:gd name="T2" fmla="*/ 2147483647 w 57"/>
                <a:gd name="T3" fmla="*/ 2147483647 h 37"/>
                <a:gd name="T4" fmla="*/ 2147483647 w 57"/>
                <a:gd name="T5" fmla="*/ 2147483647 h 37"/>
                <a:gd name="T6" fmla="*/ 2147483647 w 57"/>
                <a:gd name="T7" fmla="*/ 2147483647 h 37"/>
                <a:gd name="T8" fmla="*/ 2147483647 w 57"/>
                <a:gd name="T9" fmla="*/ 2147483647 h 37"/>
                <a:gd name="T10" fmla="*/ 2147483647 w 57"/>
                <a:gd name="T11" fmla="*/ 2147483647 h 37"/>
                <a:gd name="T12" fmla="*/ 2147483647 w 57"/>
                <a:gd name="T13" fmla="*/ 2147483647 h 37"/>
                <a:gd name="T14" fmla="*/ 2147483647 w 57"/>
                <a:gd name="T15" fmla="*/ 2147483647 h 37"/>
                <a:gd name="T16" fmla="*/ 2147483647 w 57"/>
                <a:gd name="T17" fmla="*/ 2147483647 h 37"/>
                <a:gd name="T18" fmla="*/ 2147483647 w 57"/>
                <a:gd name="T19" fmla="*/ 2147483647 h 37"/>
                <a:gd name="T20" fmla="*/ 2147483647 w 57"/>
                <a:gd name="T21" fmla="*/ 2147483647 h 37"/>
                <a:gd name="T22" fmla="*/ 2147483647 w 57"/>
                <a:gd name="T23" fmla="*/ 0 h 37"/>
                <a:gd name="T24" fmla="*/ 2147483647 w 57"/>
                <a:gd name="T25" fmla="*/ 0 h 37"/>
                <a:gd name="T26" fmla="*/ 2147483647 w 57"/>
                <a:gd name="T27" fmla="*/ 2147483647 h 37"/>
                <a:gd name="T28" fmla="*/ 2147483647 w 57"/>
                <a:gd name="T29" fmla="*/ 2147483647 h 37"/>
                <a:gd name="T30" fmla="*/ 2147483647 w 57"/>
                <a:gd name="T31" fmla="*/ 2147483647 h 37"/>
                <a:gd name="T32" fmla="*/ 2147483647 w 57"/>
                <a:gd name="T33" fmla="*/ 2147483647 h 37"/>
                <a:gd name="T34" fmla="*/ 2147483647 w 57"/>
                <a:gd name="T35" fmla="*/ 2147483647 h 37"/>
                <a:gd name="T36" fmla="*/ 2147483647 w 57"/>
                <a:gd name="T37" fmla="*/ 2147483647 h 37"/>
                <a:gd name="T38" fmla="*/ 2147483647 w 57"/>
                <a:gd name="T39" fmla="*/ 2147483647 h 37"/>
                <a:gd name="T40" fmla="*/ 2147483647 w 57"/>
                <a:gd name="T41" fmla="*/ 2147483647 h 37"/>
                <a:gd name="T42" fmla="*/ 2147483647 w 57"/>
                <a:gd name="T43" fmla="*/ 2147483647 h 37"/>
                <a:gd name="T44" fmla="*/ 0 w 57"/>
                <a:gd name="T45" fmla="*/ 2147483647 h 37"/>
                <a:gd name="T46" fmla="*/ 0 w 57"/>
                <a:gd name="T47" fmla="*/ 2147483647 h 37"/>
                <a:gd name="T48" fmla="*/ 2147483647 w 57"/>
                <a:gd name="T49" fmla="*/ 2147483647 h 37"/>
                <a:gd name="T50" fmla="*/ 2147483647 w 57"/>
                <a:gd name="T51" fmla="*/ 2147483647 h 37"/>
                <a:gd name="T52" fmla="*/ 2147483647 w 57"/>
                <a:gd name="T53" fmla="*/ 2147483647 h 37"/>
                <a:gd name="T54" fmla="*/ 2147483647 w 57"/>
                <a:gd name="T55" fmla="*/ 2147483647 h 37"/>
                <a:gd name="T56" fmla="*/ 2147483647 w 57"/>
                <a:gd name="T57" fmla="*/ 2147483647 h 37"/>
                <a:gd name="T58" fmla="*/ 2147483647 w 57"/>
                <a:gd name="T59" fmla="*/ 2147483647 h 37"/>
                <a:gd name="T60" fmla="*/ 2147483647 w 57"/>
                <a:gd name="T61" fmla="*/ 2147483647 h 37"/>
                <a:gd name="T62" fmla="*/ 2147483647 w 57"/>
                <a:gd name="T63" fmla="*/ 2147483647 h 37"/>
                <a:gd name="T64" fmla="*/ 2147483647 w 57"/>
                <a:gd name="T65" fmla="*/ 2147483647 h 37"/>
                <a:gd name="T66" fmla="*/ 2147483647 w 57"/>
                <a:gd name="T67" fmla="*/ 2147483647 h 37"/>
                <a:gd name="T68" fmla="*/ 2147483647 w 57"/>
                <a:gd name="T69" fmla="*/ 2147483647 h 37"/>
                <a:gd name="T70" fmla="*/ 2147483647 w 57"/>
                <a:gd name="T71" fmla="*/ 2147483647 h 37"/>
                <a:gd name="T72" fmla="*/ 2147483647 w 57"/>
                <a:gd name="T73" fmla="*/ 2147483647 h 37"/>
                <a:gd name="T74" fmla="*/ 2147483647 w 57"/>
                <a:gd name="T75" fmla="*/ 2147483647 h 37"/>
                <a:gd name="T76" fmla="*/ 2147483647 w 57"/>
                <a:gd name="T77" fmla="*/ 2147483647 h 37"/>
                <a:gd name="T78" fmla="*/ 2147483647 w 57"/>
                <a:gd name="T79" fmla="*/ 2147483647 h 37"/>
                <a:gd name="T80" fmla="*/ 2147483647 w 57"/>
                <a:gd name="T81" fmla="*/ 2147483647 h 37"/>
                <a:gd name="T82" fmla="*/ 2147483647 w 57"/>
                <a:gd name="T83" fmla="*/ 2147483647 h 37"/>
                <a:gd name="T84" fmla="*/ 2147483647 w 57"/>
                <a:gd name="T85" fmla="*/ 2147483647 h 37"/>
                <a:gd name="T86" fmla="*/ 2147483647 w 57"/>
                <a:gd name="T87" fmla="*/ 2147483647 h 37"/>
                <a:gd name="T88" fmla="*/ 2147483647 w 57"/>
                <a:gd name="T89" fmla="*/ 2147483647 h 37"/>
                <a:gd name="T90" fmla="*/ 2147483647 w 57"/>
                <a:gd name="T91" fmla="*/ 2147483647 h 3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57" h="37">
                  <a:moveTo>
                    <a:pt x="54" y="22"/>
                  </a:moveTo>
                  <a:cubicBezTo>
                    <a:pt x="56" y="21"/>
                    <a:pt x="56" y="21"/>
                    <a:pt x="56" y="21"/>
                  </a:cubicBezTo>
                  <a:cubicBezTo>
                    <a:pt x="57" y="16"/>
                    <a:pt x="57" y="16"/>
                    <a:pt x="57" y="16"/>
                  </a:cubicBezTo>
                  <a:cubicBezTo>
                    <a:pt x="57" y="14"/>
                    <a:pt x="57" y="14"/>
                    <a:pt x="57" y="14"/>
                  </a:cubicBezTo>
                  <a:cubicBezTo>
                    <a:pt x="52" y="12"/>
                    <a:pt x="52" y="12"/>
                    <a:pt x="52" y="12"/>
                  </a:cubicBezTo>
                  <a:cubicBezTo>
                    <a:pt x="47" y="9"/>
                    <a:pt x="47" y="9"/>
                    <a:pt x="47" y="9"/>
                  </a:cubicBezTo>
                  <a:cubicBezTo>
                    <a:pt x="45" y="9"/>
                    <a:pt x="45" y="9"/>
                    <a:pt x="45" y="9"/>
                  </a:cubicBezTo>
                  <a:cubicBezTo>
                    <a:pt x="42" y="7"/>
                    <a:pt x="42" y="7"/>
                    <a:pt x="42" y="7"/>
                  </a:cubicBezTo>
                  <a:cubicBezTo>
                    <a:pt x="40" y="4"/>
                    <a:pt x="40" y="4"/>
                    <a:pt x="40" y="4"/>
                  </a:cubicBezTo>
                  <a:cubicBezTo>
                    <a:pt x="33" y="1"/>
                    <a:pt x="33" y="1"/>
                    <a:pt x="33" y="1"/>
                  </a:cubicBezTo>
                  <a:cubicBezTo>
                    <a:pt x="31" y="1"/>
                    <a:pt x="31" y="1"/>
                    <a:pt x="31" y="1"/>
                  </a:cubicBezTo>
                  <a:cubicBezTo>
                    <a:pt x="31" y="0"/>
                    <a:pt x="31" y="0"/>
                    <a:pt x="31" y="0"/>
                  </a:cubicBezTo>
                  <a:cubicBezTo>
                    <a:pt x="30" y="0"/>
                    <a:pt x="30" y="0"/>
                    <a:pt x="30" y="0"/>
                  </a:cubicBezTo>
                  <a:cubicBezTo>
                    <a:pt x="28" y="6"/>
                    <a:pt x="28" y="6"/>
                    <a:pt x="28" y="6"/>
                  </a:cubicBezTo>
                  <a:cubicBezTo>
                    <a:pt x="24" y="5"/>
                    <a:pt x="24" y="5"/>
                    <a:pt x="24" y="5"/>
                  </a:cubicBezTo>
                  <a:cubicBezTo>
                    <a:pt x="17" y="5"/>
                    <a:pt x="17" y="5"/>
                    <a:pt x="17" y="5"/>
                  </a:cubicBezTo>
                  <a:cubicBezTo>
                    <a:pt x="11" y="3"/>
                    <a:pt x="11" y="3"/>
                    <a:pt x="11" y="3"/>
                  </a:cubicBezTo>
                  <a:cubicBezTo>
                    <a:pt x="7" y="3"/>
                    <a:pt x="7" y="3"/>
                    <a:pt x="7" y="3"/>
                  </a:cubicBezTo>
                  <a:cubicBezTo>
                    <a:pt x="5" y="4"/>
                    <a:pt x="5" y="4"/>
                    <a:pt x="5" y="4"/>
                  </a:cubicBezTo>
                  <a:cubicBezTo>
                    <a:pt x="6" y="8"/>
                    <a:pt x="6" y="8"/>
                    <a:pt x="6" y="8"/>
                  </a:cubicBezTo>
                  <a:cubicBezTo>
                    <a:pt x="4" y="10"/>
                    <a:pt x="4" y="10"/>
                    <a:pt x="4" y="10"/>
                  </a:cubicBezTo>
                  <a:cubicBezTo>
                    <a:pt x="2" y="15"/>
                    <a:pt x="2" y="15"/>
                    <a:pt x="2" y="15"/>
                  </a:cubicBezTo>
                  <a:cubicBezTo>
                    <a:pt x="0" y="15"/>
                    <a:pt x="0" y="15"/>
                    <a:pt x="0" y="15"/>
                  </a:cubicBezTo>
                  <a:cubicBezTo>
                    <a:pt x="0" y="18"/>
                    <a:pt x="0" y="18"/>
                    <a:pt x="0" y="18"/>
                  </a:cubicBezTo>
                  <a:cubicBezTo>
                    <a:pt x="1" y="19"/>
                    <a:pt x="1" y="19"/>
                    <a:pt x="1" y="19"/>
                  </a:cubicBezTo>
                  <a:cubicBezTo>
                    <a:pt x="2" y="20"/>
                    <a:pt x="2" y="20"/>
                    <a:pt x="2" y="20"/>
                  </a:cubicBezTo>
                  <a:cubicBezTo>
                    <a:pt x="3" y="21"/>
                    <a:pt x="3" y="21"/>
                    <a:pt x="3" y="21"/>
                  </a:cubicBezTo>
                  <a:cubicBezTo>
                    <a:pt x="12" y="20"/>
                    <a:pt x="12" y="20"/>
                    <a:pt x="12" y="20"/>
                  </a:cubicBezTo>
                  <a:cubicBezTo>
                    <a:pt x="18" y="20"/>
                    <a:pt x="18" y="20"/>
                    <a:pt x="18" y="20"/>
                  </a:cubicBezTo>
                  <a:cubicBezTo>
                    <a:pt x="24" y="24"/>
                    <a:pt x="24" y="24"/>
                    <a:pt x="24" y="24"/>
                  </a:cubicBezTo>
                  <a:cubicBezTo>
                    <a:pt x="24" y="24"/>
                    <a:pt x="26" y="26"/>
                    <a:pt x="25" y="28"/>
                  </a:cubicBezTo>
                  <a:cubicBezTo>
                    <a:pt x="25" y="29"/>
                    <a:pt x="22" y="30"/>
                    <a:pt x="22" y="30"/>
                  </a:cubicBezTo>
                  <a:cubicBezTo>
                    <a:pt x="21" y="33"/>
                    <a:pt x="21" y="33"/>
                    <a:pt x="21" y="33"/>
                  </a:cubicBezTo>
                  <a:cubicBezTo>
                    <a:pt x="24" y="34"/>
                    <a:pt x="24" y="34"/>
                    <a:pt x="24" y="34"/>
                  </a:cubicBezTo>
                  <a:cubicBezTo>
                    <a:pt x="25" y="32"/>
                    <a:pt x="25" y="32"/>
                    <a:pt x="25" y="32"/>
                  </a:cubicBezTo>
                  <a:cubicBezTo>
                    <a:pt x="30" y="29"/>
                    <a:pt x="30" y="29"/>
                    <a:pt x="30" y="29"/>
                  </a:cubicBezTo>
                  <a:cubicBezTo>
                    <a:pt x="33" y="29"/>
                    <a:pt x="33" y="29"/>
                    <a:pt x="33" y="29"/>
                  </a:cubicBezTo>
                  <a:cubicBezTo>
                    <a:pt x="36" y="32"/>
                    <a:pt x="36" y="32"/>
                    <a:pt x="36" y="32"/>
                  </a:cubicBezTo>
                  <a:cubicBezTo>
                    <a:pt x="34" y="34"/>
                    <a:pt x="34" y="34"/>
                    <a:pt x="34" y="34"/>
                  </a:cubicBezTo>
                  <a:cubicBezTo>
                    <a:pt x="37" y="37"/>
                    <a:pt x="37" y="37"/>
                    <a:pt x="37" y="37"/>
                  </a:cubicBezTo>
                  <a:cubicBezTo>
                    <a:pt x="45" y="34"/>
                    <a:pt x="45" y="34"/>
                    <a:pt x="45" y="34"/>
                  </a:cubicBezTo>
                  <a:cubicBezTo>
                    <a:pt x="41" y="31"/>
                    <a:pt x="41" y="31"/>
                    <a:pt x="41" y="31"/>
                  </a:cubicBezTo>
                  <a:cubicBezTo>
                    <a:pt x="43" y="28"/>
                    <a:pt x="43" y="28"/>
                    <a:pt x="43" y="28"/>
                  </a:cubicBezTo>
                  <a:cubicBezTo>
                    <a:pt x="50" y="27"/>
                    <a:pt x="50" y="27"/>
                    <a:pt x="50" y="27"/>
                  </a:cubicBezTo>
                  <a:cubicBezTo>
                    <a:pt x="51" y="25"/>
                    <a:pt x="51" y="25"/>
                    <a:pt x="51" y="25"/>
                  </a:cubicBezTo>
                  <a:lnTo>
                    <a:pt x="54" y="22"/>
                  </a:ln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92" name="Freeform 89">
              <a:extLst>
                <a:ext uri="{FF2B5EF4-FFF2-40B4-BE49-F238E27FC236}">
                  <a16:creationId xmlns:a16="http://schemas.microsoft.com/office/drawing/2014/main" id="{4EA6836A-7457-055D-51A6-48CD13D1B1DA}"/>
                </a:ext>
              </a:extLst>
            </p:cNvPr>
            <p:cNvSpPr>
              <a:spLocks/>
            </p:cNvSpPr>
            <p:nvPr/>
          </p:nvSpPr>
          <p:spPr bwMode="auto">
            <a:xfrm>
              <a:off x="6355003" y="2705126"/>
              <a:ext cx="66560" cy="36015"/>
            </a:xfrm>
            <a:custGeom>
              <a:avLst/>
              <a:gdLst>
                <a:gd name="T0" fmla="*/ 2147483647 w 42"/>
                <a:gd name="T1" fmla="*/ 2147483647 h 24"/>
                <a:gd name="T2" fmla="*/ 2147483647 w 42"/>
                <a:gd name="T3" fmla="*/ 0 h 24"/>
                <a:gd name="T4" fmla="*/ 0 w 42"/>
                <a:gd name="T5" fmla="*/ 2147483647 h 24"/>
                <a:gd name="T6" fmla="*/ 2147483647 w 42"/>
                <a:gd name="T7" fmla="*/ 2147483647 h 24"/>
                <a:gd name="T8" fmla="*/ 2147483647 w 42"/>
                <a:gd name="T9" fmla="*/ 2147483647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 h="24">
                  <a:moveTo>
                    <a:pt x="36" y="24"/>
                  </a:moveTo>
                  <a:lnTo>
                    <a:pt x="18" y="0"/>
                  </a:lnTo>
                  <a:lnTo>
                    <a:pt x="0" y="6"/>
                  </a:lnTo>
                  <a:lnTo>
                    <a:pt x="42" y="24"/>
                  </a:lnTo>
                  <a:lnTo>
                    <a:pt x="36" y="24"/>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93" name="Freeform 90">
              <a:extLst>
                <a:ext uri="{FF2B5EF4-FFF2-40B4-BE49-F238E27FC236}">
                  <a16:creationId xmlns:a16="http://schemas.microsoft.com/office/drawing/2014/main" id="{E46E7940-9B0F-C7BD-836F-1AEBA95E0ADB}"/>
                </a:ext>
              </a:extLst>
            </p:cNvPr>
            <p:cNvSpPr>
              <a:spLocks/>
            </p:cNvSpPr>
            <p:nvPr/>
          </p:nvSpPr>
          <p:spPr bwMode="auto">
            <a:xfrm>
              <a:off x="5980363" y="2555377"/>
              <a:ext cx="93185" cy="56867"/>
            </a:xfrm>
            <a:custGeom>
              <a:avLst/>
              <a:gdLst>
                <a:gd name="T0" fmla="*/ 2147483647 w 60"/>
                <a:gd name="T1" fmla="*/ 2147483647 h 36"/>
                <a:gd name="T2" fmla="*/ 2147483647 w 60"/>
                <a:gd name="T3" fmla="*/ 2147483647 h 36"/>
                <a:gd name="T4" fmla="*/ 2147483647 w 60"/>
                <a:gd name="T5" fmla="*/ 2147483647 h 36"/>
                <a:gd name="T6" fmla="*/ 2147483647 w 60"/>
                <a:gd name="T7" fmla="*/ 2147483647 h 36"/>
                <a:gd name="T8" fmla="*/ 2147483647 w 60"/>
                <a:gd name="T9" fmla="*/ 0 h 36"/>
                <a:gd name="T10" fmla="*/ 2147483647 w 60"/>
                <a:gd name="T11" fmla="*/ 0 h 36"/>
                <a:gd name="T12" fmla="*/ 2147483647 w 60"/>
                <a:gd name="T13" fmla="*/ 2147483647 h 36"/>
                <a:gd name="T14" fmla="*/ 0 w 60"/>
                <a:gd name="T15" fmla="*/ 2147483647 h 36"/>
                <a:gd name="T16" fmla="*/ 2147483647 w 60"/>
                <a:gd name="T17" fmla="*/ 2147483647 h 36"/>
                <a:gd name="T18" fmla="*/ 2147483647 w 60"/>
                <a:gd name="T19" fmla="*/ 2147483647 h 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36">
                  <a:moveTo>
                    <a:pt x="54" y="36"/>
                  </a:moveTo>
                  <a:lnTo>
                    <a:pt x="60" y="24"/>
                  </a:lnTo>
                  <a:lnTo>
                    <a:pt x="54" y="12"/>
                  </a:lnTo>
                  <a:lnTo>
                    <a:pt x="42" y="6"/>
                  </a:lnTo>
                  <a:lnTo>
                    <a:pt x="30" y="0"/>
                  </a:lnTo>
                  <a:lnTo>
                    <a:pt x="18" y="0"/>
                  </a:lnTo>
                  <a:lnTo>
                    <a:pt x="6" y="12"/>
                  </a:lnTo>
                  <a:lnTo>
                    <a:pt x="0" y="18"/>
                  </a:lnTo>
                  <a:lnTo>
                    <a:pt x="12" y="30"/>
                  </a:lnTo>
                  <a:lnTo>
                    <a:pt x="54" y="3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94" name="Freeform 91">
              <a:extLst>
                <a:ext uri="{FF2B5EF4-FFF2-40B4-BE49-F238E27FC236}">
                  <a16:creationId xmlns:a16="http://schemas.microsoft.com/office/drawing/2014/main" id="{8C40991D-5028-40CD-0350-DC690129088F}"/>
                </a:ext>
              </a:extLst>
            </p:cNvPr>
            <p:cNvSpPr>
              <a:spLocks/>
            </p:cNvSpPr>
            <p:nvPr/>
          </p:nvSpPr>
          <p:spPr bwMode="auto">
            <a:xfrm>
              <a:off x="5811110" y="2583811"/>
              <a:ext cx="290963" cy="259690"/>
            </a:xfrm>
            <a:custGeom>
              <a:avLst/>
              <a:gdLst>
                <a:gd name="T0" fmla="*/ 2147483647 w 31"/>
                <a:gd name="T1" fmla="*/ 2147483647 h 28"/>
                <a:gd name="T2" fmla="*/ 2147483647 w 31"/>
                <a:gd name="T3" fmla="*/ 2147483647 h 28"/>
                <a:gd name="T4" fmla="*/ 2147483647 w 31"/>
                <a:gd name="T5" fmla="*/ 2147483647 h 28"/>
                <a:gd name="T6" fmla="*/ 2147483647 w 31"/>
                <a:gd name="T7" fmla="*/ 2147483647 h 28"/>
                <a:gd name="T8" fmla="*/ 2147483647 w 31"/>
                <a:gd name="T9" fmla="*/ 2147483647 h 28"/>
                <a:gd name="T10" fmla="*/ 2147483647 w 31"/>
                <a:gd name="T11" fmla="*/ 2147483647 h 28"/>
                <a:gd name="T12" fmla="*/ 2147483647 w 31"/>
                <a:gd name="T13" fmla="*/ 2147483647 h 28"/>
                <a:gd name="T14" fmla="*/ 2147483647 w 31"/>
                <a:gd name="T15" fmla="*/ 2147483647 h 28"/>
                <a:gd name="T16" fmla="*/ 2147483647 w 31"/>
                <a:gd name="T17" fmla="*/ 2147483647 h 28"/>
                <a:gd name="T18" fmla="*/ 2147483647 w 31"/>
                <a:gd name="T19" fmla="*/ 2147483647 h 28"/>
                <a:gd name="T20" fmla="*/ 2147483647 w 31"/>
                <a:gd name="T21" fmla="*/ 2147483647 h 28"/>
                <a:gd name="T22" fmla="*/ 2147483647 w 31"/>
                <a:gd name="T23" fmla="*/ 2147483647 h 28"/>
                <a:gd name="T24" fmla="*/ 2147483647 w 31"/>
                <a:gd name="T25" fmla="*/ 2147483647 h 28"/>
                <a:gd name="T26" fmla="*/ 2147483647 w 31"/>
                <a:gd name="T27" fmla="*/ 2147483647 h 28"/>
                <a:gd name="T28" fmla="*/ 2147483647 w 31"/>
                <a:gd name="T29" fmla="*/ 2147483647 h 28"/>
                <a:gd name="T30" fmla="*/ 2147483647 w 31"/>
                <a:gd name="T31" fmla="*/ 2147483647 h 28"/>
                <a:gd name="T32" fmla="*/ 2147483647 w 31"/>
                <a:gd name="T33" fmla="*/ 2147483647 h 28"/>
                <a:gd name="T34" fmla="*/ 2147483647 w 31"/>
                <a:gd name="T35" fmla="*/ 2147483647 h 28"/>
                <a:gd name="T36" fmla="*/ 2147483647 w 31"/>
                <a:gd name="T37" fmla="*/ 2147483647 h 28"/>
                <a:gd name="T38" fmla="*/ 2147483647 w 31"/>
                <a:gd name="T39" fmla="*/ 2147483647 h 28"/>
                <a:gd name="T40" fmla="*/ 2147483647 w 31"/>
                <a:gd name="T41" fmla="*/ 2147483647 h 28"/>
                <a:gd name="T42" fmla="*/ 2147483647 w 31"/>
                <a:gd name="T43" fmla="*/ 2147483647 h 28"/>
                <a:gd name="T44" fmla="*/ 2147483647 w 31"/>
                <a:gd name="T45" fmla="*/ 2147483647 h 28"/>
                <a:gd name="T46" fmla="*/ 2147483647 w 31"/>
                <a:gd name="T47" fmla="*/ 0 h 28"/>
                <a:gd name="T48" fmla="*/ 2147483647 w 31"/>
                <a:gd name="T49" fmla="*/ 2147483647 h 28"/>
                <a:gd name="T50" fmla="*/ 2147483647 w 31"/>
                <a:gd name="T51" fmla="*/ 2147483647 h 28"/>
                <a:gd name="T52" fmla="*/ 2147483647 w 31"/>
                <a:gd name="T53" fmla="*/ 0 h 28"/>
                <a:gd name="T54" fmla="*/ 2147483647 w 31"/>
                <a:gd name="T55" fmla="*/ 0 h 28"/>
                <a:gd name="T56" fmla="*/ 2147483647 w 31"/>
                <a:gd name="T57" fmla="*/ 2147483647 h 28"/>
                <a:gd name="T58" fmla="*/ 2147483647 w 31"/>
                <a:gd name="T59" fmla="*/ 2147483647 h 28"/>
                <a:gd name="T60" fmla="*/ 0 w 31"/>
                <a:gd name="T61" fmla="*/ 2147483647 h 28"/>
                <a:gd name="T62" fmla="*/ 0 w 31"/>
                <a:gd name="T63" fmla="*/ 2147483647 h 28"/>
                <a:gd name="T64" fmla="*/ 2147483647 w 31"/>
                <a:gd name="T65" fmla="*/ 2147483647 h 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1" h="28">
                  <a:moveTo>
                    <a:pt x="1" y="9"/>
                  </a:moveTo>
                  <a:cubicBezTo>
                    <a:pt x="1" y="10"/>
                    <a:pt x="1" y="10"/>
                    <a:pt x="1" y="10"/>
                  </a:cubicBezTo>
                  <a:cubicBezTo>
                    <a:pt x="1" y="13"/>
                    <a:pt x="1" y="13"/>
                    <a:pt x="1" y="13"/>
                  </a:cubicBezTo>
                  <a:cubicBezTo>
                    <a:pt x="1" y="13"/>
                    <a:pt x="1" y="17"/>
                    <a:pt x="2" y="17"/>
                  </a:cubicBezTo>
                  <a:cubicBezTo>
                    <a:pt x="2" y="17"/>
                    <a:pt x="2" y="19"/>
                    <a:pt x="2" y="20"/>
                  </a:cubicBezTo>
                  <a:cubicBezTo>
                    <a:pt x="6" y="22"/>
                    <a:pt x="6" y="22"/>
                    <a:pt x="6" y="22"/>
                  </a:cubicBezTo>
                  <a:cubicBezTo>
                    <a:pt x="10" y="24"/>
                    <a:pt x="10" y="24"/>
                    <a:pt x="10" y="24"/>
                  </a:cubicBezTo>
                  <a:cubicBezTo>
                    <a:pt x="15" y="26"/>
                    <a:pt x="15" y="26"/>
                    <a:pt x="15" y="26"/>
                  </a:cubicBezTo>
                  <a:cubicBezTo>
                    <a:pt x="15" y="26"/>
                    <a:pt x="15" y="26"/>
                    <a:pt x="15" y="26"/>
                  </a:cubicBezTo>
                  <a:cubicBezTo>
                    <a:pt x="19" y="28"/>
                    <a:pt x="19" y="28"/>
                    <a:pt x="19" y="28"/>
                  </a:cubicBezTo>
                  <a:cubicBezTo>
                    <a:pt x="23" y="28"/>
                    <a:pt x="23" y="28"/>
                    <a:pt x="23" y="28"/>
                  </a:cubicBezTo>
                  <a:cubicBezTo>
                    <a:pt x="25" y="28"/>
                    <a:pt x="25" y="28"/>
                    <a:pt x="25" y="28"/>
                  </a:cubicBezTo>
                  <a:cubicBezTo>
                    <a:pt x="27" y="28"/>
                    <a:pt x="27" y="28"/>
                    <a:pt x="27" y="28"/>
                  </a:cubicBezTo>
                  <a:cubicBezTo>
                    <a:pt x="29" y="23"/>
                    <a:pt x="29" y="23"/>
                    <a:pt x="29" y="23"/>
                  </a:cubicBezTo>
                  <a:cubicBezTo>
                    <a:pt x="31" y="21"/>
                    <a:pt x="31" y="21"/>
                    <a:pt x="31" y="21"/>
                  </a:cubicBezTo>
                  <a:cubicBezTo>
                    <a:pt x="30" y="17"/>
                    <a:pt x="30" y="17"/>
                    <a:pt x="30" y="17"/>
                  </a:cubicBezTo>
                  <a:cubicBezTo>
                    <a:pt x="30" y="15"/>
                    <a:pt x="30" y="15"/>
                    <a:pt x="30" y="15"/>
                  </a:cubicBezTo>
                  <a:cubicBezTo>
                    <a:pt x="29" y="12"/>
                    <a:pt x="29" y="12"/>
                    <a:pt x="29" y="12"/>
                  </a:cubicBezTo>
                  <a:cubicBezTo>
                    <a:pt x="31" y="10"/>
                    <a:pt x="31" y="10"/>
                    <a:pt x="31" y="10"/>
                  </a:cubicBezTo>
                  <a:cubicBezTo>
                    <a:pt x="30" y="6"/>
                    <a:pt x="30" y="6"/>
                    <a:pt x="30" y="6"/>
                  </a:cubicBezTo>
                  <a:cubicBezTo>
                    <a:pt x="28" y="3"/>
                    <a:pt x="28" y="3"/>
                    <a:pt x="28" y="3"/>
                  </a:cubicBezTo>
                  <a:cubicBezTo>
                    <a:pt x="27" y="3"/>
                    <a:pt x="27" y="3"/>
                    <a:pt x="27" y="3"/>
                  </a:cubicBezTo>
                  <a:cubicBezTo>
                    <a:pt x="20" y="2"/>
                    <a:pt x="20" y="2"/>
                    <a:pt x="20" y="2"/>
                  </a:cubicBezTo>
                  <a:cubicBezTo>
                    <a:pt x="18" y="0"/>
                    <a:pt x="18" y="0"/>
                    <a:pt x="18" y="0"/>
                  </a:cubicBezTo>
                  <a:cubicBezTo>
                    <a:pt x="18" y="1"/>
                    <a:pt x="18" y="1"/>
                    <a:pt x="18" y="1"/>
                  </a:cubicBezTo>
                  <a:cubicBezTo>
                    <a:pt x="18" y="1"/>
                    <a:pt x="15" y="1"/>
                    <a:pt x="15" y="1"/>
                  </a:cubicBezTo>
                  <a:cubicBezTo>
                    <a:pt x="14" y="1"/>
                    <a:pt x="14" y="0"/>
                    <a:pt x="14" y="0"/>
                  </a:cubicBezTo>
                  <a:cubicBezTo>
                    <a:pt x="13" y="0"/>
                    <a:pt x="13" y="0"/>
                    <a:pt x="13" y="0"/>
                  </a:cubicBezTo>
                  <a:cubicBezTo>
                    <a:pt x="5" y="3"/>
                    <a:pt x="5" y="3"/>
                    <a:pt x="5" y="3"/>
                  </a:cubicBezTo>
                  <a:cubicBezTo>
                    <a:pt x="1" y="5"/>
                    <a:pt x="1" y="5"/>
                    <a:pt x="1" y="5"/>
                  </a:cubicBezTo>
                  <a:cubicBezTo>
                    <a:pt x="0" y="4"/>
                    <a:pt x="0" y="4"/>
                    <a:pt x="0" y="4"/>
                  </a:cubicBezTo>
                  <a:cubicBezTo>
                    <a:pt x="0" y="6"/>
                    <a:pt x="0" y="6"/>
                    <a:pt x="0" y="6"/>
                  </a:cubicBezTo>
                  <a:lnTo>
                    <a:pt x="1" y="9"/>
                  </a:ln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95" name="Freeform 92">
              <a:extLst>
                <a:ext uri="{FF2B5EF4-FFF2-40B4-BE49-F238E27FC236}">
                  <a16:creationId xmlns:a16="http://schemas.microsoft.com/office/drawing/2014/main" id="{06AA355D-8295-2610-53A3-54322A3692BF}"/>
                </a:ext>
              </a:extLst>
            </p:cNvPr>
            <p:cNvSpPr>
              <a:spLocks/>
            </p:cNvSpPr>
            <p:nvPr/>
          </p:nvSpPr>
          <p:spPr bwMode="auto">
            <a:xfrm>
              <a:off x="5396534" y="3804545"/>
              <a:ext cx="471628" cy="346885"/>
            </a:xfrm>
            <a:custGeom>
              <a:avLst/>
              <a:gdLst>
                <a:gd name="T0" fmla="*/ 2147483647 w 300"/>
                <a:gd name="T1" fmla="*/ 2147483647 h 223"/>
                <a:gd name="T2" fmla="*/ 2147483647 w 300"/>
                <a:gd name="T3" fmla="*/ 2147483647 h 223"/>
                <a:gd name="T4" fmla="*/ 2147483647 w 300"/>
                <a:gd name="T5" fmla="*/ 2147483647 h 223"/>
                <a:gd name="T6" fmla="*/ 2147483647 w 300"/>
                <a:gd name="T7" fmla="*/ 2147483647 h 223"/>
                <a:gd name="T8" fmla="*/ 2147483647 w 300"/>
                <a:gd name="T9" fmla="*/ 2147483647 h 223"/>
                <a:gd name="T10" fmla="*/ 2147483647 w 300"/>
                <a:gd name="T11" fmla="*/ 2147483647 h 223"/>
                <a:gd name="T12" fmla="*/ 2147483647 w 300"/>
                <a:gd name="T13" fmla="*/ 2147483647 h 223"/>
                <a:gd name="T14" fmla="*/ 2147483647 w 300"/>
                <a:gd name="T15" fmla="*/ 2147483647 h 223"/>
                <a:gd name="T16" fmla="*/ 2147483647 w 300"/>
                <a:gd name="T17" fmla="*/ 2147483647 h 223"/>
                <a:gd name="T18" fmla="*/ 2147483647 w 300"/>
                <a:gd name="T19" fmla="*/ 2147483647 h 223"/>
                <a:gd name="T20" fmla="*/ 2147483647 w 300"/>
                <a:gd name="T21" fmla="*/ 2147483647 h 223"/>
                <a:gd name="T22" fmla="*/ 2147483647 w 300"/>
                <a:gd name="T23" fmla="*/ 2147483647 h 223"/>
                <a:gd name="T24" fmla="*/ 2147483647 w 300"/>
                <a:gd name="T25" fmla="*/ 2147483647 h 223"/>
                <a:gd name="T26" fmla="*/ 2147483647 w 300"/>
                <a:gd name="T27" fmla="*/ 2147483647 h 223"/>
                <a:gd name="T28" fmla="*/ 2147483647 w 300"/>
                <a:gd name="T29" fmla="*/ 2147483647 h 223"/>
                <a:gd name="T30" fmla="*/ 2147483647 w 300"/>
                <a:gd name="T31" fmla="*/ 0 h 223"/>
                <a:gd name="T32" fmla="*/ 2147483647 w 300"/>
                <a:gd name="T33" fmla="*/ 2147483647 h 223"/>
                <a:gd name="T34" fmla="*/ 2147483647 w 300"/>
                <a:gd name="T35" fmla="*/ 2147483647 h 223"/>
                <a:gd name="T36" fmla="*/ 2147483647 w 300"/>
                <a:gd name="T37" fmla="*/ 2147483647 h 223"/>
                <a:gd name="T38" fmla="*/ 2147483647 w 300"/>
                <a:gd name="T39" fmla="*/ 2147483647 h 223"/>
                <a:gd name="T40" fmla="*/ 2147483647 w 300"/>
                <a:gd name="T41" fmla="*/ 2147483647 h 223"/>
                <a:gd name="T42" fmla="*/ 2147483647 w 300"/>
                <a:gd name="T43" fmla="*/ 2147483647 h 223"/>
                <a:gd name="T44" fmla="*/ 0 w 300"/>
                <a:gd name="T45" fmla="*/ 2147483647 h 223"/>
                <a:gd name="T46" fmla="*/ 2147483647 w 300"/>
                <a:gd name="T47" fmla="*/ 2147483647 h 223"/>
                <a:gd name="T48" fmla="*/ 2147483647 w 300"/>
                <a:gd name="T49" fmla="*/ 2147483647 h 223"/>
                <a:gd name="T50" fmla="*/ 2147483647 w 300"/>
                <a:gd name="T51" fmla="*/ 2147483647 h 223"/>
                <a:gd name="T52" fmla="*/ 2147483647 w 300"/>
                <a:gd name="T53" fmla="*/ 2147483647 h 223"/>
                <a:gd name="T54" fmla="*/ 2147483647 w 300"/>
                <a:gd name="T55" fmla="*/ 2147483647 h 22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00" h="223">
                  <a:moveTo>
                    <a:pt x="66" y="223"/>
                  </a:moveTo>
                  <a:lnTo>
                    <a:pt x="78" y="205"/>
                  </a:lnTo>
                  <a:lnTo>
                    <a:pt x="102" y="205"/>
                  </a:lnTo>
                  <a:lnTo>
                    <a:pt x="138" y="217"/>
                  </a:lnTo>
                  <a:lnTo>
                    <a:pt x="162" y="205"/>
                  </a:lnTo>
                  <a:lnTo>
                    <a:pt x="198" y="205"/>
                  </a:lnTo>
                  <a:lnTo>
                    <a:pt x="228" y="199"/>
                  </a:lnTo>
                  <a:lnTo>
                    <a:pt x="258" y="174"/>
                  </a:lnTo>
                  <a:lnTo>
                    <a:pt x="288" y="138"/>
                  </a:lnTo>
                  <a:lnTo>
                    <a:pt x="300" y="66"/>
                  </a:lnTo>
                  <a:lnTo>
                    <a:pt x="288" y="54"/>
                  </a:lnTo>
                  <a:lnTo>
                    <a:pt x="282" y="24"/>
                  </a:lnTo>
                  <a:lnTo>
                    <a:pt x="282" y="18"/>
                  </a:lnTo>
                  <a:lnTo>
                    <a:pt x="270" y="6"/>
                  </a:lnTo>
                  <a:lnTo>
                    <a:pt x="222" y="0"/>
                  </a:lnTo>
                  <a:lnTo>
                    <a:pt x="114" y="72"/>
                  </a:lnTo>
                  <a:lnTo>
                    <a:pt x="78" y="90"/>
                  </a:lnTo>
                  <a:lnTo>
                    <a:pt x="78" y="144"/>
                  </a:lnTo>
                  <a:lnTo>
                    <a:pt x="66" y="162"/>
                  </a:lnTo>
                  <a:lnTo>
                    <a:pt x="24" y="168"/>
                  </a:lnTo>
                  <a:lnTo>
                    <a:pt x="0" y="168"/>
                  </a:lnTo>
                  <a:lnTo>
                    <a:pt x="12" y="193"/>
                  </a:lnTo>
                  <a:lnTo>
                    <a:pt x="36" y="217"/>
                  </a:lnTo>
                  <a:lnTo>
                    <a:pt x="48" y="217"/>
                  </a:lnTo>
                  <a:lnTo>
                    <a:pt x="60" y="223"/>
                  </a:lnTo>
                  <a:lnTo>
                    <a:pt x="66" y="223"/>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96" name="Freeform 93">
              <a:extLst>
                <a:ext uri="{FF2B5EF4-FFF2-40B4-BE49-F238E27FC236}">
                  <a16:creationId xmlns:a16="http://schemas.microsoft.com/office/drawing/2014/main" id="{F6836D37-A189-2497-2380-0DC84C7BCB48}"/>
                </a:ext>
              </a:extLst>
            </p:cNvPr>
            <p:cNvSpPr>
              <a:spLocks/>
            </p:cNvSpPr>
            <p:nvPr/>
          </p:nvSpPr>
          <p:spPr bwMode="auto">
            <a:xfrm>
              <a:off x="5396534" y="3804545"/>
              <a:ext cx="471628" cy="346885"/>
            </a:xfrm>
            <a:custGeom>
              <a:avLst/>
              <a:gdLst>
                <a:gd name="T0" fmla="*/ 2147483647 w 300"/>
                <a:gd name="T1" fmla="*/ 2147483647 h 223"/>
                <a:gd name="T2" fmla="*/ 2147483647 w 300"/>
                <a:gd name="T3" fmla="*/ 2147483647 h 223"/>
                <a:gd name="T4" fmla="*/ 2147483647 w 300"/>
                <a:gd name="T5" fmla="*/ 2147483647 h 223"/>
                <a:gd name="T6" fmla="*/ 2147483647 w 300"/>
                <a:gd name="T7" fmla="*/ 2147483647 h 223"/>
                <a:gd name="T8" fmla="*/ 2147483647 w 300"/>
                <a:gd name="T9" fmla="*/ 2147483647 h 223"/>
                <a:gd name="T10" fmla="*/ 2147483647 w 300"/>
                <a:gd name="T11" fmla="*/ 2147483647 h 223"/>
                <a:gd name="T12" fmla="*/ 2147483647 w 300"/>
                <a:gd name="T13" fmla="*/ 2147483647 h 223"/>
                <a:gd name="T14" fmla="*/ 2147483647 w 300"/>
                <a:gd name="T15" fmla="*/ 2147483647 h 223"/>
                <a:gd name="T16" fmla="*/ 2147483647 w 300"/>
                <a:gd name="T17" fmla="*/ 2147483647 h 223"/>
                <a:gd name="T18" fmla="*/ 2147483647 w 300"/>
                <a:gd name="T19" fmla="*/ 2147483647 h 223"/>
                <a:gd name="T20" fmla="*/ 2147483647 w 300"/>
                <a:gd name="T21" fmla="*/ 2147483647 h 223"/>
                <a:gd name="T22" fmla="*/ 2147483647 w 300"/>
                <a:gd name="T23" fmla="*/ 2147483647 h 223"/>
                <a:gd name="T24" fmla="*/ 2147483647 w 300"/>
                <a:gd name="T25" fmla="*/ 2147483647 h 223"/>
                <a:gd name="T26" fmla="*/ 2147483647 w 300"/>
                <a:gd name="T27" fmla="*/ 2147483647 h 223"/>
                <a:gd name="T28" fmla="*/ 2147483647 w 300"/>
                <a:gd name="T29" fmla="*/ 2147483647 h 223"/>
                <a:gd name="T30" fmla="*/ 2147483647 w 300"/>
                <a:gd name="T31" fmla="*/ 0 h 223"/>
                <a:gd name="T32" fmla="*/ 2147483647 w 300"/>
                <a:gd name="T33" fmla="*/ 2147483647 h 223"/>
                <a:gd name="T34" fmla="*/ 2147483647 w 300"/>
                <a:gd name="T35" fmla="*/ 2147483647 h 223"/>
                <a:gd name="T36" fmla="*/ 2147483647 w 300"/>
                <a:gd name="T37" fmla="*/ 2147483647 h 223"/>
                <a:gd name="T38" fmla="*/ 2147483647 w 300"/>
                <a:gd name="T39" fmla="*/ 2147483647 h 223"/>
                <a:gd name="T40" fmla="*/ 2147483647 w 300"/>
                <a:gd name="T41" fmla="*/ 2147483647 h 223"/>
                <a:gd name="T42" fmla="*/ 2147483647 w 300"/>
                <a:gd name="T43" fmla="*/ 2147483647 h 223"/>
                <a:gd name="T44" fmla="*/ 0 w 300"/>
                <a:gd name="T45" fmla="*/ 2147483647 h 223"/>
                <a:gd name="T46" fmla="*/ 2147483647 w 300"/>
                <a:gd name="T47" fmla="*/ 2147483647 h 223"/>
                <a:gd name="T48" fmla="*/ 2147483647 w 300"/>
                <a:gd name="T49" fmla="*/ 2147483647 h 223"/>
                <a:gd name="T50" fmla="*/ 2147483647 w 300"/>
                <a:gd name="T51" fmla="*/ 2147483647 h 223"/>
                <a:gd name="T52" fmla="*/ 2147483647 w 300"/>
                <a:gd name="T53" fmla="*/ 2147483647 h 223"/>
                <a:gd name="T54" fmla="*/ 2147483647 w 300"/>
                <a:gd name="T55" fmla="*/ 2147483647 h 22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00" h="223">
                  <a:moveTo>
                    <a:pt x="66" y="223"/>
                  </a:moveTo>
                  <a:lnTo>
                    <a:pt x="78" y="205"/>
                  </a:lnTo>
                  <a:lnTo>
                    <a:pt x="102" y="205"/>
                  </a:lnTo>
                  <a:lnTo>
                    <a:pt x="138" y="217"/>
                  </a:lnTo>
                  <a:lnTo>
                    <a:pt x="162" y="205"/>
                  </a:lnTo>
                  <a:lnTo>
                    <a:pt x="198" y="205"/>
                  </a:lnTo>
                  <a:lnTo>
                    <a:pt x="228" y="199"/>
                  </a:lnTo>
                  <a:lnTo>
                    <a:pt x="258" y="174"/>
                  </a:lnTo>
                  <a:lnTo>
                    <a:pt x="288" y="138"/>
                  </a:lnTo>
                  <a:lnTo>
                    <a:pt x="300" y="66"/>
                  </a:lnTo>
                  <a:lnTo>
                    <a:pt x="288" y="54"/>
                  </a:lnTo>
                  <a:lnTo>
                    <a:pt x="282" y="24"/>
                  </a:lnTo>
                  <a:lnTo>
                    <a:pt x="282" y="18"/>
                  </a:lnTo>
                  <a:lnTo>
                    <a:pt x="270" y="6"/>
                  </a:lnTo>
                  <a:lnTo>
                    <a:pt x="222" y="0"/>
                  </a:lnTo>
                  <a:lnTo>
                    <a:pt x="114" y="72"/>
                  </a:lnTo>
                  <a:lnTo>
                    <a:pt x="78" y="90"/>
                  </a:lnTo>
                  <a:lnTo>
                    <a:pt x="78" y="144"/>
                  </a:lnTo>
                  <a:lnTo>
                    <a:pt x="66" y="162"/>
                  </a:lnTo>
                  <a:lnTo>
                    <a:pt x="24" y="168"/>
                  </a:lnTo>
                  <a:lnTo>
                    <a:pt x="0" y="168"/>
                  </a:lnTo>
                  <a:lnTo>
                    <a:pt x="12" y="193"/>
                  </a:lnTo>
                  <a:lnTo>
                    <a:pt x="36" y="217"/>
                  </a:lnTo>
                  <a:lnTo>
                    <a:pt x="48" y="217"/>
                  </a:lnTo>
                  <a:lnTo>
                    <a:pt x="60" y="223"/>
                  </a:lnTo>
                  <a:lnTo>
                    <a:pt x="66" y="223"/>
                  </a:lnTo>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97" name="Freeform 94">
              <a:extLst>
                <a:ext uri="{FF2B5EF4-FFF2-40B4-BE49-F238E27FC236}">
                  <a16:creationId xmlns:a16="http://schemas.microsoft.com/office/drawing/2014/main" id="{32A8A843-B66C-0C36-03DF-C3F9A22EAC4D}"/>
                </a:ext>
              </a:extLst>
            </p:cNvPr>
            <p:cNvSpPr>
              <a:spLocks/>
            </p:cNvSpPr>
            <p:nvPr/>
          </p:nvSpPr>
          <p:spPr bwMode="auto">
            <a:xfrm>
              <a:off x="5031403" y="3757156"/>
              <a:ext cx="488742" cy="458723"/>
            </a:xfrm>
            <a:custGeom>
              <a:avLst/>
              <a:gdLst>
                <a:gd name="T0" fmla="*/ 2147483647 w 52"/>
                <a:gd name="T1" fmla="*/ 2147483647 h 49"/>
                <a:gd name="T2" fmla="*/ 2147483647 w 52"/>
                <a:gd name="T3" fmla="*/ 2147483647 h 49"/>
                <a:gd name="T4" fmla="*/ 2147483647 w 52"/>
                <a:gd name="T5" fmla="*/ 2147483647 h 49"/>
                <a:gd name="T6" fmla="*/ 2147483647 w 52"/>
                <a:gd name="T7" fmla="*/ 2147483647 h 49"/>
                <a:gd name="T8" fmla="*/ 2147483647 w 52"/>
                <a:gd name="T9" fmla="*/ 2147483647 h 49"/>
                <a:gd name="T10" fmla="*/ 2147483647 w 52"/>
                <a:gd name="T11" fmla="*/ 2147483647 h 49"/>
                <a:gd name="T12" fmla="*/ 2147483647 w 52"/>
                <a:gd name="T13" fmla="*/ 2147483647 h 49"/>
                <a:gd name="T14" fmla="*/ 2147483647 w 52"/>
                <a:gd name="T15" fmla="*/ 2147483647 h 49"/>
                <a:gd name="T16" fmla="*/ 2147483647 w 52"/>
                <a:gd name="T17" fmla="*/ 2147483647 h 49"/>
                <a:gd name="T18" fmla="*/ 2147483647 w 52"/>
                <a:gd name="T19" fmla="*/ 2147483647 h 49"/>
                <a:gd name="T20" fmla="*/ 2147483647 w 52"/>
                <a:gd name="T21" fmla="*/ 2147483647 h 49"/>
                <a:gd name="T22" fmla="*/ 2147483647 w 52"/>
                <a:gd name="T23" fmla="*/ 0 h 49"/>
                <a:gd name="T24" fmla="*/ 2147483647 w 52"/>
                <a:gd name="T25" fmla="*/ 0 h 49"/>
                <a:gd name="T26" fmla="*/ 2147483647 w 52"/>
                <a:gd name="T27" fmla="*/ 2147483647 h 49"/>
                <a:gd name="T28" fmla="*/ 2147483647 w 52"/>
                <a:gd name="T29" fmla="*/ 2147483647 h 49"/>
                <a:gd name="T30" fmla="*/ 2147483647 w 52"/>
                <a:gd name="T31" fmla="*/ 2147483647 h 49"/>
                <a:gd name="T32" fmla="*/ 2147483647 w 52"/>
                <a:gd name="T33" fmla="*/ 2147483647 h 49"/>
                <a:gd name="T34" fmla="*/ 2147483647 w 52"/>
                <a:gd name="T35" fmla="*/ 2147483647 h 49"/>
                <a:gd name="T36" fmla="*/ 2147483647 w 52"/>
                <a:gd name="T37" fmla="*/ 2147483647 h 49"/>
                <a:gd name="T38" fmla="*/ 0 w 52"/>
                <a:gd name="T39" fmla="*/ 2147483647 h 49"/>
                <a:gd name="T40" fmla="*/ 0 w 52"/>
                <a:gd name="T41" fmla="*/ 2147483647 h 49"/>
                <a:gd name="T42" fmla="*/ 2147483647 w 52"/>
                <a:gd name="T43" fmla="*/ 2147483647 h 49"/>
                <a:gd name="T44" fmla="*/ 2147483647 w 52"/>
                <a:gd name="T45" fmla="*/ 2147483647 h 49"/>
                <a:gd name="T46" fmla="*/ 2147483647 w 52"/>
                <a:gd name="T47" fmla="*/ 2147483647 h 49"/>
                <a:gd name="T48" fmla="*/ 2147483647 w 52"/>
                <a:gd name="T49" fmla="*/ 2147483647 h 49"/>
                <a:gd name="T50" fmla="*/ 2147483647 w 52"/>
                <a:gd name="T51" fmla="*/ 2147483647 h 49"/>
                <a:gd name="T52" fmla="*/ 2147483647 w 52"/>
                <a:gd name="T53" fmla="*/ 2147483647 h 49"/>
                <a:gd name="T54" fmla="*/ 2147483647 w 52"/>
                <a:gd name="T55" fmla="*/ 2147483647 h 49"/>
                <a:gd name="T56" fmla="*/ 2147483647 w 52"/>
                <a:gd name="T57" fmla="*/ 2147483647 h 49"/>
                <a:gd name="T58" fmla="*/ 2147483647 w 52"/>
                <a:gd name="T59" fmla="*/ 2147483647 h 49"/>
                <a:gd name="T60" fmla="*/ 2147483647 w 52"/>
                <a:gd name="T61" fmla="*/ 2147483647 h 49"/>
                <a:gd name="T62" fmla="*/ 2147483647 w 52"/>
                <a:gd name="T63" fmla="*/ 2147483647 h 49"/>
                <a:gd name="T64" fmla="*/ 2147483647 w 52"/>
                <a:gd name="T65" fmla="*/ 2147483647 h 49"/>
                <a:gd name="T66" fmla="*/ 2147483647 w 52"/>
                <a:gd name="T67" fmla="*/ 2147483647 h 49"/>
                <a:gd name="T68" fmla="*/ 2147483647 w 52"/>
                <a:gd name="T69" fmla="*/ 2147483647 h 49"/>
                <a:gd name="T70" fmla="*/ 2147483647 w 52"/>
                <a:gd name="T71" fmla="*/ 2147483647 h 49"/>
                <a:gd name="T72" fmla="*/ 2147483647 w 52"/>
                <a:gd name="T73" fmla="*/ 2147483647 h 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52" h="49">
                  <a:moveTo>
                    <a:pt x="24" y="44"/>
                  </a:moveTo>
                  <a:cubicBezTo>
                    <a:pt x="27" y="40"/>
                    <a:pt x="27" y="40"/>
                    <a:pt x="27" y="40"/>
                  </a:cubicBezTo>
                  <a:cubicBezTo>
                    <a:pt x="32" y="36"/>
                    <a:pt x="32" y="36"/>
                    <a:pt x="32" y="36"/>
                  </a:cubicBezTo>
                  <a:cubicBezTo>
                    <a:pt x="38" y="33"/>
                    <a:pt x="38" y="33"/>
                    <a:pt x="38" y="33"/>
                  </a:cubicBezTo>
                  <a:cubicBezTo>
                    <a:pt x="39" y="33"/>
                    <a:pt x="39" y="33"/>
                    <a:pt x="39" y="33"/>
                  </a:cubicBezTo>
                  <a:cubicBezTo>
                    <a:pt x="43" y="33"/>
                    <a:pt x="43" y="33"/>
                    <a:pt x="43" y="33"/>
                  </a:cubicBezTo>
                  <a:cubicBezTo>
                    <a:pt x="50" y="32"/>
                    <a:pt x="50" y="32"/>
                    <a:pt x="50" y="32"/>
                  </a:cubicBezTo>
                  <a:cubicBezTo>
                    <a:pt x="51" y="29"/>
                    <a:pt x="51" y="29"/>
                    <a:pt x="51" y="29"/>
                  </a:cubicBezTo>
                  <a:cubicBezTo>
                    <a:pt x="52" y="20"/>
                    <a:pt x="52" y="20"/>
                    <a:pt x="52" y="20"/>
                  </a:cubicBezTo>
                  <a:cubicBezTo>
                    <a:pt x="49" y="20"/>
                    <a:pt x="49" y="20"/>
                    <a:pt x="49" y="20"/>
                  </a:cubicBezTo>
                  <a:cubicBezTo>
                    <a:pt x="47" y="18"/>
                    <a:pt x="47" y="18"/>
                    <a:pt x="47" y="18"/>
                  </a:cubicBezTo>
                  <a:cubicBezTo>
                    <a:pt x="21" y="0"/>
                    <a:pt x="21" y="0"/>
                    <a:pt x="21" y="0"/>
                  </a:cubicBezTo>
                  <a:cubicBezTo>
                    <a:pt x="18" y="0"/>
                    <a:pt x="18" y="0"/>
                    <a:pt x="18" y="0"/>
                  </a:cubicBezTo>
                  <a:cubicBezTo>
                    <a:pt x="21" y="29"/>
                    <a:pt x="21" y="29"/>
                    <a:pt x="21" y="29"/>
                  </a:cubicBezTo>
                  <a:cubicBezTo>
                    <a:pt x="23" y="30"/>
                    <a:pt x="23" y="30"/>
                    <a:pt x="23" y="30"/>
                  </a:cubicBezTo>
                  <a:cubicBezTo>
                    <a:pt x="20" y="32"/>
                    <a:pt x="20" y="32"/>
                    <a:pt x="20" y="32"/>
                  </a:cubicBezTo>
                  <a:cubicBezTo>
                    <a:pt x="6" y="32"/>
                    <a:pt x="6" y="32"/>
                    <a:pt x="6" y="32"/>
                  </a:cubicBezTo>
                  <a:cubicBezTo>
                    <a:pt x="5" y="33"/>
                    <a:pt x="5" y="33"/>
                    <a:pt x="5" y="33"/>
                  </a:cubicBezTo>
                  <a:cubicBezTo>
                    <a:pt x="3" y="31"/>
                    <a:pt x="3" y="31"/>
                    <a:pt x="3" y="31"/>
                  </a:cubicBezTo>
                  <a:cubicBezTo>
                    <a:pt x="0" y="34"/>
                    <a:pt x="0" y="34"/>
                    <a:pt x="0" y="34"/>
                  </a:cubicBezTo>
                  <a:cubicBezTo>
                    <a:pt x="0" y="35"/>
                    <a:pt x="0" y="35"/>
                    <a:pt x="0" y="35"/>
                  </a:cubicBezTo>
                  <a:cubicBezTo>
                    <a:pt x="1" y="38"/>
                    <a:pt x="1" y="38"/>
                    <a:pt x="1" y="38"/>
                  </a:cubicBezTo>
                  <a:cubicBezTo>
                    <a:pt x="3" y="42"/>
                    <a:pt x="3" y="42"/>
                    <a:pt x="3" y="42"/>
                  </a:cubicBezTo>
                  <a:cubicBezTo>
                    <a:pt x="2" y="42"/>
                    <a:pt x="2" y="42"/>
                    <a:pt x="2" y="42"/>
                  </a:cubicBezTo>
                  <a:cubicBezTo>
                    <a:pt x="2" y="43"/>
                    <a:pt x="2" y="43"/>
                    <a:pt x="2" y="43"/>
                  </a:cubicBezTo>
                  <a:cubicBezTo>
                    <a:pt x="6" y="43"/>
                    <a:pt x="6" y="43"/>
                    <a:pt x="6" y="43"/>
                  </a:cubicBezTo>
                  <a:cubicBezTo>
                    <a:pt x="6" y="43"/>
                    <a:pt x="10" y="42"/>
                    <a:pt x="10" y="42"/>
                  </a:cubicBezTo>
                  <a:cubicBezTo>
                    <a:pt x="11" y="42"/>
                    <a:pt x="11" y="44"/>
                    <a:pt x="11" y="44"/>
                  </a:cubicBezTo>
                  <a:cubicBezTo>
                    <a:pt x="13" y="49"/>
                    <a:pt x="13" y="49"/>
                    <a:pt x="13" y="49"/>
                  </a:cubicBezTo>
                  <a:cubicBezTo>
                    <a:pt x="15" y="48"/>
                    <a:pt x="15" y="48"/>
                    <a:pt x="15" y="48"/>
                  </a:cubicBezTo>
                  <a:cubicBezTo>
                    <a:pt x="17" y="48"/>
                    <a:pt x="17" y="48"/>
                    <a:pt x="17" y="48"/>
                  </a:cubicBezTo>
                  <a:cubicBezTo>
                    <a:pt x="18" y="48"/>
                    <a:pt x="18" y="48"/>
                    <a:pt x="18" y="48"/>
                  </a:cubicBezTo>
                  <a:cubicBezTo>
                    <a:pt x="20" y="49"/>
                    <a:pt x="20" y="49"/>
                    <a:pt x="20" y="49"/>
                  </a:cubicBezTo>
                  <a:cubicBezTo>
                    <a:pt x="22" y="49"/>
                    <a:pt x="22" y="49"/>
                    <a:pt x="22" y="49"/>
                  </a:cubicBezTo>
                  <a:cubicBezTo>
                    <a:pt x="23" y="49"/>
                    <a:pt x="23" y="49"/>
                    <a:pt x="23" y="49"/>
                  </a:cubicBezTo>
                  <a:cubicBezTo>
                    <a:pt x="23" y="47"/>
                    <a:pt x="23" y="47"/>
                    <a:pt x="23" y="47"/>
                  </a:cubicBezTo>
                  <a:lnTo>
                    <a:pt x="24" y="44"/>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98" name="Freeform 95">
              <a:extLst>
                <a:ext uri="{FF2B5EF4-FFF2-40B4-BE49-F238E27FC236}">
                  <a16:creationId xmlns:a16="http://schemas.microsoft.com/office/drawing/2014/main" id="{1FA53ADA-5A3B-8394-DBA6-7AA45C07515E}"/>
                </a:ext>
              </a:extLst>
            </p:cNvPr>
            <p:cNvSpPr>
              <a:spLocks/>
            </p:cNvSpPr>
            <p:nvPr/>
          </p:nvSpPr>
          <p:spPr bwMode="auto">
            <a:xfrm>
              <a:off x="6621244" y="4179864"/>
              <a:ext cx="281455" cy="379110"/>
            </a:xfrm>
            <a:custGeom>
              <a:avLst/>
              <a:gdLst>
                <a:gd name="T0" fmla="*/ 2147483647 w 180"/>
                <a:gd name="T1" fmla="*/ 2147483647 h 246"/>
                <a:gd name="T2" fmla="*/ 2147483647 w 180"/>
                <a:gd name="T3" fmla="*/ 2147483647 h 246"/>
                <a:gd name="T4" fmla="*/ 2147483647 w 180"/>
                <a:gd name="T5" fmla="*/ 2147483647 h 246"/>
                <a:gd name="T6" fmla="*/ 2147483647 w 180"/>
                <a:gd name="T7" fmla="*/ 2147483647 h 246"/>
                <a:gd name="T8" fmla="*/ 2147483647 w 180"/>
                <a:gd name="T9" fmla="*/ 2147483647 h 246"/>
                <a:gd name="T10" fmla="*/ 2147483647 w 180"/>
                <a:gd name="T11" fmla="*/ 2147483647 h 246"/>
                <a:gd name="T12" fmla="*/ 2147483647 w 180"/>
                <a:gd name="T13" fmla="*/ 2147483647 h 246"/>
                <a:gd name="T14" fmla="*/ 2147483647 w 180"/>
                <a:gd name="T15" fmla="*/ 2147483647 h 246"/>
                <a:gd name="T16" fmla="*/ 2147483647 w 180"/>
                <a:gd name="T17" fmla="*/ 2147483647 h 246"/>
                <a:gd name="T18" fmla="*/ 2147483647 w 180"/>
                <a:gd name="T19" fmla="*/ 2147483647 h 246"/>
                <a:gd name="T20" fmla="*/ 2147483647 w 180"/>
                <a:gd name="T21" fmla="*/ 2147483647 h 246"/>
                <a:gd name="T22" fmla="*/ 2147483647 w 180"/>
                <a:gd name="T23" fmla="*/ 2147483647 h 246"/>
                <a:gd name="T24" fmla="*/ 2147483647 w 180"/>
                <a:gd name="T25" fmla="*/ 2147483647 h 246"/>
                <a:gd name="T26" fmla="*/ 0 w 180"/>
                <a:gd name="T27" fmla="*/ 2147483647 h 246"/>
                <a:gd name="T28" fmla="*/ 0 w 180"/>
                <a:gd name="T29" fmla="*/ 2147483647 h 246"/>
                <a:gd name="T30" fmla="*/ 2147483647 w 180"/>
                <a:gd name="T31" fmla="*/ 2147483647 h 246"/>
                <a:gd name="T32" fmla="*/ 2147483647 w 180"/>
                <a:gd name="T33" fmla="*/ 2147483647 h 246"/>
                <a:gd name="T34" fmla="*/ 2147483647 w 180"/>
                <a:gd name="T35" fmla="*/ 2147483647 h 246"/>
                <a:gd name="T36" fmla="*/ 2147483647 w 180"/>
                <a:gd name="T37" fmla="*/ 2147483647 h 246"/>
                <a:gd name="T38" fmla="*/ 2147483647 w 180"/>
                <a:gd name="T39" fmla="*/ 2147483647 h 246"/>
                <a:gd name="T40" fmla="*/ 2147483647 w 180"/>
                <a:gd name="T41" fmla="*/ 0 h 246"/>
                <a:gd name="T42" fmla="*/ 2147483647 w 180"/>
                <a:gd name="T43" fmla="*/ 2147483647 h 24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0" h="246">
                  <a:moveTo>
                    <a:pt x="72" y="18"/>
                  </a:moveTo>
                  <a:lnTo>
                    <a:pt x="48" y="12"/>
                  </a:lnTo>
                  <a:lnTo>
                    <a:pt x="48" y="6"/>
                  </a:lnTo>
                  <a:lnTo>
                    <a:pt x="30" y="18"/>
                  </a:lnTo>
                  <a:lnTo>
                    <a:pt x="42" y="36"/>
                  </a:lnTo>
                  <a:lnTo>
                    <a:pt x="84" y="60"/>
                  </a:lnTo>
                  <a:lnTo>
                    <a:pt x="126" y="66"/>
                  </a:lnTo>
                  <a:lnTo>
                    <a:pt x="78" y="120"/>
                  </a:lnTo>
                  <a:lnTo>
                    <a:pt x="36" y="132"/>
                  </a:lnTo>
                  <a:lnTo>
                    <a:pt x="18" y="144"/>
                  </a:lnTo>
                  <a:lnTo>
                    <a:pt x="24" y="150"/>
                  </a:lnTo>
                  <a:lnTo>
                    <a:pt x="18" y="144"/>
                  </a:lnTo>
                  <a:lnTo>
                    <a:pt x="18" y="150"/>
                  </a:lnTo>
                  <a:lnTo>
                    <a:pt x="0" y="168"/>
                  </a:lnTo>
                  <a:lnTo>
                    <a:pt x="0" y="228"/>
                  </a:lnTo>
                  <a:lnTo>
                    <a:pt x="12" y="246"/>
                  </a:lnTo>
                  <a:lnTo>
                    <a:pt x="42" y="204"/>
                  </a:lnTo>
                  <a:lnTo>
                    <a:pt x="90" y="180"/>
                  </a:lnTo>
                  <a:lnTo>
                    <a:pt x="132" y="132"/>
                  </a:lnTo>
                  <a:lnTo>
                    <a:pt x="168" y="48"/>
                  </a:lnTo>
                  <a:lnTo>
                    <a:pt x="180" y="0"/>
                  </a:lnTo>
                  <a:lnTo>
                    <a:pt x="72" y="18"/>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99" name="Freeform 96">
              <a:extLst>
                <a:ext uri="{FF2B5EF4-FFF2-40B4-BE49-F238E27FC236}">
                  <a16:creationId xmlns:a16="http://schemas.microsoft.com/office/drawing/2014/main" id="{2B5FD91B-7FA7-1C28-1979-7C1ED4A22ADF}"/>
                </a:ext>
              </a:extLst>
            </p:cNvPr>
            <p:cNvSpPr>
              <a:spLocks/>
            </p:cNvSpPr>
            <p:nvPr/>
          </p:nvSpPr>
          <p:spPr bwMode="auto">
            <a:xfrm>
              <a:off x="5811110" y="4151430"/>
              <a:ext cx="38034" cy="147853"/>
            </a:xfrm>
            <a:custGeom>
              <a:avLst/>
              <a:gdLst>
                <a:gd name="T0" fmla="*/ 2147483647 w 24"/>
                <a:gd name="T1" fmla="*/ 0 h 96"/>
                <a:gd name="T2" fmla="*/ 2147483647 w 24"/>
                <a:gd name="T3" fmla="*/ 0 h 96"/>
                <a:gd name="T4" fmla="*/ 2147483647 w 24"/>
                <a:gd name="T5" fmla="*/ 2147483647 h 96"/>
                <a:gd name="T6" fmla="*/ 0 w 24"/>
                <a:gd name="T7" fmla="*/ 2147483647 h 96"/>
                <a:gd name="T8" fmla="*/ 0 w 24"/>
                <a:gd name="T9" fmla="*/ 2147483647 h 96"/>
                <a:gd name="T10" fmla="*/ 2147483647 w 24"/>
                <a:gd name="T11" fmla="*/ 2147483647 h 96"/>
                <a:gd name="T12" fmla="*/ 2147483647 w 24"/>
                <a:gd name="T13" fmla="*/ 2147483647 h 96"/>
                <a:gd name="T14" fmla="*/ 2147483647 w 24"/>
                <a:gd name="T15" fmla="*/ 0 h 9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 h="96">
                  <a:moveTo>
                    <a:pt x="12" y="0"/>
                  </a:moveTo>
                  <a:lnTo>
                    <a:pt x="12" y="0"/>
                  </a:lnTo>
                  <a:lnTo>
                    <a:pt x="24" y="42"/>
                  </a:lnTo>
                  <a:lnTo>
                    <a:pt x="0" y="48"/>
                  </a:lnTo>
                  <a:lnTo>
                    <a:pt x="0" y="66"/>
                  </a:lnTo>
                  <a:lnTo>
                    <a:pt x="18" y="96"/>
                  </a:lnTo>
                  <a:lnTo>
                    <a:pt x="24" y="96"/>
                  </a:lnTo>
                  <a:lnTo>
                    <a:pt x="12"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00" name="Freeform 97">
              <a:extLst>
                <a:ext uri="{FF2B5EF4-FFF2-40B4-BE49-F238E27FC236}">
                  <a16:creationId xmlns:a16="http://schemas.microsoft.com/office/drawing/2014/main" id="{8B8D93D2-5CF1-47EE-77CE-2DEC3F5962B6}"/>
                </a:ext>
              </a:extLst>
            </p:cNvPr>
            <p:cNvSpPr>
              <a:spLocks/>
            </p:cNvSpPr>
            <p:nvPr/>
          </p:nvSpPr>
          <p:spPr bwMode="auto">
            <a:xfrm>
              <a:off x="5811110" y="4151430"/>
              <a:ext cx="38034" cy="147853"/>
            </a:xfrm>
            <a:custGeom>
              <a:avLst/>
              <a:gdLst>
                <a:gd name="T0" fmla="*/ 2147483647 w 24"/>
                <a:gd name="T1" fmla="*/ 0 h 96"/>
                <a:gd name="T2" fmla="*/ 2147483647 w 24"/>
                <a:gd name="T3" fmla="*/ 0 h 96"/>
                <a:gd name="T4" fmla="*/ 2147483647 w 24"/>
                <a:gd name="T5" fmla="*/ 2147483647 h 96"/>
                <a:gd name="T6" fmla="*/ 0 w 24"/>
                <a:gd name="T7" fmla="*/ 2147483647 h 96"/>
                <a:gd name="T8" fmla="*/ 0 w 24"/>
                <a:gd name="T9" fmla="*/ 2147483647 h 96"/>
                <a:gd name="T10" fmla="*/ 2147483647 w 24"/>
                <a:gd name="T11" fmla="*/ 2147483647 h 96"/>
                <a:gd name="T12" fmla="*/ 2147483647 w 24"/>
                <a:gd name="T13" fmla="*/ 2147483647 h 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 h="96">
                  <a:moveTo>
                    <a:pt x="12" y="0"/>
                  </a:moveTo>
                  <a:lnTo>
                    <a:pt x="12" y="0"/>
                  </a:lnTo>
                  <a:lnTo>
                    <a:pt x="24" y="42"/>
                  </a:lnTo>
                  <a:lnTo>
                    <a:pt x="0" y="48"/>
                  </a:lnTo>
                  <a:lnTo>
                    <a:pt x="0" y="66"/>
                  </a:lnTo>
                  <a:lnTo>
                    <a:pt x="18" y="96"/>
                  </a:lnTo>
                  <a:lnTo>
                    <a:pt x="24" y="96"/>
                  </a:lnTo>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01" name="Freeform 98">
              <a:extLst>
                <a:ext uri="{FF2B5EF4-FFF2-40B4-BE49-F238E27FC236}">
                  <a16:creationId xmlns:a16="http://schemas.microsoft.com/office/drawing/2014/main" id="{F0E77BF5-FC2B-7F75-1384-6F65101B031B}"/>
                </a:ext>
              </a:extLst>
            </p:cNvPr>
            <p:cNvSpPr>
              <a:spLocks/>
            </p:cNvSpPr>
            <p:nvPr/>
          </p:nvSpPr>
          <p:spPr bwMode="auto">
            <a:xfrm>
              <a:off x="5792093" y="3815919"/>
              <a:ext cx="309980" cy="483365"/>
            </a:xfrm>
            <a:custGeom>
              <a:avLst/>
              <a:gdLst>
                <a:gd name="T0" fmla="*/ 2147483647 w 198"/>
                <a:gd name="T1" fmla="*/ 2147483647 h 313"/>
                <a:gd name="T2" fmla="*/ 2147483647 w 198"/>
                <a:gd name="T3" fmla="*/ 2147483647 h 313"/>
                <a:gd name="T4" fmla="*/ 2147483647 w 198"/>
                <a:gd name="T5" fmla="*/ 2147483647 h 313"/>
                <a:gd name="T6" fmla="*/ 2147483647 w 198"/>
                <a:gd name="T7" fmla="*/ 2147483647 h 313"/>
                <a:gd name="T8" fmla="*/ 2147483647 w 198"/>
                <a:gd name="T9" fmla="*/ 2147483647 h 313"/>
                <a:gd name="T10" fmla="*/ 2147483647 w 198"/>
                <a:gd name="T11" fmla="*/ 2147483647 h 313"/>
                <a:gd name="T12" fmla="*/ 2147483647 w 198"/>
                <a:gd name="T13" fmla="*/ 2147483647 h 313"/>
                <a:gd name="T14" fmla="*/ 2147483647 w 198"/>
                <a:gd name="T15" fmla="*/ 2147483647 h 313"/>
                <a:gd name="T16" fmla="*/ 2147483647 w 198"/>
                <a:gd name="T17" fmla="*/ 2147483647 h 313"/>
                <a:gd name="T18" fmla="*/ 2147483647 w 198"/>
                <a:gd name="T19" fmla="*/ 2147483647 h 313"/>
                <a:gd name="T20" fmla="*/ 2147483647 w 198"/>
                <a:gd name="T21" fmla="*/ 2147483647 h 313"/>
                <a:gd name="T22" fmla="*/ 2147483647 w 198"/>
                <a:gd name="T23" fmla="*/ 2147483647 h 313"/>
                <a:gd name="T24" fmla="*/ 2147483647 w 198"/>
                <a:gd name="T25" fmla="*/ 0 h 313"/>
                <a:gd name="T26" fmla="*/ 2147483647 w 198"/>
                <a:gd name="T27" fmla="*/ 2147483647 h 313"/>
                <a:gd name="T28" fmla="*/ 2147483647 w 198"/>
                <a:gd name="T29" fmla="*/ 2147483647 h 313"/>
                <a:gd name="T30" fmla="*/ 2147483647 w 198"/>
                <a:gd name="T31" fmla="*/ 2147483647 h 313"/>
                <a:gd name="T32" fmla="*/ 2147483647 w 198"/>
                <a:gd name="T33" fmla="*/ 2147483647 h 313"/>
                <a:gd name="T34" fmla="*/ 2147483647 w 198"/>
                <a:gd name="T35" fmla="*/ 2147483647 h 313"/>
                <a:gd name="T36" fmla="*/ 2147483647 w 198"/>
                <a:gd name="T37" fmla="*/ 2147483647 h 313"/>
                <a:gd name="T38" fmla="*/ 2147483647 w 198"/>
                <a:gd name="T39" fmla="*/ 2147483647 h 313"/>
                <a:gd name="T40" fmla="*/ 2147483647 w 198"/>
                <a:gd name="T41" fmla="*/ 2147483647 h 313"/>
                <a:gd name="T42" fmla="*/ 0 w 198"/>
                <a:gd name="T43" fmla="*/ 2147483647 h 313"/>
                <a:gd name="T44" fmla="*/ 2147483647 w 198"/>
                <a:gd name="T45" fmla="*/ 2147483647 h 313"/>
                <a:gd name="T46" fmla="*/ 2147483647 w 198"/>
                <a:gd name="T47" fmla="*/ 2147483647 h 313"/>
                <a:gd name="T48" fmla="*/ 2147483647 w 198"/>
                <a:gd name="T49" fmla="*/ 2147483647 h 313"/>
                <a:gd name="T50" fmla="*/ 2147483647 w 198"/>
                <a:gd name="T51" fmla="*/ 2147483647 h 31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98" h="313">
                  <a:moveTo>
                    <a:pt x="36" y="313"/>
                  </a:moveTo>
                  <a:lnTo>
                    <a:pt x="60" y="307"/>
                  </a:lnTo>
                  <a:lnTo>
                    <a:pt x="96" y="295"/>
                  </a:lnTo>
                  <a:lnTo>
                    <a:pt x="102" y="283"/>
                  </a:lnTo>
                  <a:lnTo>
                    <a:pt x="132" y="277"/>
                  </a:lnTo>
                  <a:lnTo>
                    <a:pt x="180" y="247"/>
                  </a:lnTo>
                  <a:lnTo>
                    <a:pt x="162" y="211"/>
                  </a:lnTo>
                  <a:lnTo>
                    <a:pt x="168" y="193"/>
                  </a:lnTo>
                  <a:lnTo>
                    <a:pt x="174" y="162"/>
                  </a:lnTo>
                  <a:lnTo>
                    <a:pt x="192" y="150"/>
                  </a:lnTo>
                  <a:lnTo>
                    <a:pt x="198" y="78"/>
                  </a:lnTo>
                  <a:lnTo>
                    <a:pt x="54" y="0"/>
                  </a:lnTo>
                  <a:lnTo>
                    <a:pt x="30" y="12"/>
                  </a:lnTo>
                  <a:lnTo>
                    <a:pt x="30" y="18"/>
                  </a:lnTo>
                  <a:lnTo>
                    <a:pt x="36" y="48"/>
                  </a:lnTo>
                  <a:lnTo>
                    <a:pt x="48" y="60"/>
                  </a:lnTo>
                  <a:lnTo>
                    <a:pt x="36" y="132"/>
                  </a:lnTo>
                  <a:lnTo>
                    <a:pt x="6" y="168"/>
                  </a:lnTo>
                  <a:lnTo>
                    <a:pt x="12" y="168"/>
                  </a:lnTo>
                  <a:lnTo>
                    <a:pt x="6" y="168"/>
                  </a:lnTo>
                  <a:lnTo>
                    <a:pt x="0" y="175"/>
                  </a:lnTo>
                  <a:lnTo>
                    <a:pt x="12" y="193"/>
                  </a:lnTo>
                  <a:lnTo>
                    <a:pt x="30" y="199"/>
                  </a:lnTo>
                  <a:lnTo>
                    <a:pt x="24" y="217"/>
                  </a:lnTo>
                  <a:lnTo>
                    <a:pt x="36" y="313"/>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02" name="Freeform 99">
              <a:extLst>
                <a:ext uri="{FF2B5EF4-FFF2-40B4-BE49-F238E27FC236}">
                  <a16:creationId xmlns:a16="http://schemas.microsoft.com/office/drawing/2014/main" id="{8F48C3F8-2ECA-35A6-AC2B-56A2E729C0FF}"/>
                </a:ext>
              </a:extLst>
            </p:cNvPr>
            <p:cNvSpPr>
              <a:spLocks/>
            </p:cNvSpPr>
            <p:nvPr/>
          </p:nvSpPr>
          <p:spPr bwMode="auto">
            <a:xfrm>
              <a:off x="5792093" y="3815919"/>
              <a:ext cx="309980" cy="483365"/>
            </a:xfrm>
            <a:custGeom>
              <a:avLst/>
              <a:gdLst>
                <a:gd name="T0" fmla="*/ 2147483647 w 198"/>
                <a:gd name="T1" fmla="*/ 2147483647 h 313"/>
                <a:gd name="T2" fmla="*/ 2147483647 w 198"/>
                <a:gd name="T3" fmla="*/ 2147483647 h 313"/>
                <a:gd name="T4" fmla="*/ 2147483647 w 198"/>
                <a:gd name="T5" fmla="*/ 2147483647 h 313"/>
                <a:gd name="T6" fmla="*/ 2147483647 w 198"/>
                <a:gd name="T7" fmla="*/ 2147483647 h 313"/>
                <a:gd name="T8" fmla="*/ 2147483647 w 198"/>
                <a:gd name="T9" fmla="*/ 2147483647 h 313"/>
                <a:gd name="T10" fmla="*/ 2147483647 w 198"/>
                <a:gd name="T11" fmla="*/ 2147483647 h 313"/>
                <a:gd name="T12" fmla="*/ 2147483647 w 198"/>
                <a:gd name="T13" fmla="*/ 2147483647 h 313"/>
                <a:gd name="T14" fmla="*/ 2147483647 w 198"/>
                <a:gd name="T15" fmla="*/ 2147483647 h 313"/>
                <a:gd name="T16" fmla="*/ 2147483647 w 198"/>
                <a:gd name="T17" fmla="*/ 2147483647 h 313"/>
                <a:gd name="T18" fmla="*/ 2147483647 w 198"/>
                <a:gd name="T19" fmla="*/ 2147483647 h 313"/>
                <a:gd name="T20" fmla="*/ 2147483647 w 198"/>
                <a:gd name="T21" fmla="*/ 2147483647 h 313"/>
                <a:gd name="T22" fmla="*/ 2147483647 w 198"/>
                <a:gd name="T23" fmla="*/ 2147483647 h 313"/>
                <a:gd name="T24" fmla="*/ 2147483647 w 198"/>
                <a:gd name="T25" fmla="*/ 0 h 313"/>
                <a:gd name="T26" fmla="*/ 2147483647 w 198"/>
                <a:gd name="T27" fmla="*/ 2147483647 h 313"/>
                <a:gd name="T28" fmla="*/ 2147483647 w 198"/>
                <a:gd name="T29" fmla="*/ 2147483647 h 313"/>
                <a:gd name="T30" fmla="*/ 2147483647 w 198"/>
                <a:gd name="T31" fmla="*/ 2147483647 h 313"/>
                <a:gd name="T32" fmla="*/ 2147483647 w 198"/>
                <a:gd name="T33" fmla="*/ 2147483647 h 313"/>
                <a:gd name="T34" fmla="*/ 2147483647 w 198"/>
                <a:gd name="T35" fmla="*/ 2147483647 h 313"/>
                <a:gd name="T36" fmla="*/ 2147483647 w 198"/>
                <a:gd name="T37" fmla="*/ 2147483647 h 313"/>
                <a:gd name="T38" fmla="*/ 2147483647 w 198"/>
                <a:gd name="T39" fmla="*/ 2147483647 h 313"/>
                <a:gd name="T40" fmla="*/ 2147483647 w 198"/>
                <a:gd name="T41" fmla="*/ 2147483647 h 313"/>
                <a:gd name="T42" fmla="*/ 0 w 198"/>
                <a:gd name="T43" fmla="*/ 2147483647 h 313"/>
                <a:gd name="T44" fmla="*/ 2147483647 w 198"/>
                <a:gd name="T45" fmla="*/ 2147483647 h 313"/>
                <a:gd name="T46" fmla="*/ 2147483647 w 198"/>
                <a:gd name="T47" fmla="*/ 2147483647 h 313"/>
                <a:gd name="T48" fmla="*/ 2147483647 w 198"/>
                <a:gd name="T49" fmla="*/ 2147483647 h 31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98" h="313">
                  <a:moveTo>
                    <a:pt x="36" y="313"/>
                  </a:moveTo>
                  <a:lnTo>
                    <a:pt x="60" y="307"/>
                  </a:lnTo>
                  <a:lnTo>
                    <a:pt x="96" y="295"/>
                  </a:lnTo>
                  <a:lnTo>
                    <a:pt x="102" y="283"/>
                  </a:lnTo>
                  <a:lnTo>
                    <a:pt x="132" y="277"/>
                  </a:lnTo>
                  <a:lnTo>
                    <a:pt x="180" y="247"/>
                  </a:lnTo>
                  <a:lnTo>
                    <a:pt x="162" y="211"/>
                  </a:lnTo>
                  <a:lnTo>
                    <a:pt x="168" y="193"/>
                  </a:lnTo>
                  <a:lnTo>
                    <a:pt x="174" y="162"/>
                  </a:lnTo>
                  <a:lnTo>
                    <a:pt x="192" y="150"/>
                  </a:lnTo>
                  <a:lnTo>
                    <a:pt x="198" y="78"/>
                  </a:lnTo>
                  <a:lnTo>
                    <a:pt x="54" y="0"/>
                  </a:lnTo>
                  <a:lnTo>
                    <a:pt x="30" y="12"/>
                  </a:lnTo>
                  <a:lnTo>
                    <a:pt x="30" y="18"/>
                  </a:lnTo>
                  <a:lnTo>
                    <a:pt x="36" y="48"/>
                  </a:lnTo>
                  <a:lnTo>
                    <a:pt x="48" y="60"/>
                  </a:lnTo>
                  <a:lnTo>
                    <a:pt x="36" y="132"/>
                  </a:lnTo>
                  <a:lnTo>
                    <a:pt x="6" y="168"/>
                  </a:lnTo>
                  <a:lnTo>
                    <a:pt x="12" y="168"/>
                  </a:lnTo>
                  <a:lnTo>
                    <a:pt x="6" y="168"/>
                  </a:lnTo>
                  <a:lnTo>
                    <a:pt x="0" y="175"/>
                  </a:lnTo>
                  <a:lnTo>
                    <a:pt x="12" y="193"/>
                  </a:lnTo>
                  <a:lnTo>
                    <a:pt x="30" y="199"/>
                  </a:lnTo>
                  <a:lnTo>
                    <a:pt x="24" y="217"/>
                  </a:lnTo>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03" name="Freeform 100">
              <a:extLst>
                <a:ext uri="{FF2B5EF4-FFF2-40B4-BE49-F238E27FC236}">
                  <a16:creationId xmlns:a16="http://schemas.microsoft.com/office/drawing/2014/main" id="{B917858D-AA2F-2EF5-05BE-ED62100274E8}"/>
                </a:ext>
              </a:extLst>
            </p:cNvPr>
            <p:cNvSpPr>
              <a:spLocks/>
            </p:cNvSpPr>
            <p:nvPr/>
          </p:nvSpPr>
          <p:spPr bwMode="auto">
            <a:xfrm>
              <a:off x="5887179" y="5184506"/>
              <a:ext cx="477332" cy="422707"/>
            </a:xfrm>
            <a:custGeom>
              <a:avLst/>
              <a:gdLst>
                <a:gd name="T0" fmla="*/ 2147483647 w 51"/>
                <a:gd name="T1" fmla="*/ 2147483647 h 45"/>
                <a:gd name="T2" fmla="*/ 2147483647 w 51"/>
                <a:gd name="T3" fmla="*/ 2147483647 h 45"/>
                <a:gd name="T4" fmla="*/ 2147483647 w 51"/>
                <a:gd name="T5" fmla="*/ 2147483647 h 45"/>
                <a:gd name="T6" fmla="*/ 2147483647 w 51"/>
                <a:gd name="T7" fmla="*/ 2147483647 h 45"/>
                <a:gd name="T8" fmla="*/ 2147483647 w 51"/>
                <a:gd name="T9" fmla="*/ 0 h 45"/>
                <a:gd name="T10" fmla="*/ 2147483647 w 51"/>
                <a:gd name="T11" fmla="*/ 2147483647 h 45"/>
                <a:gd name="T12" fmla="*/ 2147483647 w 51"/>
                <a:gd name="T13" fmla="*/ 2147483647 h 45"/>
                <a:gd name="T14" fmla="*/ 2147483647 w 51"/>
                <a:gd name="T15" fmla="*/ 2147483647 h 45"/>
                <a:gd name="T16" fmla="*/ 2147483647 w 51"/>
                <a:gd name="T17" fmla="*/ 2147483647 h 45"/>
                <a:gd name="T18" fmla="*/ 2147483647 w 51"/>
                <a:gd name="T19" fmla="*/ 2147483647 h 45"/>
                <a:gd name="T20" fmla="*/ 2147483647 w 51"/>
                <a:gd name="T21" fmla="*/ 2147483647 h 45"/>
                <a:gd name="T22" fmla="*/ 2147483647 w 51"/>
                <a:gd name="T23" fmla="*/ 2147483647 h 45"/>
                <a:gd name="T24" fmla="*/ 2147483647 w 51"/>
                <a:gd name="T25" fmla="*/ 2147483647 h 45"/>
                <a:gd name="T26" fmla="*/ 2147483647 w 51"/>
                <a:gd name="T27" fmla="*/ 2147483647 h 45"/>
                <a:gd name="T28" fmla="*/ 2147483647 w 51"/>
                <a:gd name="T29" fmla="*/ 2147483647 h 45"/>
                <a:gd name="T30" fmla="*/ 2147483647 w 51"/>
                <a:gd name="T31" fmla="*/ 2147483647 h 45"/>
                <a:gd name="T32" fmla="*/ 2147483647 w 51"/>
                <a:gd name="T33" fmla="*/ 2147483647 h 45"/>
                <a:gd name="T34" fmla="*/ 0 w 51"/>
                <a:gd name="T35" fmla="*/ 2147483647 h 45"/>
                <a:gd name="T36" fmla="*/ 2147483647 w 51"/>
                <a:gd name="T37" fmla="*/ 2147483647 h 45"/>
                <a:gd name="T38" fmla="*/ 2147483647 w 51"/>
                <a:gd name="T39" fmla="*/ 2147483647 h 45"/>
                <a:gd name="T40" fmla="*/ 2147483647 w 51"/>
                <a:gd name="T41" fmla="*/ 2147483647 h 45"/>
                <a:gd name="T42" fmla="*/ 2147483647 w 51"/>
                <a:gd name="T43" fmla="*/ 2147483647 h 45"/>
                <a:gd name="T44" fmla="*/ 2147483647 w 51"/>
                <a:gd name="T45" fmla="*/ 2147483647 h 45"/>
                <a:gd name="T46" fmla="*/ 2147483647 w 51"/>
                <a:gd name="T47" fmla="*/ 2147483647 h 45"/>
                <a:gd name="T48" fmla="*/ 2147483647 w 51"/>
                <a:gd name="T49" fmla="*/ 2147483647 h 45"/>
                <a:gd name="T50" fmla="*/ 2147483647 w 51"/>
                <a:gd name="T51" fmla="*/ 2147483647 h 45"/>
                <a:gd name="T52" fmla="*/ 2147483647 w 51"/>
                <a:gd name="T53" fmla="*/ 2147483647 h 45"/>
                <a:gd name="T54" fmla="*/ 2147483647 w 51"/>
                <a:gd name="T55" fmla="*/ 2147483647 h 45"/>
                <a:gd name="T56" fmla="*/ 2147483647 w 51"/>
                <a:gd name="T57" fmla="*/ 2147483647 h 45"/>
                <a:gd name="T58" fmla="*/ 2147483647 w 51"/>
                <a:gd name="T59" fmla="*/ 2147483647 h 4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51" h="45">
                  <a:moveTo>
                    <a:pt x="48" y="1"/>
                  </a:moveTo>
                  <a:cubicBezTo>
                    <a:pt x="47" y="1"/>
                    <a:pt x="47" y="1"/>
                    <a:pt x="47" y="1"/>
                  </a:cubicBezTo>
                  <a:cubicBezTo>
                    <a:pt x="46" y="2"/>
                    <a:pt x="46" y="2"/>
                    <a:pt x="46" y="2"/>
                  </a:cubicBezTo>
                  <a:cubicBezTo>
                    <a:pt x="47" y="1"/>
                    <a:pt x="47" y="1"/>
                    <a:pt x="47" y="1"/>
                  </a:cubicBezTo>
                  <a:cubicBezTo>
                    <a:pt x="41" y="0"/>
                    <a:pt x="41" y="0"/>
                    <a:pt x="41" y="0"/>
                  </a:cubicBezTo>
                  <a:cubicBezTo>
                    <a:pt x="34" y="5"/>
                    <a:pt x="34" y="5"/>
                    <a:pt x="34" y="5"/>
                  </a:cubicBezTo>
                  <a:cubicBezTo>
                    <a:pt x="26" y="12"/>
                    <a:pt x="26" y="12"/>
                    <a:pt x="26" y="12"/>
                  </a:cubicBezTo>
                  <a:cubicBezTo>
                    <a:pt x="22" y="12"/>
                    <a:pt x="22" y="12"/>
                    <a:pt x="22" y="12"/>
                  </a:cubicBezTo>
                  <a:cubicBezTo>
                    <a:pt x="17" y="15"/>
                    <a:pt x="17" y="15"/>
                    <a:pt x="17" y="15"/>
                  </a:cubicBezTo>
                  <a:cubicBezTo>
                    <a:pt x="14" y="15"/>
                    <a:pt x="14" y="15"/>
                    <a:pt x="14" y="15"/>
                  </a:cubicBezTo>
                  <a:cubicBezTo>
                    <a:pt x="13" y="13"/>
                    <a:pt x="13" y="13"/>
                    <a:pt x="13" y="13"/>
                  </a:cubicBezTo>
                  <a:cubicBezTo>
                    <a:pt x="11" y="9"/>
                    <a:pt x="11" y="9"/>
                    <a:pt x="11" y="9"/>
                  </a:cubicBezTo>
                  <a:cubicBezTo>
                    <a:pt x="11" y="11"/>
                    <a:pt x="11" y="11"/>
                    <a:pt x="11" y="11"/>
                  </a:cubicBezTo>
                  <a:cubicBezTo>
                    <a:pt x="11" y="9"/>
                    <a:pt x="11" y="9"/>
                    <a:pt x="11" y="9"/>
                  </a:cubicBezTo>
                  <a:cubicBezTo>
                    <a:pt x="9" y="23"/>
                    <a:pt x="9" y="23"/>
                    <a:pt x="9" y="23"/>
                  </a:cubicBezTo>
                  <a:cubicBezTo>
                    <a:pt x="6" y="24"/>
                    <a:pt x="6" y="24"/>
                    <a:pt x="6" y="24"/>
                  </a:cubicBezTo>
                  <a:cubicBezTo>
                    <a:pt x="1" y="22"/>
                    <a:pt x="1" y="22"/>
                    <a:pt x="1" y="22"/>
                  </a:cubicBezTo>
                  <a:cubicBezTo>
                    <a:pt x="0" y="24"/>
                    <a:pt x="0" y="24"/>
                    <a:pt x="0" y="24"/>
                  </a:cubicBezTo>
                  <a:cubicBezTo>
                    <a:pt x="2" y="27"/>
                    <a:pt x="2" y="27"/>
                    <a:pt x="2" y="27"/>
                  </a:cubicBezTo>
                  <a:cubicBezTo>
                    <a:pt x="5" y="35"/>
                    <a:pt x="5" y="35"/>
                    <a:pt x="5" y="35"/>
                  </a:cubicBezTo>
                  <a:cubicBezTo>
                    <a:pt x="5" y="39"/>
                    <a:pt x="5" y="39"/>
                    <a:pt x="5" y="39"/>
                  </a:cubicBezTo>
                  <a:cubicBezTo>
                    <a:pt x="9" y="45"/>
                    <a:pt x="9" y="45"/>
                    <a:pt x="9" y="45"/>
                  </a:cubicBezTo>
                  <a:cubicBezTo>
                    <a:pt x="17" y="43"/>
                    <a:pt x="17" y="43"/>
                    <a:pt x="17" y="43"/>
                  </a:cubicBezTo>
                  <a:cubicBezTo>
                    <a:pt x="25" y="42"/>
                    <a:pt x="25" y="42"/>
                    <a:pt x="25" y="42"/>
                  </a:cubicBezTo>
                  <a:cubicBezTo>
                    <a:pt x="32" y="41"/>
                    <a:pt x="32" y="41"/>
                    <a:pt x="32" y="41"/>
                  </a:cubicBezTo>
                  <a:cubicBezTo>
                    <a:pt x="47" y="25"/>
                    <a:pt x="47" y="25"/>
                    <a:pt x="47" y="25"/>
                  </a:cubicBezTo>
                  <a:cubicBezTo>
                    <a:pt x="47" y="25"/>
                    <a:pt x="50" y="19"/>
                    <a:pt x="51" y="16"/>
                  </a:cubicBezTo>
                  <a:cubicBezTo>
                    <a:pt x="51" y="16"/>
                    <a:pt x="51" y="16"/>
                    <a:pt x="51" y="16"/>
                  </a:cubicBezTo>
                  <a:cubicBezTo>
                    <a:pt x="49" y="16"/>
                    <a:pt x="49" y="16"/>
                    <a:pt x="49" y="16"/>
                  </a:cubicBezTo>
                  <a:lnTo>
                    <a:pt x="48" y="1"/>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04" name="Freeform 101">
              <a:extLst>
                <a:ext uri="{FF2B5EF4-FFF2-40B4-BE49-F238E27FC236}">
                  <a16:creationId xmlns:a16="http://schemas.microsoft.com/office/drawing/2014/main" id="{CAC784EF-FAEF-B1CE-2E8F-17EC67B2721C}"/>
                </a:ext>
              </a:extLst>
            </p:cNvPr>
            <p:cNvSpPr>
              <a:spLocks/>
            </p:cNvSpPr>
            <p:nvPr/>
          </p:nvSpPr>
          <p:spPr bwMode="auto">
            <a:xfrm>
              <a:off x="5989872" y="5046130"/>
              <a:ext cx="283356" cy="280541"/>
            </a:xfrm>
            <a:custGeom>
              <a:avLst/>
              <a:gdLst>
                <a:gd name="T0" fmla="*/ 2147483647 w 180"/>
                <a:gd name="T1" fmla="*/ 2147483647 h 180"/>
                <a:gd name="T2" fmla="*/ 2147483647 w 180"/>
                <a:gd name="T3" fmla="*/ 2147483647 h 180"/>
                <a:gd name="T4" fmla="*/ 2147483647 w 180"/>
                <a:gd name="T5" fmla="*/ 2147483647 h 180"/>
                <a:gd name="T6" fmla="*/ 2147483647 w 180"/>
                <a:gd name="T7" fmla="*/ 2147483647 h 180"/>
                <a:gd name="T8" fmla="*/ 2147483647 w 180"/>
                <a:gd name="T9" fmla="*/ 2147483647 h 180"/>
                <a:gd name="T10" fmla="*/ 2147483647 w 180"/>
                <a:gd name="T11" fmla="*/ 2147483647 h 180"/>
                <a:gd name="T12" fmla="*/ 2147483647 w 180"/>
                <a:gd name="T13" fmla="*/ 2147483647 h 180"/>
                <a:gd name="T14" fmla="*/ 2147483647 w 180"/>
                <a:gd name="T15" fmla="*/ 0 h 180"/>
                <a:gd name="T16" fmla="*/ 2147483647 w 180"/>
                <a:gd name="T17" fmla="*/ 2147483647 h 180"/>
                <a:gd name="T18" fmla="*/ 2147483647 w 180"/>
                <a:gd name="T19" fmla="*/ 2147483647 h 180"/>
                <a:gd name="T20" fmla="*/ 2147483647 w 180"/>
                <a:gd name="T21" fmla="*/ 2147483647 h 180"/>
                <a:gd name="T22" fmla="*/ 0 w 180"/>
                <a:gd name="T23" fmla="*/ 2147483647 h 180"/>
                <a:gd name="T24" fmla="*/ 0 w 180"/>
                <a:gd name="T25" fmla="*/ 2147483647 h 180"/>
                <a:gd name="T26" fmla="*/ 2147483647 w 180"/>
                <a:gd name="T27" fmla="*/ 2147483647 h 180"/>
                <a:gd name="T28" fmla="*/ 2147483647 w 180"/>
                <a:gd name="T29" fmla="*/ 2147483647 h 180"/>
                <a:gd name="T30" fmla="*/ 2147483647 w 180"/>
                <a:gd name="T31" fmla="*/ 2147483647 h 180"/>
                <a:gd name="T32" fmla="*/ 2147483647 w 180"/>
                <a:gd name="T33" fmla="*/ 2147483647 h 180"/>
                <a:gd name="T34" fmla="*/ 2147483647 w 180"/>
                <a:gd name="T35" fmla="*/ 2147483647 h 180"/>
                <a:gd name="T36" fmla="*/ 2147483647 w 180"/>
                <a:gd name="T37" fmla="*/ 2147483647 h 180"/>
                <a:gd name="T38" fmla="*/ 2147483647 w 180"/>
                <a:gd name="T39" fmla="*/ 2147483647 h 180"/>
                <a:gd name="T40" fmla="*/ 2147483647 w 180"/>
                <a:gd name="T41" fmla="*/ 2147483647 h 180"/>
                <a:gd name="T42" fmla="*/ 2147483647 w 180"/>
                <a:gd name="T43" fmla="*/ 2147483647 h 18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0" h="180">
                  <a:moveTo>
                    <a:pt x="144" y="54"/>
                  </a:moveTo>
                  <a:lnTo>
                    <a:pt x="132" y="54"/>
                  </a:lnTo>
                  <a:lnTo>
                    <a:pt x="114" y="30"/>
                  </a:lnTo>
                  <a:lnTo>
                    <a:pt x="102" y="6"/>
                  </a:lnTo>
                  <a:lnTo>
                    <a:pt x="96" y="6"/>
                  </a:lnTo>
                  <a:lnTo>
                    <a:pt x="84" y="12"/>
                  </a:lnTo>
                  <a:lnTo>
                    <a:pt x="96" y="6"/>
                  </a:lnTo>
                  <a:lnTo>
                    <a:pt x="84" y="0"/>
                  </a:lnTo>
                  <a:lnTo>
                    <a:pt x="66" y="6"/>
                  </a:lnTo>
                  <a:lnTo>
                    <a:pt x="18" y="18"/>
                  </a:lnTo>
                  <a:lnTo>
                    <a:pt x="12" y="84"/>
                  </a:lnTo>
                  <a:lnTo>
                    <a:pt x="0" y="90"/>
                  </a:lnTo>
                  <a:lnTo>
                    <a:pt x="0" y="144"/>
                  </a:lnTo>
                  <a:lnTo>
                    <a:pt x="12" y="168"/>
                  </a:lnTo>
                  <a:lnTo>
                    <a:pt x="18" y="180"/>
                  </a:lnTo>
                  <a:lnTo>
                    <a:pt x="36" y="180"/>
                  </a:lnTo>
                  <a:lnTo>
                    <a:pt x="66" y="162"/>
                  </a:lnTo>
                  <a:lnTo>
                    <a:pt x="90" y="162"/>
                  </a:lnTo>
                  <a:lnTo>
                    <a:pt x="138" y="120"/>
                  </a:lnTo>
                  <a:lnTo>
                    <a:pt x="180" y="90"/>
                  </a:lnTo>
                  <a:lnTo>
                    <a:pt x="150" y="78"/>
                  </a:lnTo>
                  <a:lnTo>
                    <a:pt x="144" y="54"/>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05" name="Freeform 102">
              <a:extLst>
                <a:ext uri="{FF2B5EF4-FFF2-40B4-BE49-F238E27FC236}">
                  <a16:creationId xmlns:a16="http://schemas.microsoft.com/office/drawing/2014/main" id="{F1A4E085-986A-9394-9F4E-66434BA175EC}"/>
                </a:ext>
              </a:extLst>
            </p:cNvPr>
            <p:cNvSpPr>
              <a:spLocks/>
            </p:cNvSpPr>
            <p:nvPr/>
          </p:nvSpPr>
          <p:spPr bwMode="auto">
            <a:xfrm>
              <a:off x="6280835" y="4830037"/>
              <a:ext cx="321392" cy="504216"/>
            </a:xfrm>
            <a:custGeom>
              <a:avLst/>
              <a:gdLst>
                <a:gd name="T0" fmla="*/ 2147483647 w 34"/>
                <a:gd name="T1" fmla="*/ 2147483647 h 54"/>
                <a:gd name="T2" fmla="*/ 2147483647 w 34"/>
                <a:gd name="T3" fmla="*/ 2147483647 h 54"/>
                <a:gd name="T4" fmla="*/ 2147483647 w 34"/>
                <a:gd name="T5" fmla="*/ 2147483647 h 54"/>
                <a:gd name="T6" fmla="*/ 2147483647 w 34"/>
                <a:gd name="T7" fmla="*/ 2147483647 h 54"/>
                <a:gd name="T8" fmla="*/ 2147483647 w 34"/>
                <a:gd name="T9" fmla="*/ 2147483647 h 54"/>
                <a:gd name="T10" fmla="*/ 2147483647 w 34"/>
                <a:gd name="T11" fmla="*/ 2147483647 h 54"/>
                <a:gd name="T12" fmla="*/ 2147483647 w 34"/>
                <a:gd name="T13" fmla="*/ 2147483647 h 54"/>
                <a:gd name="T14" fmla="*/ 2147483647 w 34"/>
                <a:gd name="T15" fmla="*/ 2147483647 h 54"/>
                <a:gd name="T16" fmla="*/ 2147483647 w 34"/>
                <a:gd name="T17" fmla="*/ 2147483647 h 54"/>
                <a:gd name="T18" fmla="*/ 2147483647 w 34"/>
                <a:gd name="T19" fmla="*/ 2147483647 h 54"/>
                <a:gd name="T20" fmla="*/ 2147483647 w 34"/>
                <a:gd name="T21" fmla="*/ 2147483647 h 54"/>
                <a:gd name="T22" fmla="*/ 2147483647 w 34"/>
                <a:gd name="T23" fmla="*/ 2147483647 h 54"/>
                <a:gd name="T24" fmla="*/ 0 w 34"/>
                <a:gd name="T25" fmla="*/ 2147483647 h 54"/>
                <a:gd name="T26" fmla="*/ 0 w 34"/>
                <a:gd name="T27" fmla="*/ 2147483647 h 54"/>
                <a:gd name="T28" fmla="*/ 2147483647 w 34"/>
                <a:gd name="T29" fmla="*/ 2147483647 h 54"/>
                <a:gd name="T30" fmla="*/ 2147483647 w 34"/>
                <a:gd name="T31" fmla="*/ 2147483647 h 54"/>
                <a:gd name="T32" fmla="*/ 2147483647 w 34"/>
                <a:gd name="T33" fmla="*/ 2147483647 h 54"/>
                <a:gd name="T34" fmla="*/ 2147483647 w 34"/>
                <a:gd name="T35" fmla="*/ 2147483647 h 54"/>
                <a:gd name="T36" fmla="*/ 2147483647 w 34"/>
                <a:gd name="T37" fmla="*/ 2147483647 h 54"/>
                <a:gd name="T38" fmla="*/ 2147483647 w 34"/>
                <a:gd name="T39" fmla="*/ 2147483647 h 54"/>
                <a:gd name="T40" fmla="*/ 2147483647 w 34"/>
                <a:gd name="T41" fmla="*/ 2147483647 h 54"/>
                <a:gd name="T42" fmla="*/ 2147483647 w 34"/>
                <a:gd name="T43" fmla="*/ 2147483647 h 54"/>
                <a:gd name="T44" fmla="*/ 2147483647 w 34"/>
                <a:gd name="T45" fmla="*/ 2147483647 h 54"/>
                <a:gd name="T46" fmla="*/ 2147483647 w 34"/>
                <a:gd name="T47" fmla="*/ 2147483647 h 54"/>
                <a:gd name="T48" fmla="*/ 2147483647 w 34"/>
                <a:gd name="T49" fmla="*/ 2147483647 h 54"/>
                <a:gd name="T50" fmla="*/ 2147483647 w 34"/>
                <a:gd name="T51" fmla="*/ 2147483647 h 54"/>
                <a:gd name="T52" fmla="*/ 2147483647 w 34"/>
                <a:gd name="T53" fmla="*/ 2147483647 h 54"/>
                <a:gd name="T54" fmla="*/ 2147483647 w 34"/>
                <a:gd name="T55" fmla="*/ 2147483647 h 54"/>
                <a:gd name="T56" fmla="*/ 2147483647 w 34"/>
                <a:gd name="T57" fmla="*/ 2147483647 h 54"/>
                <a:gd name="T58" fmla="*/ 2147483647 w 34"/>
                <a:gd name="T59" fmla="*/ 2147483647 h 54"/>
                <a:gd name="T60" fmla="*/ 2147483647 w 34"/>
                <a:gd name="T61" fmla="*/ 2147483647 h 54"/>
                <a:gd name="T62" fmla="*/ 2147483647 w 34"/>
                <a:gd name="T63" fmla="*/ 2147483647 h 54"/>
                <a:gd name="T64" fmla="*/ 2147483647 w 34"/>
                <a:gd name="T65" fmla="*/ 2147483647 h 54"/>
                <a:gd name="T66" fmla="*/ 2147483647 w 34"/>
                <a:gd name="T67" fmla="*/ 2147483647 h 54"/>
                <a:gd name="T68" fmla="*/ 2147483647 w 34"/>
                <a:gd name="T69" fmla="*/ 0 h 54"/>
                <a:gd name="T70" fmla="*/ 2147483647 w 34"/>
                <a:gd name="T71" fmla="*/ 0 h 54"/>
                <a:gd name="T72" fmla="*/ 2147483647 w 34"/>
                <a:gd name="T73" fmla="*/ 2147483647 h 54"/>
                <a:gd name="T74" fmla="*/ 2147483647 w 34"/>
                <a:gd name="T75" fmla="*/ 2147483647 h 5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4" h="54">
                  <a:moveTo>
                    <a:pt x="22" y="2"/>
                  </a:moveTo>
                  <a:cubicBezTo>
                    <a:pt x="17" y="3"/>
                    <a:pt x="17" y="3"/>
                    <a:pt x="17" y="3"/>
                  </a:cubicBezTo>
                  <a:cubicBezTo>
                    <a:pt x="17" y="4"/>
                    <a:pt x="17" y="4"/>
                    <a:pt x="17" y="4"/>
                  </a:cubicBezTo>
                  <a:cubicBezTo>
                    <a:pt x="17" y="3"/>
                    <a:pt x="17" y="3"/>
                    <a:pt x="17" y="3"/>
                  </a:cubicBezTo>
                  <a:cubicBezTo>
                    <a:pt x="16" y="3"/>
                    <a:pt x="16" y="3"/>
                    <a:pt x="16" y="3"/>
                  </a:cubicBezTo>
                  <a:cubicBezTo>
                    <a:pt x="16" y="8"/>
                    <a:pt x="16" y="8"/>
                    <a:pt x="16" y="8"/>
                  </a:cubicBezTo>
                  <a:cubicBezTo>
                    <a:pt x="19" y="13"/>
                    <a:pt x="19" y="13"/>
                    <a:pt x="19" y="13"/>
                  </a:cubicBezTo>
                  <a:cubicBezTo>
                    <a:pt x="19" y="16"/>
                    <a:pt x="19" y="16"/>
                    <a:pt x="19" y="16"/>
                  </a:cubicBezTo>
                  <a:cubicBezTo>
                    <a:pt x="16" y="18"/>
                    <a:pt x="16" y="18"/>
                    <a:pt x="16" y="18"/>
                  </a:cubicBezTo>
                  <a:cubicBezTo>
                    <a:pt x="15" y="16"/>
                    <a:pt x="15" y="16"/>
                    <a:pt x="15" y="16"/>
                  </a:cubicBezTo>
                  <a:cubicBezTo>
                    <a:pt x="13" y="13"/>
                    <a:pt x="13" y="13"/>
                    <a:pt x="13" y="13"/>
                  </a:cubicBezTo>
                  <a:cubicBezTo>
                    <a:pt x="9" y="11"/>
                    <a:pt x="9" y="11"/>
                    <a:pt x="9" y="11"/>
                  </a:cubicBezTo>
                  <a:cubicBezTo>
                    <a:pt x="0" y="15"/>
                    <a:pt x="0" y="15"/>
                    <a:pt x="0" y="15"/>
                  </a:cubicBezTo>
                  <a:cubicBezTo>
                    <a:pt x="0" y="16"/>
                    <a:pt x="0" y="16"/>
                    <a:pt x="0" y="16"/>
                  </a:cubicBezTo>
                  <a:cubicBezTo>
                    <a:pt x="1" y="16"/>
                    <a:pt x="1" y="16"/>
                    <a:pt x="1" y="16"/>
                  </a:cubicBezTo>
                  <a:cubicBezTo>
                    <a:pt x="2" y="15"/>
                    <a:pt x="2" y="15"/>
                    <a:pt x="2" y="15"/>
                  </a:cubicBezTo>
                  <a:cubicBezTo>
                    <a:pt x="1" y="16"/>
                    <a:pt x="1" y="16"/>
                    <a:pt x="1" y="16"/>
                  </a:cubicBezTo>
                  <a:cubicBezTo>
                    <a:pt x="9" y="19"/>
                    <a:pt x="9" y="19"/>
                    <a:pt x="9" y="19"/>
                  </a:cubicBezTo>
                  <a:cubicBezTo>
                    <a:pt x="9" y="23"/>
                    <a:pt x="9" y="23"/>
                    <a:pt x="9" y="23"/>
                  </a:cubicBezTo>
                  <a:cubicBezTo>
                    <a:pt x="9" y="28"/>
                    <a:pt x="9" y="28"/>
                    <a:pt x="9" y="28"/>
                  </a:cubicBezTo>
                  <a:cubicBezTo>
                    <a:pt x="7" y="36"/>
                    <a:pt x="7" y="36"/>
                    <a:pt x="7" y="36"/>
                  </a:cubicBezTo>
                  <a:cubicBezTo>
                    <a:pt x="5" y="39"/>
                    <a:pt x="5" y="39"/>
                    <a:pt x="5" y="39"/>
                  </a:cubicBezTo>
                  <a:cubicBezTo>
                    <a:pt x="6" y="39"/>
                    <a:pt x="6" y="39"/>
                    <a:pt x="6" y="39"/>
                  </a:cubicBezTo>
                  <a:cubicBezTo>
                    <a:pt x="7" y="54"/>
                    <a:pt x="7" y="54"/>
                    <a:pt x="7" y="54"/>
                  </a:cubicBezTo>
                  <a:cubicBezTo>
                    <a:pt x="9" y="54"/>
                    <a:pt x="9" y="54"/>
                    <a:pt x="9" y="54"/>
                  </a:cubicBezTo>
                  <a:cubicBezTo>
                    <a:pt x="10" y="51"/>
                    <a:pt x="9" y="51"/>
                    <a:pt x="9" y="51"/>
                  </a:cubicBezTo>
                  <a:cubicBezTo>
                    <a:pt x="16" y="45"/>
                    <a:pt x="16" y="45"/>
                    <a:pt x="16" y="45"/>
                  </a:cubicBezTo>
                  <a:cubicBezTo>
                    <a:pt x="18" y="40"/>
                    <a:pt x="18" y="40"/>
                    <a:pt x="18" y="40"/>
                  </a:cubicBezTo>
                  <a:cubicBezTo>
                    <a:pt x="16" y="31"/>
                    <a:pt x="16" y="31"/>
                    <a:pt x="16" y="31"/>
                  </a:cubicBezTo>
                  <a:cubicBezTo>
                    <a:pt x="21" y="25"/>
                    <a:pt x="21" y="25"/>
                    <a:pt x="21" y="25"/>
                  </a:cubicBezTo>
                  <a:cubicBezTo>
                    <a:pt x="30" y="20"/>
                    <a:pt x="30" y="20"/>
                    <a:pt x="30" y="20"/>
                  </a:cubicBezTo>
                  <a:cubicBezTo>
                    <a:pt x="33" y="16"/>
                    <a:pt x="33" y="16"/>
                    <a:pt x="33" y="16"/>
                  </a:cubicBezTo>
                  <a:cubicBezTo>
                    <a:pt x="34" y="11"/>
                    <a:pt x="34" y="11"/>
                    <a:pt x="34" y="11"/>
                  </a:cubicBezTo>
                  <a:cubicBezTo>
                    <a:pt x="33" y="4"/>
                    <a:pt x="33" y="4"/>
                    <a:pt x="33" y="4"/>
                  </a:cubicBezTo>
                  <a:cubicBezTo>
                    <a:pt x="33" y="0"/>
                    <a:pt x="33" y="0"/>
                    <a:pt x="33" y="0"/>
                  </a:cubicBezTo>
                  <a:cubicBezTo>
                    <a:pt x="33" y="0"/>
                    <a:pt x="33" y="0"/>
                    <a:pt x="33" y="0"/>
                  </a:cubicBezTo>
                  <a:cubicBezTo>
                    <a:pt x="30" y="1"/>
                    <a:pt x="30" y="1"/>
                    <a:pt x="30" y="1"/>
                  </a:cubicBezTo>
                  <a:lnTo>
                    <a:pt x="22" y="2"/>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06" name="Freeform 103">
              <a:extLst>
                <a:ext uri="{FF2B5EF4-FFF2-40B4-BE49-F238E27FC236}">
                  <a16:creationId xmlns:a16="http://schemas.microsoft.com/office/drawing/2014/main" id="{96C3CD3A-0A0F-8C3D-F283-74A1D13C00DB}"/>
                </a:ext>
              </a:extLst>
            </p:cNvPr>
            <p:cNvSpPr>
              <a:spLocks/>
            </p:cNvSpPr>
            <p:nvPr/>
          </p:nvSpPr>
          <p:spPr bwMode="auto">
            <a:xfrm>
              <a:off x="6280835" y="4541914"/>
              <a:ext cx="311883" cy="316557"/>
            </a:xfrm>
            <a:custGeom>
              <a:avLst/>
              <a:gdLst>
                <a:gd name="T0" fmla="*/ 2147483647 w 33"/>
                <a:gd name="T1" fmla="*/ 2147483647 h 34"/>
                <a:gd name="T2" fmla="*/ 2147483647 w 33"/>
                <a:gd name="T3" fmla="*/ 2147483647 h 34"/>
                <a:gd name="T4" fmla="*/ 2147483647 w 33"/>
                <a:gd name="T5" fmla="*/ 2147483647 h 34"/>
                <a:gd name="T6" fmla="*/ 2147483647 w 33"/>
                <a:gd name="T7" fmla="*/ 2147483647 h 34"/>
                <a:gd name="T8" fmla="*/ 2147483647 w 33"/>
                <a:gd name="T9" fmla="*/ 0 h 34"/>
                <a:gd name="T10" fmla="*/ 2147483647 w 33"/>
                <a:gd name="T11" fmla="*/ 2147483647 h 34"/>
                <a:gd name="T12" fmla="*/ 2147483647 w 33"/>
                <a:gd name="T13" fmla="*/ 2147483647 h 34"/>
                <a:gd name="T14" fmla="*/ 2147483647 w 33"/>
                <a:gd name="T15" fmla="*/ 2147483647 h 34"/>
                <a:gd name="T16" fmla="*/ 2147483647 w 33"/>
                <a:gd name="T17" fmla="*/ 2147483647 h 34"/>
                <a:gd name="T18" fmla="*/ 2147483647 w 33"/>
                <a:gd name="T19" fmla="*/ 2147483647 h 34"/>
                <a:gd name="T20" fmla="*/ 2147483647 w 33"/>
                <a:gd name="T21" fmla="*/ 2147483647 h 34"/>
                <a:gd name="T22" fmla="*/ 0 w 33"/>
                <a:gd name="T23" fmla="*/ 2147483647 h 34"/>
                <a:gd name="T24" fmla="*/ 2147483647 w 33"/>
                <a:gd name="T25" fmla="*/ 2147483647 h 34"/>
                <a:gd name="T26" fmla="*/ 2147483647 w 33"/>
                <a:gd name="T27" fmla="*/ 2147483647 h 34"/>
                <a:gd name="T28" fmla="*/ 2147483647 w 33"/>
                <a:gd name="T29" fmla="*/ 2147483647 h 34"/>
                <a:gd name="T30" fmla="*/ 2147483647 w 33"/>
                <a:gd name="T31" fmla="*/ 2147483647 h 34"/>
                <a:gd name="T32" fmla="*/ 2147483647 w 33"/>
                <a:gd name="T33" fmla="*/ 2147483647 h 34"/>
                <a:gd name="T34" fmla="*/ 2147483647 w 33"/>
                <a:gd name="T35" fmla="*/ 2147483647 h 34"/>
                <a:gd name="T36" fmla="*/ 2147483647 w 33"/>
                <a:gd name="T37" fmla="*/ 2147483647 h 34"/>
                <a:gd name="T38" fmla="*/ 2147483647 w 33"/>
                <a:gd name="T39" fmla="*/ 2147483647 h 34"/>
                <a:gd name="T40" fmla="*/ 2147483647 w 33"/>
                <a:gd name="T41" fmla="*/ 2147483647 h 34"/>
                <a:gd name="T42" fmla="*/ 2147483647 w 33"/>
                <a:gd name="T43" fmla="*/ 2147483647 h 34"/>
                <a:gd name="T44" fmla="*/ 2147483647 w 33"/>
                <a:gd name="T45" fmla="*/ 2147483647 h 34"/>
                <a:gd name="T46" fmla="*/ 2147483647 w 33"/>
                <a:gd name="T47" fmla="*/ 2147483647 h 34"/>
                <a:gd name="T48" fmla="*/ 2147483647 w 33"/>
                <a:gd name="T49" fmla="*/ 2147483647 h 34"/>
                <a:gd name="T50" fmla="*/ 2147483647 w 33"/>
                <a:gd name="T51" fmla="*/ 2147483647 h 34"/>
                <a:gd name="T52" fmla="*/ 2147483647 w 33"/>
                <a:gd name="T53" fmla="*/ 2147483647 h 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3" h="34">
                  <a:moveTo>
                    <a:pt x="25" y="6"/>
                  </a:moveTo>
                  <a:cubicBezTo>
                    <a:pt x="14" y="1"/>
                    <a:pt x="14" y="1"/>
                    <a:pt x="14" y="1"/>
                  </a:cubicBezTo>
                  <a:cubicBezTo>
                    <a:pt x="14" y="1"/>
                    <a:pt x="14" y="1"/>
                    <a:pt x="14" y="1"/>
                  </a:cubicBezTo>
                  <a:cubicBezTo>
                    <a:pt x="14" y="1"/>
                    <a:pt x="14" y="1"/>
                    <a:pt x="14" y="1"/>
                  </a:cubicBezTo>
                  <a:cubicBezTo>
                    <a:pt x="13" y="0"/>
                    <a:pt x="13" y="0"/>
                    <a:pt x="13" y="0"/>
                  </a:cubicBezTo>
                  <a:cubicBezTo>
                    <a:pt x="12" y="2"/>
                    <a:pt x="12" y="2"/>
                    <a:pt x="12" y="2"/>
                  </a:cubicBezTo>
                  <a:cubicBezTo>
                    <a:pt x="12" y="5"/>
                    <a:pt x="12" y="5"/>
                    <a:pt x="12" y="5"/>
                  </a:cubicBezTo>
                  <a:cubicBezTo>
                    <a:pt x="8" y="5"/>
                    <a:pt x="8" y="5"/>
                    <a:pt x="8" y="5"/>
                  </a:cubicBezTo>
                  <a:cubicBezTo>
                    <a:pt x="6" y="1"/>
                    <a:pt x="6" y="1"/>
                    <a:pt x="6" y="1"/>
                  </a:cubicBezTo>
                  <a:cubicBezTo>
                    <a:pt x="1" y="1"/>
                    <a:pt x="1" y="1"/>
                    <a:pt x="1" y="1"/>
                  </a:cubicBezTo>
                  <a:cubicBezTo>
                    <a:pt x="2" y="8"/>
                    <a:pt x="2" y="8"/>
                    <a:pt x="2" y="8"/>
                  </a:cubicBezTo>
                  <a:cubicBezTo>
                    <a:pt x="0" y="11"/>
                    <a:pt x="0" y="11"/>
                    <a:pt x="0" y="11"/>
                  </a:cubicBezTo>
                  <a:cubicBezTo>
                    <a:pt x="2" y="19"/>
                    <a:pt x="2" y="19"/>
                    <a:pt x="2" y="19"/>
                  </a:cubicBezTo>
                  <a:cubicBezTo>
                    <a:pt x="4" y="24"/>
                    <a:pt x="4" y="24"/>
                    <a:pt x="4" y="24"/>
                  </a:cubicBezTo>
                  <a:cubicBezTo>
                    <a:pt x="4" y="24"/>
                    <a:pt x="8" y="26"/>
                    <a:pt x="9" y="26"/>
                  </a:cubicBezTo>
                  <a:cubicBezTo>
                    <a:pt x="9" y="26"/>
                    <a:pt x="14" y="27"/>
                    <a:pt x="14" y="27"/>
                  </a:cubicBezTo>
                  <a:cubicBezTo>
                    <a:pt x="15" y="29"/>
                    <a:pt x="15" y="29"/>
                    <a:pt x="15" y="29"/>
                  </a:cubicBezTo>
                  <a:cubicBezTo>
                    <a:pt x="17" y="34"/>
                    <a:pt x="17" y="34"/>
                    <a:pt x="17" y="34"/>
                  </a:cubicBezTo>
                  <a:cubicBezTo>
                    <a:pt x="22" y="33"/>
                    <a:pt x="22" y="33"/>
                    <a:pt x="22" y="33"/>
                  </a:cubicBezTo>
                  <a:cubicBezTo>
                    <a:pt x="30" y="32"/>
                    <a:pt x="30" y="32"/>
                    <a:pt x="30" y="32"/>
                  </a:cubicBezTo>
                  <a:cubicBezTo>
                    <a:pt x="33" y="31"/>
                    <a:pt x="33" y="31"/>
                    <a:pt x="33" y="31"/>
                  </a:cubicBezTo>
                  <a:cubicBezTo>
                    <a:pt x="31" y="28"/>
                    <a:pt x="31" y="28"/>
                    <a:pt x="31" y="28"/>
                  </a:cubicBezTo>
                  <a:cubicBezTo>
                    <a:pt x="30" y="19"/>
                    <a:pt x="30" y="19"/>
                    <a:pt x="30" y="19"/>
                  </a:cubicBezTo>
                  <a:cubicBezTo>
                    <a:pt x="30" y="19"/>
                    <a:pt x="28" y="15"/>
                    <a:pt x="28" y="14"/>
                  </a:cubicBezTo>
                  <a:cubicBezTo>
                    <a:pt x="28" y="13"/>
                    <a:pt x="29" y="12"/>
                    <a:pt x="30" y="12"/>
                  </a:cubicBezTo>
                  <a:cubicBezTo>
                    <a:pt x="25" y="9"/>
                    <a:pt x="25" y="9"/>
                    <a:pt x="25" y="9"/>
                  </a:cubicBezTo>
                  <a:lnTo>
                    <a:pt x="25" y="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07" name="Freeform 104">
              <a:extLst>
                <a:ext uri="{FF2B5EF4-FFF2-40B4-BE49-F238E27FC236}">
                  <a16:creationId xmlns:a16="http://schemas.microsoft.com/office/drawing/2014/main" id="{392E2336-8FFF-50BE-23EB-0631D3C97A8A}"/>
                </a:ext>
              </a:extLst>
            </p:cNvPr>
            <p:cNvSpPr>
              <a:spLocks/>
            </p:cNvSpPr>
            <p:nvPr/>
          </p:nvSpPr>
          <p:spPr bwMode="auto">
            <a:xfrm>
              <a:off x="5754058" y="4689767"/>
              <a:ext cx="357524" cy="356363"/>
            </a:xfrm>
            <a:custGeom>
              <a:avLst/>
              <a:gdLst>
                <a:gd name="T0" fmla="*/ 2147483647 w 38"/>
                <a:gd name="T1" fmla="*/ 2147483647 h 38"/>
                <a:gd name="T2" fmla="*/ 2147483647 w 38"/>
                <a:gd name="T3" fmla="*/ 2147483647 h 38"/>
                <a:gd name="T4" fmla="*/ 2147483647 w 38"/>
                <a:gd name="T5" fmla="*/ 2147483647 h 38"/>
                <a:gd name="T6" fmla="*/ 2147483647 w 38"/>
                <a:gd name="T7" fmla="*/ 2147483647 h 38"/>
                <a:gd name="T8" fmla="*/ 2147483647 w 38"/>
                <a:gd name="T9" fmla="*/ 2147483647 h 38"/>
                <a:gd name="T10" fmla="*/ 2147483647 w 38"/>
                <a:gd name="T11" fmla="*/ 2147483647 h 38"/>
                <a:gd name="T12" fmla="*/ 2147483647 w 38"/>
                <a:gd name="T13" fmla="*/ 2147483647 h 38"/>
                <a:gd name="T14" fmla="*/ 2147483647 w 38"/>
                <a:gd name="T15" fmla="*/ 2147483647 h 38"/>
                <a:gd name="T16" fmla="*/ 2147483647 w 38"/>
                <a:gd name="T17" fmla="*/ 2147483647 h 38"/>
                <a:gd name="T18" fmla="*/ 2147483647 w 38"/>
                <a:gd name="T19" fmla="*/ 2147483647 h 38"/>
                <a:gd name="T20" fmla="*/ 2147483647 w 38"/>
                <a:gd name="T21" fmla="*/ 2147483647 h 38"/>
                <a:gd name="T22" fmla="*/ 2147483647 w 38"/>
                <a:gd name="T23" fmla="*/ 2147483647 h 38"/>
                <a:gd name="T24" fmla="*/ 2147483647 w 38"/>
                <a:gd name="T25" fmla="*/ 2147483647 h 38"/>
                <a:gd name="T26" fmla="*/ 2147483647 w 38"/>
                <a:gd name="T27" fmla="*/ 2147483647 h 38"/>
                <a:gd name="T28" fmla="*/ 2147483647 w 38"/>
                <a:gd name="T29" fmla="*/ 2147483647 h 38"/>
                <a:gd name="T30" fmla="*/ 2147483647 w 38"/>
                <a:gd name="T31" fmla="*/ 2147483647 h 38"/>
                <a:gd name="T32" fmla="*/ 2147483647 w 38"/>
                <a:gd name="T33" fmla="*/ 0 h 38"/>
                <a:gd name="T34" fmla="*/ 2147483647 w 38"/>
                <a:gd name="T35" fmla="*/ 0 h 38"/>
                <a:gd name="T36" fmla="*/ 2147483647 w 38"/>
                <a:gd name="T37" fmla="*/ 2147483647 h 38"/>
                <a:gd name="T38" fmla="*/ 2147483647 w 38"/>
                <a:gd name="T39" fmla="*/ 2147483647 h 38"/>
                <a:gd name="T40" fmla="*/ 2147483647 w 38"/>
                <a:gd name="T41" fmla="*/ 2147483647 h 38"/>
                <a:gd name="T42" fmla="*/ 0 w 38"/>
                <a:gd name="T43" fmla="*/ 2147483647 h 38"/>
                <a:gd name="T44" fmla="*/ 0 w 38"/>
                <a:gd name="T45" fmla="*/ 2147483647 h 38"/>
                <a:gd name="T46" fmla="*/ 2147483647 w 38"/>
                <a:gd name="T47" fmla="*/ 2147483647 h 38"/>
                <a:gd name="T48" fmla="*/ 2147483647 w 38"/>
                <a:gd name="T49" fmla="*/ 2147483647 h 3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8" h="38">
                  <a:moveTo>
                    <a:pt x="4" y="37"/>
                  </a:moveTo>
                  <a:cubicBezTo>
                    <a:pt x="18" y="37"/>
                    <a:pt x="18" y="37"/>
                    <a:pt x="18" y="37"/>
                  </a:cubicBezTo>
                  <a:cubicBezTo>
                    <a:pt x="20" y="38"/>
                    <a:pt x="20" y="38"/>
                    <a:pt x="20" y="38"/>
                  </a:cubicBezTo>
                  <a:cubicBezTo>
                    <a:pt x="28" y="38"/>
                    <a:pt x="28" y="38"/>
                    <a:pt x="28" y="38"/>
                  </a:cubicBezTo>
                  <a:cubicBezTo>
                    <a:pt x="34" y="37"/>
                    <a:pt x="34" y="37"/>
                    <a:pt x="34" y="37"/>
                  </a:cubicBezTo>
                  <a:cubicBezTo>
                    <a:pt x="32" y="33"/>
                    <a:pt x="32" y="33"/>
                    <a:pt x="32" y="33"/>
                  </a:cubicBezTo>
                  <a:cubicBezTo>
                    <a:pt x="32" y="22"/>
                    <a:pt x="32" y="22"/>
                    <a:pt x="32" y="22"/>
                  </a:cubicBezTo>
                  <a:cubicBezTo>
                    <a:pt x="38" y="21"/>
                    <a:pt x="38" y="21"/>
                    <a:pt x="38" y="21"/>
                  </a:cubicBezTo>
                  <a:cubicBezTo>
                    <a:pt x="38" y="17"/>
                    <a:pt x="38" y="17"/>
                    <a:pt x="38" y="17"/>
                  </a:cubicBezTo>
                  <a:cubicBezTo>
                    <a:pt x="37" y="17"/>
                    <a:pt x="37" y="17"/>
                    <a:pt x="37" y="17"/>
                  </a:cubicBezTo>
                  <a:cubicBezTo>
                    <a:pt x="38" y="17"/>
                    <a:pt x="38" y="17"/>
                    <a:pt x="38" y="17"/>
                  </a:cubicBezTo>
                  <a:cubicBezTo>
                    <a:pt x="32" y="16"/>
                    <a:pt x="32" y="16"/>
                    <a:pt x="32" y="16"/>
                  </a:cubicBezTo>
                  <a:cubicBezTo>
                    <a:pt x="30" y="4"/>
                    <a:pt x="30" y="4"/>
                    <a:pt x="30" y="4"/>
                  </a:cubicBezTo>
                  <a:cubicBezTo>
                    <a:pt x="30" y="4"/>
                    <a:pt x="25" y="4"/>
                    <a:pt x="24" y="4"/>
                  </a:cubicBezTo>
                  <a:cubicBezTo>
                    <a:pt x="24" y="4"/>
                    <a:pt x="22" y="6"/>
                    <a:pt x="21" y="6"/>
                  </a:cubicBezTo>
                  <a:cubicBezTo>
                    <a:pt x="20" y="7"/>
                    <a:pt x="19" y="6"/>
                    <a:pt x="18" y="6"/>
                  </a:cubicBezTo>
                  <a:cubicBezTo>
                    <a:pt x="17" y="6"/>
                    <a:pt x="13" y="0"/>
                    <a:pt x="12" y="0"/>
                  </a:cubicBezTo>
                  <a:cubicBezTo>
                    <a:pt x="11" y="0"/>
                    <a:pt x="4" y="0"/>
                    <a:pt x="4" y="0"/>
                  </a:cubicBezTo>
                  <a:cubicBezTo>
                    <a:pt x="1" y="2"/>
                    <a:pt x="1" y="2"/>
                    <a:pt x="1" y="2"/>
                  </a:cubicBezTo>
                  <a:cubicBezTo>
                    <a:pt x="3" y="15"/>
                    <a:pt x="3" y="15"/>
                    <a:pt x="3" y="15"/>
                  </a:cubicBezTo>
                  <a:cubicBezTo>
                    <a:pt x="4" y="21"/>
                    <a:pt x="4" y="21"/>
                    <a:pt x="4" y="21"/>
                  </a:cubicBezTo>
                  <a:cubicBezTo>
                    <a:pt x="0" y="28"/>
                    <a:pt x="0" y="28"/>
                    <a:pt x="0" y="28"/>
                  </a:cubicBezTo>
                  <a:cubicBezTo>
                    <a:pt x="0" y="36"/>
                    <a:pt x="0" y="36"/>
                    <a:pt x="0" y="36"/>
                  </a:cubicBezTo>
                  <a:cubicBezTo>
                    <a:pt x="2" y="35"/>
                    <a:pt x="2" y="35"/>
                    <a:pt x="2" y="35"/>
                  </a:cubicBezTo>
                  <a:lnTo>
                    <a:pt x="4" y="37"/>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08" name="Freeform 105">
              <a:extLst>
                <a:ext uri="{FF2B5EF4-FFF2-40B4-BE49-F238E27FC236}">
                  <a16:creationId xmlns:a16="http://schemas.microsoft.com/office/drawing/2014/main" id="{BC55BBF6-7099-CE66-45EF-21637F6BAA94}"/>
                </a:ext>
              </a:extLst>
            </p:cNvPr>
            <p:cNvSpPr>
              <a:spLocks/>
            </p:cNvSpPr>
            <p:nvPr/>
          </p:nvSpPr>
          <p:spPr bwMode="auto">
            <a:xfrm>
              <a:off x="5754058" y="4354255"/>
              <a:ext cx="555303" cy="549710"/>
            </a:xfrm>
            <a:custGeom>
              <a:avLst/>
              <a:gdLst>
                <a:gd name="T0" fmla="*/ 2147483647 w 59"/>
                <a:gd name="T1" fmla="*/ 2147483647 h 59"/>
                <a:gd name="T2" fmla="*/ 2147483647 w 59"/>
                <a:gd name="T3" fmla="*/ 2147483647 h 59"/>
                <a:gd name="T4" fmla="*/ 2147483647 w 59"/>
                <a:gd name="T5" fmla="*/ 2147483647 h 59"/>
                <a:gd name="T6" fmla="*/ 2147483647 w 59"/>
                <a:gd name="T7" fmla="*/ 2147483647 h 59"/>
                <a:gd name="T8" fmla="*/ 2147483647 w 59"/>
                <a:gd name="T9" fmla="*/ 2147483647 h 59"/>
                <a:gd name="T10" fmla="*/ 2147483647 w 59"/>
                <a:gd name="T11" fmla="*/ 2147483647 h 59"/>
                <a:gd name="T12" fmla="*/ 0 w 59"/>
                <a:gd name="T13" fmla="*/ 2147483647 h 59"/>
                <a:gd name="T14" fmla="*/ 2147483647 w 59"/>
                <a:gd name="T15" fmla="*/ 2147483647 h 59"/>
                <a:gd name="T16" fmla="*/ 2147483647 w 59"/>
                <a:gd name="T17" fmla="*/ 2147483647 h 59"/>
                <a:gd name="T18" fmla="*/ 2147483647 w 59"/>
                <a:gd name="T19" fmla="*/ 2147483647 h 59"/>
                <a:gd name="T20" fmla="*/ 2147483647 w 59"/>
                <a:gd name="T21" fmla="*/ 2147483647 h 59"/>
                <a:gd name="T22" fmla="*/ 2147483647 w 59"/>
                <a:gd name="T23" fmla="*/ 2147483647 h 59"/>
                <a:gd name="T24" fmla="*/ 2147483647 w 59"/>
                <a:gd name="T25" fmla="*/ 2147483647 h 59"/>
                <a:gd name="T26" fmla="*/ 2147483647 w 59"/>
                <a:gd name="T27" fmla="*/ 2147483647 h 59"/>
                <a:gd name="T28" fmla="*/ 2147483647 w 59"/>
                <a:gd name="T29" fmla="*/ 2147483647 h 59"/>
                <a:gd name="T30" fmla="*/ 2147483647 w 59"/>
                <a:gd name="T31" fmla="*/ 2147483647 h 59"/>
                <a:gd name="T32" fmla="*/ 2147483647 w 59"/>
                <a:gd name="T33" fmla="*/ 2147483647 h 59"/>
                <a:gd name="T34" fmla="*/ 2147483647 w 59"/>
                <a:gd name="T35" fmla="*/ 2147483647 h 59"/>
                <a:gd name="T36" fmla="*/ 2147483647 w 59"/>
                <a:gd name="T37" fmla="*/ 2147483647 h 59"/>
                <a:gd name="T38" fmla="*/ 2147483647 w 59"/>
                <a:gd name="T39" fmla="*/ 2147483647 h 59"/>
                <a:gd name="T40" fmla="*/ 2147483647 w 59"/>
                <a:gd name="T41" fmla="*/ 2147483647 h 59"/>
                <a:gd name="T42" fmla="*/ 2147483647 w 59"/>
                <a:gd name="T43" fmla="*/ 2147483647 h 59"/>
                <a:gd name="T44" fmla="*/ 2147483647 w 59"/>
                <a:gd name="T45" fmla="*/ 2147483647 h 59"/>
                <a:gd name="T46" fmla="*/ 2147483647 w 59"/>
                <a:gd name="T47" fmla="*/ 2147483647 h 59"/>
                <a:gd name="T48" fmla="*/ 2147483647 w 59"/>
                <a:gd name="T49" fmla="*/ 2147483647 h 59"/>
                <a:gd name="T50" fmla="*/ 2147483647 w 59"/>
                <a:gd name="T51" fmla="*/ 2147483647 h 59"/>
                <a:gd name="T52" fmla="*/ 2147483647 w 59"/>
                <a:gd name="T53" fmla="*/ 2147483647 h 59"/>
                <a:gd name="T54" fmla="*/ 2147483647 w 59"/>
                <a:gd name="T55" fmla="*/ 2147483647 h 59"/>
                <a:gd name="T56" fmla="*/ 2147483647 w 59"/>
                <a:gd name="T57" fmla="*/ 2147483647 h 59"/>
                <a:gd name="T58" fmla="*/ 2147483647 w 59"/>
                <a:gd name="T59" fmla="*/ 2147483647 h 59"/>
                <a:gd name="T60" fmla="*/ 2147483647 w 59"/>
                <a:gd name="T61" fmla="*/ 2147483647 h 59"/>
                <a:gd name="T62" fmla="*/ 2147483647 w 59"/>
                <a:gd name="T63" fmla="*/ 2147483647 h 59"/>
                <a:gd name="T64" fmla="*/ 2147483647 w 59"/>
                <a:gd name="T65" fmla="*/ 2147483647 h 59"/>
                <a:gd name="T66" fmla="*/ 2147483647 w 59"/>
                <a:gd name="T67" fmla="*/ 2147483647 h 59"/>
                <a:gd name="T68" fmla="*/ 2147483647 w 59"/>
                <a:gd name="T69" fmla="*/ 0 h 59"/>
                <a:gd name="T70" fmla="*/ 2147483647 w 59"/>
                <a:gd name="T71" fmla="*/ 2147483647 h 59"/>
                <a:gd name="T72" fmla="*/ 2147483647 w 59"/>
                <a:gd name="T73" fmla="*/ 2147483647 h 59"/>
                <a:gd name="T74" fmla="*/ 2147483647 w 59"/>
                <a:gd name="T75" fmla="*/ 2147483647 h 59"/>
                <a:gd name="T76" fmla="*/ 2147483647 w 59"/>
                <a:gd name="T77" fmla="*/ 2147483647 h 59"/>
                <a:gd name="T78" fmla="*/ 2147483647 w 59"/>
                <a:gd name="T79" fmla="*/ 2147483647 h 5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9" h="59">
                  <a:moveTo>
                    <a:pt x="21" y="6"/>
                  </a:moveTo>
                  <a:cubicBezTo>
                    <a:pt x="18" y="18"/>
                    <a:pt x="18" y="18"/>
                    <a:pt x="18" y="18"/>
                  </a:cubicBezTo>
                  <a:cubicBezTo>
                    <a:pt x="15" y="21"/>
                    <a:pt x="15" y="21"/>
                    <a:pt x="15" y="21"/>
                  </a:cubicBezTo>
                  <a:cubicBezTo>
                    <a:pt x="11" y="29"/>
                    <a:pt x="11" y="29"/>
                    <a:pt x="11" y="29"/>
                  </a:cubicBezTo>
                  <a:cubicBezTo>
                    <a:pt x="7" y="32"/>
                    <a:pt x="7" y="32"/>
                    <a:pt x="7" y="32"/>
                  </a:cubicBezTo>
                  <a:cubicBezTo>
                    <a:pt x="3" y="32"/>
                    <a:pt x="3" y="32"/>
                    <a:pt x="3" y="32"/>
                  </a:cubicBezTo>
                  <a:cubicBezTo>
                    <a:pt x="0" y="35"/>
                    <a:pt x="0" y="35"/>
                    <a:pt x="0" y="35"/>
                  </a:cubicBezTo>
                  <a:cubicBezTo>
                    <a:pt x="1" y="38"/>
                    <a:pt x="1" y="38"/>
                    <a:pt x="1" y="38"/>
                  </a:cubicBezTo>
                  <a:cubicBezTo>
                    <a:pt x="1" y="38"/>
                    <a:pt x="1" y="38"/>
                    <a:pt x="1" y="38"/>
                  </a:cubicBezTo>
                  <a:cubicBezTo>
                    <a:pt x="4" y="36"/>
                    <a:pt x="4" y="36"/>
                    <a:pt x="4" y="36"/>
                  </a:cubicBezTo>
                  <a:cubicBezTo>
                    <a:pt x="4" y="36"/>
                    <a:pt x="11" y="36"/>
                    <a:pt x="12" y="36"/>
                  </a:cubicBezTo>
                  <a:cubicBezTo>
                    <a:pt x="13" y="36"/>
                    <a:pt x="17" y="42"/>
                    <a:pt x="18" y="42"/>
                  </a:cubicBezTo>
                  <a:cubicBezTo>
                    <a:pt x="19" y="42"/>
                    <a:pt x="20" y="43"/>
                    <a:pt x="21" y="42"/>
                  </a:cubicBezTo>
                  <a:cubicBezTo>
                    <a:pt x="22" y="42"/>
                    <a:pt x="24" y="40"/>
                    <a:pt x="24" y="40"/>
                  </a:cubicBezTo>
                  <a:cubicBezTo>
                    <a:pt x="25" y="40"/>
                    <a:pt x="30" y="40"/>
                    <a:pt x="30" y="40"/>
                  </a:cubicBezTo>
                  <a:cubicBezTo>
                    <a:pt x="32" y="52"/>
                    <a:pt x="32" y="52"/>
                    <a:pt x="32" y="52"/>
                  </a:cubicBezTo>
                  <a:cubicBezTo>
                    <a:pt x="38" y="53"/>
                    <a:pt x="38" y="53"/>
                    <a:pt x="38" y="53"/>
                  </a:cubicBezTo>
                  <a:cubicBezTo>
                    <a:pt x="43" y="53"/>
                    <a:pt x="43" y="53"/>
                    <a:pt x="43" y="53"/>
                  </a:cubicBezTo>
                  <a:cubicBezTo>
                    <a:pt x="49" y="56"/>
                    <a:pt x="49" y="56"/>
                    <a:pt x="49" y="56"/>
                  </a:cubicBezTo>
                  <a:cubicBezTo>
                    <a:pt x="55" y="59"/>
                    <a:pt x="55" y="59"/>
                    <a:pt x="55" y="59"/>
                  </a:cubicBezTo>
                  <a:cubicBezTo>
                    <a:pt x="55" y="57"/>
                    <a:pt x="55" y="57"/>
                    <a:pt x="55" y="57"/>
                  </a:cubicBezTo>
                  <a:cubicBezTo>
                    <a:pt x="52" y="53"/>
                    <a:pt x="52" y="53"/>
                    <a:pt x="52" y="53"/>
                  </a:cubicBezTo>
                  <a:cubicBezTo>
                    <a:pt x="53" y="50"/>
                    <a:pt x="53" y="50"/>
                    <a:pt x="53" y="50"/>
                  </a:cubicBezTo>
                  <a:cubicBezTo>
                    <a:pt x="54" y="44"/>
                    <a:pt x="54" y="44"/>
                    <a:pt x="54" y="44"/>
                  </a:cubicBezTo>
                  <a:cubicBezTo>
                    <a:pt x="57" y="43"/>
                    <a:pt x="57" y="43"/>
                    <a:pt x="57" y="43"/>
                  </a:cubicBezTo>
                  <a:cubicBezTo>
                    <a:pt x="55" y="37"/>
                    <a:pt x="55" y="37"/>
                    <a:pt x="55" y="37"/>
                  </a:cubicBezTo>
                  <a:cubicBezTo>
                    <a:pt x="54" y="31"/>
                    <a:pt x="54" y="31"/>
                    <a:pt x="54" y="31"/>
                  </a:cubicBezTo>
                  <a:cubicBezTo>
                    <a:pt x="53" y="25"/>
                    <a:pt x="53" y="25"/>
                    <a:pt x="53" y="25"/>
                  </a:cubicBezTo>
                  <a:cubicBezTo>
                    <a:pt x="55" y="18"/>
                    <a:pt x="55" y="18"/>
                    <a:pt x="55" y="18"/>
                  </a:cubicBezTo>
                  <a:cubicBezTo>
                    <a:pt x="59" y="11"/>
                    <a:pt x="59" y="11"/>
                    <a:pt x="59" y="11"/>
                  </a:cubicBezTo>
                  <a:cubicBezTo>
                    <a:pt x="59" y="10"/>
                    <a:pt x="59" y="10"/>
                    <a:pt x="59" y="10"/>
                  </a:cubicBezTo>
                  <a:cubicBezTo>
                    <a:pt x="59" y="5"/>
                    <a:pt x="59" y="5"/>
                    <a:pt x="59" y="5"/>
                  </a:cubicBezTo>
                  <a:cubicBezTo>
                    <a:pt x="56" y="3"/>
                    <a:pt x="56" y="3"/>
                    <a:pt x="56" y="3"/>
                  </a:cubicBezTo>
                  <a:cubicBezTo>
                    <a:pt x="51" y="3"/>
                    <a:pt x="51" y="3"/>
                    <a:pt x="51" y="3"/>
                  </a:cubicBezTo>
                  <a:cubicBezTo>
                    <a:pt x="49" y="0"/>
                    <a:pt x="49" y="0"/>
                    <a:pt x="49" y="0"/>
                  </a:cubicBezTo>
                  <a:cubicBezTo>
                    <a:pt x="41" y="1"/>
                    <a:pt x="41" y="1"/>
                    <a:pt x="41" y="1"/>
                  </a:cubicBezTo>
                  <a:cubicBezTo>
                    <a:pt x="32" y="3"/>
                    <a:pt x="32" y="3"/>
                    <a:pt x="32" y="3"/>
                  </a:cubicBezTo>
                  <a:cubicBezTo>
                    <a:pt x="27" y="1"/>
                    <a:pt x="27" y="1"/>
                    <a:pt x="27" y="1"/>
                  </a:cubicBezTo>
                  <a:cubicBezTo>
                    <a:pt x="21" y="2"/>
                    <a:pt x="21" y="2"/>
                    <a:pt x="21" y="2"/>
                  </a:cubicBezTo>
                  <a:cubicBezTo>
                    <a:pt x="21" y="6"/>
                    <a:pt x="21" y="6"/>
                    <a:pt x="21" y="6"/>
                  </a:cubicBezTo>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09" name="Freeform 106">
              <a:extLst>
                <a:ext uri="{FF2B5EF4-FFF2-40B4-BE49-F238E27FC236}">
                  <a16:creationId xmlns:a16="http://schemas.microsoft.com/office/drawing/2014/main" id="{CFDDAA71-62DF-F309-5AB2-E22B9815683D}"/>
                </a:ext>
              </a:extLst>
            </p:cNvPr>
            <p:cNvSpPr>
              <a:spLocks/>
            </p:cNvSpPr>
            <p:nvPr/>
          </p:nvSpPr>
          <p:spPr bwMode="auto">
            <a:xfrm>
              <a:off x="6374020" y="3980831"/>
              <a:ext cx="443101" cy="422708"/>
            </a:xfrm>
            <a:custGeom>
              <a:avLst/>
              <a:gdLst>
                <a:gd name="T0" fmla="*/ 2147483647 w 47"/>
                <a:gd name="T1" fmla="*/ 2147483647 h 45"/>
                <a:gd name="T2" fmla="*/ 2147483647 w 47"/>
                <a:gd name="T3" fmla="*/ 2147483647 h 45"/>
                <a:gd name="T4" fmla="*/ 2147483647 w 47"/>
                <a:gd name="T5" fmla="*/ 2147483647 h 45"/>
                <a:gd name="T6" fmla="*/ 2147483647 w 47"/>
                <a:gd name="T7" fmla="*/ 2147483647 h 45"/>
                <a:gd name="T8" fmla="*/ 2147483647 w 47"/>
                <a:gd name="T9" fmla="*/ 2147483647 h 45"/>
                <a:gd name="T10" fmla="*/ 2147483647 w 47"/>
                <a:gd name="T11" fmla="*/ 2147483647 h 45"/>
                <a:gd name="T12" fmla="*/ 2147483647 w 47"/>
                <a:gd name="T13" fmla="*/ 2147483647 h 45"/>
                <a:gd name="T14" fmla="*/ 2147483647 w 47"/>
                <a:gd name="T15" fmla="*/ 2147483647 h 45"/>
                <a:gd name="T16" fmla="*/ 2147483647 w 47"/>
                <a:gd name="T17" fmla="*/ 2147483647 h 45"/>
                <a:gd name="T18" fmla="*/ 2147483647 w 47"/>
                <a:gd name="T19" fmla="*/ 2147483647 h 45"/>
                <a:gd name="T20" fmla="*/ 2147483647 w 47"/>
                <a:gd name="T21" fmla="*/ 2147483647 h 45"/>
                <a:gd name="T22" fmla="*/ 2147483647 w 47"/>
                <a:gd name="T23" fmla="*/ 2147483647 h 45"/>
                <a:gd name="T24" fmla="*/ 2147483647 w 47"/>
                <a:gd name="T25" fmla="*/ 2147483647 h 45"/>
                <a:gd name="T26" fmla="*/ 2147483647 w 47"/>
                <a:gd name="T27" fmla="*/ 2147483647 h 45"/>
                <a:gd name="T28" fmla="*/ 2147483647 w 47"/>
                <a:gd name="T29" fmla="*/ 0 h 45"/>
                <a:gd name="T30" fmla="*/ 2147483647 w 47"/>
                <a:gd name="T31" fmla="*/ 0 h 45"/>
                <a:gd name="T32" fmla="*/ 2147483647 w 47"/>
                <a:gd name="T33" fmla="*/ 2147483647 h 45"/>
                <a:gd name="T34" fmla="*/ 2147483647 w 47"/>
                <a:gd name="T35" fmla="*/ 2147483647 h 45"/>
                <a:gd name="T36" fmla="*/ 2147483647 w 47"/>
                <a:gd name="T37" fmla="*/ 2147483647 h 45"/>
                <a:gd name="T38" fmla="*/ 2147483647 w 47"/>
                <a:gd name="T39" fmla="*/ 2147483647 h 45"/>
                <a:gd name="T40" fmla="*/ 2147483647 w 47"/>
                <a:gd name="T41" fmla="*/ 2147483647 h 45"/>
                <a:gd name="T42" fmla="*/ 2147483647 w 47"/>
                <a:gd name="T43" fmla="*/ 2147483647 h 45"/>
                <a:gd name="T44" fmla="*/ 2147483647 w 47"/>
                <a:gd name="T45" fmla="*/ 2147483647 h 45"/>
                <a:gd name="T46" fmla="*/ 0 w 47"/>
                <a:gd name="T47" fmla="*/ 2147483647 h 45"/>
                <a:gd name="T48" fmla="*/ 2147483647 w 47"/>
                <a:gd name="T49" fmla="*/ 2147483647 h 45"/>
                <a:gd name="T50" fmla="*/ 2147483647 w 47"/>
                <a:gd name="T51" fmla="*/ 2147483647 h 45"/>
                <a:gd name="T52" fmla="*/ 2147483647 w 47"/>
                <a:gd name="T53" fmla="*/ 2147483647 h 45"/>
                <a:gd name="T54" fmla="*/ 2147483647 w 47"/>
                <a:gd name="T55" fmla="*/ 2147483647 h 45"/>
                <a:gd name="T56" fmla="*/ 2147483647 w 47"/>
                <a:gd name="T57" fmla="*/ 2147483647 h 45"/>
                <a:gd name="T58" fmla="*/ 2147483647 w 47"/>
                <a:gd name="T59" fmla="*/ 2147483647 h 4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7" h="45">
                  <a:moveTo>
                    <a:pt x="22" y="45"/>
                  </a:moveTo>
                  <a:cubicBezTo>
                    <a:pt x="23" y="45"/>
                    <a:pt x="24" y="44"/>
                    <a:pt x="24" y="44"/>
                  </a:cubicBezTo>
                  <a:cubicBezTo>
                    <a:pt x="27" y="45"/>
                    <a:pt x="27" y="45"/>
                    <a:pt x="27" y="45"/>
                  </a:cubicBezTo>
                  <a:cubicBezTo>
                    <a:pt x="29" y="45"/>
                    <a:pt x="29" y="45"/>
                    <a:pt x="29" y="45"/>
                  </a:cubicBezTo>
                  <a:cubicBezTo>
                    <a:pt x="32" y="43"/>
                    <a:pt x="32" y="43"/>
                    <a:pt x="32" y="43"/>
                  </a:cubicBezTo>
                  <a:cubicBezTo>
                    <a:pt x="39" y="41"/>
                    <a:pt x="39" y="41"/>
                    <a:pt x="39" y="41"/>
                  </a:cubicBezTo>
                  <a:cubicBezTo>
                    <a:pt x="47" y="32"/>
                    <a:pt x="47" y="32"/>
                    <a:pt x="47" y="32"/>
                  </a:cubicBezTo>
                  <a:cubicBezTo>
                    <a:pt x="40" y="31"/>
                    <a:pt x="40" y="31"/>
                    <a:pt x="40" y="31"/>
                  </a:cubicBezTo>
                  <a:cubicBezTo>
                    <a:pt x="33" y="27"/>
                    <a:pt x="33" y="27"/>
                    <a:pt x="33" y="27"/>
                  </a:cubicBezTo>
                  <a:cubicBezTo>
                    <a:pt x="31" y="24"/>
                    <a:pt x="31" y="24"/>
                    <a:pt x="31" y="24"/>
                  </a:cubicBezTo>
                  <a:cubicBezTo>
                    <a:pt x="34" y="22"/>
                    <a:pt x="34" y="22"/>
                    <a:pt x="34" y="22"/>
                  </a:cubicBezTo>
                  <a:cubicBezTo>
                    <a:pt x="33" y="20"/>
                    <a:pt x="33" y="20"/>
                    <a:pt x="33" y="20"/>
                  </a:cubicBezTo>
                  <a:cubicBezTo>
                    <a:pt x="25" y="8"/>
                    <a:pt x="25" y="8"/>
                    <a:pt x="25" y="8"/>
                  </a:cubicBezTo>
                  <a:cubicBezTo>
                    <a:pt x="20" y="6"/>
                    <a:pt x="20" y="6"/>
                    <a:pt x="20" y="6"/>
                  </a:cubicBezTo>
                  <a:cubicBezTo>
                    <a:pt x="17" y="0"/>
                    <a:pt x="17" y="0"/>
                    <a:pt x="17" y="0"/>
                  </a:cubicBezTo>
                  <a:cubicBezTo>
                    <a:pt x="17" y="0"/>
                    <a:pt x="17" y="0"/>
                    <a:pt x="17" y="0"/>
                  </a:cubicBezTo>
                  <a:cubicBezTo>
                    <a:pt x="15" y="1"/>
                    <a:pt x="15" y="1"/>
                    <a:pt x="15" y="1"/>
                  </a:cubicBezTo>
                  <a:cubicBezTo>
                    <a:pt x="12" y="3"/>
                    <a:pt x="12" y="3"/>
                    <a:pt x="12" y="3"/>
                  </a:cubicBezTo>
                  <a:cubicBezTo>
                    <a:pt x="11" y="14"/>
                    <a:pt x="11" y="14"/>
                    <a:pt x="11" y="14"/>
                  </a:cubicBezTo>
                  <a:cubicBezTo>
                    <a:pt x="8" y="20"/>
                    <a:pt x="8" y="20"/>
                    <a:pt x="8" y="20"/>
                  </a:cubicBezTo>
                  <a:cubicBezTo>
                    <a:pt x="4" y="24"/>
                    <a:pt x="4" y="24"/>
                    <a:pt x="4" y="24"/>
                  </a:cubicBezTo>
                  <a:cubicBezTo>
                    <a:pt x="3" y="30"/>
                    <a:pt x="3" y="30"/>
                    <a:pt x="3" y="30"/>
                  </a:cubicBezTo>
                  <a:cubicBezTo>
                    <a:pt x="1" y="30"/>
                    <a:pt x="1" y="30"/>
                    <a:pt x="1" y="30"/>
                  </a:cubicBezTo>
                  <a:cubicBezTo>
                    <a:pt x="0" y="33"/>
                    <a:pt x="0" y="33"/>
                    <a:pt x="0" y="33"/>
                  </a:cubicBezTo>
                  <a:cubicBezTo>
                    <a:pt x="4" y="36"/>
                    <a:pt x="4" y="36"/>
                    <a:pt x="4" y="36"/>
                  </a:cubicBezTo>
                  <a:cubicBezTo>
                    <a:pt x="7" y="39"/>
                    <a:pt x="7" y="39"/>
                    <a:pt x="7" y="39"/>
                  </a:cubicBezTo>
                  <a:cubicBezTo>
                    <a:pt x="9" y="41"/>
                    <a:pt x="9" y="41"/>
                    <a:pt x="9" y="41"/>
                  </a:cubicBezTo>
                  <a:cubicBezTo>
                    <a:pt x="9" y="42"/>
                    <a:pt x="9" y="42"/>
                    <a:pt x="9" y="42"/>
                  </a:cubicBezTo>
                  <a:cubicBezTo>
                    <a:pt x="12" y="43"/>
                    <a:pt x="12" y="43"/>
                    <a:pt x="12" y="43"/>
                  </a:cubicBezTo>
                  <a:cubicBezTo>
                    <a:pt x="12" y="43"/>
                    <a:pt x="21" y="45"/>
                    <a:pt x="22" y="45"/>
                  </a:cubicBez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10" name="Freeform 107">
              <a:extLst>
                <a:ext uri="{FF2B5EF4-FFF2-40B4-BE49-F238E27FC236}">
                  <a16:creationId xmlns:a16="http://schemas.microsoft.com/office/drawing/2014/main" id="{686B1EBC-D1C9-4B73-EEEA-9003D490159B}"/>
                </a:ext>
              </a:extLst>
            </p:cNvPr>
            <p:cNvSpPr>
              <a:spLocks/>
            </p:cNvSpPr>
            <p:nvPr/>
          </p:nvSpPr>
          <p:spPr bwMode="auto">
            <a:xfrm>
              <a:off x="6402545" y="4373210"/>
              <a:ext cx="245323" cy="280541"/>
            </a:xfrm>
            <a:custGeom>
              <a:avLst/>
              <a:gdLst>
                <a:gd name="T0" fmla="*/ 2147483647 w 26"/>
                <a:gd name="T1" fmla="*/ 2147483647 h 30"/>
                <a:gd name="T2" fmla="*/ 2147483647 w 26"/>
                <a:gd name="T3" fmla="*/ 2147483647 h 30"/>
                <a:gd name="T4" fmla="*/ 2147483647 w 26"/>
                <a:gd name="T5" fmla="*/ 2147483647 h 30"/>
                <a:gd name="T6" fmla="*/ 2147483647 w 26"/>
                <a:gd name="T7" fmla="*/ 2147483647 h 30"/>
                <a:gd name="T8" fmla="*/ 2147483647 w 26"/>
                <a:gd name="T9" fmla="*/ 2147483647 h 30"/>
                <a:gd name="T10" fmla="*/ 2147483647 w 26"/>
                <a:gd name="T11" fmla="*/ 2147483647 h 30"/>
                <a:gd name="T12" fmla="*/ 2147483647 w 26"/>
                <a:gd name="T13" fmla="*/ 2147483647 h 30"/>
                <a:gd name="T14" fmla="*/ 2147483647 w 26"/>
                <a:gd name="T15" fmla="*/ 0 h 30"/>
                <a:gd name="T16" fmla="*/ 2147483647 w 26"/>
                <a:gd name="T17" fmla="*/ 2147483647 h 30"/>
                <a:gd name="T18" fmla="*/ 2147483647 w 26"/>
                <a:gd name="T19" fmla="*/ 2147483647 h 30"/>
                <a:gd name="T20" fmla="*/ 0 w 26"/>
                <a:gd name="T21" fmla="*/ 2147483647 h 30"/>
                <a:gd name="T22" fmla="*/ 2147483647 w 26"/>
                <a:gd name="T23" fmla="*/ 2147483647 h 30"/>
                <a:gd name="T24" fmla="*/ 2147483647 w 26"/>
                <a:gd name="T25" fmla="*/ 2147483647 h 30"/>
                <a:gd name="T26" fmla="*/ 0 w 26"/>
                <a:gd name="T27" fmla="*/ 2147483647 h 30"/>
                <a:gd name="T28" fmla="*/ 2147483647 w 26"/>
                <a:gd name="T29" fmla="*/ 2147483647 h 30"/>
                <a:gd name="T30" fmla="*/ 2147483647 w 26"/>
                <a:gd name="T31" fmla="*/ 2147483647 h 30"/>
                <a:gd name="T32" fmla="*/ 2147483647 w 26"/>
                <a:gd name="T33" fmla="*/ 2147483647 h 30"/>
                <a:gd name="T34" fmla="*/ 2147483647 w 26"/>
                <a:gd name="T35" fmla="*/ 2147483647 h 30"/>
                <a:gd name="T36" fmla="*/ 2147483647 w 26"/>
                <a:gd name="T37" fmla="*/ 2147483647 h 30"/>
                <a:gd name="T38" fmla="*/ 2147483647 w 26"/>
                <a:gd name="T39" fmla="*/ 2147483647 h 30"/>
                <a:gd name="T40" fmla="*/ 2147483647 w 26"/>
                <a:gd name="T41" fmla="*/ 2147483647 h 30"/>
                <a:gd name="T42" fmla="*/ 2147483647 w 26"/>
                <a:gd name="T43" fmla="*/ 2147483647 h 30"/>
                <a:gd name="T44" fmla="*/ 2147483647 w 26"/>
                <a:gd name="T45" fmla="*/ 2147483647 h 3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6" h="30">
                  <a:moveTo>
                    <a:pt x="23" y="7"/>
                  </a:moveTo>
                  <a:cubicBezTo>
                    <a:pt x="26" y="4"/>
                    <a:pt x="26" y="4"/>
                    <a:pt x="26" y="4"/>
                  </a:cubicBezTo>
                  <a:cubicBezTo>
                    <a:pt x="26" y="3"/>
                    <a:pt x="26" y="3"/>
                    <a:pt x="26" y="3"/>
                  </a:cubicBezTo>
                  <a:cubicBezTo>
                    <a:pt x="24" y="3"/>
                    <a:pt x="24" y="3"/>
                    <a:pt x="24" y="3"/>
                  </a:cubicBezTo>
                  <a:cubicBezTo>
                    <a:pt x="21" y="2"/>
                    <a:pt x="21" y="2"/>
                    <a:pt x="21" y="2"/>
                  </a:cubicBezTo>
                  <a:cubicBezTo>
                    <a:pt x="21" y="2"/>
                    <a:pt x="20" y="3"/>
                    <a:pt x="19" y="3"/>
                  </a:cubicBezTo>
                  <a:cubicBezTo>
                    <a:pt x="18" y="3"/>
                    <a:pt x="9" y="1"/>
                    <a:pt x="9" y="1"/>
                  </a:cubicBezTo>
                  <a:cubicBezTo>
                    <a:pt x="6" y="0"/>
                    <a:pt x="6" y="0"/>
                    <a:pt x="6" y="0"/>
                  </a:cubicBezTo>
                  <a:cubicBezTo>
                    <a:pt x="6" y="1"/>
                    <a:pt x="6" y="1"/>
                    <a:pt x="6" y="1"/>
                  </a:cubicBezTo>
                  <a:cubicBezTo>
                    <a:pt x="3" y="1"/>
                    <a:pt x="3" y="1"/>
                    <a:pt x="3" y="1"/>
                  </a:cubicBezTo>
                  <a:cubicBezTo>
                    <a:pt x="0" y="3"/>
                    <a:pt x="0" y="3"/>
                    <a:pt x="0" y="3"/>
                  </a:cubicBezTo>
                  <a:cubicBezTo>
                    <a:pt x="2" y="5"/>
                    <a:pt x="2" y="5"/>
                    <a:pt x="2" y="5"/>
                  </a:cubicBezTo>
                  <a:cubicBezTo>
                    <a:pt x="2" y="9"/>
                    <a:pt x="2" y="9"/>
                    <a:pt x="2" y="9"/>
                  </a:cubicBezTo>
                  <a:cubicBezTo>
                    <a:pt x="0" y="13"/>
                    <a:pt x="0" y="13"/>
                    <a:pt x="0" y="13"/>
                  </a:cubicBezTo>
                  <a:cubicBezTo>
                    <a:pt x="1" y="19"/>
                    <a:pt x="1" y="19"/>
                    <a:pt x="1" y="19"/>
                  </a:cubicBezTo>
                  <a:cubicBezTo>
                    <a:pt x="12" y="24"/>
                    <a:pt x="12" y="24"/>
                    <a:pt x="12" y="24"/>
                  </a:cubicBezTo>
                  <a:cubicBezTo>
                    <a:pt x="12" y="27"/>
                    <a:pt x="12" y="27"/>
                    <a:pt x="12" y="27"/>
                  </a:cubicBezTo>
                  <a:cubicBezTo>
                    <a:pt x="17" y="30"/>
                    <a:pt x="17" y="30"/>
                    <a:pt x="17" y="30"/>
                  </a:cubicBezTo>
                  <a:cubicBezTo>
                    <a:pt x="17" y="29"/>
                    <a:pt x="18" y="29"/>
                    <a:pt x="18" y="29"/>
                  </a:cubicBezTo>
                  <a:cubicBezTo>
                    <a:pt x="22" y="23"/>
                    <a:pt x="22" y="23"/>
                    <a:pt x="22" y="23"/>
                  </a:cubicBezTo>
                  <a:cubicBezTo>
                    <a:pt x="25" y="20"/>
                    <a:pt x="25" y="20"/>
                    <a:pt x="25" y="20"/>
                  </a:cubicBezTo>
                  <a:cubicBezTo>
                    <a:pt x="23" y="17"/>
                    <a:pt x="23" y="17"/>
                    <a:pt x="23" y="17"/>
                  </a:cubicBezTo>
                  <a:lnTo>
                    <a:pt x="23" y="7"/>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11" name="Freeform 108">
              <a:extLst>
                <a:ext uri="{FF2B5EF4-FFF2-40B4-BE49-F238E27FC236}">
                  <a16:creationId xmlns:a16="http://schemas.microsoft.com/office/drawing/2014/main" id="{48EA7200-CAA8-573D-8199-C4E4709260A1}"/>
                </a:ext>
              </a:extLst>
            </p:cNvPr>
            <p:cNvSpPr>
              <a:spLocks/>
            </p:cNvSpPr>
            <p:nvPr/>
          </p:nvSpPr>
          <p:spPr bwMode="auto">
            <a:xfrm>
              <a:off x="6138206" y="4979786"/>
              <a:ext cx="226305" cy="214197"/>
            </a:xfrm>
            <a:custGeom>
              <a:avLst/>
              <a:gdLst>
                <a:gd name="T0" fmla="*/ 2147483647 w 24"/>
                <a:gd name="T1" fmla="*/ 2147483647 h 23"/>
                <a:gd name="T2" fmla="*/ 2147483647 w 24"/>
                <a:gd name="T3" fmla="*/ 2147483647 h 23"/>
                <a:gd name="T4" fmla="*/ 2147483647 w 24"/>
                <a:gd name="T5" fmla="*/ 2147483647 h 23"/>
                <a:gd name="T6" fmla="*/ 0 w 24"/>
                <a:gd name="T7" fmla="*/ 2147483647 h 23"/>
                <a:gd name="T8" fmla="*/ 2147483647 w 24"/>
                <a:gd name="T9" fmla="*/ 2147483647 h 23"/>
                <a:gd name="T10" fmla="*/ 2147483647 w 24"/>
                <a:gd name="T11" fmla="*/ 2147483647 h 23"/>
                <a:gd name="T12" fmla="*/ 2147483647 w 24"/>
                <a:gd name="T13" fmla="*/ 2147483647 h 23"/>
                <a:gd name="T14" fmla="*/ 2147483647 w 24"/>
                <a:gd name="T15" fmla="*/ 2147483647 h 23"/>
                <a:gd name="T16" fmla="*/ 2147483647 w 24"/>
                <a:gd name="T17" fmla="*/ 2147483647 h 23"/>
                <a:gd name="T18" fmla="*/ 2147483647 w 24"/>
                <a:gd name="T19" fmla="*/ 2147483647 h 23"/>
                <a:gd name="T20" fmla="*/ 2147483647 w 24"/>
                <a:gd name="T21" fmla="*/ 2147483647 h 23"/>
                <a:gd name="T22" fmla="*/ 2147483647 w 24"/>
                <a:gd name="T23" fmla="*/ 2147483647 h 23"/>
                <a:gd name="T24" fmla="*/ 2147483647 w 24"/>
                <a:gd name="T25" fmla="*/ 2147483647 h 23"/>
                <a:gd name="T26" fmla="*/ 2147483647 w 24"/>
                <a:gd name="T27" fmla="*/ 2147483647 h 23"/>
                <a:gd name="T28" fmla="*/ 2147483647 w 24"/>
                <a:gd name="T29" fmla="*/ 2147483647 h 23"/>
                <a:gd name="T30" fmla="*/ 2147483647 w 24"/>
                <a:gd name="T31" fmla="*/ 0 h 23"/>
                <a:gd name="T32" fmla="*/ 2147483647 w 24"/>
                <a:gd name="T33" fmla="*/ 2147483647 h 23"/>
                <a:gd name="T34" fmla="*/ 2147483647 w 24"/>
                <a:gd name="T35" fmla="*/ 2147483647 h 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4" h="23">
                  <a:moveTo>
                    <a:pt x="9" y="5"/>
                  </a:moveTo>
                  <a:cubicBezTo>
                    <a:pt x="9" y="5"/>
                    <a:pt x="6" y="8"/>
                    <a:pt x="6" y="8"/>
                  </a:cubicBezTo>
                  <a:cubicBezTo>
                    <a:pt x="5" y="8"/>
                    <a:pt x="2" y="7"/>
                    <a:pt x="2" y="7"/>
                  </a:cubicBezTo>
                  <a:cubicBezTo>
                    <a:pt x="0" y="8"/>
                    <a:pt x="0" y="8"/>
                    <a:pt x="0" y="8"/>
                  </a:cubicBezTo>
                  <a:cubicBezTo>
                    <a:pt x="1" y="8"/>
                    <a:pt x="1" y="8"/>
                    <a:pt x="1" y="8"/>
                  </a:cubicBezTo>
                  <a:cubicBezTo>
                    <a:pt x="3" y="12"/>
                    <a:pt x="3" y="12"/>
                    <a:pt x="3" y="12"/>
                  </a:cubicBezTo>
                  <a:cubicBezTo>
                    <a:pt x="6" y="16"/>
                    <a:pt x="6" y="16"/>
                    <a:pt x="6" y="16"/>
                  </a:cubicBezTo>
                  <a:cubicBezTo>
                    <a:pt x="8" y="16"/>
                    <a:pt x="8" y="16"/>
                    <a:pt x="8" y="16"/>
                  </a:cubicBezTo>
                  <a:cubicBezTo>
                    <a:pt x="9" y="20"/>
                    <a:pt x="9" y="20"/>
                    <a:pt x="9" y="20"/>
                  </a:cubicBezTo>
                  <a:cubicBezTo>
                    <a:pt x="14" y="22"/>
                    <a:pt x="14" y="22"/>
                    <a:pt x="14" y="22"/>
                  </a:cubicBezTo>
                  <a:cubicBezTo>
                    <a:pt x="20" y="23"/>
                    <a:pt x="20" y="23"/>
                    <a:pt x="20" y="23"/>
                  </a:cubicBezTo>
                  <a:cubicBezTo>
                    <a:pt x="22" y="20"/>
                    <a:pt x="22" y="20"/>
                    <a:pt x="22" y="20"/>
                  </a:cubicBezTo>
                  <a:cubicBezTo>
                    <a:pt x="24" y="12"/>
                    <a:pt x="24" y="12"/>
                    <a:pt x="24" y="12"/>
                  </a:cubicBezTo>
                  <a:cubicBezTo>
                    <a:pt x="24" y="7"/>
                    <a:pt x="24" y="7"/>
                    <a:pt x="24" y="7"/>
                  </a:cubicBezTo>
                  <a:cubicBezTo>
                    <a:pt x="24" y="3"/>
                    <a:pt x="24" y="3"/>
                    <a:pt x="24" y="3"/>
                  </a:cubicBezTo>
                  <a:cubicBezTo>
                    <a:pt x="16" y="0"/>
                    <a:pt x="16" y="0"/>
                    <a:pt x="16" y="0"/>
                  </a:cubicBezTo>
                  <a:cubicBezTo>
                    <a:pt x="13" y="1"/>
                    <a:pt x="13" y="1"/>
                    <a:pt x="13" y="1"/>
                  </a:cubicBezTo>
                  <a:lnTo>
                    <a:pt x="9" y="5"/>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12" name="Freeform 109">
              <a:extLst>
                <a:ext uri="{FF2B5EF4-FFF2-40B4-BE49-F238E27FC236}">
                  <a16:creationId xmlns:a16="http://schemas.microsoft.com/office/drawing/2014/main" id="{F2BF0B86-AD24-03E8-6E4F-05FB2213DBC7}"/>
                </a:ext>
              </a:extLst>
            </p:cNvPr>
            <p:cNvSpPr>
              <a:spLocks/>
            </p:cNvSpPr>
            <p:nvPr/>
          </p:nvSpPr>
          <p:spPr bwMode="auto">
            <a:xfrm>
              <a:off x="6054530" y="4403539"/>
              <a:ext cx="405067" cy="650173"/>
            </a:xfrm>
            <a:custGeom>
              <a:avLst/>
              <a:gdLst>
                <a:gd name="T0" fmla="*/ 2147483647 w 43"/>
                <a:gd name="T1" fmla="*/ 2147483647 h 70"/>
                <a:gd name="T2" fmla="*/ 2147483647 w 43"/>
                <a:gd name="T3" fmla="*/ 2147483647 h 70"/>
                <a:gd name="T4" fmla="*/ 2147483647 w 43"/>
                <a:gd name="T5" fmla="*/ 2147483647 h 70"/>
                <a:gd name="T6" fmla="*/ 2147483647 w 43"/>
                <a:gd name="T7" fmla="*/ 2147483647 h 70"/>
                <a:gd name="T8" fmla="*/ 2147483647 w 43"/>
                <a:gd name="T9" fmla="*/ 2147483647 h 70"/>
                <a:gd name="T10" fmla="*/ 2147483647 w 43"/>
                <a:gd name="T11" fmla="*/ 2147483647 h 70"/>
                <a:gd name="T12" fmla="*/ 2147483647 w 43"/>
                <a:gd name="T13" fmla="*/ 2147483647 h 70"/>
                <a:gd name="T14" fmla="*/ 2147483647 w 43"/>
                <a:gd name="T15" fmla="*/ 2147483647 h 70"/>
                <a:gd name="T16" fmla="*/ 2147483647 w 43"/>
                <a:gd name="T17" fmla="*/ 2147483647 h 70"/>
                <a:gd name="T18" fmla="*/ 2147483647 w 43"/>
                <a:gd name="T19" fmla="*/ 2147483647 h 70"/>
                <a:gd name="T20" fmla="*/ 2147483647 w 43"/>
                <a:gd name="T21" fmla="*/ 2147483647 h 70"/>
                <a:gd name="T22" fmla="*/ 2147483647 w 43"/>
                <a:gd name="T23" fmla="*/ 2147483647 h 70"/>
                <a:gd name="T24" fmla="*/ 2147483647 w 43"/>
                <a:gd name="T25" fmla="*/ 2147483647 h 70"/>
                <a:gd name="T26" fmla="*/ 2147483647 w 43"/>
                <a:gd name="T27" fmla="*/ 2147483647 h 70"/>
                <a:gd name="T28" fmla="*/ 2147483647 w 43"/>
                <a:gd name="T29" fmla="*/ 2147483647 h 70"/>
                <a:gd name="T30" fmla="*/ 0 w 43"/>
                <a:gd name="T31" fmla="*/ 2147483647 h 70"/>
                <a:gd name="T32" fmla="*/ 0 w 43"/>
                <a:gd name="T33" fmla="*/ 2147483647 h 70"/>
                <a:gd name="T34" fmla="*/ 2147483647 w 43"/>
                <a:gd name="T35" fmla="*/ 2147483647 h 70"/>
                <a:gd name="T36" fmla="*/ 2147483647 w 43"/>
                <a:gd name="T37" fmla="*/ 2147483647 h 70"/>
                <a:gd name="T38" fmla="*/ 2147483647 w 43"/>
                <a:gd name="T39" fmla="*/ 2147483647 h 70"/>
                <a:gd name="T40" fmla="*/ 2147483647 w 43"/>
                <a:gd name="T41" fmla="*/ 2147483647 h 70"/>
                <a:gd name="T42" fmla="*/ 2147483647 w 43"/>
                <a:gd name="T43" fmla="*/ 2147483647 h 70"/>
                <a:gd name="T44" fmla="*/ 2147483647 w 43"/>
                <a:gd name="T45" fmla="*/ 2147483647 h 70"/>
                <a:gd name="T46" fmla="*/ 2147483647 w 43"/>
                <a:gd name="T47" fmla="*/ 2147483647 h 70"/>
                <a:gd name="T48" fmla="*/ 2147483647 w 43"/>
                <a:gd name="T49" fmla="*/ 2147483647 h 70"/>
                <a:gd name="T50" fmla="*/ 2147483647 w 43"/>
                <a:gd name="T51" fmla="*/ 2147483647 h 70"/>
                <a:gd name="T52" fmla="*/ 2147483647 w 43"/>
                <a:gd name="T53" fmla="*/ 2147483647 h 70"/>
                <a:gd name="T54" fmla="*/ 2147483647 w 43"/>
                <a:gd name="T55" fmla="*/ 2147483647 h 70"/>
                <a:gd name="T56" fmla="*/ 2147483647 w 43"/>
                <a:gd name="T57" fmla="*/ 2147483647 h 70"/>
                <a:gd name="T58" fmla="*/ 2147483647 w 43"/>
                <a:gd name="T59" fmla="*/ 2147483647 h 70"/>
                <a:gd name="T60" fmla="*/ 2147483647 w 43"/>
                <a:gd name="T61" fmla="*/ 2147483647 h 70"/>
                <a:gd name="T62" fmla="*/ 2147483647 w 43"/>
                <a:gd name="T63" fmla="*/ 2147483647 h 70"/>
                <a:gd name="T64" fmla="*/ 2147483647 w 43"/>
                <a:gd name="T65" fmla="*/ 2147483647 h 70"/>
                <a:gd name="T66" fmla="*/ 2147483647 w 43"/>
                <a:gd name="T67" fmla="*/ 2147483647 h 70"/>
                <a:gd name="T68" fmla="*/ 2147483647 w 43"/>
                <a:gd name="T69" fmla="*/ 2147483647 h 70"/>
                <a:gd name="T70" fmla="*/ 2147483647 w 43"/>
                <a:gd name="T71" fmla="*/ 2147483647 h 70"/>
                <a:gd name="T72" fmla="*/ 2147483647 w 43"/>
                <a:gd name="T73" fmla="*/ 2147483647 h 70"/>
                <a:gd name="T74" fmla="*/ 2147483647 w 43"/>
                <a:gd name="T75" fmla="*/ 2147483647 h 70"/>
                <a:gd name="T76" fmla="*/ 2147483647 w 43"/>
                <a:gd name="T77" fmla="*/ 2147483647 h 70"/>
                <a:gd name="T78" fmla="*/ 2147483647 w 43"/>
                <a:gd name="T79" fmla="*/ 2147483647 h 70"/>
                <a:gd name="T80" fmla="*/ 2147483647 w 43"/>
                <a:gd name="T81" fmla="*/ 2147483647 h 70"/>
                <a:gd name="T82" fmla="*/ 2147483647 w 43"/>
                <a:gd name="T83" fmla="*/ 2147483647 h 70"/>
                <a:gd name="T84" fmla="*/ 2147483647 w 43"/>
                <a:gd name="T85" fmla="*/ 2147483647 h 70"/>
                <a:gd name="T86" fmla="*/ 2147483647 w 43"/>
                <a:gd name="T87" fmla="*/ 2147483647 h 70"/>
                <a:gd name="T88" fmla="*/ 2147483647 w 43"/>
                <a:gd name="T89" fmla="*/ 2147483647 h 70"/>
                <a:gd name="T90" fmla="*/ 2147483647 w 43"/>
                <a:gd name="T91" fmla="*/ 2147483647 h 70"/>
                <a:gd name="T92" fmla="*/ 2147483647 w 43"/>
                <a:gd name="T93" fmla="*/ 2147483647 h 70"/>
                <a:gd name="T94" fmla="*/ 2147483647 w 43"/>
                <a:gd name="T95" fmla="*/ 2147483647 h 70"/>
                <a:gd name="T96" fmla="*/ 2147483647 w 43"/>
                <a:gd name="T97" fmla="*/ 2147483647 h 70"/>
                <a:gd name="T98" fmla="*/ 2147483647 w 43"/>
                <a:gd name="T99" fmla="*/ 2147483647 h 70"/>
                <a:gd name="T100" fmla="*/ 2147483647 w 43"/>
                <a:gd name="T101" fmla="*/ 2147483647 h 70"/>
                <a:gd name="T102" fmla="*/ 2147483647 w 43"/>
                <a:gd name="T103" fmla="*/ 2147483647 h 70"/>
                <a:gd name="T104" fmla="*/ 2147483647 w 43"/>
                <a:gd name="T105" fmla="*/ 2147483647 h 70"/>
                <a:gd name="T106" fmla="*/ 2147483647 w 43"/>
                <a:gd name="T107" fmla="*/ 2147483647 h 70"/>
                <a:gd name="T108" fmla="*/ 2147483647 w 43"/>
                <a:gd name="T109" fmla="*/ 2147483647 h 70"/>
                <a:gd name="T110" fmla="*/ 2147483647 w 43"/>
                <a:gd name="T111" fmla="*/ 0 h 70"/>
                <a:gd name="T112" fmla="*/ 2147483647 w 43"/>
                <a:gd name="T113" fmla="*/ 0 h 70"/>
                <a:gd name="T114" fmla="*/ 2147483647 w 43"/>
                <a:gd name="T115" fmla="*/ 2147483647 h 70"/>
                <a:gd name="T116" fmla="*/ 2147483647 w 43"/>
                <a:gd name="T117" fmla="*/ 0 h 70"/>
                <a:gd name="T118" fmla="*/ 2147483647 w 43"/>
                <a:gd name="T119" fmla="*/ 2147483647 h 70"/>
                <a:gd name="T120" fmla="*/ 2147483647 w 43"/>
                <a:gd name="T121" fmla="*/ 2147483647 h 7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43" h="70">
                  <a:moveTo>
                    <a:pt x="27" y="6"/>
                  </a:moveTo>
                  <a:cubicBezTo>
                    <a:pt x="23" y="13"/>
                    <a:pt x="23" y="13"/>
                    <a:pt x="23" y="13"/>
                  </a:cubicBezTo>
                  <a:cubicBezTo>
                    <a:pt x="21" y="20"/>
                    <a:pt x="21" y="20"/>
                    <a:pt x="21" y="20"/>
                  </a:cubicBezTo>
                  <a:cubicBezTo>
                    <a:pt x="22" y="26"/>
                    <a:pt x="22" y="26"/>
                    <a:pt x="22" y="26"/>
                  </a:cubicBezTo>
                  <a:cubicBezTo>
                    <a:pt x="23" y="32"/>
                    <a:pt x="23" y="32"/>
                    <a:pt x="23" y="32"/>
                  </a:cubicBezTo>
                  <a:cubicBezTo>
                    <a:pt x="25" y="38"/>
                    <a:pt x="25" y="38"/>
                    <a:pt x="25" y="38"/>
                  </a:cubicBezTo>
                  <a:cubicBezTo>
                    <a:pt x="22" y="39"/>
                    <a:pt x="22" y="39"/>
                    <a:pt x="22" y="39"/>
                  </a:cubicBezTo>
                  <a:cubicBezTo>
                    <a:pt x="21" y="45"/>
                    <a:pt x="21" y="45"/>
                    <a:pt x="21" y="45"/>
                  </a:cubicBezTo>
                  <a:cubicBezTo>
                    <a:pt x="20" y="48"/>
                    <a:pt x="20" y="48"/>
                    <a:pt x="20" y="48"/>
                  </a:cubicBezTo>
                  <a:cubicBezTo>
                    <a:pt x="23" y="52"/>
                    <a:pt x="23" y="52"/>
                    <a:pt x="23" y="52"/>
                  </a:cubicBezTo>
                  <a:cubicBezTo>
                    <a:pt x="23" y="54"/>
                    <a:pt x="23" y="54"/>
                    <a:pt x="23" y="54"/>
                  </a:cubicBezTo>
                  <a:cubicBezTo>
                    <a:pt x="17" y="51"/>
                    <a:pt x="17" y="51"/>
                    <a:pt x="17" y="51"/>
                  </a:cubicBezTo>
                  <a:cubicBezTo>
                    <a:pt x="11" y="48"/>
                    <a:pt x="11" y="48"/>
                    <a:pt x="11" y="48"/>
                  </a:cubicBezTo>
                  <a:cubicBezTo>
                    <a:pt x="6" y="48"/>
                    <a:pt x="6" y="48"/>
                    <a:pt x="6" y="48"/>
                  </a:cubicBezTo>
                  <a:cubicBezTo>
                    <a:pt x="6" y="52"/>
                    <a:pt x="6" y="52"/>
                    <a:pt x="6" y="52"/>
                  </a:cubicBezTo>
                  <a:cubicBezTo>
                    <a:pt x="0" y="53"/>
                    <a:pt x="0" y="53"/>
                    <a:pt x="0" y="53"/>
                  </a:cubicBezTo>
                  <a:cubicBezTo>
                    <a:pt x="0" y="64"/>
                    <a:pt x="0" y="64"/>
                    <a:pt x="0" y="64"/>
                  </a:cubicBezTo>
                  <a:cubicBezTo>
                    <a:pt x="2" y="68"/>
                    <a:pt x="2" y="68"/>
                    <a:pt x="2" y="68"/>
                  </a:cubicBezTo>
                  <a:cubicBezTo>
                    <a:pt x="6" y="68"/>
                    <a:pt x="6" y="68"/>
                    <a:pt x="6" y="68"/>
                  </a:cubicBezTo>
                  <a:cubicBezTo>
                    <a:pt x="8" y="69"/>
                    <a:pt x="8" y="69"/>
                    <a:pt x="8" y="69"/>
                  </a:cubicBezTo>
                  <a:cubicBezTo>
                    <a:pt x="7" y="69"/>
                    <a:pt x="7" y="69"/>
                    <a:pt x="7" y="69"/>
                  </a:cubicBezTo>
                  <a:cubicBezTo>
                    <a:pt x="9" y="70"/>
                    <a:pt x="9" y="70"/>
                    <a:pt x="9" y="70"/>
                  </a:cubicBezTo>
                  <a:cubicBezTo>
                    <a:pt x="11" y="69"/>
                    <a:pt x="11" y="69"/>
                    <a:pt x="11" y="69"/>
                  </a:cubicBezTo>
                  <a:cubicBezTo>
                    <a:pt x="11" y="69"/>
                    <a:pt x="14" y="70"/>
                    <a:pt x="15" y="70"/>
                  </a:cubicBezTo>
                  <a:cubicBezTo>
                    <a:pt x="15" y="70"/>
                    <a:pt x="18" y="67"/>
                    <a:pt x="18" y="67"/>
                  </a:cubicBezTo>
                  <a:cubicBezTo>
                    <a:pt x="22" y="63"/>
                    <a:pt x="22" y="63"/>
                    <a:pt x="22" y="63"/>
                  </a:cubicBezTo>
                  <a:cubicBezTo>
                    <a:pt x="25" y="62"/>
                    <a:pt x="25" y="62"/>
                    <a:pt x="25" y="62"/>
                  </a:cubicBezTo>
                  <a:cubicBezTo>
                    <a:pt x="24" y="62"/>
                    <a:pt x="24" y="62"/>
                    <a:pt x="24" y="62"/>
                  </a:cubicBezTo>
                  <a:cubicBezTo>
                    <a:pt x="24" y="61"/>
                    <a:pt x="24" y="61"/>
                    <a:pt x="24" y="61"/>
                  </a:cubicBezTo>
                  <a:cubicBezTo>
                    <a:pt x="33" y="57"/>
                    <a:pt x="33" y="57"/>
                    <a:pt x="33" y="57"/>
                  </a:cubicBezTo>
                  <a:cubicBezTo>
                    <a:pt x="37" y="59"/>
                    <a:pt x="37" y="59"/>
                    <a:pt x="37" y="59"/>
                  </a:cubicBezTo>
                  <a:cubicBezTo>
                    <a:pt x="39" y="62"/>
                    <a:pt x="39" y="62"/>
                    <a:pt x="39" y="62"/>
                  </a:cubicBezTo>
                  <a:cubicBezTo>
                    <a:pt x="40" y="64"/>
                    <a:pt x="40" y="64"/>
                    <a:pt x="40" y="64"/>
                  </a:cubicBezTo>
                  <a:cubicBezTo>
                    <a:pt x="43" y="62"/>
                    <a:pt x="43" y="62"/>
                    <a:pt x="43" y="62"/>
                  </a:cubicBezTo>
                  <a:cubicBezTo>
                    <a:pt x="43" y="59"/>
                    <a:pt x="43" y="59"/>
                    <a:pt x="43" y="59"/>
                  </a:cubicBezTo>
                  <a:cubicBezTo>
                    <a:pt x="40" y="54"/>
                    <a:pt x="40" y="54"/>
                    <a:pt x="40" y="54"/>
                  </a:cubicBezTo>
                  <a:cubicBezTo>
                    <a:pt x="40" y="49"/>
                    <a:pt x="40" y="49"/>
                    <a:pt x="40" y="49"/>
                  </a:cubicBezTo>
                  <a:cubicBezTo>
                    <a:pt x="41" y="49"/>
                    <a:pt x="41" y="49"/>
                    <a:pt x="41" y="49"/>
                  </a:cubicBezTo>
                  <a:cubicBezTo>
                    <a:pt x="39" y="44"/>
                    <a:pt x="39" y="44"/>
                    <a:pt x="39" y="44"/>
                  </a:cubicBezTo>
                  <a:cubicBezTo>
                    <a:pt x="38" y="42"/>
                    <a:pt x="38" y="42"/>
                    <a:pt x="38" y="42"/>
                  </a:cubicBezTo>
                  <a:cubicBezTo>
                    <a:pt x="38" y="42"/>
                    <a:pt x="33" y="41"/>
                    <a:pt x="33" y="41"/>
                  </a:cubicBezTo>
                  <a:cubicBezTo>
                    <a:pt x="32" y="41"/>
                    <a:pt x="28" y="39"/>
                    <a:pt x="28" y="39"/>
                  </a:cubicBezTo>
                  <a:cubicBezTo>
                    <a:pt x="26" y="34"/>
                    <a:pt x="26" y="34"/>
                    <a:pt x="26" y="34"/>
                  </a:cubicBezTo>
                  <a:cubicBezTo>
                    <a:pt x="24" y="26"/>
                    <a:pt x="24" y="26"/>
                    <a:pt x="24" y="26"/>
                  </a:cubicBezTo>
                  <a:cubicBezTo>
                    <a:pt x="26" y="23"/>
                    <a:pt x="26" y="23"/>
                    <a:pt x="26" y="23"/>
                  </a:cubicBezTo>
                  <a:cubicBezTo>
                    <a:pt x="25" y="16"/>
                    <a:pt x="25" y="16"/>
                    <a:pt x="25" y="16"/>
                  </a:cubicBezTo>
                  <a:cubicBezTo>
                    <a:pt x="30" y="16"/>
                    <a:pt x="30" y="16"/>
                    <a:pt x="30" y="16"/>
                  </a:cubicBezTo>
                  <a:cubicBezTo>
                    <a:pt x="32" y="20"/>
                    <a:pt x="32" y="20"/>
                    <a:pt x="32" y="20"/>
                  </a:cubicBezTo>
                  <a:cubicBezTo>
                    <a:pt x="36" y="20"/>
                    <a:pt x="36" y="20"/>
                    <a:pt x="36" y="20"/>
                  </a:cubicBezTo>
                  <a:cubicBezTo>
                    <a:pt x="36" y="17"/>
                    <a:pt x="36" y="17"/>
                    <a:pt x="36" y="17"/>
                  </a:cubicBezTo>
                  <a:cubicBezTo>
                    <a:pt x="37" y="15"/>
                    <a:pt x="37" y="15"/>
                    <a:pt x="37" y="15"/>
                  </a:cubicBezTo>
                  <a:cubicBezTo>
                    <a:pt x="38" y="16"/>
                    <a:pt x="38" y="16"/>
                    <a:pt x="38" y="16"/>
                  </a:cubicBezTo>
                  <a:cubicBezTo>
                    <a:pt x="37" y="10"/>
                    <a:pt x="37" y="10"/>
                    <a:pt x="37" y="10"/>
                  </a:cubicBezTo>
                  <a:cubicBezTo>
                    <a:pt x="39" y="6"/>
                    <a:pt x="39" y="6"/>
                    <a:pt x="39" y="6"/>
                  </a:cubicBezTo>
                  <a:cubicBezTo>
                    <a:pt x="39" y="2"/>
                    <a:pt x="39" y="2"/>
                    <a:pt x="39" y="2"/>
                  </a:cubicBezTo>
                  <a:cubicBezTo>
                    <a:pt x="37" y="0"/>
                    <a:pt x="37" y="0"/>
                    <a:pt x="37" y="0"/>
                  </a:cubicBezTo>
                  <a:cubicBezTo>
                    <a:pt x="35" y="0"/>
                    <a:pt x="35" y="0"/>
                    <a:pt x="35" y="0"/>
                  </a:cubicBezTo>
                  <a:cubicBezTo>
                    <a:pt x="28" y="1"/>
                    <a:pt x="28" y="1"/>
                    <a:pt x="28" y="1"/>
                  </a:cubicBezTo>
                  <a:cubicBezTo>
                    <a:pt x="27" y="0"/>
                    <a:pt x="27" y="0"/>
                    <a:pt x="27" y="0"/>
                  </a:cubicBezTo>
                  <a:cubicBezTo>
                    <a:pt x="27" y="5"/>
                    <a:pt x="27" y="5"/>
                    <a:pt x="27" y="5"/>
                  </a:cubicBezTo>
                  <a:lnTo>
                    <a:pt x="27" y="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13" name="Freeform 110">
              <a:extLst>
                <a:ext uri="{FF2B5EF4-FFF2-40B4-BE49-F238E27FC236}">
                  <a16:creationId xmlns:a16="http://schemas.microsoft.com/office/drawing/2014/main" id="{74D15F01-9D76-01D7-4D6E-9C32190044F7}"/>
                </a:ext>
              </a:extLst>
            </p:cNvPr>
            <p:cNvSpPr>
              <a:spLocks/>
            </p:cNvSpPr>
            <p:nvPr/>
          </p:nvSpPr>
          <p:spPr bwMode="auto">
            <a:xfrm>
              <a:off x="5248200" y="4066131"/>
              <a:ext cx="224403" cy="168703"/>
            </a:xfrm>
            <a:custGeom>
              <a:avLst/>
              <a:gdLst>
                <a:gd name="T0" fmla="*/ 2147483647 w 144"/>
                <a:gd name="T1" fmla="*/ 2147483647 h 109"/>
                <a:gd name="T2" fmla="*/ 2147483647 w 144"/>
                <a:gd name="T3" fmla="*/ 2147483647 h 109"/>
                <a:gd name="T4" fmla="*/ 2147483647 w 144"/>
                <a:gd name="T5" fmla="*/ 2147483647 h 109"/>
                <a:gd name="T6" fmla="*/ 2147483647 w 144"/>
                <a:gd name="T7" fmla="*/ 2147483647 h 109"/>
                <a:gd name="T8" fmla="*/ 2147483647 w 144"/>
                <a:gd name="T9" fmla="*/ 2147483647 h 109"/>
                <a:gd name="T10" fmla="*/ 2147483647 w 144"/>
                <a:gd name="T11" fmla="*/ 2147483647 h 109"/>
                <a:gd name="T12" fmla="*/ 2147483647 w 144"/>
                <a:gd name="T13" fmla="*/ 0 h 109"/>
                <a:gd name="T14" fmla="*/ 2147483647 w 144"/>
                <a:gd name="T15" fmla="*/ 0 h 109"/>
                <a:gd name="T16" fmla="*/ 2147483647 w 144"/>
                <a:gd name="T17" fmla="*/ 2147483647 h 109"/>
                <a:gd name="T18" fmla="*/ 2147483647 w 144"/>
                <a:gd name="T19" fmla="*/ 2147483647 h 109"/>
                <a:gd name="T20" fmla="*/ 2147483647 w 144"/>
                <a:gd name="T21" fmla="*/ 2147483647 h 109"/>
                <a:gd name="T22" fmla="*/ 0 w 144"/>
                <a:gd name="T23" fmla="*/ 2147483647 h 109"/>
                <a:gd name="T24" fmla="*/ 0 w 144"/>
                <a:gd name="T25" fmla="*/ 2147483647 h 109"/>
                <a:gd name="T26" fmla="*/ 2147483647 w 144"/>
                <a:gd name="T27" fmla="*/ 2147483647 h 109"/>
                <a:gd name="T28" fmla="*/ 2147483647 w 144"/>
                <a:gd name="T29" fmla="*/ 2147483647 h 109"/>
                <a:gd name="T30" fmla="*/ 2147483647 w 144"/>
                <a:gd name="T31" fmla="*/ 2147483647 h 109"/>
                <a:gd name="T32" fmla="*/ 2147483647 w 144"/>
                <a:gd name="T33" fmla="*/ 2147483647 h 109"/>
                <a:gd name="T34" fmla="*/ 2147483647 w 144"/>
                <a:gd name="T35" fmla="*/ 2147483647 h 109"/>
                <a:gd name="T36" fmla="*/ 2147483647 w 144"/>
                <a:gd name="T37" fmla="*/ 2147483647 h 109"/>
                <a:gd name="T38" fmla="*/ 2147483647 w 144"/>
                <a:gd name="T39" fmla="*/ 2147483647 h 10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44" h="109">
                  <a:moveTo>
                    <a:pt x="114" y="79"/>
                  </a:moveTo>
                  <a:lnTo>
                    <a:pt x="120" y="79"/>
                  </a:lnTo>
                  <a:lnTo>
                    <a:pt x="138" y="55"/>
                  </a:lnTo>
                  <a:lnTo>
                    <a:pt x="144" y="49"/>
                  </a:lnTo>
                  <a:lnTo>
                    <a:pt x="132" y="49"/>
                  </a:lnTo>
                  <a:lnTo>
                    <a:pt x="108" y="25"/>
                  </a:lnTo>
                  <a:lnTo>
                    <a:pt x="96" y="0"/>
                  </a:lnTo>
                  <a:lnTo>
                    <a:pt x="90" y="0"/>
                  </a:lnTo>
                  <a:lnTo>
                    <a:pt x="54" y="19"/>
                  </a:lnTo>
                  <a:lnTo>
                    <a:pt x="24" y="43"/>
                  </a:lnTo>
                  <a:lnTo>
                    <a:pt x="6" y="67"/>
                  </a:lnTo>
                  <a:lnTo>
                    <a:pt x="0" y="85"/>
                  </a:lnTo>
                  <a:lnTo>
                    <a:pt x="0" y="97"/>
                  </a:lnTo>
                  <a:lnTo>
                    <a:pt x="6" y="109"/>
                  </a:lnTo>
                  <a:lnTo>
                    <a:pt x="36" y="103"/>
                  </a:lnTo>
                  <a:lnTo>
                    <a:pt x="36" y="109"/>
                  </a:lnTo>
                  <a:lnTo>
                    <a:pt x="42" y="85"/>
                  </a:lnTo>
                  <a:lnTo>
                    <a:pt x="72" y="85"/>
                  </a:lnTo>
                  <a:lnTo>
                    <a:pt x="96" y="85"/>
                  </a:lnTo>
                  <a:lnTo>
                    <a:pt x="114" y="79"/>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14" name="Freeform 111">
              <a:extLst>
                <a:ext uri="{FF2B5EF4-FFF2-40B4-BE49-F238E27FC236}">
                  <a16:creationId xmlns:a16="http://schemas.microsoft.com/office/drawing/2014/main" id="{A2A63998-B967-700B-428B-BDFFB8F31319}"/>
                </a:ext>
              </a:extLst>
            </p:cNvPr>
            <p:cNvSpPr>
              <a:spLocks/>
            </p:cNvSpPr>
            <p:nvPr/>
          </p:nvSpPr>
          <p:spPr bwMode="auto">
            <a:xfrm>
              <a:off x="5248200" y="4066131"/>
              <a:ext cx="224403" cy="168703"/>
            </a:xfrm>
            <a:custGeom>
              <a:avLst/>
              <a:gdLst>
                <a:gd name="T0" fmla="*/ 2147483647 w 144"/>
                <a:gd name="T1" fmla="*/ 2147483647 h 109"/>
                <a:gd name="T2" fmla="*/ 2147483647 w 144"/>
                <a:gd name="T3" fmla="*/ 2147483647 h 109"/>
                <a:gd name="T4" fmla="*/ 2147483647 w 144"/>
                <a:gd name="T5" fmla="*/ 2147483647 h 109"/>
                <a:gd name="T6" fmla="*/ 2147483647 w 144"/>
                <a:gd name="T7" fmla="*/ 2147483647 h 109"/>
                <a:gd name="T8" fmla="*/ 2147483647 w 144"/>
                <a:gd name="T9" fmla="*/ 2147483647 h 109"/>
                <a:gd name="T10" fmla="*/ 2147483647 w 144"/>
                <a:gd name="T11" fmla="*/ 2147483647 h 109"/>
                <a:gd name="T12" fmla="*/ 2147483647 w 144"/>
                <a:gd name="T13" fmla="*/ 0 h 109"/>
                <a:gd name="T14" fmla="*/ 2147483647 w 144"/>
                <a:gd name="T15" fmla="*/ 0 h 109"/>
                <a:gd name="T16" fmla="*/ 2147483647 w 144"/>
                <a:gd name="T17" fmla="*/ 2147483647 h 109"/>
                <a:gd name="T18" fmla="*/ 2147483647 w 144"/>
                <a:gd name="T19" fmla="*/ 2147483647 h 109"/>
                <a:gd name="T20" fmla="*/ 2147483647 w 144"/>
                <a:gd name="T21" fmla="*/ 2147483647 h 109"/>
                <a:gd name="T22" fmla="*/ 0 w 144"/>
                <a:gd name="T23" fmla="*/ 2147483647 h 109"/>
                <a:gd name="T24" fmla="*/ 0 w 144"/>
                <a:gd name="T25" fmla="*/ 2147483647 h 109"/>
                <a:gd name="T26" fmla="*/ 2147483647 w 144"/>
                <a:gd name="T27" fmla="*/ 2147483647 h 109"/>
                <a:gd name="T28" fmla="*/ 2147483647 w 144"/>
                <a:gd name="T29" fmla="*/ 2147483647 h 109"/>
                <a:gd name="T30" fmla="*/ 2147483647 w 144"/>
                <a:gd name="T31" fmla="*/ 2147483647 h 109"/>
                <a:gd name="T32" fmla="*/ 2147483647 w 144"/>
                <a:gd name="T33" fmla="*/ 2147483647 h 109"/>
                <a:gd name="T34" fmla="*/ 2147483647 w 144"/>
                <a:gd name="T35" fmla="*/ 2147483647 h 109"/>
                <a:gd name="T36" fmla="*/ 2147483647 w 144"/>
                <a:gd name="T37" fmla="*/ 2147483647 h 10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44" h="109">
                  <a:moveTo>
                    <a:pt x="114" y="79"/>
                  </a:moveTo>
                  <a:lnTo>
                    <a:pt x="120" y="79"/>
                  </a:lnTo>
                  <a:lnTo>
                    <a:pt x="138" y="55"/>
                  </a:lnTo>
                  <a:lnTo>
                    <a:pt x="144" y="49"/>
                  </a:lnTo>
                  <a:lnTo>
                    <a:pt x="132" y="49"/>
                  </a:lnTo>
                  <a:lnTo>
                    <a:pt x="108" y="25"/>
                  </a:lnTo>
                  <a:lnTo>
                    <a:pt x="96" y="0"/>
                  </a:lnTo>
                  <a:lnTo>
                    <a:pt x="90" y="0"/>
                  </a:lnTo>
                  <a:lnTo>
                    <a:pt x="54" y="19"/>
                  </a:lnTo>
                  <a:lnTo>
                    <a:pt x="24" y="43"/>
                  </a:lnTo>
                  <a:lnTo>
                    <a:pt x="6" y="67"/>
                  </a:lnTo>
                  <a:lnTo>
                    <a:pt x="0" y="85"/>
                  </a:lnTo>
                  <a:lnTo>
                    <a:pt x="0" y="97"/>
                  </a:lnTo>
                  <a:lnTo>
                    <a:pt x="6" y="109"/>
                  </a:lnTo>
                  <a:lnTo>
                    <a:pt x="36" y="103"/>
                  </a:lnTo>
                  <a:lnTo>
                    <a:pt x="36" y="109"/>
                  </a:lnTo>
                  <a:lnTo>
                    <a:pt x="42" y="85"/>
                  </a:lnTo>
                  <a:lnTo>
                    <a:pt x="72" y="85"/>
                  </a:lnTo>
                  <a:lnTo>
                    <a:pt x="96" y="85"/>
                  </a:lnTo>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15" name="Freeform 112">
              <a:extLst>
                <a:ext uri="{FF2B5EF4-FFF2-40B4-BE49-F238E27FC236}">
                  <a16:creationId xmlns:a16="http://schemas.microsoft.com/office/drawing/2014/main" id="{9A5D12EC-975E-5818-0909-1948637ED805}"/>
                </a:ext>
              </a:extLst>
            </p:cNvPr>
            <p:cNvSpPr>
              <a:spLocks/>
            </p:cNvSpPr>
            <p:nvPr/>
          </p:nvSpPr>
          <p:spPr bwMode="auto">
            <a:xfrm>
              <a:off x="5396534" y="4189341"/>
              <a:ext cx="28525" cy="7582"/>
            </a:xfrm>
            <a:custGeom>
              <a:avLst/>
              <a:gdLst>
                <a:gd name="T0" fmla="*/ 0 w 18"/>
                <a:gd name="T1" fmla="*/ 2147483647 h 6"/>
                <a:gd name="T2" fmla="*/ 2147483647 w 18"/>
                <a:gd name="T3" fmla="*/ 2147483647 h 6"/>
                <a:gd name="T4" fmla="*/ 2147483647 w 18"/>
                <a:gd name="T5" fmla="*/ 0 h 6"/>
                <a:gd name="T6" fmla="*/ 0 w 18"/>
                <a:gd name="T7" fmla="*/ 2147483647 h 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 h="6">
                  <a:moveTo>
                    <a:pt x="0" y="6"/>
                  </a:moveTo>
                  <a:lnTo>
                    <a:pt x="6" y="6"/>
                  </a:lnTo>
                  <a:lnTo>
                    <a:pt x="18" y="0"/>
                  </a:lnTo>
                  <a:lnTo>
                    <a:pt x="0" y="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16" name="Freeform 113">
              <a:extLst>
                <a:ext uri="{FF2B5EF4-FFF2-40B4-BE49-F238E27FC236}">
                  <a16:creationId xmlns:a16="http://schemas.microsoft.com/office/drawing/2014/main" id="{D2E54AB8-95CB-AEB4-E596-E6E31DAA184F}"/>
                </a:ext>
              </a:extLst>
            </p:cNvPr>
            <p:cNvSpPr>
              <a:spLocks/>
            </p:cNvSpPr>
            <p:nvPr/>
          </p:nvSpPr>
          <p:spPr bwMode="auto">
            <a:xfrm>
              <a:off x="5396534" y="4189341"/>
              <a:ext cx="28525" cy="7582"/>
            </a:xfrm>
            <a:custGeom>
              <a:avLst/>
              <a:gdLst>
                <a:gd name="T0" fmla="*/ 0 w 18"/>
                <a:gd name="T1" fmla="*/ 2147483647 h 6"/>
                <a:gd name="T2" fmla="*/ 2147483647 w 18"/>
                <a:gd name="T3" fmla="*/ 2147483647 h 6"/>
                <a:gd name="T4" fmla="*/ 2147483647 w 18"/>
                <a:gd name="T5" fmla="*/ 0 h 6"/>
                <a:gd name="T6" fmla="*/ 0 60000 65536"/>
                <a:gd name="T7" fmla="*/ 0 60000 65536"/>
                <a:gd name="T8" fmla="*/ 0 60000 65536"/>
              </a:gdLst>
              <a:ahLst/>
              <a:cxnLst>
                <a:cxn ang="T6">
                  <a:pos x="T0" y="T1"/>
                </a:cxn>
                <a:cxn ang="T7">
                  <a:pos x="T2" y="T3"/>
                </a:cxn>
                <a:cxn ang="T8">
                  <a:pos x="T4" y="T5"/>
                </a:cxn>
              </a:cxnLst>
              <a:rect l="0" t="0" r="r" b="b"/>
              <a:pathLst>
                <a:path w="18" h="6">
                  <a:moveTo>
                    <a:pt x="0" y="6"/>
                  </a:moveTo>
                  <a:lnTo>
                    <a:pt x="6" y="6"/>
                  </a:lnTo>
                  <a:lnTo>
                    <a:pt x="18" y="0"/>
                  </a:lnTo>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17" name="Freeform 114">
              <a:extLst>
                <a:ext uri="{FF2B5EF4-FFF2-40B4-BE49-F238E27FC236}">
                  <a16:creationId xmlns:a16="http://schemas.microsoft.com/office/drawing/2014/main" id="{098C436E-F52E-3803-72F1-2E6661B354A4}"/>
                </a:ext>
              </a:extLst>
            </p:cNvPr>
            <p:cNvSpPr>
              <a:spLocks/>
            </p:cNvSpPr>
            <p:nvPr/>
          </p:nvSpPr>
          <p:spPr bwMode="auto">
            <a:xfrm>
              <a:off x="5303349" y="4196924"/>
              <a:ext cx="121710" cy="157331"/>
            </a:xfrm>
            <a:custGeom>
              <a:avLst/>
              <a:gdLst>
                <a:gd name="T0" fmla="*/ 2147483647 w 78"/>
                <a:gd name="T1" fmla="*/ 2147483647 h 102"/>
                <a:gd name="T2" fmla="*/ 2147483647 w 78"/>
                <a:gd name="T3" fmla="*/ 0 h 102"/>
                <a:gd name="T4" fmla="*/ 2147483647 w 78"/>
                <a:gd name="T5" fmla="*/ 0 h 102"/>
                <a:gd name="T6" fmla="*/ 2147483647 w 78"/>
                <a:gd name="T7" fmla="*/ 0 h 102"/>
                <a:gd name="T8" fmla="*/ 0 w 78"/>
                <a:gd name="T9" fmla="*/ 2147483647 h 102"/>
                <a:gd name="T10" fmla="*/ 2147483647 w 78"/>
                <a:gd name="T11" fmla="*/ 2147483647 h 102"/>
                <a:gd name="T12" fmla="*/ 0 w 78"/>
                <a:gd name="T13" fmla="*/ 2147483647 h 102"/>
                <a:gd name="T14" fmla="*/ 0 w 78"/>
                <a:gd name="T15" fmla="*/ 2147483647 h 102"/>
                <a:gd name="T16" fmla="*/ 2147483647 w 78"/>
                <a:gd name="T17" fmla="*/ 2147483647 h 102"/>
                <a:gd name="T18" fmla="*/ 2147483647 w 78"/>
                <a:gd name="T19" fmla="*/ 2147483647 h 102"/>
                <a:gd name="T20" fmla="*/ 2147483647 w 78"/>
                <a:gd name="T21" fmla="*/ 2147483647 h 102"/>
                <a:gd name="T22" fmla="*/ 2147483647 w 78"/>
                <a:gd name="T23" fmla="*/ 2147483647 h 102"/>
                <a:gd name="T24" fmla="*/ 2147483647 w 78"/>
                <a:gd name="T25" fmla="*/ 2147483647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8" h="102">
                  <a:moveTo>
                    <a:pt x="60" y="6"/>
                  </a:moveTo>
                  <a:lnTo>
                    <a:pt x="60" y="0"/>
                  </a:lnTo>
                  <a:lnTo>
                    <a:pt x="36" y="0"/>
                  </a:lnTo>
                  <a:lnTo>
                    <a:pt x="6" y="0"/>
                  </a:lnTo>
                  <a:lnTo>
                    <a:pt x="0" y="24"/>
                  </a:lnTo>
                  <a:lnTo>
                    <a:pt x="12" y="42"/>
                  </a:lnTo>
                  <a:lnTo>
                    <a:pt x="0" y="66"/>
                  </a:lnTo>
                  <a:lnTo>
                    <a:pt x="0" y="84"/>
                  </a:lnTo>
                  <a:lnTo>
                    <a:pt x="6" y="102"/>
                  </a:lnTo>
                  <a:lnTo>
                    <a:pt x="36" y="102"/>
                  </a:lnTo>
                  <a:lnTo>
                    <a:pt x="78" y="90"/>
                  </a:lnTo>
                  <a:lnTo>
                    <a:pt x="60" y="36"/>
                  </a:lnTo>
                  <a:lnTo>
                    <a:pt x="60" y="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18" name="Freeform 115">
              <a:extLst>
                <a:ext uri="{FF2B5EF4-FFF2-40B4-BE49-F238E27FC236}">
                  <a16:creationId xmlns:a16="http://schemas.microsoft.com/office/drawing/2014/main" id="{F2EC6F54-8766-A73A-9FAE-D6F514689027}"/>
                </a:ext>
              </a:extLst>
            </p:cNvPr>
            <p:cNvSpPr>
              <a:spLocks/>
            </p:cNvSpPr>
            <p:nvPr/>
          </p:nvSpPr>
          <p:spPr bwMode="auto">
            <a:xfrm>
              <a:off x="5484013" y="4075608"/>
              <a:ext cx="355622" cy="318452"/>
            </a:xfrm>
            <a:custGeom>
              <a:avLst/>
              <a:gdLst>
                <a:gd name="T0" fmla="*/ 2147483647 w 228"/>
                <a:gd name="T1" fmla="*/ 2147483647 h 205"/>
                <a:gd name="T2" fmla="*/ 2147483647 w 228"/>
                <a:gd name="T3" fmla="*/ 2147483647 h 205"/>
                <a:gd name="T4" fmla="*/ 2147483647 w 228"/>
                <a:gd name="T5" fmla="*/ 2147483647 h 205"/>
                <a:gd name="T6" fmla="*/ 2147483647 w 228"/>
                <a:gd name="T7" fmla="*/ 2147483647 h 205"/>
                <a:gd name="T8" fmla="*/ 2147483647 w 228"/>
                <a:gd name="T9" fmla="*/ 2147483647 h 205"/>
                <a:gd name="T10" fmla="*/ 2147483647 w 228"/>
                <a:gd name="T11" fmla="*/ 2147483647 h 205"/>
                <a:gd name="T12" fmla="*/ 2147483647 w 228"/>
                <a:gd name="T13" fmla="*/ 2147483647 h 205"/>
                <a:gd name="T14" fmla="*/ 2147483647 w 228"/>
                <a:gd name="T15" fmla="*/ 2147483647 h 205"/>
                <a:gd name="T16" fmla="*/ 2147483647 w 228"/>
                <a:gd name="T17" fmla="*/ 2147483647 h 205"/>
                <a:gd name="T18" fmla="*/ 2147483647 w 228"/>
                <a:gd name="T19" fmla="*/ 0 h 205"/>
                <a:gd name="T20" fmla="*/ 2147483647 w 228"/>
                <a:gd name="T21" fmla="*/ 2147483647 h 205"/>
                <a:gd name="T22" fmla="*/ 2147483647 w 228"/>
                <a:gd name="T23" fmla="*/ 2147483647 h 205"/>
                <a:gd name="T24" fmla="*/ 2147483647 w 228"/>
                <a:gd name="T25" fmla="*/ 2147483647 h 205"/>
                <a:gd name="T26" fmla="*/ 2147483647 w 228"/>
                <a:gd name="T27" fmla="*/ 2147483647 h 205"/>
                <a:gd name="T28" fmla="*/ 2147483647 w 228"/>
                <a:gd name="T29" fmla="*/ 2147483647 h 205"/>
                <a:gd name="T30" fmla="*/ 2147483647 w 228"/>
                <a:gd name="T31" fmla="*/ 2147483647 h 205"/>
                <a:gd name="T32" fmla="*/ 2147483647 w 228"/>
                <a:gd name="T33" fmla="*/ 2147483647 h 205"/>
                <a:gd name="T34" fmla="*/ 2147483647 w 228"/>
                <a:gd name="T35" fmla="*/ 2147483647 h 205"/>
                <a:gd name="T36" fmla="*/ 2147483647 w 228"/>
                <a:gd name="T37" fmla="*/ 2147483647 h 205"/>
                <a:gd name="T38" fmla="*/ 0 w 228"/>
                <a:gd name="T39" fmla="*/ 2147483647 h 205"/>
                <a:gd name="T40" fmla="*/ 0 w 228"/>
                <a:gd name="T41" fmla="*/ 2147483647 h 205"/>
                <a:gd name="T42" fmla="*/ 2147483647 w 228"/>
                <a:gd name="T43" fmla="*/ 2147483647 h 205"/>
                <a:gd name="T44" fmla="*/ 2147483647 w 228"/>
                <a:gd name="T45" fmla="*/ 2147483647 h 205"/>
                <a:gd name="T46" fmla="*/ 2147483647 w 228"/>
                <a:gd name="T47" fmla="*/ 2147483647 h 205"/>
                <a:gd name="T48" fmla="*/ 2147483647 w 228"/>
                <a:gd name="T49" fmla="*/ 2147483647 h 205"/>
                <a:gd name="T50" fmla="*/ 2147483647 w 228"/>
                <a:gd name="T51" fmla="*/ 2147483647 h 205"/>
                <a:gd name="T52" fmla="*/ 2147483647 w 228"/>
                <a:gd name="T53" fmla="*/ 2147483647 h 20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28" h="205">
                  <a:moveTo>
                    <a:pt x="120" y="151"/>
                  </a:moveTo>
                  <a:lnTo>
                    <a:pt x="150" y="163"/>
                  </a:lnTo>
                  <a:lnTo>
                    <a:pt x="180" y="121"/>
                  </a:lnTo>
                  <a:lnTo>
                    <a:pt x="198" y="73"/>
                  </a:lnTo>
                  <a:lnTo>
                    <a:pt x="204" y="55"/>
                  </a:lnTo>
                  <a:lnTo>
                    <a:pt x="222" y="49"/>
                  </a:lnTo>
                  <a:lnTo>
                    <a:pt x="228" y="31"/>
                  </a:lnTo>
                  <a:lnTo>
                    <a:pt x="210" y="25"/>
                  </a:lnTo>
                  <a:lnTo>
                    <a:pt x="198" y="7"/>
                  </a:lnTo>
                  <a:lnTo>
                    <a:pt x="204" y="0"/>
                  </a:lnTo>
                  <a:lnTo>
                    <a:pt x="174" y="25"/>
                  </a:lnTo>
                  <a:lnTo>
                    <a:pt x="144" y="31"/>
                  </a:lnTo>
                  <a:lnTo>
                    <a:pt x="108" y="31"/>
                  </a:lnTo>
                  <a:lnTo>
                    <a:pt x="84" y="43"/>
                  </a:lnTo>
                  <a:lnTo>
                    <a:pt x="48" y="31"/>
                  </a:lnTo>
                  <a:lnTo>
                    <a:pt x="24" y="31"/>
                  </a:lnTo>
                  <a:lnTo>
                    <a:pt x="12" y="49"/>
                  </a:lnTo>
                  <a:lnTo>
                    <a:pt x="12" y="67"/>
                  </a:lnTo>
                  <a:lnTo>
                    <a:pt x="12" y="91"/>
                  </a:lnTo>
                  <a:lnTo>
                    <a:pt x="0" y="133"/>
                  </a:lnTo>
                  <a:lnTo>
                    <a:pt x="0" y="163"/>
                  </a:lnTo>
                  <a:lnTo>
                    <a:pt x="24" y="163"/>
                  </a:lnTo>
                  <a:lnTo>
                    <a:pt x="48" y="193"/>
                  </a:lnTo>
                  <a:lnTo>
                    <a:pt x="72" y="199"/>
                  </a:lnTo>
                  <a:lnTo>
                    <a:pt x="96" y="205"/>
                  </a:lnTo>
                  <a:lnTo>
                    <a:pt x="102" y="175"/>
                  </a:lnTo>
                  <a:lnTo>
                    <a:pt x="120" y="151"/>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19" name="Freeform 116">
              <a:extLst>
                <a:ext uri="{FF2B5EF4-FFF2-40B4-BE49-F238E27FC236}">
                  <a16:creationId xmlns:a16="http://schemas.microsoft.com/office/drawing/2014/main" id="{1D00A8EA-FCC2-DA5A-AD20-58E803164ED4}"/>
                </a:ext>
              </a:extLst>
            </p:cNvPr>
            <p:cNvSpPr>
              <a:spLocks/>
            </p:cNvSpPr>
            <p:nvPr/>
          </p:nvSpPr>
          <p:spPr bwMode="auto">
            <a:xfrm>
              <a:off x="5830127" y="4196924"/>
              <a:ext cx="384148" cy="223675"/>
            </a:xfrm>
            <a:custGeom>
              <a:avLst/>
              <a:gdLst>
                <a:gd name="T0" fmla="*/ 2147483647 w 246"/>
                <a:gd name="T1" fmla="*/ 2147483647 h 144"/>
                <a:gd name="T2" fmla="*/ 2147483647 w 246"/>
                <a:gd name="T3" fmla="*/ 2147483647 h 144"/>
                <a:gd name="T4" fmla="*/ 2147483647 w 246"/>
                <a:gd name="T5" fmla="*/ 2147483647 h 144"/>
                <a:gd name="T6" fmla="*/ 2147483647 w 246"/>
                <a:gd name="T7" fmla="*/ 2147483647 h 144"/>
                <a:gd name="T8" fmla="*/ 0 w 246"/>
                <a:gd name="T9" fmla="*/ 2147483647 h 144"/>
                <a:gd name="T10" fmla="*/ 2147483647 w 246"/>
                <a:gd name="T11" fmla="*/ 2147483647 h 144"/>
                <a:gd name="T12" fmla="*/ 2147483647 w 246"/>
                <a:gd name="T13" fmla="*/ 2147483647 h 144"/>
                <a:gd name="T14" fmla="*/ 2147483647 w 246"/>
                <a:gd name="T15" fmla="*/ 2147483647 h 144"/>
                <a:gd name="T16" fmla="*/ 2147483647 w 246"/>
                <a:gd name="T17" fmla="*/ 2147483647 h 144"/>
                <a:gd name="T18" fmla="*/ 2147483647 w 246"/>
                <a:gd name="T19" fmla="*/ 2147483647 h 144"/>
                <a:gd name="T20" fmla="*/ 2147483647 w 246"/>
                <a:gd name="T21" fmla="*/ 2147483647 h 144"/>
                <a:gd name="T22" fmla="*/ 2147483647 w 246"/>
                <a:gd name="T23" fmla="*/ 2147483647 h 144"/>
                <a:gd name="T24" fmla="*/ 2147483647 w 246"/>
                <a:gd name="T25" fmla="*/ 2147483647 h 144"/>
                <a:gd name="T26" fmla="*/ 2147483647 w 246"/>
                <a:gd name="T27" fmla="*/ 2147483647 h 144"/>
                <a:gd name="T28" fmla="*/ 2147483647 w 246"/>
                <a:gd name="T29" fmla="*/ 2147483647 h 144"/>
                <a:gd name="T30" fmla="*/ 2147483647 w 246"/>
                <a:gd name="T31" fmla="*/ 2147483647 h 144"/>
                <a:gd name="T32" fmla="*/ 2147483647 w 246"/>
                <a:gd name="T33" fmla="*/ 2147483647 h 144"/>
                <a:gd name="T34" fmla="*/ 2147483647 w 246"/>
                <a:gd name="T35" fmla="*/ 2147483647 h 144"/>
                <a:gd name="T36" fmla="*/ 2147483647 w 246"/>
                <a:gd name="T37" fmla="*/ 2147483647 h 144"/>
                <a:gd name="T38" fmla="*/ 2147483647 w 246"/>
                <a:gd name="T39" fmla="*/ 0 h 144"/>
                <a:gd name="T40" fmla="*/ 2147483647 w 246"/>
                <a:gd name="T41" fmla="*/ 2147483647 h 144"/>
                <a:gd name="T42" fmla="*/ 2147483647 w 246"/>
                <a:gd name="T43" fmla="*/ 2147483647 h 14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46" h="144">
                  <a:moveTo>
                    <a:pt x="78" y="36"/>
                  </a:moveTo>
                  <a:lnTo>
                    <a:pt x="72" y="48"/>
                  </a:lnTo>
                  <a:lnTo>
                    <a:pt x="36" y="60"/>
                  </a:lnTo>
                  <a:lnTo>
                    <a:pt x="12" y="66"/>
                  </a:lnTo>
                  <a:lnTo>
                    <a:pt x="0" y="102"/>
                  </a:lnTo>
                  <a:lnTo>
                    <a:pt x="12" y="132"/>
                  </a:lnTo>
                  <a:lnTo>
                    <a:pt x="18" y="144"/>
                  </a:lnTo>
                  <a:lnTo>
                    <a:pt x="42" y="132"/>
                  </a:lnTo>
                  <a:lnTo>
                    <a:pt x="66" y="132"/>
                  </a:lnTo>
                  <a:lnTo>
                    <a:pt x="78" y="138"/>
                  </a:lnTo>
                  <a:lnTo>
                    <a:pt x="78" y="114"/>
                  </a:lnTo>
                  <a:lnTo>
                    <a:pt x="114" y="108"/>
                  </a:lnTo>
                  <a:lnTo>
                    <a:pt x="144" y="120"/>
                  </a:lnTo>
                  <a:lnTo>
                    <a:pt x="198" y="108"/>
                  </a:lnTo>
                  <a:lnTo>
                    <a:pt x="246" y="102"/>
                  </a:lnTo>
                  <a:lnTo>
                    <a:pt x="210" y="66"/>
                  </a:lnTo>
                  <a:lnTo>
                    <a:pt x="186" y="54"/>
                  </a:lnTo>
                  <a:lnTo>
                    <a:pt x="168" y="24"/>
                  </a:lnTo>
                  <a:lnTo>
                    <a:pt x="156" y="0"/>
                  </a:lnTo>
                  <a:lnTo>
                    <a:pt x="108" y="30"/>
                  </a:lnTo>
                  <a:lnTo>
                    <a:pt x="78" y="3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20" name="Freeform 117">
              <a:extLst>
                <a:ext uri="{FF2B5EF4-FFF2-40B4-BE49-F238E27FC236}">
                  <a16:creationId xmlns:a16="http://schemas.microsoft.com/office/drawing/2014/main" id="{D8682002-0D99-DF07-E2DA-EF81EA68AB74}"/>
                </a:ext>
              </a:extLst>
            </p:cNvPr>
            <p:cNvSpPr>
              <a:spLocks/>
            </p:cNvSpPr>
            <p:nvPr/>
          </p:nvSpPr>
          <p:spPr bwMode="auto">
            <a:xfrm>
              <a:off x="5717925" y="4403539"/>
              <a:ext cx="233913" cy="278645"/>
            </a:xfrm>
            <a:custGeom>
              <a:avLst/>
              <a:gdLst>
                <a:gd name="T0" fmla="*/ 2147483647 w 150"/>
                <a:gd name="T1" fmla="*/ 2147483647 h 180"/>
                <a:gd name="T2" fmla="*/ 2147483647 w 150"/>
                <a:gd name="T3" fmla="*/ 2147483647 h 180"/>
                <a:gd name="T4" fmla="*/ 2147483647 w 150"/>
                <a:gd name="T5" fmla="*/ 2147483647 h 180"/>
                <a:gd name="T6" fmla="*/ 2147483647 w 150"/>
                <a:gd name="T7" fmla="*/ 2147483647 h 180"/>
                <a:gd name="T8" fmla="*/ 2147483647 w 150"/>
                <a:gd name="T9" fmla="*/ 2147483647 h 180"/>
                <a:gd name="T10" fmla="*/ 2147483647 w 150"/>
                <a:gd name="T11" fmla="*/ 0 h 180"/>
                <a:gd name="T12" fmla="*/ 2147483647 w 150"/>
                <a:gd name="T13" fmla="*/ 0 h 180"/>
                <a:gd name="T14" fmla="*/ 2147483647 w 150"/>
                <a:gd name="T15" fmla="*/ 2147483647 h 180"/>
                <a:gd name="T16" fmla="*/ 2147483647 w 150"/>
                <a:gd name="T17" fmla="*/ 2147483647 h 180"/>
                <a:gd name="T18" fmla="*/ 2147483647 w 150"/>
                <a:gd name="T19" fmla="*/ 2147483647 h 180"/>
                <a:gd name="T20" fmla="*/ 2147483647 w 150"/>
                <a:gd name="T21" fmla="*/ 2147483647 h 180"/>
                <a:gd name="T22" fmla="*/ 2147483647 w 150"/>
                <a:gd name="T23" fmla="*/ 2147483647 h 180"/>
                <a:gd name="T24" fmla="*/ 2147483647 w 150"/>
                <a:gd name="T25" fmla="*/ 2147483647 h 180"/>
                <a:gd name="T26" fmla="*/ 2147483647 w 150"/>
                <a:gd name="T27" fmla="*/ 2147483647 h 180"/>
                <a:gd name="T28" fmla="*/ 2147483647 w 150"/>
                <a:gd name="T29" fmla="*/ 2147483647 h 180"/>
                <a:gd name="T30" fmla="*/ 2147483647 w 150"/>
                <a:gd name="T31" fmla="*/ 2147483647 h 180"/>
                <a:gd name="T32" fmla="*/ 2147483647 w 150"/>
                <a:gd name="T33" fmla="*/ 2147483647 h 180"/>
                <a:gd name="T34" fmla="*/ 0 w 150"/>
                <a:gd name="T35" fmla="*/ 2147483647 h 180"/>
                <a:gd name="T36" fmla="*/ 2147483647 w 150"/>
                <a:gd name="T37" fmla="*/ 2147483647 h 180"/>
                <a:gd name="T38" fmla="*/ 2147483647 w 150"/>
                <a:gd name="T39" fmla="*/ 2147483647 h 180"/>
                <a:gd name="T40" fmla="*/ 2147483647 w 150"/>
                <a:gd name="T41" fmla="*/ 2147483647 h 180"/>
                <a:gd name="T42" fmla="*/ 2147483647 w 150"/>
                <a:gd name="T43" fmla="*/ 2147483647 h 18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50" h="180">
                  <a:moveTo>
                    <a:pt x="66" y="162"/>
                  </a:moveTo>
                  <a:lnTo>
                    <a:pt x="90" y="144"/>
                  </a:lnTo>
                  <a:lnTo>
                    <a:pt x="114" y="96"/>
                  </a:lnTo>
                  <a:lnTo>
                    <a:pt x="132" y="78"/>
                  </a:lnTo>
                  <a:lnTo>
                    <a:pt x="150" y="6"/>
                  </a:lnTo>
                  <a:lnTo>
                    <a:pt x="138" y="0"/>
                  </a:lnTo>
                  <a:lnTo>
                    <a:pt x="114" y="0"/>
                  </a:lnTo>
                  <a:lnTo>
                    <a:pt x="90" y="12"/>
                  </a:lnTo>
                  <a:lnTo>
                    <a:pt x="72" y="18"/>
                  </a:lnTo>
                  <a:lnTo>
                    <a:pt x="60" y="30"/>
                  </a:lnTo>
                  <a:lnTo>
                    <a:pt x="48" y="36"/>
                  </a:lnTo>
                  <a:lnTo>
                    <a:pt x="48" y="48"/>
                  </a:lnTo>
                  <a:lnTo>
                    <a:pt x="60" y="54"/>
                  </a:lnTo>
                  <a:lnTo>
                    <a:pt x="54" y="84"/>
                  </a:lnTo>
                  <a:lnTo>
                    <a:pt x="48" y="114"/>
                  </a:lnTo>
                  <a:lnTo>
                    <a:pt x="30" y="114"/>
                  </a:lnTo>
                  <a:lnTo>
                    <a:pt x="12" y="126"/>
                  </a:lnTo>
                  <a:lnTo>
                    <a:pt x="0" y="138"/>
                  </a:lnTo>
                  <a:lnTo>
                    <a:pt x="18" y="156"/>
                  </a:lnTo>
                  <a:lnTo>
                    <a:pt x="24" y="180"/>
                  </a:lnTo>
                  <a:lnTo>
                    <a:pt x="42" y="162"/>
                  </a:lnTo>
                  <a:lnTo>
                    <a:pt x="66" y="162"/>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21" name="Freeform 118">
              <a:extLst>
                <a:ext uri="{FF2B5EF4-FFF2-40B4-BE49-F238E27FC236}">
                  <a16:creationId xmlns:a16="http://schemas.microsoft.com/office/drawing/2014/main" id="{800C379F-F0C5-E4E8-729C-A408198F14AB}"/>
                </a:ext>
              </a:extLst>
            </p:cNvPr>
            <p:cNvSpPr>
              <a:spLocks/>
            </p:cNvSpPr>
            <p:nvPr/>
          </p:nvSpPr>
          <p:spPr bwMode="auto">
            <a:xfrm>
              <a:off x="5670382" y="4460406"/>
              <a:ext cx="140728" cy="155435"/>
            </a:xfrm>
            <a:custGeom>
              <a:avLst/>
              <a:gdLst>
                <a:gd name="T0" fmla="*/ 2147483647 w 90"/>
                <a:gd name="T1" fmla="*/ 2147483647 h 102"/>
                <a:gd name="T2" fmla="*/ 2147483647 w 90"/>
                <a:gd name="T3" fmla="*/ 2147483647 h 102"/>
                <a:gd name="T4" fmla="*/ 2147483647 w 90"/>
                <a:gd name="T5" fmla="*/ 2147483647 h 102"/>
                <a:gd name="T6" fmla="*/ 2147483647 w 90"/>
                <a:gd name="T7" fmla="*/ 2147483647 h 102"/>
                <a:gd name="T8" fmla="*/ 2147483647 w 90"/>
                <a:gd name="T9" fmla="*/ 2147483647 h 102"/>
                <a:gd name="T10" fmla="*/ 2147483647 w 90"/>
                <a:gd name="T11" fmla="*/ 0 h 102"/>
                <a:gd name="T12" fmla="*/ 2147483647 w 90"/>
                <a:gd name="T13" fmla="*/ 0 h 102"/>
                <a:gd name="T14" fmla="*/ 0 w 90"/>
                <a:gd name="T15" fmla="*/ 0 h 102"/>
                <a:gd name="T16" fmla="*/ 0 w 90"/>
                <a:gd name="T17" fmla="*/ 2147483647 h 102"/>
                <a:gd name="T18" fmla="*/ 0 w 90"/>
                <a:gd name="T19" fmla="*/ 2147483647 h 102"/>
                <a:gd name="T20" fmla="*/ 2147483647 w 90"/>
                <a:gd name="T21" fmla="*/ 2147483647 h 102"/>
                <a:gd name="T22" fmla="*/ 2147483647 w 90"/>
                <a:gd name="T23" fmla="*/ 2147483647 h 102"/>
                <a:gd name="T24" fmla="*/ 2147483647 w 90"/>
                <a:gd name="T25" fmla="*/ 2147483647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0" h="102">
                  <a:moveTo>
                    <a:pt x="60" y="78"/>
                  </a:moveTo>
                  <a:lnTo>
                    <a:pt x="78" y="78"/>
                  </a:lnTo>
                  <a:lnTo>
                    <a:pt x="84" y="48"/>
                  </a:lnTo>
                  <a:lnTo>
                    <a:pt x="90" y="18"/>
                  </a:lnTo>
                  <a:lnTo>
                    <a:pt x="78" y="12"/>
                  </a:lnTo>
                  <a:lnTo>
                    <a:pt x="78" y="0"/>
                  </a:lnTo>
                  <a:lnTo>
                    <a:pt x="48" y="0"/>
                  </a:lnTo>
                  <a:lnTo>
                    <a:pt x="0" y="0"/>
                  </a:lnTo>
                  <a:lnTo>
                    <a:pt x="0" y="18"/>
                  </a:lnTo>
                  <a:lnTo>
                    <a:pt x="0" y="54"/>
                  </a:lnTo>
                  <a:lnTo>
                    <a:pt x="30" y="102"/>
                  </a:lnTo>
                  <a:lnTo>
                    <a:pt x="42" y="90"/>
                  </a:lnTo>
                  <a:lnTo>
                    <a:pt x="60" y="78"/>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22" name="Freeform 119">
              <a:extLst>
                <a:ext uri="{FF2B5EF4-FFF2-40B4-BE49-F238E27FC236}">
                  <a16:creationId xmlns:a16="http://schemas.microsoft.com/office/drawing/2014/main" id="{4768A942-747A-461B-5AE7-1136B726742F}"/>
                </a:ext>
              </a:extLst>
            </p:cNvPr>
            <p:cNvSpPr>
              <a:spLocks/>
            </p:cNvSpPr>
            <p:nvPr/>
          </p:nvSpPr>
          <p:spPr bwMode="auto">
            <a:xfrm>
              <a:off x="5632348" y="4151430"/>
              <a:ext cx="224403" cy="308975"/>
            </a:xfrm>
            <a:custGeom>
              <a:avLst/>
              <a:gdLst>
                <a:gd name="T0" fmla="*/ 2147483647 w 144"/>
                <a:gd name="T1" fmla="*/ 2147483647 h 198"/>
                <a:gd name="T2" fmla="*/ 2147483647 w 144"/>
                <a:gd name="T3" fmla="*/ 2147483647 h 198"/>
                <a:gd name="T4" fmla="*/ 2147483647 w 144"/>
                <a:gd name="T5" fmla="*/ 2147483647 h 198"/>
                <a:gd name="T6" fmla="*/ 2147483647 w 144"/>
                <a:gd name="T7" fmla="*/ 2147483647 h 198"/>
                <a:gd name="T8" fmla="*/ 2147483647 w 144"/>
                <a:gd name="T9" fmla="*/ 2147483647 h 198"/>
                <a:gd name="T10" fmla="*/ 2147483647 w 144"/>
                <a:gd name="T11" fmla="*/ 2147483647 h 198"/>
                <a:gd name="T12" fmla="*/ 2147483647 w 144"/>
                <a:gd name="T13" fmla="*/ 2147483647 h 198"/>
                <a:gd name="T14" fmla="*/ 2147483647 w 144"/>
                <a:gd name="T15" fmla="*/ 2147483647 h 198"/>
                <a:gd name="T16" fmla="*/ 2147483647 w 144"/>
                <a:gd name="T17" fmla="*/ 0 h 198"/>
                <a:gd name="T18" fmla="*/ 2147483647 w 144"/>
                <a:gd name="T19" fmla="*/ 0 h 198"/>
                <a:gd name="T20" fmla="*/ 2147483647 w 144"/>
                <a:gd name="T21" fmla="*/ 2147483647 h 198"/>
                <a:gd name="T22" fmla="*/ 2147483647 w 144"/>
                <a:gd name="T23" fmla="*/ 2147483647 h 198"/>
                <a:gd name="T24" fmla="*/ 2147483647 w 144"/>
                <a:gd name="T25" fmla="*/ 2147483647 h 198"/>
                <a:gd name="T26" fmla="*/ 2147483647 w 144"/>
                <a:gd name="T27" fmla="*/ 2147483647 h 198"/>
                <a:gd name="T28" fmla="*/ 2147483647 w 144"/>
                <a:gd name="T29" fmla="*/ 2147483647 h 198"/>
                <a:gd name="T30" fmla="*/ 2147483647 w 144"/>
                <a:gd name="T31" fmla="*/ 2147483647 h 198"/>
                <a:gd name="T32" fmla="*/ 0 w 144"/>
                <a:gd name="T33" fmla="*/ 2147483647 h 198"/>
                <a:gd name="T34" fmla="*/ 2147483647 w 144"/>
                <a:gd name="T35" fmla="*/ 2147483647 h 198"/>
                <a:gd name="T36" fmla="*/ 2147483647 w 144"/>
                <a:gd name="T37" fmla="*/ 2147483647 h 198"/>
                <a:gd name="T38" fmla="*/ 2147483647 w 144"/>
                <a:gd name="T39" fmla="*/ 2147483647 h 198"/>
                <a:gd name="T40" fmla="*/ 2147483647 w 144"/>
                <a:gd name="T41" fmla="*/ 2147483647 h 198"/>
                <a:gd name="T42" fmla="*/ 2147483647 w 144"/>
                <a:gd name="T43" fmla="*/ 2147483647 h 19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44" h="198">
                  <a:moveTo>
                    <a:pt x="144" y="174"/>
                  </a:moveTo>
                  <a:lnTo>
                    <a:pt x="138" y="162"/>
                  </a:lnTo>
                  <a:lnTo>
                    <a:pt x="126" y="132"/>
                  </a:lnTo>
                  <a:lnTo>
                    <a:pt x="138" y="96"/>
                  </a:lnTo>
                  <a:lnTo>
                    <a:pt x="132" y="96"/>
                  </a:lnTo>
                  <a:lnTo>
                    <a:pt x="114" y="66"/>
                  </a:lnTo>
                  <a:lnTo>
                    <a:pt x="114" y="48"/>
                  </a:lnTo>
                  <a:lnTo>
                    <a:pt x="138" y="42"/>
                  </a:lnTo>
                  <a:lnTo>
                    <a:pt x="126" y="0"/>
                  </a:lnTo>
                  <a:lnTo>
                    <a:pt x="108" y="6"/>
                  </a:lnTo>
                  <a:lnTo>
                    <a:pt x="102" y="24"/>
                  </a:lnTo>
                  <a:lnTo>
                    <a:pt x="84" y="72"/>
                  </a:lnTo>
                  <a:lnTo>
                    <a:pt x="54" y="114"/>
                  </a:lnTo>
                  <a:lnTo>
                    <a:pt x="24" y="102"/>
                  </a:lnTo>
                  <a:lnTo>
                    <a:pt x="6" y="126"/>
                  </a:lnTo>
                  <a:lnTo>
                    <a:pt x="0" y="156"/>
                  </a:lnTo>
                  <a:lnTo>
                    <a:pt x="18" y="156"/>
                  </a:lnTo>
                  <a:lnTo>
                    <a:pt x="24" y="198"/>
                  </a:lnTo>
                  <a:lnTo>
                    <a:pt x="72" y="198"/>
                  </a:lnTo>
                  <a:lnTo>
                    <a:pt x="102" y="198"/>
                  </a:lnTo>
                  <a:lnTo>
                    <a:pt x="144" y="174"/>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23" name="Freeform 120">
              <a:extLst>
                <a:ext uri="{FF2B5EF4-FFF2-40B4-BE49-F238E27FC236}">
                  <a16:creationId xmlns:a16="http://schemas.microsoft.com/office/drawing/2014/main" id="{618E35FF-CF85-FEF0-25B8-CD3EF53EF9DA}"/>
                </a:ext>
              </a:extLst>
            </p:cNvPr>
            <p:cNvSpPr>
              <a:spLocks/>
            </p:cNvSpPr>
            <p:nvPr/>
          </p:nvSpPr>
          <p:spPr bwMode="auto">
            <a:xfrm>
              <a:off x="5632348" y="4151430"/>
              <a:ext cx="224403" cy="308975"/>
            </a:xfrm>
            <a:custGeom>
              <a:avLst/>
              <a:gdLst>
                <a:gd name="T0" fmla="*/ 2147483647 w 144"/>
                <a:gd name="T1" fmla="*/ 2147483647 h 198"/>
                <a:gd name="T2" fmla="*/ 2147483647 w 144"/>
                <a:gd name="T3" fmla="*/ 2147483647 h 198"/>
                <a:gd name="T4" fmla="*/ 2147483647 w 144"/>
                <a:gd name="T5" fmla="*/ 2147483647 h 198"/>
                <a:gd name="T6" fmla="*/ 2147483647 w 144"/>
                <a:gd name="T7" fmla="*/ 2147483647 h 198"/>
                <a:gd name="T8" fmla="*/ 2147483647 w 144"/>
                <a:gd name="T9" fmla="*/ 2147483647 h 198"/>
                <a:gd name="T10" fmla="*/ 2147483647 w 144"/>
                <a:gd name="T11" fmla="*/ 2147483647 h 198"/>
                <a:gd name="T12" fmla="*/ 2147483647 w 144"/>
                <a:gd name="T13" fmla="*/ 2147483647 h 198"/>
                <a:gd name="T14" fmla="*/ 2147483647 w 144"/>
                <a:gd name="T15" fmla="*/ 2147483647 h 198"/>
                <a:gd name="T16" fmla="*/ 2147483647 w 144"/>
                <a:gd name="T17" fmla="*/ 0 h 198"/>
                <a:gd name="T18" fmla="*/ 2147483647 w 144"/>
                <a:gd name="T19" fmla="*/ 0 h 198"/>
                <a:gd name="T20" fmla="*/ 2147483647 w 144"/>
                <a:gd name="T21" fmla="*/ 2147483647 h 198"/>
                <a:gd name="T22" fmla="*/ 2147483647 w 144"/>
                <a:gd name="T23" fmla="*/ 2147483647 h 198"/>
                <a:gd name="T24" fmla="*/ 2147483647 w 144"/>
                <a:gd name="T25" fmla="*/ 2147483647 h 198"/>
                <a:gd name="T26" fmla="*/ 2147483647 w 144"/>
                <a:gd name="T27" fmla="*/ 2147483647 h 198"/>
                <a:gd name="T28" fmla="*/ 2147483647 w 144"/>
                <a:gd name="T29" fmla="*/ 2147483647 h 198"/>
                <a:gd name="T30" fmla="*/ 2147483647 w 144"/>
                <a:gd name="T31" fmla="*/ 2147483647 h 198"/>
                <a:gd name="T32" fmla="*/ 0 w 144"/>
                <a:gd name="T33" fmla="*/ 2147483647 h 198"/>
                <a:gd name="T34" fmla="*/ 2147483647 w 144"/>
                <a:gd name="T35" fmla="*/ 2147483647 h 198"/>
                <a:gd name="T36" fmla="*/ 2147483647 w 144"/>
                <a:gd name="T37" fmla="*/ 2147483647 h 198"/>
                <a:gd name="T38" fmla="*/ 2147483647 w 144"/>
                <a:gd name="T39" fmla="*/ 2147483647 h 198"/>
                <a:gd name="T40" fmla="*/ 2147483647 w 144"/>
                <a:gd name="T41" fmla="*/ 2147483647 h 19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44" h="198">
                  <a:moveTo>
                    <a:pt x="144" y="174"/>
                  </a:moveTo>
                  <a:lnTo>
                    <a:pt x="138" y="162"/>
                  </a:lnTo>
                  <a:lnTo>
                    <a:pt x="126" y="132"/>
                  </a:lnTo>
                  <a:lnTo>
                    <a:pt x="138" y="96"/>
                  </a:lnTo>
                  <a:lnTo>
                    <a:pt x="132" y="96"/>
                  </a:lnTo>
                  <a:lnTo>
                    <a:pt x="114" y="66"/>
                  </a:lnTo>
                  <a:lnTo>
                    <a:pt x="114" y="48"/>
                  </a:lnTo>
                  <a:lnTo>
                    <a:pt x="138" y="42"/>
                  </a:lnTo>
                  <a:lnTo>
                    <a:pt x="126" y="0"/>
                  </a:lnTo>
                  <a:lnTo>
                    <a:pt x="108" y="6"/>
                  </a:lnTo>
                  <a:lnTo>
                    <a:pt x="102" y="24"/>
                  </a:lnTo>
                  <a:lnTo>
                    <a:pt x="84" y="72"/>
                  </a:lnTo>
                  <a:lnTo>
                    <a:pt x="54" y="114"/>
                  </a:lnTo>
                  <a:lnTo>
                    <a:pt x="24" y="102"/>
                  </a:lnTo>
                  <a:lnTo>
                    <a:pt x="6" y="126"/>
                  </a:lnTo>
                  <a:lnTo>
                    <a:pt x="0" y="156"/>
                  </a:lnTo>
                  <a:lnTo>
                    <a:pt x="18" y="156"/>
                  </a:lnTo>
                  <a:lnTo>
                    <a:pt x="24" y="198"/>
                  </a:lnTo>
                  <a:lnTo>
                    <a:pt x="72" y="198"/>
                  </a:lnTo>
                  <a:lnTo>
                    <a:pt x="102" y="198"/>
                  </a:lnTo>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24" name="Freeform 121">
              <a:extLst>
                <a:ext uri="{FF2B5EF4-FFF2-40B4-BE49-F238E27FC236}">
                  <a16:creationId xmlns:a16="http://schemas.microsoft.com/office/drawing/2014/main" id="{ECF7508A-B02D-4F43-3C1E-612E285F43EB}"/>
                </a:ext>
              </a:extLst>
            </p:cNvPr>
            <p:cNvSpPr>
              <a:spLocks/>
            </p:cNvSpPr>
            <p:nvPr/>
          </p:nvSpPr>
          <p:spPr bwMode="auto">
            <a:xfrm>
              <a:off x="5425059" y="4140057"/>
              <a:ext cx="76069" cy="187660"/>
            </a:xfrm>
            <a:custGeom>
              <a:avLst/>
              <a:gdLst>
                <a:gd name="T0" fmla="*/ 2147483647 w 48"/>
                <a:gd name="T1" fmla="*/ 2147483647 h 120"/>
                <a:gd name="T2" fmla="*/ 2147483647 w 48"/>
                <a:gd name="T3" fmla="*/ 2147483647 h 120"/>
                <a:gd name="T4" fmla="*/ 2147483647 w 48"/>
                <a:gd name="T5" fmla="*/ 2147483647 h 120"/>
                <a:gd name="T6" fmla="*/ 2147483647 w 48"/>
                <a:gd name="T7" fmla="*/ 2147483647 h 120"/>
                <a:gd name="T8" fmla="*/ 2147483647 w 48"/>
                <a:gd name="T9" fmla="*/ 0 h 120"/>
                <a:gd name="T10" fmla="*/ 2147483647 w 48"/>
                <a:gd name="T11" fmla="*/ 2147483647 h 120"/>
                <a:gd name="T12" fmla="*/ 2147483647 w 48"/>
                <a:gd name="T13" fmla="*/ 2147483647 h 120"/>
                <a:gd name="T14" fmla="*/ 0 w 48"/>
                <a:gd name="T15" fmla="*/ 2147483647 h 120"/>
                <a:gd name="T16" fmla="*/ 0 w 48"/>
                <a:gd name="T17" fmla="*/ 2147483647 h 120"/>
                <a:gd name="T18" fmla="*/ 2147483647 w 48"/>
                <a:gd name="T19" fmla="*/ 2147483647 h 120"/>
                <a:gd name="T20" fmla="*/ 2147483647 w 48"/>
                <a:gd name="T21" fmla="*/ 2147483647 h 120"/>
                <a:gd name="T22" fmla="*/ 2147483647 w 48"/>
                <a:gd name="T23" fmla="*/ 2147483647 h 120"/>
                <a:gd name="T24" fmla="*/ 2147483647 w 48"/>
                <a:gd name="T25" fmla="*/ 2147483647 h 120"/>
                <a:gd name="T26" fmla="*/ 2147483647 w 48"/>
                <a:gd name="T27" fmla="*/ 2147483647 h 120"/>
                <a:gd name="T28" fmla="*/ 2147483647 w 48"/>
                <a:gd name="T29" fmla="*/ 2147483647 h 1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8" h="120">
                  <a:moveTo>
                    <a:pt x="48" y="48"/>
                  </a:moveTo>
                  <a:lnTo>
                    <a:pt x="48" y="24"/>
                  </a:lnTo>
                  <a:lnTo>
                    <a:pt x="48" y="6"/>
                  </a:lnTo>
                  <a:lnTo>
                    <a:pt x="42" y="6"/>
                  </a:lnTo>
                  <a:lnTo>
                    <a:pt x="30" y="0"/>
                  </a:lnTo>
                  <a:lnTo>
                    <a:pt x="24" y="6"/>
                  </a:lnTo>
                  <a:lnTo>
                    <a:pt x="6" y="30"/>
                  </a:lnTo>
                  <a:lnTo>
                    <a:pt x="0" y="30"/>
                  </a:lnTo>
                  <a:lnTo>
                    <a:pt x="0" y="48"/>
                  </a:lnTo>
                  <a:lnTo>
                    <a:pt x="6" y="90"/>
                  </a:lnTo>
                  <a:lnTo>
                    <a:pt x="24" y="120"/>
                  </a:lnTo>
                  <a:lnTo>
                    <a:pt x="36" y="120"/>
                  </a:lnTo>
                  <a:lnTo>
                    <a:pt x="36" y="90"/>
                  </a:lnTo>
                  <a:lnTo>
                    <a:pt x="48" y="48"/>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25" name="Freeform 122">
              <a:extLst>
                <a:ext uri="{FF2B5EF4-FFF2-40B4-BE49-F238E27FC236}">
                  <a16:creationId xmlns:a16="http://schemas.microsoft.com/office/drawing/2014/main" id="{3B45EECF-0C74-2173-3BD5-99EB685DDEE0}"/>
                </a:ext>
              </a:extLst>
            </p:cNvPr>
            <p:cNvSpPr>
              <a:spLocks/>
            </p:cNvSpPr>
            <p:nvPr/>
          </p:nvSpPr>
          <p:spPr bwMode="auto">
            <a:xfrm>
              <a:off x="5396534" y="4189341"/>
              <a:ext cx="66560" cy="147853"/>
            </a:xfrm>
            <a:custGeom>
              <a:avLst/>
              <a:gdLst>
                <a:gd name="T0" fmla="*/ 2147483647 w 42"/>
                <a:gd name="T1" fmla="*/ 2147483647 h 96"/>
                <a:gd name="T2" fmla="*/ 2147483647 w 42"/>
                <a:gd name="T3" fmla="*/ 0 h 96"/>
                <a:gd name="T4" fmla="*/ 2147483647 w 42"/>
                <a:gd name="T5" fmla="*/ 2147483647 h 96"/>
                <a:gd name="T6" fmla="*/ 0 w 42"/>
                <a:gd name="T7" fmla="*/ 2147483647 h 96"/>
                <a:gd name="T8" fmla="*/ 0 w 42"/>
                <a:gd name="T9" fmla="*/ 2147483647 h 96"/>
                <a:gd name="T10" fmla="*/ 0 w 42"/>
                <a:gd name="T11" fmla="*/ 2147483647 h 96"/>
                <a:gd name="T12" fmla="*/ 2147483647 w 42"/>
                <a:gd name="T13" fmla="*/ 2147483647 h 96"/>
                <a:gd name="T14" fmla="*/ 2147483647 w 42"/>
                <a:gd name="T15" fmla="*/ 2147483647 h 96"/>
                <a:gd name="T16" fmla="*/ 2147483647 w 42"/>
                <a:gd name="T17" fmla="*/ 2147483647 h 96"/>
                <a:gd name="T18" fmla="*/ 2147483647 w 42"/>
                <a:gd name="T19" fmla="*/ 2147483647 h 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2" h="96">
                  <a:moveTo>
                    <a:pt x="18" y="18"/>
                  </a:moveTo>
                  <a:lnTo>
                    <a:pt x="18" y="0"/>
                  </a:lnTo>
                  <a:lnTo>
                    <a:pt x="6" y="6"/>
                  </a:lnTo>
                  <a:lnTo>
                    <a:pt x="0" y="6"/>
                  </a:lnTo>
                  <a:lnTo>
                    <a:pt x="0" y="12"/>
                  </a:lnTo>
                  <a:lnTo>
                    <a:pt x="0" y="42"/>
                  </a:lnTo>
                  <a:lnTo>
                    <a:pt x="18" y="96"/>
                  </a:lnTo>
                  <a:lnTo>
                    <a:pt x="42" y="90"/>
                  </a:lnTo>
                  <a:lnTo>
                    <a:pt x="24" y="60"/>
                  </a:lnTo>
                  <a:lnTo>
                    <a:pt x="18" y="18"/>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26" name="Freeform 123">
              <a:extLst>
                <a:ext uri="{FF2B5EF4-FFF2-40B4-BE49-F238E27FC236}">
                  <a16:creationId xmlns:a16="http://schemas.microsoft.com/office/drawing/2014/main" id="{B2060862-091D-306E-E329-BEF79EDDC13C}"/>
                </a:ext>
              </a:extLst>
            </p:cNvPr>
            <p:cNvSpPr>
              <a:spLocks/>
            </p:cNvSpPr>
            <p:nvPr/>
          </p:nvSpPr>
          <p:spPr bwMode="auto">
            <a:xfrm>
              <a:off x="5746451" y="5019592"/>
              <a:ext cx="384148" cy="388588"/>
            </a:xfrm>
            <a:custGeom>
              <a:avLst/>
              <a:gdLst>
                <a:gd name="T0" fmla="*/ 2147483647 w 246"/>
                <a:gd name="T1" fmla="*/ 2147483647 h 252"/>
                <a:gd name="T2" fmla="*/ 2147483647 w 246"/>
                <a:gd name="T3" fmla="*/ 2147483647 h 252"/>
                <a:gd name="T4" fmla="*/ 2147483647 w 246"/>
                <a:gd name="T5" fmla="*/ 2147483647 h 252"/>
                <a:gd name="T6" fmla="*/ 2147483647 w 246"/>
                <a:gd name="T7" fmla="*/ 2147483647 h 252"/>
                <a:gd name="T8" fmla="*/ 2147483647 w 246"/>
                <a:gd name="T9" fmla="*/ 2147483647 h 252"/>
                <a:gd name="T10" fmla="*/ 2147483647 w 246"/>
                <a:gd name="T11" fmla="*/ 2147483647 h 252"/>
                <a:gd name="T12" fmla="*/ 2147483647 w 246"/>
                <a:gd name="T13" fmla="*/ 2147483647 h 252"/>
                <a:gd name="T14" fmla="*/ 2147483647 w 246"/>
                <a:gd name="T15" fmla="*/ 2147483647 h 252"/>
                <a:gd name="T16" fmla="*/ 2147483647 w 246"/>
                <a:gd name="T17" fmla="*/ 2147483647 h 252"/>
                <a:gd name="T18" fmla="*/ 2147483647 w 246"/>
                <a:gd name="T19" fmla="*/ 2147483647 h 252"/>
                <a:gd name="T20" fmla="*/ 2147483647 w 246"/>
                <a:gd name="T21" fmla="*/ 2147483647 h 252"/>
                <a:gd name="T22" fmla="*/ 2147483647 w 246"/>
                <a:gd name="T23" fmla="*/ 2147483647 h 252"/>
                <a:gd name="T24" fmla="*/ 2147483647 w 246"/>
                <a:gd name="T25" fmla="*/ 2147483647 h 252"/>
                <a:gd name="T26" fmla="*/ 2147483647 w 246"/>
                <a:gd name="T27" fmla="*/ 2147483647 h 252"/>
                <a:gd name="T28" fmla="*/ 2147483647 w 246"/>
                <a:gd name="T29" fmla="*/ 2147483647 h 252"/>
                <a:gd name="T30" fmla="*/ 2147483647 w 246"/>
                <a:gd name="T31" fmla="*/ 2147483647 h 252"/>
                <a:gd name="T32" fmla="*/ 2147483647 w 246"/>
                <a:gd name="T33" fmla="*/ 2147483647 h 252"/>
                <a:gd name="T34" fmla="*/ 2147483647 w 246"/>
                <a:gd name="T35" fmla="*/ 2147483647 h 252"/>
                <a:gd name="T36" fmla="*/ 2147483647 w 246"/>
                <a:gd name="T37" fmla="*/ 2147483647 h 252"/>
                <a:gd name="T38" fmla="*/ 2147483647 w 246"/>
                <a:gd name="T39" fmla="*/ 0 h 252"/>
                <a:gd name="T40" fmla="*/ 2147483647 w 246"/>
                <a:gd name="T41" fmla="*/ 2147483647 h 252"/>
                <a:gd name="T42" fmla="*/ 0 w 246"/>
                <a:gd name="T43" fmla="*/ 2147483647 h 252"/>
                <a:gd name="T44" fmla="*/ 2147483647 w 246"/>
                <a:gd name="T45" fmla="*/ 2147483647 h 252"/>
                <a:gd name="T46" fmla="*/ 2147483647 w 246"/>
                <a:gd name="T47" fmla="*/ 2147483647 h 252"/>
                <a:gd name="T48" fmla="*/ 2147483647 w 246"/>
                <a:gd name="T49" fmla="*/ 2147483647 h 252"/>
                <a:gd name="T50" fmla="*/ 2147483647 w 246"/>
                <a:gd name="T51" fmla="*/ 2147483647 h 252"/>
                <a:gd name="T52" fmla="*/ 2147483647 w 246"/>
                <a:gd name="T53" fmla="*/ 2147483647 h 252"/>
                <a:gd name="T54" fmla="*/ 2147483647 w 246"/>
                <a:gd name="T55" fmla="*/ 2147483647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46" h="252">
                  <a:moveTo>
                    <a:pt x="126" y="252"/>
                  </a:moveTo>
                  <a:lnTo>
                    <a:pt x="144" y="246"/>
                  </a:lnTo>
                  <a:lnTo>
                    <a:pt x="156" y="162"/>
                  </a:lnTo>
                  <a:lnTo>
                    <a:pt x="156" y="108"/>
                  </a:lnTo>
                  <a:lnTo>
                    <a:pt x="168" y="102"/>
                  </a:lnTo>
                  <a:lnTo>
                    <a:pt x="174" y="36"/>
                  </a:lnTo>
                  <a:lnTo>
                    <a:pt x="222" y="24"/>
                  </a:lnTo>
                  <a:lnTo>
                    <a:pt x="240" y="18"/>
                  </a:lnTo>
                  <a:lnTo>
                    <a:pt x="246" y="18"/>
                  </a:lnTo>
                  <a:lnTo>
                    <a:pt x="234" y="12"/>
                  </a:lnTo>
                  <a:lnTo>
                    <a:pt x="210" y="12"/>
                  </a:lnTo>
                  <a:lnTo>
                    <a:pt x="216" y="18"/>
                  </a:lnTo>
                  <a:lnTo>
                    <a:pt x="210" y="12"/>
                  </a:lnTo>
                  <a:lnTo>
                    <a:pt x="174" y="18"/>
                  </a:lnTo>
                  <a:lnTo>
                    <a:pt x="126" y="18"/>
                  </a:lnTo>
                  <a:lnTo>
                    <a:pt x="114" y="12"/>
                  </a:lnTo>
                  <a:lnTo>
                    <a:pt x="30" y="12"/>
                  </a:lnTo>
                  <a:lnTo>
                    <a:pt x="18" y="0"/>
                  </a:lnTo>
                  <a:lnTo>
                    <a:pt x="6" y="6"/>
                  </a:lnTo>
                  <a:lnTo>
                    <a:pt x="0" y="42"/>
                  </a:lnTo>
                  <a:lnTo>
                    <a:pt x="42" y="126"/>
                  </a:lnTo>
                  <a:lnTo>
                    <a:pt x="48" y="144"/>
                  </a:lnTo>
                  <a:lnTo>
                    <a:pt x="60" y="222"/>
                  </a:lnTo>
                  <a:lnTo>
                    <a:pt x="90" y="252"/>
                  </a:lnTo>
                  <a:lnTo>
                    <a:pt x="96" y="240"/>
                  </a:lnTo>
                  <a:lnTo>
                    <a:pt x="126" y="252"/>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27" name="Freeform 124">
              <a:extLst>
                <a:ext uri="{FF2B5EF4-FFF2-40B4-BE49-F238E27FC236}">
                  <a16:creationId xmlns:a16="http://schemas.microsoft.com/office/drawing/2014/main" id="{E8570EBF-B15F-05D1-9AF5-992BAE3C09D3}"/>
                </a:ext>
              </a:extLst>
            </p:cNvPr>
            <p:cNvSpPr>
              <a:spLocks/>
            </p:cNvSpPr>
            <p:nvPr/>
          </p:nvSpPr>
          <p:spPr bwMode="auto">
            <a:xfrm>
              <a:off x="5425059" y="3954293"/>
              <a:ext cx="95086" cy="111838"/>
            </a:xfrm>
            <a:custGeom>
              <a:avLst/>
              <a:gdLst>
                <a:gd name="T0" fmla="*/ 0 w 10"/>
                <a:gd name="T1" fmla="*/ 2147483647 h 12"/>
                <a:gd name="T2" fmla="*/ 2147483647 w 10"/>
                <a:gd name="T3" fmla="*/ 2147483647 h 12"/>
                <a:gd name="T4" fmla="*/ 2147483647 w 10"/>
                <a:gd name="T5" fmla="*/ 2147483647 h 12"/>
                <a:gd name="T6" fmla="*/ 2147483647 w 10"/>
                <a:gd name="T7" fmla="*/ 2147483647 h 12"/>
                <a:gd name="T8" fmla="*/ 2147483647 w 10"/>
                <a:gd name="T9" fmla="*/ 0 h 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2">
                  <a:moveTo>
                    <a:pt x="0" y="12"/>
                  </a:moveTo>
                  <a:cubicBezTo>
                    <a:pt x="4" y="11"/>
                    <a:pt x="4" y="11"/>
                    <a:pt x="4" y="11"/>
                  </a:cubicBezTo>
                  <a:cubicBezTo>
                    <a:pt x="9" y="10"/>
                    <a:pt x="9" y="10"/>
                    <a:pt x="9" y="10"/>
                  </a:cubicBezTo>
                  <a:cubicBezTo>
                    <a:pt x="9" y="10"/>
                    <a:pt x="10" y="8"/>
                    <a:pt x="10" y="8"/>
                  </a:cubicBezTo>
                  <a:cubicBezTo>
                    <a:pt x="10" y="7"/>
                    <a:pt x="10" y="0"/>
                    <a:pt x="10" y="0"/>
                  </a:cubicBezTo>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28" name="Freeform 125">
              <a:extLst>
                <a:ext uri="{FF2B5EF4-FFF2-40B4-BE49-F238E27FC236}">
                  <a16:creationId xmlns:a16="http://schemas.microsoft.com/office/drawing/2014/main" id="{28A74254-063E-36A3-4412-3E49BBD8FEE7}"/>
                </a:ext>
              </a:extLst>
            </p:cNvPr>
            <p:cNvSpPr>
              <a:spLocks/>
            </p:cNvSpPr>
            <p:nvPr/>
          </p:nvSpPr>
          <p:spPr bwMode="auto">
            <a:xfrm>
              <a:off x="265683" y="1478705"/>
              <a:ext cx="810134" cy="1101315"/>
            </a:xfrm>
            <a:custGeom>
              <a:avLst/>
              <a:gdLst>
                <a:gd name="T0" fmla="*/ 2147483647 w 516"/>
                <a:gd name="T1" fmla="*/ 2147483647 h 709"/>
                <a:gd name="T2" fmla="*/ 2147483647 w 516"/>
                <a:gd name="T3" fmla="*/ 2147483647 h 709"/>
                <a:gd name="T4" fmla="*/ 2147483647 w 516"/>
                <a:gd name="T5" fmla="*/ 2147483647 h 709"/>
                <a:gd name="T6" fmla="*/ 2147483647 w 516"/>
                <a:gd name="T7" fmla="*/ 2147483647 h 709"/>
                <a:gd name="T8" fmla="*/ 2147483647 w 516"/>
                <a:gd name="T9" fmla="*/ 2147483647 h 709"/>
                <a:gd name="T10" fmla="*/ 2147483647 w 516"/>
                <a:gd name="T11" fmla="*/ 2147483647 h 709"/>
                <a:gd name="T12" fmla="*/ 2147483647 w 516"/>
                <a:gd name="T13" fmla="*/ 2147483647 h 709"/>
                <a:gd name="T14" fmla="*/ 2147483647 w 516"/>
                <a:gd name="T15" fmla="*/ 0 h 709"/>
                <a:gd name="T16" fmla="*/ 2147483647 w 516"/>
                <a:gd name="T17" fmla="*/ 2147483647 h 709"/>
                <a:gd name="T18" fmla="*/ 2147483647 w 516"/>
                <a:gd name="T19" fmla="*/ 2147483647 h 709"/>
                <a:gd name="T20" fmla="*/ 2147483647 w 516"/>
                <a:gd name="T21" fmla="*/ 2147483647 h 709"/>
                <a:gd name="T22" fmla="*/ 2147483647 w 516"/>
                <a:gd name="T23" fmla="*/ 2147483647 h 709"/>
                <a:gd name="T24" fmla="*/ 2147483647 w 516"/>
                <a:gd name="T25" fmla="*/ 2147483647 h 709"/>
                <a:gd name="T26" fmla="*/ 2147483647 w 516"/>
                <a:gd name="T27" fmla="*/ 2147483647 h 709"/>
                <a:gd name="T28" fmla="*/ 2147483647 w 516"/>
                <a:gd name="T29" fmla="*/ 2147483647 h 709"/>
                <a:gd name="T30" fmla="*/ 2147483647 w 516"/>
                <a:gd name="T31" fmla="*/ 2147483647 h 709"/>
                <a:gd name="T32" fmla="*/ 2147483647 w 516"/>
                <a:gd name="T33" fmla="*/ 2147483647 h 709"/>
                <a:gd name="T34" fmla="*/ 2147483647 w 516"/>
                <a:gd name="T35" fmla="*/ 2147483647 h 709"/>
                <a:gd name="T36" fmla="*/ 2147483647 w 516"/>
                <a:gd name="T37" fmla="*/ 2147483647 h 709"/>
                <a:gd name="T38" fmla="*/ 0 w 516"/>
                <a:gd name="T39" fmla="*/ 2147483647 h 709"/>
                <a:gd name="T40" fmla="*/ 2147483647 w 516"/>
                <a:gd name="T41" fmla="*/ 2147483647 h 709"/>
                <a:gd name="T42" fmla="*/ 2147483647 w 516"/>
                <a:gd name="T43" fmla="*/ 2147483647 h 709"/>
                <a:gd name="T44" fmla="*/ 2147483647 w 516"/>
                <a:gd name="T45" fmla="*/ 2147483647 h 709"/>
                <a:gd name="T46" fmla="*/ 2147483647 w 516"/>
                <a:gd name="T47" fmla="*/ 2147483647 h 709"/>
                <a:gd name="T48" fmla="*/ 2147483647 w 516"/>
                <a:gd name="T49" fmla="*/ 2147483647 h 709"/>
                <a:gd name="T50" fmla="*/ 2147483647 w 516"/>
                <a:gd name="T51" fmla="*/ 2147483647 h 709"/>
                <a:gd name="T52" fmla="*/ 2147483647 w 516"/>
                <a:gd name="T53" fmla="*/ 2147483647 h 709"/>
                <a:gd name="T54" fmla="*/ 2147483647 w 516"/>
                <a:gd name="T55" fmla="*/ 2147483647 h 709"/>
                <a:gd name="T56" fmla="*/ 2147483647 w 516"/>
                <a:gd name="T57" fmla="*/ 2147483647 h 709"/>
                <a:gd name="T58" fmla="*/ 2147483647 w 516"/>
                <a:gd name="T59" fmla="*/ 2147483647 h 709"/>
                <a:gd name="T60" fmla="*/ 2147483647 w 516"/>
                <a:gd name="T61" fmla="*/ 2147483647 h 709"/>
                <a:gd name="T62" fmla="*/ 2147483647 w 516"/>
                <a:gd name="T63" fmla="*/ 2147483647 h 709"/>
                <a:gd name="T64" fmla="*/ 2147483647 w 516"/>
                <a:gd name="T65" fmla="*/ 2147483647 h 709"/>
                <a:gd name="T66" fmla="*/ 2147483647 w 516"/>
                <a:gd name="T67" fmla="*/ 2147483647 h 709"/>
                <a:gd name="T68" fmla="*/ 2147483647 w 516"/>
                <a:gd name="T69" fmla="*/ 2147483647 h 709"/>
                <a:gd name="T70" fmla="*/ 2147483647 w 516"/>
                <a:gd name="T71" fmla="*/ 2147483647 h 709"/>
                <a:gd name="T72" fmla="*/ 2147483647 w 516"/>
                <a:gd name="T73" fmla="*/ 2147483647 h 709"/>
                <a:gd name="T74" fmla="*/ 2147483647 w 516"/>
                <a:gd name="T75" fmla="*/ 2147483647 h 709"/>
                <a:gd name="T76" fmla="*/ 2147483647 w 516"/>
                <a:gd name="T77" fmla="*/ 2147483647 h 709"/>
                <a:gd name="T78" fmla="*/ 2147483647 w 516"/>
                <a:gd name="T79" fmla="*/ 2147483647 h 709"/>
                <a:gd name="T80" fmla="*/ 2147483647 w 516"/>
                <a:gd name="T81" fmla="*/ 2147483647 h 709"/>
                <a:gd name="T82" fmla="*/ 2147483647 w 516"/>
                <a:gd name="T83" fmla="*/ 2147483647 h 709"/>
                <a:gd name="T84" fmla="*/ 2147483647 w 516"/>
                <a:gd name="T85" fmla="*/ 2147483647 h 709"/>
                <a:gd name="T86" fmla="*/ 2147483647 w 516"/>
                <a:gd name="T87" fmla="*/ 2147483647 h 709"/>
                <a:gd name="T88" fmla="*/ 2147483647 w 516"/>
                <a:gd name="T89" fmla="*/ 2147483647 h 709"/>
                <a:gd name="T90" fmla="*/ 2147483647 w 516"/>
                <a:gd name="T91" fmla="*/ 2147483647 h 709"/>
                <a:gd name="T92" fmla="*/ 2147483647 w 516"/>
                <a:gd name="T93" fmla="*/ 2147483647 h 709"/>
                <a:gd name="T94" fmla="*/ 2147483647 w 516"/>
                <a:gd name="T95" fmla="*/ 2147483647 h 70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516" h="709">
                  <a:moveTo>
                    <a:pt x="504" y="96"/>
                  </a:moveTo>
                  <a:lnTo>
                    <a:pt x="486" y="78"/>
                  </a:lnTo>
                  <a:lnTo>
                    <a:pt x="432" y="84"/>
                  </a:lnTo>
                  <a:lnTo>
                    <a:pt x="354" y="48"/>
                  </a:lnTo>
                  <a:lnTo>
                    <a:pt x="318" y="54"/>
                  </a:lnTo>
                  <a:lnTo>
                    <a:pt x="288" y="36"/>
                  </a:lnTo>
                  <a:lnTo>
                    <a:pt x="282" y="18"/>
                  </a:lnTo>
                  <a:lnTo>
                    <a:pt x="228" y="0"/>
                  </a:lnTo>
                  <a:lnTo>
                    <a:pt x="198" y="24"/>
                  </a:lnTo>
                  <a:lnTo>
                    <a:pt x="150" y="42"/>
                  </a:lnTo>
                  <a:lnTo>
                    <a:pt x="114" y="66"/>
                  </a:lnTo>
                  <a:lnTo>
                    <a:pt x="90" y="126"/>
                  </a:lnTo>
                  <a:lnTo>
                    <a:pt x="42" y="138"/>
                  </a:lnTo>
                  <a:lnTo>
                    <a:pt x="42" y="174"/>
                  </a:lnTo>
                  <a:lnTo>
                    <a:pt x="78" y="222"/>
                  </a:lnTo>
                  <a:lnTo>
                    <a:pt x="114" y="240"/>
                  </a:lnTo>
                  <a:lnTo>
                    <a:pt x="114" y="264"/>
                  </a:lnTo>
                  <a:lnTo>
                    <a:pt x="90" y="276"/>
                  </a:lnTo>
                  <a:lnTo>
                    <a:pt x="60" y="264"/>
                  </a:lnTo>
                  <a:lnTo>
                    <a:pt x="0" y="306"/>
                  </a:lnTo>
                  <a:lnTo>
                    <a:pt x="18" y="324"/>
                  </a:lnTo>
                  <a:lnTo>
                    <a:pt x="42" y="348"/>
                  </a:lnTo>
                  <a:lnTo>
                    <a:pt x="96" y="348"/>
                  </a:lnTo>
                  <a:lnTo>
                    <a:pt x="138" y="354"/>
                  </a:lnTo>
                  <a:lnTo>
                    <a:pt x="120" y="396"/>
                  </a:lnTo>
                  <a:lnTo>
                    <a:pt x="72" y="414"/>
                  </a:lnTo>
                  <a:lnTo>
                    <a:pt x="36" y="438"/>
                  </a:lnTo>
                  <a:lnTo>
                    <a:pt x="30" y="468"/>
                  </a:lnTo>
                  <a:lnTo>
                    <a:pt x="72" y="498"/>
                  </a:lnTo>
                  <a:lnTo>
                    <a:pt x="78" y="529"/>
                  </a:lnTo>
                  <a:lnTo>
                    <a:pt x="108" y="541"/>
                  </a:lnTo>
                  <a:lnTo>
                    <a:pt x="114" y="583"/>
                  </a:lnTo>
                  <a:lnTo>
                    <a:pt x="156" y="577"/>
                  </a:lnTo>
                  <a:lnTo>
                    <a:pt x="210" y="577"/>
                  </a:lnTo>
                  <a:lnTo>
                    <a:pt x="180" y="631"/>
                  </a:lnTo>
                  <a:lnTo>
                    <a:pt x="90" y="709"/>
                  </a:lnTo>
                  <a:lnTo>
                    <a:pt x="192" y="655"/>
                  </a:lnTo>
                  <a:lnTo>
                    <a:pt x="270" y="571"/>
                  </a:lnTo>
                  <a:lnTo>
                    <a:pt x="264" y="553"/>
                  </a:lnTo>
                  <a:lnTo>
                    <a:pt x="312" y="492"/>
                  </a:lnTo>
                  <a:lnTo>
                    <a:pt x="324" y="517"/>
                  </a:lnTo>
                  <a:lnTo>
                    <a:pt x="330" y="547"/>
                  </a:lnTo>
                  <a:lnTo>
                    <a:pt x="366" y="517"/>
                  </a:lnTo>
                  <a:lnTo>
                    <a:pt x="408" y="492"/>
                  </a:lnTo>
                  <a:lnTo>
                    <a:pt x="426" y="505"/>
                  </a:lnTo>
                  <a:lnTo>
                    <a:pt x="516" y="523"/>
                  </a:lnTo>
                  <a:lnTo>
                    <a:pt x="516" y="96"/>
                  </a:lnTo>
                  <a:lnTo>
                    <a:pt x="504" y="96"/>
                  </a:lnTo>
                  <a:close/>
                </a:path>
              </a:pathLst>
            </a:custGeom>
            <a:solidFill>
              <a:schemeClr val="bg1">
                <a:lumMod val="65000"/>
              </a:schemeClr>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29" name="Freeform 126">
              <a:extLst>
                <a:ext uri="{FF2B5EF4-FFF2-40B4-BE49-F238E27FC236}">
                  <a16:creationId xmlns:a16="http://schemas.microsoft.com/office/drawing/2014/main" id="{16389853-1AFE-FB40-D50E-DB28D1D9A8D5}"/>
                </a:ext>
              </a:extLst>
            </p:cNvPr>
            <p:cNvSpPr>
              <a:spLocks/>
            </p:cNvSpPr>
            <p:nvPr/>
          </p:nvSpPr>
          <p:spPr bwMode="auto">
            <a:xfrm>
              <a:off x="1075817" y="1433211"/>
              <a:ext cx="2538801" cy="1734429"/>
            </a:xfrm>
            <a:custGeom>
              <a:avLst/>
              <a:gdLst>
                <a:gd name="T0" fmla="*/ 2147483647 w 1622"/>
                <a:gd name="T1" fmla="*/ 2147483647 h 1117"/>
                <a:gd name="T2" fmla="*/ 2147483647 w 1622"/>
                <a:gd name="T3" fmla="*/ 2147483647 h 1117"/>
                <a:gd name="T4" fmla="*/ 2147483647 w 1622"/>
                <a:gd name="T5" fmla="*/ 2147483647 h 1117"/>
                <a:gd name="T6" fmla="*/ 2147483647 w 1622"/>
                <a:gd name="T7" fmla="*/ 2147483647 h 1117"/>
                <a:gd name="T8" fmla="*/ 2147483647 w 1622"/>
                <a:gd name="T9" fmla="*/ 2147483647 h 1117"/>
                <a:gd name="T10" fmla="*/ 2147483647 w 1622"/>
                <a:gd name="T11" fmla="*/ 2147483647 h 1117"/>
                <a:gd name="T12" fmla="*/ 2147483647 w 1622"/>
                <a:gd name="T13" fmla="*/ 2147483647 h 1117"/>
                <a:gd name="T14" fmla="*/ 2147483647 w 1622"/>
                <a:gd name="T15" fmla="*/ 2147483647 h 1117"/>
                <a:gd name="T16" fmla="*/ 2147483647 w 1622"/>
                <a:gd name="T17" fmla="*/ 2147483647 h 1117"/>
                <a:gd name="T18" fmla="*/ 2147483647 w 1622"/>
                <a:gd name="T19" fmla="*/ 2147483647 h 1117"/>
                <a:gd name="T20" fmla="*/ 2147483647 w 1622"/>
                <a:gd name="T21" fmla="*/ 2147483647 h 1117"/>
                <a:gd name="T22" fmla="*/ 2147483647 w 1622"/>
                <a:gd name="T23" fmla="*/ 2147483647 h 1117"/>
                <a:gd name="T24" fmla="*/ 2147483647 w 1622"/>
                <a:gd name="T25" fmla="*/ 2147483647 h 1117"/>
                <a:gd name="T26" fmla="*/ 2147483647 w 1622"/>
                <a:gd name="T27" fmla="*/ 2147483647 h 1117"/>
                <a:gd name="T28" fmla="*/ 2147483647 w 1622"/>
                <a:gd name="T29" fmla="*/ 2147483647 h 1117"/>
                <a:gd name="T30" fmla="*/ 2147483647 w 1622"/>
                <a:gd name="T31" fmla="*/ 2147483647 h 1117"/>
                <a:gd name="T32" fmla="*/ 2147483647 w 1622"/>
                <a:gd name="T33" fmla="*/ 2147483647 h 1117"/>
                <a:gd name="T34" fmla="*/ 2147483647 w 1622"/>
                <a:gd name="T35" fmla="*/ 2147483647 h 1117"/>
                <a:gd name="T36" fmla="*/ 2147483647 w 1622"/>
                <a:gd name="T37" fmla="*/ 2147483647 h 1117"/>
                <a:gd name="T38" fmla="*/ 2147483647 w 1622"/>
                <a:gd name="T39" fmla="*/ 2147483647 h 1117"/>
                <a:gd name="T40" fmla="*/ 2147483647 w 1622"/>
                <a:gd name="T41" fmla="*/ 2147483647 h 1117"/>
                <a:gd name="T42" fmla="*/ 2147483647 w 1622"/>
                <a:gd name="T43" fmla="*/ 2147483647 h 1117"/>
                <a:gd name="T44" fmla="*/ 2147483647 w 1622"/>
                <a:gd name="T45" fmla="*/ 2147483647 h 1117"/>
                <a:gd name="T46" fmla="*/ 2147483647 w 1622"/>
                <a:gd name="T47" fmla="*/ 2147483647 h 1117"/>
                <a:gd name="T48" fmla="*/ 2147483647 w 1622"/>
                <a:gd name="T49" fmla="*/ 2147483647 h 1117"/>
                <a:gd name="T50" fmla="*/ 2147483647 w 1622"/>
                <a:gd name="T51" fmla="*/ 2147483647 h 1117"/>
                <a:gd name="T52" fmla="*/ 2147483647 w 1622"/>
                <a:gd name="T53" fmla="*/ 2147483647 h 1117"/>
                <a:gd name="T54" fmla="*/ 2147483647 w 1622"/>
                <a:gd name="T55" fmla="*/ 2147483647 h 1117"/>
                <a:gd name="T56" fmla="*/ 2147483647 w 1622"/>
                <a:gd name="T57" fmla="*/ 2147483647 h 1117"/>
                <a:gd name="T58" fmla="*/ 2147483647 w 1622"/>
                <a:gd name="T59" fmla="*/ 2147483647 h 1117"/>
                <a:gd name="T60" fmla="*/ 2147483647 w 1622"/>
                <a:gd name="T61" fmla="*/ 2147483647 h 1117"/>
                <a:gd name="T62" fmla="*/ 2147483647 w 1622"/>
                <a:gd name="T63" fmla="*/ 2147483647 h 1117"/>
                <a:gd name="T64" fmla="*/ 2147483647 w 1622"/>
                <a:gd name="T65" fmla="*/ 2147483647 h 1117"/>
                <a:gd name="T66" fmla="*/ 2147483647 w 1622"/>
                <a:gd name="T67" fmla="*/ 2147483647 h 1117"/>
                <a:gd name="T68" fmla="*/ 2147483647 w 1622"/>
                <a:gd name="T69" fmla="*/ 2147483647 h 1117"/>
                <a:gd name="T70" fmla="*/ 2147483647 w 1622"/>
                <a:gd name="T71" fmla="*/ 2147483647 h 1117"/>
                <a:gd name="T72" fmla="*/ 2147483647 w 1622"/>
                <a:gd name="T73" fmla="*/ 2147483647 h 1117"/>
                <a:gd name="T74" fmla="*/ 2147483647 w 1622"/>
                <a:gd name="T75" fmla="*/ 2147483647 h 1117"/>
                <a:gd name="T76" fmla="*/ 2147483647 w 1622"/>
                <a:gd name="T77" fmla="*/ 2147483647 h 1117"/>
                <a:gd name="T78" fmla="*/ 2147483647 w 1622"/>
                <a:gd name="T79" fmla="*/ 2147483647 h 1117"/>
                <a:gd name="T80" fmla="*/ 2147483647 w 1622"/>
                <a:gd name="T81" fmla="*/ 0 h 1117"/>
                <a:gd name="T82" fmla="*/ 2147483647 w 1622"/>
                <a:gd name="T83" fmla="*/ 2147483647 h 1117"/>
                <a:gd name="T84" fmla="*/ 2147483647 w 1622"/>
                <a:gd name="T85" fmla="*/ 2147483647 h 1117"/>
                <a:gd name="T86" fmla="*/ 2147483647 w 1622"/>
                <a:gd name="T87" fmla="*/ 2147483647 h 1117"/>
                <a:gd name="T88" fmla="*/ 2147483647 w 1622"/>
                <a:gd name="T89" fmla="*/ 2147483647 h 1117"/>
                <a:gd name="T90" fmla="*/ 2147483647 w 1622"/>
                <a:gd name="T91" fmla="*/ 2147483647 h 1117"/>
                <a:gd name="T92" fmla="*/ 2147483647 w 1622"/>
                <a:gd name="T93" fmla="*/ 2147483647 h 1117"/>
                <a:gd name="T94" fmla="*/ 2147483647 w 1622"/>
                <a:gd name="T95" fmla="*/ 2147483647 h 1117"/>
                <a:gd name="T96" fmla="*/ 2147483647 w 1622"/>
                <a:gd name="T97" fmla="*/ 2147483647 h 1117"/>
                <a:gd name="T98" fmla="*/ 2147483647 w 1622"/>
                <a:gd name="T99" fmla="*/ 2147483647 h 1117"/>
                <a:gd name="T100" fmla="*/ 2147483647 w 1622"/>
                <a:gd name="T101" fmla="*/ 2147483647 h 1117"/>
                <a:gd name="T102" fmla="*/ 2147483647 w 1622"/>
                <a:gd name="T103" fmla="*/ 2147483647 h 1117"/>
                <a:gd name="T104" fmla="*/ 2147483647 w 1622"/>
                <a:gd name="T105" fmla="*/ 2147483647 h 1117"/>
                <a:gd name="T106" fmla="*/ 2147483647 w 1622"/>
                <a:gd name="T107" fmla="*/ 2147483647 h 1117"/>
                <a:gd name="T108" fmla="*/ 2147483647 w 1622"/>
                <a:gd name="T109" fmla="*/ 2147483647 h 1117"/>
                <a:gd name="T110" fmla="*/ 0 w 1622"/>
                <a:gd name="T111" fmla="*/ 2147483647 h 1117"/>
                <a:gd name="T112" fmla="*/ 2147483647 w 1622"/>
                <a:gd name="T113" fmla="*/ 2147483647 h 1117"/>
                <a:gd name="T114" fmla="*/ 2147483647 w 1622"/>
                <a:gd name="T115" fmla="*/ 2147483647 h 1117"/>
                <a:gd name="T116" fmla="*/ 2147483647 w 1622"/>
                <a:gd name="T117" fmla="*/ 2147483647 h 1117"/>
                <a:gd name="T118" fmla="*/ 2147483647 w 1622"/>
                <a:gd name="T119" fmla="*/ 2147483647 h 1117"/>
                <a:gd name="T120" fmla="*/ 2147483647 w 1622"/>
                <a:gd name="T121" fmla="*/ 2147483647 h 1117"/>
                <a:gd name="T122" fmla="*/ 2147483647 w 1622"/>
                <a:gd name="T123" fmla="*/ 2147483647 h 111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622" h="1117">
                  <a:moveTo>
                    <a:pt x="931" y="943"/>
                  </a:moveTo>
                  <a:lnTo>
                    <a:pt x="973" y="955"/>
                  </a:lnTo>
                  <a:lnTo>
                    <a:pt x="1075" y="1003"/>
                  </a:lnTo>
                  <a:lnTo>
                    <a:pt x="1111" y="1081"/>
                  </a:lnTo>
                  <a:lnTo>
                    <a:pt x="1111" y="1117"/>
                  </a:lnTo>
                  <a:lnTo>
                    <a:pt x="1190" y="1093"/>
                  </a:lnTo>
                  <a:lnTo>
                    <a:pt x="1232" y="1057"/>
                  </a:lnTo>
                  <a:lnTo>
                    <a:pt x="1262" y="1051"/>
                  </a:lnTo>
                  <a:lnTo>
                    <a:pt x="1322" y="1039"/>
                  </a:lnTo>
                  <a:lnTo>
                    <a:pt x="1370" y="979"/>
                  </a:lnTo>
                  <a:lnTo>
                    <a:pt x="1394" y="985"/>
                  </a:lnTo>
                  <a:lnTo>
                    <a:pt x="1406" y="1045"/>
                  </a:lnTo>
                  <a:lnTo>
                    <a:pt x="1430" y="1027"/>
                  </a:lnTo>
                  <a:lnTo>
                    <a:pt x="1448" y="1033"/>
                  </a:lnTo>
                  <a:lnTo>
                    <a:pt x="1436" y="1051"/>
                  </a:lnTo>
                  <a:lnTo>
                    <a:pt x="1448" y="1075"/>
                  </a:lnTo>
                  <a:lnTo>
                    <a:pt x="1502" y="1033"/>
                  </a:lnTo>
                  <a:lnTo>
                    <a:pt x="1520" y="1009"/>
                  </a:lnTo>
                  <a:lnTo>
                    <a:pt x="1466" y="1003"/>
                  </a:lnTo>
                  <a:lnTo>
                    <a:pt x="1442" y="967"/>
                  </a:lnTo>
                  <a:lnTo>
                    <a:pt x="1460" y="949"/>
                  </a:lnTo>
                  <a:lnTo>
                    <a:pt x="1466" y="925"/>
                  </a:lnTo>
                  <a:lnTo>
                    <a:pt x="1382" y="943"/>
                  </a:lnTo>
                  <a:lnTo>
                    <a:pt x="1340" y="979"/>
                  </a:lnTo>
                  <a:lnTo>
                    <a:pt x="1358" y="937"/>
                  </a:lnTo>
                  <a:lnTo>
                    <a:pt x="1400" y="913"/>
                  </a:lnTo>
                  <a:lnTo>
                    <a:pt x="1424" y="889"/>
                  </a:lnTo>
                  <a:lnTo>
                    <a:pt x="1496" y="895"/>
                  </a:lnTo>
                  <a:lnTo>
                    <a:pt x="1550" y="889"/>
                  </a:lnTo>
                  <a:lnTo>
                    <a:pt x="1592" y="859"/>
                  </a:lnTo>
                  <a:lnTo>
                    <a:pt x="1622" y="835"/>
                  </a:lnTo>
                  <a:lnTo>
                    <a:pt x="1598" y="775"/>
                  </a:lnTo>
                  <a:lnTo>
                    <a:pt x="1592" y="745"/>
                  </a:lnTo>
                  <a:lnTo>
                    <a:pt x="1514" y="703"/>
                  </a:lnTo>
                  <a:lnTo>
                    <a:pt x="1514" y="679"/>
                  </a:lnTo>
                  <a:lnTo>
                    <a:pt x="1448" y="553"/>
                  </a:lnTo>
                  <a:lnTo>
                    <a:pt x="1430" y="607"/>
                  </a:lnTo>
                  <a:lnTo>
                    <a:pt x="1388" y="619"/>
                  </a:lnTo>
                  <a:lnTo>
                    <a:pt x="1376" y="607"/>
                  </a:lnTo>
                  <a:lnTo>
                    <a:pt x="1358" y="607"/>
                  </a:lnTo>
                  <a:lnTo>
                    <a:pt x="1358" y="522"/>
                  </a:lnTo>
                  <a:lnTo>
                    <a:pt x="1322" y="516"/>
                  </a:lnTo>
                  <a:lnTo>
                    <a:pt x="1292" y="474"/>
                  </a:lnTo>
                  <a:lnTo>
                    <a:pt x="1262" y="480"/>
                  </a:lnTo>
                  <a:lnTo>
                    <a:pt x="1226" y="468"/>
                  </a:lnTo>
                  <a:lnTo>
                    <a:pt x="1202" y="474"/>
                  </a:lnTo>
                  <a:lnTo>
                    <a:pt x="1202" y="504"/>
                  </a:lnTo>
                  <a:lnTo>
                    <a:pt x="1202" y="535"/>
                  </a:lnTo>
                  <a:lnTo>
                    <a:pt x="1196" y="601"/>
                  </a:lnTo>
                  <a:lnTo>
                    <a:pt x="1190" y="625"/>
                  </a:lnTo>
                  <a:lnTo>
                    <a:pt x="1226" y="697"/>
                  </a:lnTo>
                  <a:lnTo>
                    <a:pt x="1166" y="751"/>
                  </a:lnTo>
                  <a:lnTo>
                    <a:pt x="1178" y="841"/>
                  </a:lnTo>
                  <a:lnTo>
                    <a:pt x="1154" y="859"/>
                  </a:lnTo>
                  <a:lnTo>
                    <a:pt x="1130" y="847"/>
                  </a:lnTo>
                  <a:lnTo>
                    <a:pt x="1117" y="739"/>
                  </a:lnTo>
                  <a:lnTo>
                    <a:pt x="1057" y="733"/>
                  </a:lnTo>
                  <a:lnTo>
                    <a:pt x="943" y="667"/>
                  </a:lnTo>
                  <a:lnTo>
                    <a:pt x="919" y="667"/>
                  </a:lnTo>
                  <a:lnTo>
                    <a:pt x="901" y="613"/>
                  </a:lnTo>
                  <a:lnTo>
                    <a:pt x="883" y="595"/>
                  </a:lnTo>
                  <a:lnTo>
                    <a:pt x="931" y="450"/>
                  </a:lnTo>
                  <a:lnTo>
                    <a:pt x="961" y="420"/>
                  </a:lnTo>
                  <a:lnTo>
                    <a:pt x="991" y="402"/>
                  </a:lnTo>
                  <a:lnTo>
                    <a:pt x="1009" y="402"/>
                  </a:lnTo>
                  <a:lnTo>
                    <a:pt x="1027" y="342"/>
                  </a:lnTo>
                  <a:lnTo>
                    <a:pt x="1039" y="294"/>
                  </a:lnTo>
                  <a:lnTo>
                    <a:pt x="1099" y="282"/>
                  </a:lnTo>
                  <a:lnTo>
                    <a:pt x="1130" y="258"/>
                  </a:lnTo>
                  <a:lnTo>
                    <a:pt x="1111" y="204"/>
                  </a:lnTo>
                  <a:lnTo>
                    <a:pt x="1124" y="168"/>
                  </a:lnTo>
                  <a:lnTo>
                    <a:pt x="1099" y="138"/>
                  </a:lnTo>
                  <a:lnTo>
                    <a:pt x="1063" y="132"/>
                  </a:lnTo>
                  <a:lnTo>
                    <a:pt x="1051" y="192"/>
                  </a:lnTo>
                  <a:lnTo>
                    <a:pt x="1015" y="246"/>
                  </a:lnTo>
                  <a:lnTo>
                    <a:pt x="1003" y="180"/>
                  </a:lnTo>
                  <a:lnTo>
                    <a:pt x="985" y="156"/>
                  </a:lnTo>
                  <a:lnTo>
                    <a:pt x="961" y="186"/>
                  </a:lnTo>
                  <a:lnTo>
                    <a:pt x="949" y="156"/>
                  </a:lnTo>
                  <a:lnTo>
                    <a:pt x="925" y="114"/>
                  </a:lnTo>
                  <a:lnTo>
                    <a:pt x="913" y="60"/>
                  </a:lnTo>
                  <a:lnTo>
                    <a:pt x="877" y="0"/>
                  </a:lnTo>
                  <a:lnTo>
                    <a:pt x="847" y="84"/>
                  </a:lnTo>
                  <a:lnTo>
                    <a:pt x="847" y="114"/>
                  </a:lnTo>
                  <a:lnTo>
                    <a:pt x="889" y="150"/>
                  </a:lnTo>
                  <a:lnTo>
                    <a:pt x="895" y="186"/>
                  </a:lnTo>
                  <a:lnTo>
                    <a:pt x="865" y="216"/>
                  </a:lnTo>
                  <a:lnTo>
                    <a:pt x="847" y="204"/>
                  </a:lnTo>
                  <a:lnTo>
                    <a:pt x="823" y="204"/>
                  </a:lnTo>
                  <a:lnTo>
                    <a:pt x="811" y="234"/>
                  </a:lnTo>
                  <a:lnTo>
                    <a:pt x="769" y="222"/>
                  </a:lnTo>
                  <a:lnTo>
                    <a:pt x="709" y="222"/>
                  </a:lnTo>
                  <a:lnTo>
                    <a:pt x="673" y="198"/>
                  </a:lnTo>
                  <a:lnTo>
                    <a:pt x="619" y="210"/>
                  </a:lnTo>
                  <a:lnTo>
                    <a:pt x="625" y="228"/>
                  </a:lnTo>
                  <a:lnTo>
                    <a:pt x="631" y="264"/>
                  </a:lnTo>
                  <a:lnTo>
                    <a:pt x="613" y="258"/>
                  </a:lnTo>
                  <a:lnTo>
                    <a:pt x="583" y="222"/>
                  </a:lnTo>
                  <a:lnTo>
                    <a:pt x="517" y="234"/>
                  </a:lnTo>
                  <a:lnTo>
                    <a:pt x="487" y="210"/>
                  </a:lnTo>
                  <a:lnTo>
                    <a:pt x="499" y="186"/>
                  </a:lnTo>
                  <a:lnTo>
                    <a:pt x="457" y="174"/>
                  </a:lnTo>
                  <a:lnTo>
                    <a:pt x="409" y="150"/>
                  </a:lnTo>
                  <a:lnTo>
                    <a:pt x="343" y="132"/>
                  </a:lnTo>
                  <a:lnTo>
                    <a:pt x="301" y="144"/>
                  </a:lnTo>
                  <a:lnTo>
                    <a:pt x="259" y="96"/>
                  </a:lnTo>
                  <a:lnTo>
                    <a:pt x="145" y="150"/>
                  </a:lnTo>
                  <a:lnTo>
                    <a:pt x="115" y="180"/>
                  </a:lnTo>
                  <a:lnTo>
                    <a:pt x="67" y="168"/>
                  </a:lnTo>
                  <a:lnTo>
                    <a:pt x="37" y="138"/>
                  </a:lnTo>
                  <a:lnTo>
                    <a:pt x="0" y="126"/>
                  </a:lnTo>
                  <a:lnTo>
                    <a:pt x="0" y="553"/>
                  </a:lnTo>
                  <a:lnTo>
                    <a:pt x="61" y="583"/>
                  </a:lnTo>
                  <a:lnTo>
                    <a:pt x="109" y="559"/>
                  </a:lnTo>
                  <a:lnTo>
                    <a:pt x="175" y="679"/>
                  </a:lnTo>
                  <a:lnTo>
                    <a:pt x="217" y="709"/>
                  </a:lnTo>
                  <a:lnTo>
                    <a:pt x="211" y="757"/>
                  </a:lnTo>
                  <a:lnTo>
                    <a:pt x="229" y="793"/>
                  </a:lnTo>
                  <a:lnTo>
                    <a:pt x="277" y="859"/>
                  </a:lnTo>
                  <a:lnTo>
                    <a:pt x="343" y="901"/>
                  </a:lnTo>
                  <a:lnTo>
                    <a:pt x="349" y="931"/>
                  </a:lnTo>
                  <a:lnTo>
                    <a:pt x="871" y="931"/>
                  </a:lnTo>
                  <a:lnTo>
                    <a:pt x="931" y="943"/>
                  </a:ln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30" name="Freeform 127">
              <a:extLst>
                <a:ext uri="{FF2B5EF4-FFF2-40B4-BE49-F238E27FC236}">
                  <a16:creationId xmlns:a16="http://schemas.microsoft.com/office/drawing/2014/main" id="{B7D5084A-680E-04EC-5CA3-2C8CB40837AC}"/>
                </a:ext>
              </a:extLst>
            </p:cNvPr>
            <p:cNvSpPr>
              <a:spLocks/>
            </p:cNvSpPr>
            <p:nvPr/>
          </p:nvSpPr>
          <p:spPr bwMode="auto">
            <a:xfrm>
              <a:off x="1555052" y="2877621"/>
              <a:ext cx="1719158" cy="885223"/>
            </a:xfrm>
            <a:custGeom>
              <a:avLst/>
              <a:gdLst>
                <a:gd name="T0" fmla="*/ 2147483647 w 1099"/>
                <a:gd name="T1" fmla="*/ 2147483647 h 571"/>
                <a:gd name="T2" fmla="*/ 2147483647 w 1099"/>
                <a:gd name="T3" fmla="*/ 2147483647 h 571"/>
                <a:gd name="T4" fmla="*/ 2147483647 w 1099"/>
                <a:gd name="T5" fmla="*/ 2147483647 h 571"/>
                <a:gd name="T6" fmla="*/ 2147483647 w 1099"/>
                <a:gd name="T7" fmla="*/ 2147483647 h 571"/>
                <a:gd name="T8" fmla="*/ 2147483647 w 1099"/>
                <a:gd name="T9" fmla="*/ 2147483647 h 571"/>
                <a:gd name="T10" fmla="*/ 2147483647 w 1099"/>
                <a:gd name="T11" fmla="*/ 2147483647 h 571"/>
                <a:gd name="T12" fmla="*/ 2147483647 w 1099"/>
                <a:gd name="T13" fmla="*/ 2147483647 h 571"/>
                <a:gd name="T14" fmla="*/ 2147483647 w 1099"/>
                <a:gd name="T15" fmla="*/ 2147483647 h 571"/>
                <a:gd name="T16" fmla="*/ 2147483647 w 1099"/>
                <a:gd name="T17" fmla="*/ 2147483647 h 571"/>
                <a:gd name="T18" fmla="*/ 2147483647 w 1099"/>
                <a:gd name="T19" fmla="*/ 2147483647 h 571"/>
                <a:gd name="T20" fmla="*/ 2147483647 w 1099"/>
                <a:gd name="T21" fmla="*/ 2147483647 h 571"/>
                <a:gd name="T22" fmla="*/ 2147483647 w 1099"/>
                <a:gd name="T23" fmla="*/ 2147483647 h 571"/>
                <a:gd name="T24" fmla="*/ 2147483647 w 1099"/>
                <a:gd name="T25" fmla="*/ 2147483647 h 571"/>
                <a:gd name="T26" fmla="*/ 2147483647 w 1099"/>
                <a:gd name="T27" fmla="*/ 2147483647 h 571"/>
                <a:gd name="T28" fmla="*/ 2147483647 w 1099"/>
                <a:gd name="T29" fmla="*/ 2147483647 h 571"/>
                <a:gd name="T30" fmla="*/ 2147483647 w 1099"/>
                <a:gd name="T31" fmla="*/ 2147483647 h 571"/>
                <a:gd name="T32" fmla="*/ 2147483647 w 1099"/>
                <a:gd name="T33" fmla="*/ 2147483647 h 571"/>
                <a:gd name="T34" fmla="*/ 2147483647 w 1099"/>
                <a:gd name="T35" fmla="*/ 2147483647 h 571"/>
                <a:gd name="T36" fmla="*/ 2147483647 w 1099"/>
                <a:gd name="T37" fmla="*/ 2147483647 h 571"/>
                <a:gd name="T38" fmla="*/ 2147483647 w 1099"/>
                <a:gd name="T39" fmla="*/ 2147483647 h 571"/>
                <a:gd name="T40" fmla="*/ 2147483647 w 1099"/>
                <a:gd name="T41" fmla="*/ 2147483647 h 571"/>
                <a:gd name="T42" fmla="*/ 2147483647 w 1099"/>
                <a:gd name="T43" fmla="*/ 2147483647 h 571"/>
                <a:gd name="T44" fmla="*/ 2147483647 w 1099"/>
                <a:gd name="T45" fmla="*/ 2147483647 h 571"/>
                <a:gd name="T46" fmla="*/ 2147483647 w 1099"/>
                <a:gd name="T47" fmla="*/ 2147483647 h 571"/>
                <a:gd name="T48" fmla="*/ 2147483647 w 1099"/>
                <a:gd name="T49" fmla="*/ 2147483647 h 571"/>
                <a:gd name="T50" fmla="*/ 2147483647 w 1099"/>
                <a:gd name="T51" fmla="*/ 0 h 571"/>
                <a:gd name="T52" fmla="*/ 2147483647 w 1099"/>
                <a:gd name="T53" fmla="*/ 2147483647 h 571"/>
                <a:gd name="T54" fmla="*/ 2147483647 w 1099"/>
                <a:gd name="T55" fmla="*/ 2147483647 h 571"/>
                <a:gd name="T56" fmla="*/ 2147483647 w 1099"/>
                <a:gd name="T57" fmla="*/ 2147483647 h 571"/>
                <a:gd name="T58" fmla="*/ 0 w 1099"/>
                <a:gd name="T59" fmla="*/ 2147483647 h 571"/>
                <a:gd name="T60" fmla="*/ 2147483647 w 1099"/>
                <a:gd name="T61" fmla="*/ 2147483647 h 571"/>
                <a:gd name="T62" fmla="*/ 2147483647 w 1099"/>
                <a:gd name="T63" fmla="*/ 2147483647 h 571"/>
                <a:gd name="T64" fmla="*/ 2147483647 w 1099"/>
                <a:gd name="T65" fmla="*/ 2147483647 h 571"/>
                <a:gd name="T66" fmla="*/ 2147483647 w 1099"/>
                <a:gd name="T67" fmla="*/ 2147483647 h 57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099" h="571">
                  <a:moveTo>
                    <a:pt x="252" y="439"/>
                  </a:moveTo>
                  <a:lnTo>
                    <a:pt x="300" y="439"/>
                  </a:lnTo>
                  <a:lnTo>
                    <a:pt x="318" y="427"/>
                  </a:lnTo>
                  <a:lnTo>
                    <a:pt x="348" y="433"/>
                  </a:lnTo>
                  <a:lnTo>
                    <a:pt x="396" y="487"/>
                  </a:lnTo>
                  <a:lnTo>
                    <a:pt x="432" y="475"/>
                  </a:lnTo>
                  <a:lnTo>
                    <a:pt x="456" y="493"/>
                  </a:lnTo>
                  <a:lnTo>
                    <a:pt x="474" y="523"/>
                  </a:lnTo>
                  <a:lnTo>
                    <a:pt x="498" y="547"/>
                  </a:lnTo>
                  <a:lnTo>
                    <a:pt x="528" y="553"/>
                  </a:lnTo>
                  <a:lnTo>
                    <a:pt x="528" y="511"/>
                  </a:lnTo>
                  <a:lnTo>
                    <a:pt x="552" y="487"/>
                  </a:lnTo>
                  <a:lnTo>
                    <a:pt x="570" y="469"/>
                  </a:lnTo>
                  <a:lnTo>
                    <a:pt x="630" y="475"/>
                  </a:lnTo>
                  <a:lnTo>
                    <a:pt x="666" y="475"/>
                  </a:lnTo>
                  <a:lnTo>
                    <a:pt x="714" y="463"/>
                  </a:lnTo>
                  <a:lnTo>
                    <a:pt x="744" y="463"/>
                  </a:lnTo>
                  <a:lnTo>
                    <a:pt x="774" y="457"/>
                  </a:lnTo>
                  <a:lnTo>
                    <a:pt x="780" y="487"/>
                  </a:lnTo>
                  <a:lnTo>
                    <a:pt x="792" y="529"/>
                  </a:lnTo>
                  <a:lnTo>
                    <a:pt x="829" y="565"/>
                  </a:lnTo>
                  <a:lnTo>
                    <a:pt x="847" y="571"/>
                  </a:lnTo>
                  <a:lnTo>
                    <a:pt x="841" y="511"/>
                  </a:lnTo>
                  <a:lnTo>
                    <a:pt x="817" y="445"/>
                  </a:lnTo>
                  <a:lnTo>
                    <a:pt x="847" y="409"/>
                  </a:lnTo>
                  <a:lnTo>
                    <a:pt x="877" y="397"/>
                  </a:lnTo>
                  <a:lnTo>
                    <a:pt x="931" y="343"/>
                  </a:lnTo>
                  <a:lnTo>
                    <a:pt x="925" y="307"/>
                  </a:lnTo>
                  <a:lnTo>
                    <a:pt x="919" y="271"/>
                  </a:lnTo>
                  <a:lnTo>
                    <a:pt x="937" y="283"/>
                  </a:lnTo>
                  <a:lnTo>
                    <a:pt x="943" y="277"/>
                  </a:lnTo>
                  <a:lnTo>
                    <a:pt x="937" y="253"/>
                  </a:lnTo>
                  <a:lnTo>
                    <a:pt x="949" y="253"/>
                  </a:lnTo>
                  <a:lnTo>
                    <a:pt x="967" y="247"/>
                  </a:lnTo>
                  <a:lnTo>
                    <a:pt x="979" y="217"/>
                  </a:lnTo>
                  <a:lnTo>
                    <a:pt x="1003" y="211"/>
                  </a:lnTo>
                  <a:lnTo>
                    <a:pt x="1039" y="193"/>
                  </a:lnTo>
                  <a:lnTo>
                    <a:pt x="1039" y="144"/>
                  </a:lnTo>
                  <a:lnTo>
                    <a:pt x="1099" y="114"/>
                  </a:lnTo>
                  <a:lnTo>
                    <a:pt x="1087" y="54"/>
                  </a:lnTo>
                  <a:lnTo>
                    <a:pt x="1063" y="48"/>
                  </a:lnTo>
                  <a:lnTo>
                    <a:pt x="1015" y="108"/>
                  </a:lnTo>
                  <a:lnTo>
                    <a:pt x="955" y="120"/>
                  </a:lnTo>
                  <a:lnTo>
                    <a:pt x="925" y="126"/>
                  </a:lnTo>
                  <a:lnTo>
                    <a:pt x="883" y="162"/>
                  </a:lnTo>
                  <a:lnTo>
                    <a:pt x="804" y="186"/>
                  </a:lnTo>
                  <a:lnTo>
                    <a:pt x="804" y="150"/>
                  </a:lnTo>
                  <a:lnTo>
                    <a:pt x="768" y="72"/>
                  </a:lnTo>
                  <a:lnTo>
                    <a:pt x="666" y="24"/>
                  </a:lnTo>
                  <a:lnTo>
                    <a:pt x="624" y="12"/>
                  </a:lnTo>
                  <a:lnTo>
                    <a:pt x="564" y="0"/>
                  </a:lnTo>
                  <a:lnTo>
                    <a:pt x="42" y="0"/>
                  </a:lnTo>
                  <a:lnTo>
                    <a:pt x="48" y="36"/>
                  </a:lnTo>
                  <a:lnTo>
                    <a:pt x="30" y="48"/>
                  </a:lnTo>
                  <a:lnTo>
                    <a:pt x="36" y="24"/>
                  </a:lnTo>
                  <a:lnTo>
                    <a:pt x="0" y="12"/>
                  </a:lnTo>
                  <a:lnTo>
                    <a:pt x="18" y="78"/>
                  </a:lnTo>
                  <a:lnTo>
                    <a:pt x="12" y="126"/>
                  </a:lnTo>
                  <a:lnTo>
                    <a:pt x="0" y="174"/>
                  </a:lnTo>
                  <a:lnTo>
                    <a:pt x="12" y="211"/>
                  </a:lnTo>
                  <a:lnTo>
                    <a:pt x="12" y="235"/>
                  </a:lnTo>
                  <a:lnTo>
                    <a:pt x="42" y="295"/>
                  </a:lnTo>
                  <a:lnTo>
                    <a:pt x="66" y="337"/>
                  </a:lnTo>
                  <a:lnTo>
                    <a:pt x="84" y="367"/>
                  </a:lnTo>
                  <a:lnTo>
                    <a:pt x="138" y="403"/>
                  </a:lnTo>
                  <a:lnTo>
                    <a:pt x="144" y="415"/>
                  </a:lnTo>
                  <a:lnTo>
                    <a:pt x="192" y="409"/>
                  </a:lnTo>
                  <a:lnTo>
                    <a:pt x="252" y="439"/>
                  </a:lnTo>
                  <a:close/>
                </a:path>
              </a:pathLst>
            </a:custGeom>
            <a:solidFill>
              <a:schemeClr val="bg1">
                <a:lumMod val="65000"/>
              </a:schemeClr>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31" name="Freeform 128">
              <a:extLst>
                <a:ext uri="{FF2B5EF4-FFF2-40B4-BE49-F238E27FC236}">
                  <a16:creationId xmlns:a16="http://schemas.microsoft.com/office/drawing/2014/main" id="{388E03EA-BA76-B994-9CE1-E65009CF73EB}"/>
                </a:ext>
              </a:extLst>
            </p:cNvPr>
            <p:cNvSpPr>
              <a:spLocks/>
            </p:cNvSpPr>
            <p:nvPr/>
          </p:nvSpPr>
          <p:spPr bwMode="auto">
            <a:xfrm>
              <a:off x="2652346" y="4079399"/>
              <a:ext cx="133121" cy="134585"/>
            </a:xfrm>
            <a:custGeom>
              <a:avLst/>
              <a:gdLst>
                <a:gd name="T0" fmla="*/ 2147483647 w 14"/>
                <a:gd name="T1" fmla="*/ 2147483647 h 14"/>
                <a:gd name="T2" fmla="*/ 2147483647 w 14"/>
                <a:gd name="T3" fmla="*/ 2147483647 h 14"/>
                <a:gd name="T4" fmla="*/ 2147483647 w 14"/>
                <a:gd name="T5" fmla="*/ 0 h 14"/>
                <a:gd name="T6" fmla="*/ 2147483647 w 14"/>
                <a:gd name="T7" fmla="*/ 2147483647 h 14"/>
                <a:gd name="T8" fmla="*/ 0 w 14"/>
                <a:gd name="T9" fmla="*/ 2147483647 h 14"/>
                <a:gd name="T10" fmla="*/ 2147483647 w 14"/>
                <a:gd name="T11" fmla="*/ 2147483647 h 14"/>
                <a:gd name="T12" fmla="*/ 2147483647 w 14"/>
                <a:gd name="T13" fmla="*/ 2147483647 h 14"/>
                <a:gd name="T14" fmla="*/ 2147483647 w 14"/>
                <a:gd name="T15" fmla="*/ 2147483647 h 1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 h="14">
                  <a:moveTo>
                    <a:pt x="14" y="14"/>
                  </a:moveTo>
                  <a:cubicBezTo>
                    <a:pt x="14" y="12"/>
                    <a:pt x="13" y="11"/>
                    <a:pt x="13" y="11"/>
                  </a:cubicBezTo>
                  <a:cubicBezTo>
                    <a:pt x="14" y="0"/>
                    <a:pt x="14" y="0"/>
                    <a:pt x="14" y="0"/>
                  </a:cubicBezTo>
                  <a:cubicBezTo>
                    <a:pt x="7" y="3"/>
                    <a:pt x="7" y="3"/>
                    <a:pt x="7" y="3"/>
                  </a:cubicBezTo>
                  <a:cubicBezTo>
                    <a:pt x="0" y="6"/>
                    <a:pt x="0" y="6"/>
                    <a:pt x="0" y="6"/>
                  </a:cubicBezTo>
                  <a:cubicBezTo>
                    <a:pt x="5" y="14"/>
                    <a:pt x="5" y="14"/>
                    <a:pt x="5" y="14"/>
                  </a:cubicBezTo>
                  <a:cubicBezTo>
                    <a:pt x="9" y="13"/>
                    <a:pt x="9" y="13"/>
                    <a:pt x="9" y="13"/>
                  </a:cubicBezTo>
                  <a:lnTo>
                    <a:pt x="14" y="14"/>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32" name="Freeform 129">
              <a:extLst>
                <a:ext uri="{FF2B5EF4-FFF2-40B4-BE49-F238E27FC236}">
                  <a16:creationId xmlns:a16="http://schemas.microsoft.com/office/drawing/2014/main" id="{1747A2BA-CA14-7898-1C90-3A4D3087C25B}"/>
                </a:ext>
              </a:extLst>
            </p:cNvPr>
            <p:cNvSpPr>
              <a:spLocks/>
            </p:cNvSpPr>
            <p:nvPr/>
          </p:nvSpPr>
          <p:spPr bwMode="auto">
            <a:xfrm>
              <a:off x="2699890" y="4202611"/>
              <a:ext cx="114103" cy="83404"/>
            </a:xfrm>
            <a:custGeom>
              <a:avLst/>
              <a:gdLst>
                <a:gd name="T0" fmla="*/ 2147483647 w 12"/>
                <a:gd name="T1" fmla="*/ 2147483647 h 9"/>
                <a:gd name="T2" fmla="*/ 2147483647 w 12"/>
                <a:gd name="T3" fmla="*/ 0 h 9"/>
                <a:gd name="T4" fmla="*/ 0 w 12"/>
                <a:gd name="T5" fmla="*/ 2147483647 h 9"/>
                <a:gd name="T6" fmla="*/ 2147483647 w 12"/>
                <a:gd name="T7" fmla="*/ 2147483647 h 9"/>
                <a:gd name="T8" fmla="*/ 2147483647 w 12"/>
                <a:gd name="T9" fmla="*/ 2147483647 h 9"/>
                <a:gd name="T10" fmla="*/ 2147483647 w 12"/>
                <a:gd name="T11" fmla="*/ 2147483647 h 9"/>
                <a:gd name="T12" fmla="*/ 2147483647 w 12"/>
                <a:gd name="T13" fmla="*/ 2147483647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 h="9">
                  <a:moveTo>
                    <a:pt x="9" y="1"/>
                  </a:moveTo>
                  <a:cubicBezTo>
                    <a:pt x="4" y="0"/>
                    <a:pt x="4" y="0"/>
                    <a:pt x="4" y="0"/>
                  </a:cubicBezTo>
                  <a:cubicBezTo>
                    <a:pt x="0" y="1"/>
                    <a:pt x="0" y="1"/>
                    <a:pt x="0" y="1"/>
                  </a:cubicBezTo>
                  <a:cubicBezTo>
                    <a:pt x="2" y="3"/>
                    <a:pt x="2" y="3"/>
                    <a:pt x="2" y="3"/>
                  </a:cubicBezTo>
                  <a:cubicBezTo>
                    <a:pt x="11" y="9"/>
                    <a:pt x="11" y="9"/>
                    <a:pt x="11" y="9"/>
                  </a:cubicBezTo>
                  <a:cubicBezTo>
                    <a:pt x="12" y="5"/>
                    <a:pt x="12" y="5"/>
                    <a:pt x="12" y="5"/>
                  </a:cubicBezTo>
                  <a:cubicBezTo>
                    <a:pt x="11" y="4"/>
                    <a:pt x="10" y="2"/>
                    <a:pt x="9" y="1"/>
                  </a:cubicBez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33" name="Freeform 130">
              <a:extLst>
                <a:ext uri="{FF2B5EF4-FFF2-40B4-BE49-F238E27FC236}">
                  <a16:creationId xmlns:a16="http://schemas.microsoft.com/office/drawing/2014/main" id="{78447E1F-92C6-6B4F-AAC1-FCFC203B4D51}"/>
                </a:ext>
              </a:extLst>
            </p:cNvPr>
            <p:cNvSpPr>
              <a:spLocks/>
            </p:cNvSpPr>
            <p:nvPr/>
          </p:nvSpPr>
          <p:spPr bwMode="auto">
            <a:xfrm>
              <a:off x="2804484" y="4249999"/>
              <a:ext cx="169254" cy="72031"/>
            </a:xfrm>
            <a:custGeom>
              <a:avLst/>
              <a:gdLst>
                <a:gd name="T0" fmla="*/ 2147483647 w 18"/>
                <a:gd name="T1" fmla="*/ 2147483647 h 8"/>
                <a:gd name="T2" fmla="*/ 2147483647 w 18"/>
                <a:gd name="T3" fmla="*/ 2147483647 h 8"/>
                <a:gd name="T4" fmla="*/ 2147483647 w 18"/>
                <a:gd name="T5" fmla="*/ 2147483647 h 8"/>
                <a:gd name="T6" fmla="*/ 2147483647 w 18"/>
                <a:gd name="T7" fmla="*/ 0 h 8"/>
                <a:gd name="T8" fmla="*/ 0 w 18"/>
                <a:gd name="T9" fmla="*/ 2147483647 h 8"/>
                <a:gd name="T10" fmla="*/ 2147483647 w 18"/>
                <a:gd name="T11" fmla="*/ 2147483647 h 8"/>
                <a:gd name="T12" fmla="*/ 2147483647 w 18"/>
                <a:gd name="T13" fmla="*/ 2147483647 h 8"/>
                <a:gd name="T14" fmla="*/ 2147483647 w 18"/>
                <a:gd name="T15" fmla="*/ 2147483647 h 8"/>
                <a:gd name="T16" fmla="*/ 2147483647 w 18"/>
                <a:gd name="T17" fmla="*/ 2147483647 h 8"/>
                <a:gd name="T18" fmla="*/ 2147483647 w 18"/>
                <a:gd name="T19" fmla="*/ 2147483647 h 8"/>
                <a:gd name="T20" fmla="*/ 2147483647 w 18"/>
                <a:gd name="T21" fmla="*/ 2147483647 h 8"/>
                <a:gd name="T22" fmla="*/ 2147483647 w 18"/>
                <a:gd name="T23" fmla="*/ 2147483647 h 8"/>
                <a:gd name="T24" fmla="*/ 2147483647 w 18"/>
                <a:gd name="T25" fmla="*/ 2147483647 h 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8" h="8">
                  <a:moveTo>
                    <a:pt x="14" y="1"/>
                  </a:moveTo>
                  <a:cubicBezTo>
                    <a:pt x="9" y="1"/>
                    <a:pt x="9" y="1"/>
                    <a:pt x="9" y="1"/>
                  </a:cubicBezTo>
                  <a:cubicBezTo>
                    <a:pt x="9" y="1"/>
                    <a:pt x="3" y="2"/>
                    <a:pt x="2" y="1"/>
                  </a:cubicBezTo>
                  <a:cubicBezTo>
                    <a:pt x="1" y="1"/>
                    <a:pt x="1" y="1"/>
                    <a:pt x="1" y="0"/>
                  </a:cubicBezTo>
                  <a:cubicBezTo>
                    <a:pt x="0" y="4"/>
                    <a:pt x="0" y="4"/>
                    <a:pt x="0" y="4"/>
                  </a:cubicBezTo>
                  <a:cubicBezTo>
                    <a:pt x="0" y="4"/>
                    <a:pt x="3" y="7"/>
                    <a:pt x="4" y="8"/>
                  </a:cubicBezTo>
                  <a:cubicBezTo>
                    <a:pt x="5" y="8"/>
                    <a:pt x="6" y="8"/>
                    <a:pt x="6" y="8"/>
                  </a:cubicBezTo>
                  <a:cubicBezTo>
                    <a:pt x="7" y="6"/>
                    <a:pt x="7" y="6"/>
                    <a:pt x="7" y="6"/>
                  </a:cubicBezTo>
                  <a:cubicBezTo>
                    <a:pt x="10" y="3"/>
                    <a:pt x="10" y="3"/>
                    <a:pt x="10" y="3"/>
                  </a:cubicBezTo>
                  <a:cubicBezTo>
                    <a:pt x="14" y="4"/>
                    <a:pt x="14" y="4"/>
                    <a:pt x="14" y="4"/>
                  </a:cubicBezTo>
                  <a:cubicBezTo>
                    <a:pt x="15" y="7"/>
                    <a:pt x="15" y="7"/>
                    <a:pt x="15" y="7"/>
                  </a:cubicBezTo>
                  <a:cubicBezTo>
                    <a:pt x="18" y="4"/>
                    <a:pt x="18" y="4"/>
                    <a:pt x="18" y="4"/>
                  </a:cubicBezTo>
                  <a:lnTo>
                    <a:pt x="14" y="1"/>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34" name="Freeform 131">
              <a:extLst>
                <a:ext uri="{FF2B5EF4-FFF2-40B4-BE49-F238E27FC236}">
                  <a16:creationId xmlns:a16="http://schemas.microsoft.com/office/drawing/2014/main" id="{5C3B1787-B25B-176B-7C4E-4F40BD331DCE}"/>
                </a:ext>
              </a:extLst>
            </p:cNvPr>
            <p:cNvSpPr>
              <a:spLocks/>
            </p:cNvSpPr>
            <p:nvPr/>
          </p:nvSpPr>
          <p:spPr bwMode="auto">
            <a:xfrm>
              <a:off x="2916686" y="4166595"/>
              <a:ext cx="348015" cy="454960"/>
            </a:xfrm>
            <a:custGeom>
              <a:avLst/>
              <a:gdLst>
                <a:gd name="T0" fmla="*/ 2147483647 w 37"/>
                <a:gd name="T1" fmla="*/ 2147483647 h 41"/>
                <a:gd name="T2" fmla="*/ 2147483647 w 37"/>
                <a:gd name="T3" fmla="*/ 2147483647 h 41"/>
                <a:gd name="T4" fmla="*/ 2147483647 w 37"/>
                <a:gd name="T5" fmla="*/ 2147483647 h 41"/>
                <a:gd name="T6" fmla="*/ 2147483647 w 37"/>
                <a:gd name="T7" fmla="*/ 2147483647 h 41"/>
                <a:gd name="T8" fmla="*/ 2147483647 w 37"/>
                <a:gd name="T9" fmla="*/ 2147483647 h 41"/>
                <a:gd name="T10" fmla="*/ 2147483647 w 37"/>
                <a:gd name="T11" fmla="*/ 2147483647 h 41"/>
                <a:gd name="T12" fmla="*/ 2147483647 w 37"/>
                <a:gd name="T13" fmla="*/ 2147483647 h 41"/>
                <a:gd name="T14" fmla="*/ 2147483647 w 37"/>
                <a:gd name="T15" fmla="*/ 2147483647 h 41"/>
                <a:gd name="T16" fmla="*/ 2147483647 w 37"/>
                <a:gd name="T17" fmla="*/ 2147483647 h 41"/>
                <a:gd name="T18" fmla="*/ 2147483647 w 37"/>
                <a:gd name="T19" fmla="*/ 2147483647 h 41"/>
                <a:gd name="T20" fmla="*/ 2147483647 w 37"/>
                <a:gd name="T21" fmla="*/ 0 h 41"/>
                <a:gd name="T22" fmla="*/ 2147483647 w 37"/>
                <a:gd name="T23" fmla="*/ 2147483647 h 41"/>
                <a:gd name="T24" fmla="*/ 2147483647 w 37"/>
                <a:gd name="T25" fmla="*/ 2147483647 h 41"/>
                <a:gd name="T26" fmla="*/ 2147483647 w 37"/>
                <a:gd name="T27" fmla="*/ 2147483647 h 41"/>
                <a:gd name="T28" fmla="*/ 2147483647 w 37"/>
                <a:gd name="T29" fmla="*/ 2147483647 h 41"/>
                <a:gd name="T30" fmla="*/ 2147483647 w 37"/>
                <a:gd name="T31" fmla="*/ 2147483647 h 41"/>
                <a:gd name="T32" fmla="*/ 2147483647 w 37"/>
                <a:gd name="T33" fmla="*/ 2147483647 h 41"/>
                <a:gd name="T34" fmla="*/ 2147483647 w 37"/>
                <a:gd name="T35" fmla="*/ 2147483647 h 41"/>
                <a:gd name="T36" fmla="*/ 2147483647 w 37"/>
                <a:gd name="T37" fmla="*/ 2147483647 h 41"/>
                <a:gd name="T38" fmla="*/ 2147483647 w 37"/>
                <a:gd name="T39" fmla="*/ 2147483647 h 41"/>
                <a:gd name="T40" fmla="*/ 2147483647 w 37"/>
                <a:gd name="T41" fmla="*/ 2147483647 h 41"/>
                <a:gd name="T42" fmla="*/ 2147483647 w 37"/>
                <a:gd name="T43" fmla="*/ 2147483647 h 41"/>
                <a:gd name="T44" fmla="*/ 0 w 37"/>
                <a:gd name="T45" fmla="*/ 2147483647 h 41"/>
                <a:gd name="T46" fmla="*/ 2147483647 w 37"/>
                <a:gd name="T47" fmla="*/ 2147483647 h 41"/>
                <a:gd name="T48" fmla="*/ 2147483647 w 37"/>
                <a:gd name="T49" fmla="*/ 2147483647 h 4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connsiteX0" fmla="*/ 10000 w 10000"/>
                <a:gd name="connsiteY0" fmla="*/ 8293 h 11045"/>
                <a:gd name="connsiteX1" fmla="*/ 10000 w 10000"/>
                <a:gd name="connsiteY1" fmla="*/ 8293 h 11045"/>
                <a:gd name="connsiteX2" fmla="*/ 10000 w 10000"/>
                <a:gd name="connsiteY2" fmla="*/ 6585 h 11045"/>
                <a:gd name="connsiteX3" fmla="*/ 9459 w 10000"/>
                <a:gd name="connsiteY3" fmla="*/ 5610 h 11045"/>
                <a:gd name="connsiteX4" fmla="*/ 9730 w 10000"/>
                <a:gd name="connsiteY4" fmla="*/ 5122 h 11045"/>
                <a:gd name="connsiteX5" fmla="*/ 8378 w 10000"/>
                <a:gd name="connsiteY5" fmla="*/ 4878 h 11045"/>
                <a:gd name="connsiteX6" fmla="*/ 5676 w 10000"/>
                <a:gd name="connsiteY6" fmla="*/ 3902 h 11045"/>
                <a:gd name="connsiteX7" fmla="*/ 5135 w 10000"/>
                <a:gd name="connsiteY7" fmla="*/ 2683 h 11045"/>
                <a:gd name="connsiteX8" fmla="*/ 5405 w 10000"/>
                <a:gd name="connsiteY8" fmla="*/ 732 h 11045"/>
                <a:gd name="connsiteX9" fmla="*/ 6486 w 10000"/>
                <a:gd name="connsiteY9" fmla="*/ 244 h 11045"/>
                <a:gd name="connsiteX10" fmla="*/ 6486 w 10000"/>
                <a:gd name="connsiteY10" fmla="*/ 0 h 11045"/>
                <a:gd name="connsiteX11" fmla="*/ 4595 w 10000"/>
                <a:gd name="connsiteY11" fmla="*/ 488 h 11045"/>
                <a:gd name="connsiteX12" fmla="*/ 3514 w 10000"/>
                <a:gd name="connsiteY12" fmla="*/ 976 h 11045"/>
                <a:gd name="connsiteX13" fmla="*/ 2973 w 10000"/>
                <a:gd name="connsiteY13" fmla="*/ 2195 h 11045"/>
                <a:gd name="connsiteX14" fmla="*/ 2432 w 10000"/>
                <a:gd name="connsiteY14" fmla="*/ 2439 h 11045"/>
                <a:gd name="connsiteX15" fmla="*/ 1622 w 10000"/>
                <a:gd name="connsiteY15" fmla="*/ 3171 h 11045"/>
                <a:gd name="connsiteX16" fmla="*/ 811 w 10000"/>
                <a:gd name="connsiteY16" fmla="*/ 3902 h 11045"/>
                <a:gd name="connsiteX17" fmla="*/ 1081 w 10000"/>
                <a:gd name="connsiteY17" fmla="*/ 4390 h 11045"/>
                <a:gd name="connsiteX18" fmla="*/ 1351 w 10000"/>
                <a:gd name="connsiteY18" fmla="*/ 5610 h 11045"/>
                <a:gd name="connsiteX19" fmla="*/ 1351 w 10000"/>
                <a:gd name="connsiteY19" fmla="*/ 6341 h 11045"/>
                <a:gd name="connsiteX20" fmla="*/ 1622 w 10000"/>
                <a:gd name="connsiteY20" fmla="*/ 7317 h 11045"/>
                <a:gd name="connsiteX21" fmla="*/ 541 w 10000"/>
                <a:gd name="connsiteY21" fmla="*/ 8049 h 11045"/>
                <a:gd name="connsiteX22" fmla="*/ 0 w 10000"/>
                <a:gd name="connsiteY22" fmla="*/ 8537 h 11045"/>
                <a:gd name="connsiteX23" fmla="*/ 2162 w 10000"/>
                <a:gd name="connsiteY23" fmla="*/ 9268 h 11045"/>
                <a:gd name="connsiteX24" fmla="*/ 7669 w 10000"/>
                <a:gd name="connsiteY24" fmla="*/ 11045 h 11045"/>
                <a:gd name="connsiteX0" fmla="*/ 10000 w 10000"/>
                <a:gd name="connsiteY0" fmla="*/ 8293 h 11941"/>
                <a:gd name="connsiteX1" fmla="*/ 10000 w 10000"/>
                <a:gd name="connsiteY1" fmla="*/ 8293 h 11941"/>
                <a:gd name="connsiteX2" fmla="*/ 10000 w 10000"/>
                <a:gd name="connsiteY2" fmla="*/ 6585 h 11941"/>
                <a:gd name="connsiteX3" fmla="*/ 9459 w 10000"/>
                <a:gd name="connsiteY3" fmla="*/ 5610 h 11941"/>
                <a:gd name="connsiteX4" fmla="*/ 9730 w 10000"/>
                <a:gd name="connsiteY4" fmla="*/ 5122 h 11941"/>
                <a:gd name="connsiteX5" fmla="*/ 8378 w 10000"/>
                <a:gd name="connsiteY5" fmla="*/ 4878 h 11941"/>
                <a:gd name="connsiteX6" fmla="*/ 5676 w 10000"/>
                <a:gd name="connsiteY6" fmla="*/ 3902 h 11941"/>
                <a:gd name="connsiteX7" fmla="*/ 5135 w 10000"/>
                <a:gd name="connsiteY7" fmla="*/ 2683 h 11941"/>
                <a:gd name="connsiteX8" fmla="*/ 5405 w 10000"/>
                <a:gd name="connsiteY8" fmla="*/ 732 h 11941"/>
                <a:gd name="connsiteX9" fmla="*/ 6486 w 10000"/>
                <a:gd name="connsiteY9" fmla="*/ 244 h 11941"/>
                <a:gd name="connsiteX10" fmla="*/ 6486 w 10000"/>
                <a:gd name="connsiteY10" fmla="*/ 0 h 11941"/>
                <a:gd name="connsiteX11" fmla="*/ 4595 w 10000"/>
                <a:gd name="connsiteY11" fmla="*/ 488 h 11941"/>
                <a:gd name="connsiteX12" fmla="*/ 3514 w 10000"/>
                <a:gd name="connsiteY12" fmla="*/ 976 h 11941"/>
                <a:gd name="connsiteX13" fmla="*/ 2973 w 10000"/>
                <a:gd name="connsiteY13" fmla="*/ 2195 h 11941"/>
                <a:gd name="connsiteX14" fmla="*/ 2432 w 10000"/>
                <a:gd name="connsiteY14" fmla="*/ 2439 h 11941"/>
                <a:gd name="connsiteX15" fmla="*/ 1622 w 10000"/>
                <a:gd name="connsiteY15" fmla="*/ 3171 h 11941"/>
                <a:gd name="connsiteX16" fmla="*/ 811 w 10000"/>
                <a:gd name="connsiteY16" fmla="*/ 3902 h 11941"/>
                <a:gd name="connsiteX17" fmla="*/ 1081 w 10000"/>
                <a:gd name="connsiteY17" fmla="*/ 4390 h 11941"/>
                <a:gd name="connsiteX18" fmla="*/ 1351 w 10000"/>
                <a:gd name="connsiteY18" fmla="*/ 5610 h 11941"/>
                <a:gd name="connsiteX19" fmla="*/ 1351 w 10000"/>
                <a:gd name="connsiteY19" fmla="*/ 6341 h 11941"/>
                <a:gd name="connsiteX20" fmla="*/ 1622 w 10000"/>
                <a:gd name="connsiteY20" fmla="*/ 7317 h 11941"/>
                <a:gd name="connsiteX21" fmla="*/ 541 w 10000"/>
                <a:gd name="connsiteY21" fmla="*/ 8049 h 11941"/>
                <a:gd name="connsiteX22" fmla="*/ 0 w 10000"/>
                <a:gd name="connsiteY22" fmla="*/ 8537 h 11941"/>
                <a:gd name="connsiteX23" fmla="*/ 2162 w 10000"/>
                <a:gd name="connsiteY23" fmla="*/ 9268 h 11941"/>
                <a:gd name="connsiteX24" fmla="*/ 7669 w 10000"/>
                <a:gd name="connsiteY24" fmla="*/ 11941 h 11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000" h="11941">
                  <a:moveTo>
                    <a:pt x="10000" y="8293"/>
                  </a:moveTo>
                  <a:lnTo>
                    <a:pt x="10000" y="8293"/>
                  </a:lnTo>
                  <a:lnTo>
                    <a:pt x="10000" y="6585"/>
                  </a:lnTo>
                  <a:lnTo>
                    <a:pt x="9459" y="5610"/>
                  </a:lnTo>
                  <a:cubicBezTo>
                    <a:pt x="9549" y="5447"/>
                    <a:pt x="9640" y="5285"/>
                    <a:pt x="9730" y="5122"/>
                  </a:cubicBezTo>
                  <a:lnTo>
                    <a:pt x="8378" y="4878"/>
                  </a:lnTo>
                  <a:lnTo>
                    <a:pt x="5676" y="3902"/>
                  </a:lnTo>
                  <a:lnTo>
                    <a:pt x="5135" y="2683"/>
                  </a:lnTo>
                  <a:lnTo>
                    <a:pt x="5405" y="732"/>
                  </a:lnTo>
                  <a:lnTo>
                    <a:pt x="6486" y="244"/>
                  </a:lnTo>
                  <a:lnTo>
                    <a:pt x="6486" y="0"/>
                  </a:lnTo>
                  <a:lnTo>
                    <a:pt x="4595" y="488"/>
                  </a:lnTo>
                  <a:lnTo>
                    <a:pt x="3514" y="976"/>
                  </a:lnTo>
                  <a:lnTo>
                    <a:pt x="2973" y="2195"/>
                  </a:lnTo>
                  <a:lnTo>
                    <a:pt x="2432" y="2439"/>
                  </a:lnTo>
                  <a:lnTo>
                    <a:pt x="1622" y="3171"/>
                  </a:lnTo>
                  <a:lnTo>
                    <a:pt x="811" y="3902"/>
                  </a:lnTo>
                  <a:lnTo>
                    <a:pt x="1081" y="4390"/>
                  </a:lnTo>
                  <a:lnTo>
                    <a:pt x="1351" y="5610"/>
                  </a:lnTo>
                  <a:lnTo>
                    <a:pt x="1351" y="6341"/>
                  </a:lnTo>
                  <a:lnTo>
                    <a:pt x="1622" y="7317"/>
                  </a:lnTo>
                  <a:lnTo>
                    <a:pt x="541" y="8049"/>
                  </a:lnTo>
                  <a:lnTo>
                    <a:pt x="0" y="8537"/>
                  </a:lnTo>
                  <a:lnTo>
                    <a:pt x="2162" y="9268"/>
                  </a:lnTo>
                  <a:cubicBezTo>
                    <a:pt x="3243" y="10000"/>
                    <a:pt x="7669" y="11941"/>
                    <a:pt x="7669" y="11941"/>
                  </a:cubicBezTo>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35" name="Freeform 132">
              <a:extLst>
                <a:ext uri="{FF2B5EF4-FFF2-40B4-BE49-F238E27FC236}">
                  <a16:creationId xmlns:a16="http://schemas.microsoft.com/office/drawing/2014/main" id="{CA1DDA79-9D76-049C-0158-8E3B3C7E4E9F}"/>
                </a:ext>
              </a:extLst>
            </p:cNvPr>
            <p:cNvSpPr>
              <a:spLocks/>
            </p:cNvSpPr>
            <p:nvPr/>
          </p:nvSpPr>
          <p:spPr bwMode="auto">
            <a:xfrm>
              <a:off x="2604803" y="4052862"/>
              <a:ext cx="180663" cy="83404"/>
            </a:xfrm>
            <a:custGeom>
              <a:avLst/>
              <a:gdLst>
                <a:gd name="T0" fmla="*/ 2147483647 w 19"/>
                <a:gd name="T1" fmla="*/ 2147483647 h 9"/>
                <a:gd name="T2" fmla="*/ 2147483647 w 19"/>
                <a:gd name="T3" fmla="*/ 2147483647 h 9"/>
                <a:gd name="T4" fmla="*/ 2147483647 w 19"/>
                <a:gd name="T5" fmla="*/ 0 h 9"/>
                <a:gd name="T6" fmla="*/ 2147483647 w 19"/>
                <a:gd name="T7" fmla="*/ 2147483647 h 9"/>
                <a:gd name="T8" fmla="*/ 0 w 19"/>
                <a:gd name="T9" fmla="*/ 2147483647 h 9"/>
                <a:gd name="T10" fmla="*/ 0 w 19"/>
                <a:gd name="T11" fmla="*/ 2147483647 h 9"/>
                <a:gd name="T12" fmla="*/ 2147483647 w 19"/>
                <a:gd name="T13" fmla="*/ 2147483647 h 9"/>
                <a:gd name="T14" fmla="*/ 2147483647 w 19"/>
                <a:gd name="T15" fmla="*/ 2147483647 h 9"/>
                <a:gd name="T16" fmla="*/ 2147483647 w 19"/>
                <a:gd name="T17" fmla="*/ 2147483647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 h="9">
                  <a:moveTo>
                    <a:pt x="19" y="3"/>
                  </a:moveTo>
                  <a:cubicBezTo>
                    <a:pt x="19" y="3"/>
                    <a:pt x="10" y="1"/>
                    <a:pt x="8" y="1"/>
                  </a:cubicBezTo>
                  <a:cubicBezTo>
                    <a:pt x="7" y="1"/>
                    <a:pt x="6" y="0"/>
                    <a:pt x="5" y="0"/>
                  </a:cubicBezTo>
                  <a:cubicBezTo>
                    <a:pt x="1" y="3"/>
                    <a:pt x="1" y="3"/>
                    <a:pt x="1" y="3"/>
                  </a:cubicBezTo>
                  <a:cubicBezTo>
                    <a:pt x="0" y="6"/>
                    <a:pt x="0" y="6"/>
                    <a:pt x="0" y="6"/>
                  </a:cubicBezTo>
                  <a:cubicBezTo>
                    <a:pt x="0" y="6"/>
                    <a:pt x="0" y="6"/>
                    <a:pt x="0" y="6"/>
                  </a:cubicBezTo>
                  <a:cubicBezTo>
                    <a:pt x="5" y="9"/>
                    <a:pt x="5" y="9"/>
                    <a:pt x="5" y="9"/>
                  </a:cubicBezTo>
                  <a:cubicBezTo>
                    <a:pt x="12" y="6"/>
                    <a:pt x="12" y="6"/>
                    <a:pt x="12" y="6"/>
                  </a:cubicBezTo>
                  <a:lnTo>
                    <a:pt x="19" y="3"/>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36" name="Freeform 133">
              <a:extLst>
                <a:ext uri="{FF2B5EF4-FFF2-40B4-BE49-F238E27FC236}">
                  <a16:creationId xmlns:a16="http://schemas.microsoft.com/office/drawing/2014/main" id="{F4DD41B7-2A9B-4110-FA2E-E1025F7295D3}"/>
                </a:ext>
              </a:extLst>
            </p:cNvPr>
            <p:cNvSpPr>
              <a:spLocks/>
            </p:cNvSpPr>
            <p:nvPr/>
          </p:nvSpPr>
          <p:spPr bwMode="auto">
            <a:xfrm>
              <a:off x="2509717" y="4003577"/>
              <a:ext cx="142629" cy="117524"/>
            </a:xfrm>
            <a:custGeom>
              <a:avLst/>
              <a:gdLst>
                <a:gd name="T0" fmla="*/ 2147483647 w 15"/>
                <a:gd name="T1" fmla="*/ 2147483647 h 12"/>
                <a:gd name="T2" fmla="*/ 2147483647 w 15"/>
                <a:gd name="T3" fmla="*/ 2147483647 h 12"/>
                <a:gd name="T4" fmla="*/ 2147483647 w 15"/>
                <a:gd name="T5" fmla="*/ 0 h 12"/>
                <a:gd name="T6" fmla="*/ 2147483647 w 15"/>
                <a:gd name="T7" fmla="*/ 0 h 12"/>
                <a:gd name="T8" fmla="*/ 2147483647 w 15"/>
                <a:gd name="T9" fmla="*/ 2147483647 h 12"/>
                <a:gd name="T10" fmla="*/ 2147483647 w 15"/>
                <a:gd name="T11" fmla="*/ 2147483647 h 12"/>
                <a:gd name="T12" fmla="*/ 2147483647 w 15"/>
                <a:gd name="T13" fmla="*/ 2147483647 h 12"/>
                <a:gd name="T14" fmla="*/ 2147483647 w 15"/>
                <a:gd name="T15" fmla="*/ 2147483647 h 12"/>
                <a:gd name="T16" fmla="*/ 0 w 15"/>
                <a:gd name="T17" fmla="*/ 2147483647 h 12"/>
                <a:gd name="T18" fmla="*/ 2147483647 w 15"/>
                <a:gd name="T19" fmla="*/ 2147483647 h 12"/>
                <a:gd name="T20" fmla="*/ 2147483647 w 15"/>
                <a:gd name="T21" fmla="*/ 2147483647 h 12"/>
                <a:gd name="T22" fmla="*/ 2147483647 w 15"/>
                <a:gd name="T23" fmla="*/ 2147483647 h 12"/>
                <a:gd name="T24" fmla="*/ 2147483647 w 15"/>
                <a:gd name="T25" fmla="*/ 2147483647 h 12"/>
                <a:gd name="T26" fmla="*/ 2147483647 w 15"/>
                <a:gd name="T27" fmla="*/ 2147483647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5" h="12">
                  <a:moveTo>
                    <a:pt x="15" y="5"/>
                  </a:moveTo>
                  <a:cubicBezTo>
                    <a:pt x="13" y="5"/>
                    <a:pt x="11" y="4"/>
                    <a:pt x="11" y="4"/>
                  </a:cubicBezTo>
                  <a:cubicBezTo>
                    <a:pt x="11" y="0"/>
                    <a:pt x="11" y="0"/>
                    <a:pt x="11" y="0"/>
                  </a:cubicBezTo>
                  <a:cubicBezTo>
                    <a:pt x="6" y="0"/>
                    <a:pt x="6" y="0"/>
                    <a:pt x="6" y="0"/>
                  </a:cubicBezTo>
                  <a:cubicBezTo>
                    <a:pt x="4" y="1"/>
                    <a:pt x="4" y="1"/>
                    <a:pt x="4" y="1"/>
                  </a:cubicBezTo>
                  <a:cubicBezTo>
                    <a:pt x="6" y="5"/>
                    <a:pt x="6" y="5"/>
                    <a:pt x="6" y="5"/>
                  </a:cubicBezTo>
                  <a:cubicBezTo>
                    <a:pt x="3" y="5"/>
                    <a:pt x="3" y="5"/>
                    <a:pt x="3" y="5"/>
                  </a:cubicBezTo>
                  <a:cubicBezTo>
                    <a:pt x="1" y="8"/>
                    <a:pt x="1" y="8"/>
                    <a:pt x="1" y="8"/>
                  </a:cubicBezTo>
                  <a:cubicBezTo>
                    <a:pt x="0" y="10"/>
                    <a:pt x="0" y="10"/>
                    <a:pt x="0" y="10"/>
                  </a:cubicBezTo>
                  <a:cubicBezTo>
                    <a:pt x="1" y="11"/>
                    <a:pt x="1" y="11"/>
                    <a:pt x="1" y="11"/>
                  </a:cubicBezTo>
                  <a:cubicBezTo>
                    <a:pt x="7" y="12"/>
                    <a:pt x="7" y="12"/>
                    <a:pt x="7" y="12"/>
                  </a:cubicBezTo>
                  <a:cubicBezTo>
                    <a:pt x="10" y="11"/>
                    <a:pt x="10" y="11"/>
                    <a:pt x="10" y="11"/>
                  </a:cubicBezTo>
                  <a:cubicBezTo>
                    <a:pt x="11" y="8"/>
                    <a:pt x="11" y="8"/>
                    <a:pt x="11" y="8"/>
                  </a:cubicBezTo>
                  <a:lnTo>
                    <a:pt x="15" y="5"/>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37" name="Freeform 134">
              <a:extLst>
                <a:ext uri="{FF2B5EF4-FFF2-40B4-BE49-F238E27FC236}">
                  <a16:creationId xmlns:a16="http://schemas.microsoft.com/office/drawing/2014/main" id="{3A24C87F-1B71-79A6-3FBD-E29E1D0412BE}"/>
                </a:ext>
              </a:extLst>
            </p:cNvPr>
            <p:cNvSpPr>
              <a:spLocks/>
            </p:cNvSpPr>
            <p:nvPr/>
          </p:nvSpPr>
          <p:spPr bwMode="auto">
            <a:xfrm>
              <a:off x="1779455" y="3510734"/>
              <a:ext cx="903318" cy="589517"/>
            </a:xfrm>
            <a:custGeom>
              <a:avLst/>
              <a:gdLst>
                <a:gd name="T0" fmla="*/ 2147483647 w 576"/>
                <a:gd name="T1" fmla="*/ 2147483647 h 379"/>
                <a:gd name="T2" fmla="*/ 2147483647 w 576"/>
                <a:gd name="T3" fmla="*/ 2147483647 h 379"/>
                <a:gd name="T4" fmla="*/ 2147483647 w 576"/>
                <a:gd name="T5" fmla="*/ 2147483647 h 379"/>
                <a:gd name="T6" fmla="*/ 2147483647 w 576"/>
                <a:gd name="T7" fmla="*/ 2147483647 h 379"/>
                <a:gd name="T8" fmla="*/ 2147483647 w 576"/>
                <a:gd name="T9" fmla="*/ 2147483647 h 379"/>
                <a:gd name="T10" fmla="*/ 2147483647 w 576"/>
                <a:gd name="T11" fmla="*/ 2147483647 h 379"/>
                <a:gd name="T12" fmla="*/ 2147483647 w 576"/>
                <a:gd name="T13" fmla="*/ 2147483647 h 379"/>
                <a:gd name="T14" fmla="*/ 2147483647 w 576"/>
                <a:gd name="T15" fmla="*/ 2147483647 h 379"/>
                <a:gd name="T16" fmla="*/ 2147483647 w 576"/>
                <a:gd name="T17" fmla="*/ 2147483647 h 379"/>
                <a:gd name="T18" fmla="*/ 2147483647 w 576"/>
                <a:gd name="T19" fmla="*/ 2147483647 h 379"/>
                <a:gd name="T20" fmla="*/ 2147483647 w 576"/>
                <a:gd name="T21" fmla="*/ 2147483647 h 379"/>
                <a:gd name="T22" fmla="*/ 2147483647 w 576"/>
                <a:gd name="T23" fmla="*/ 2147483647 h 379"/>
                <a:gd name="T24" fmla="*/ 2147483647 w 576"/>
                <a:gd name="T25" fmla="*/ 2147483647 h 379"/>
                <a:gd name="T26" fmla="*/ 2147483647 w 576"/>
                <a:gd name="T27" fmla="*/ 2147483647 h 379"/>
                <a:gd name="T28" fmla="*/ 2147483647 w 576"/>
                <a:gd name="T29" fmla="*/ 2147483647 h 379"/>
                <a:gd name="T30" fmla="*/ 2147483647 w 576"/>
                <a:gd name="T31" fmla="*/ 2147483647 h 379"/>
                <a:gd name="T32" fmla="*/ 2147483647 w 576"/>
                <a:gd name="T33" fmla="*/ 2147483647 h 379"/>
                <a:gd name="T34" fmla="*/ 2147483647 w 576"/>
                <a:gd name="T35" fmla="*/ 2147483647 h 379"/>
                <a:gd name="T36" fmla="*/ 2147483647 w 576"/>
                <a:gd name="T37" fmla="*/ 2147483647 h 379"/>
                <a:gd name="T38" fmla="*/ 2147483647 w 576"/>
                <a:gd name="T39" fmla="*/ 2147483647 h 379"/>
                <a:gd name="T40" fmla="*/ 2147483647 w 576"/>
                <a:gd name="T41" fmla="*/ 2147483647 h 379"/>
                <a:gd name="T42" fmla="*/ 2147483647 w 576"/>
                <a:gd name="T43" fmla="*/ 2147483647 h 379"/>
                <a:gd name="T44" fmla="*/ 2147483647 w 576"/>
                <a:gd name="T45" fmla="*/ 2147483647 h 379"/>
                <a:gd name="T46" fmla="*/ 2147483647 w 576"/>
                <a:gd name="T47" fmla="*/ 2147483647 h 379"/>
                <a:gd name="T48" fmla="*/ 2147483647 w 576"/>
                <a:gd name="T49" fmla="*/ 0 h 379"/>
                <a:gd name="T50" fmla="*/ 0 w 576"/>
                <a:gd name="T51" fmla="*/ 2147483647 h 379"/>
                <a:gd name="T52" fmla="*/ 2147483647 w 576"/>
                <a:gd name="T53" fmla="*/ 2147483647 h 379"/>
                <a:gd name="T54" fmla="*/ 2147483647 w 576"/>
                <a:gd name="T55" fmla="*/ 2147483647 h 379"/>
                <a:gd name="T56" fmla="*/ 2147483647 w 576"/>
                <a:gd name="T57" fmla="*/ 2147483647 h 379"/>
                <a:gd name="T58" fmla="*/ 2147483647 w 576"/>
                <a:gd name="T59" fmla="*/ 2147483647 h 379"/>
                <a:gd name="T60" fmla="*/ 2147483647 w 576"/>
                <a:gd name="T61" fmla="*/ 2147483647 h 379"/>
                <a:gd name="T62" fmla="*/ 2147483647 w 576"/>
                <a:gd name="T63" fmla="*/ 2147483647 h 379"/>
                <a:gd name="T64" fmla="*/ 2147483647 w 576"/>
                <a:gd name="T65" fmla="*/ 2147483647 h 379"/>
                <a:gd name="T66" fmla="*/ 2147483647 w 576"/>
                <a:gd name="T67" fmla="*/ 2147483647 h 379"/>
                <a:gd name="T68" fmla="*/ 2147483647 w 576"/>
                <a:gd name="T69" fmla="*/ 2147483647 h 379"/>
                <a:gd name="T70" fmla="*/ 2147483647 w 576"/>
                <a:gd name="T71" fmla="*/ 2147483647 h 379"/>
                <a:gd name="T72" fmla="*/ 2147483647 w 576"/>
                <a:gd name="T73" fmla="*/ 2147483647 h 379"/>
                <a:gd name="T74" fmla="*/ 2147483647 w 576"/>
                <a:gd name="T75" fmla="*/ 2147483647 h 379"/>
                <a:gd name="T76" fmla="*/ 2147483647 w 576"/>
                <a:gd name="T77" fmla="*/ 2147483647 h 379"/>
                <a:gd name="T78" fmla="*/ 2147483647 w 576"/>
                <a:gd name="T79" fmla="*/ 2147483647 h 379"/>
                <a:gd name="T80" fmla="*/ 2147483647 w 576"/>
                <a:gd name="T81" fmla="*/ 2147483647 h 379"/>
                <a:gd name="T82" fmla="*/ 2147483647 w 576"/>
                <a:gd name="T83" fmla="*/ 2147483647 h 379"/>
                <a:gd name="T84" fmla="*/ 2147483647 w 576"/>
                <a:gd name="T85" fmla="*/ 2147483647 h 379"/>
                <a:gd name="T86" fmla="*/ 2147483647 w 576"/>
                <a:gd name="T87" fmla="*/ 2147483647 h 379"/>
                <a:gd name="T88" fmla="*/ 2147483647 w 576"/>
                <a:gd name="T89" fmla="*/ 2147483647 h 379"/>
                <a:gd name="T90" fmla="*/ 2147483647 w 576"/>
                <a:gd name="T91" fmla="*/ 2147483647 h 379"/>
                <a:gd name="T92" fmla="*/ 2147483647 w 576"/>
                <a:gd name="T93" fmla="*/ 2147483647 h 379"/>
                <a:gd name="T94" fmla="*/ 2147483647 w 576"/>
                <a:gd name="T95" fmla="*/ 2147483647 h 379"/>
                <a:gd name="T96" fmla="*/ 2147483647 w 576"/>
                <a:gd name="T97" fmla="*/ 2147483647 h 379"/>
                <a:gd name="T98" fmla="*/ 2147483647 w 576"/>
                <a:gd name="T99" fmla="*/ 2147483647 h 379"/>
                <a:gd name="T100" fmla="*/ 2147483647 w 576"/>
                <a:gd name="T101" fmla="*/ 2147483647 h 379"/>
                <a:gd name="T102" fmla="*/ 2147483647 w 576"/>
                <a:gd name="T103" fmla="*/ 2147483647 h 379"/>
                <a:gd name="T104" fmla="*/ 2147483647 w 576"/>
                <a:gd name="T105" fmla="*/ 2147483647 h 379"/>
                <a:gd name="T106" fmla="*/ 2147483647 w 576"/>
                <a:gd name="T107" fmla="*/ 2147483647 h 379"/>
                <a:gd name="T108" fmla="*/ 2147483647 w 576"/>
                <a:gd name="T109" fmla="*/ 2147483647 h 379"/>
                <a:gd name="T110" fmla="*/ 2147483647 w 576"/>
                <a:gd name="T111" fmla="*/ 2147483647 h 3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76" h="379">
                  <a:moveTo>
                    <a:pt x="486" y="348"/>
                  </a:moveTo>
                  <a:lnTo>
                    <a:pt x="504" y="348"/>
                  </a:lnTo>
                  <a:lnTo>
                    <a:pt x="492" y="324"/>
                  </a:lnTo>
                  <a:lnTo>
                    <a:pt x="504" y="318"/>
                  </a:lnTo>
                  <a:lnTo>
                    <a:pt x="534" y="318"/>
                  </a:lnTo>
                  <a:lnTo>
                    <a:pt x="528" y="312"/>
                  </a:lnTo>
                  <a:lnTo>
                    <a:pt x="546" y="300"/>
                  </a:lnTo>
                  <a:lnTo>
                    <a:pt x="564" y="288"/>
                  </a:lnTo>
                  <a:lnTo>
                    <a:pt x="576" y="240"/>
                  </a:lnTo>
                  <a:lnTo>
                    <a:pt x="504" y="252"/>
                  </a:lnTo>
                  <a:lnTo>
                    <a:pt x="474" y="294"/>
                  </a:lnTo>
                  <a:lnTo>
                    <a:pt x="426" y="300"/>
                  </a:lnTo>
                  <a:lnTo>
                    <a:pt x="378" y="240"/>
                  </a:lnTo>
                  <a:lnTo>
                    <a:pt x="372" y="162"/>
                  </a:lnTo>
                  <a:lnTo>
                    <a:pt x="384" y="144"/>
                  </a:lnTo>
                  <a:lnTo>
                    <a:pt x="354" y="138"/>
                  </a:lnTo>
                  <a:lnTo>
                    <a:pt x="330" y="114"/>
                  </a:lnTo>
                  <a:lnTo>
                    <a:pt x="312" y="84"/>
                  </a:lnTo>
                  <a:lnTo>
                    <a:pt x="288" y="66"/>
                  </a:lnTo>
                  <a:lnTo>
                    <a:pt x="252" y="78"/>
                  </a:lnTo>
                  <a:lnTo>
                    <a:pt x="204" y="24"/>
                  </a:lnTo>
                  <a:lnTo>
                    <a:pt x="174" y="18"/>
                  </a:lnTo>
                  <a:lnTo>
                    <a:pt x="156" y="30"/>
                  </a:lnTo>
                  <a:lnTo>
                    <a:pt x="108" y="30"/>
                  </a:lnTo>
                  <a:lnTo>
                    <a:pt x="48" y="0"/>
                  </a:lnTo>
                  <a:lnTo>
                    <a:pt x="0" y="6"/>
                  </a:lnTo>
                  <a:lnTo>
                    <a:pt x="36" y="72"/>
                  </a:lnTo>
                  <a:lnTo>
                    <a:pt x="60" y="108"/>
                  </a:lnTo>
                  <a:lnTo>
                    <a:pt x="54" y="120"/>
                  </a:lnTo>
                  <a:lnTo>
                    <a:pt x="96" y="150"/>
                  </a:lnTo>
                  <a:lnTo>
                    <a:pt x="102" y="180"/>
                  </a:lnTo>
                  <a:lnTo>
                    <a:pt x="120" y="192"/>
                  </a:lnTo>
                  <a:lnTo>
                    <a:pt x="144" y="216"/>
                  </a:lnTo>
                  <a:lnTo>
                    <a:pt x="150" y="198"/>
                  </a:lnTo>
                  <a:lnTo>
                    <a:pt x="126" y="180"/>
                  </a:lnTo>
                  <a:lnTo>
                    <a:pt x="102" y="126"/>
                  </a:lnTo>
                  <a:lnTo>
                    <a:pt x="60" y="66"/>
                  </a:lnTo>
                  <a:lnTo>
                    <a:pt x="48" y="30"/>
                  </a:lnTo>
                  <a:lnTo>
                    <a:pt x="78" y="42"/>
                  </a:lnTo>
                  <a:lnTo>
                    <a:pt x="108" y="102"/>
                  </a:lnTo>
                  <a:lnTo>
                    <a:pt x="120" y="120"/>
                  </a:lnTo>
                  <a:lnTo>
                    <a:pt x="150" y="138"/>
                  </a:lnTo>
                  <a:lnTo>
                    <a:pt x="150" y="156"/>
                  </a:lnTo>
                  <a:lnTo>
                    <a:pt x="174" y="168"/>
                  </a:lnTo>
                  <a:lnTo>
                    <a:pt x="186" y="186"/>
                  </a:lnTo>
                  <a:lnTo>
                    <a:pt x="216" y="216"/>
                  </a:lnTo>
                  <a:lnTo>
                    <a:pt x="222" y="258"/>
                  </a:lnTo>
                  <a:lnTo>
                    <a:pt x="222" y="276"/>
                  </a:lnTo>
                  <a:lnTo>
                    <a:pt x="300" y="324"/>
                  </a:lnTo>
                  <a:lnTo>
                    <a:pt x="336" y="342"/>
                  </a:lnTo>
                  <a:lnTo>
                    <a:pt x="402" y="360"/>
                  </a:lnTo>
                  <a:lnTo>
                    <a:pt x="420" y="354"/>
                  </a:lnTo>
                  <a:lnTo>
                    <a:pt x="438" y="354"/>
                  </a:lnTo>
                  <a:lnTo>
                    <a:pt x="468" y="379"/>
                  </a:lnTo>
                  <a:lnTo>
                    <a:pt x="474" y="366"/>
                  </a:lnTo>
                  <a:lnTo>
                    <a:pt x="486" y="348"/>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38" name="Freeform 135">
              <a:extLst>
                <a:ext uri="{FF2B5EF4-FFF2-40B4-BE49-F238E27FC236}">
                  <a16:creationId xmlns:a16="http://schemas.microsoft.com/office/drawing/2014/main" id="{B99DB652-AF56-5B08-1F1F-759CC9ABB778}"/>
                </a:ext>
              </a:extLst>
            </p:cNvPr>
            <p:cNvSpPr>
              <a:spLocks/>
            </p:cNvSpPr>
            <p:nvPr/>
          </p:nvSpPr>
          <p:spPr bwMode="auto">
            <a:xfrm rot="20747712">
              <a:off x="3257094" y="1148879"/>
              <a:ext cx="973683" cy="1070986"/>
            </a:xfrm>
            <a:custGeom>
              <a:avLst/>
              <a:gdLst>
                <a:gd name="T0" fmla="*/ 2147483647 w 1125"/>
                <a:gd name="T1" fmla="*/ 2147483647 h 2047"/>
                <a:gd name="T2" fmla="*/ 2147483647 w 1125"/>
                <a:gd name="T3" fmla="*/ 2147483647 h 2047"/>
                <a:gd name="T4" fmla="*/ 2147483647 w 1125"/>
                <a:gd name="T5" fmla="*/ 2147483647 h 2047"/>
                <a:gd name="T6" fmla="*/ 2147483647 w 1125"/>
                <a:gd name="T7" fmla="*/ 2147483647 h 2047"/>
                <a:gd name="T8" fmla="*/ 2147483647 w 1125"/>
                <a:gd name="T9" fmla="*/ 2147483647 h 2047"/>
                <a:gd name="T10" fmla="*/ 2147483647 w 1125"/>
                <a:gd name="T11" fmla="*/ 2147483647 h 2047"/>
                <a:gd name="T12" fmla="*/ 2147483647 w 1125"/>
                <a:gd name="T13" fmla="*/ 2147483647 h 2047"/>
                <a:gd name="T14" fmla="*/ 2147483647 w 1125"/>
                <a:gd name="T15" fmla="*/ 2147483647 h 2047"/>
                <a:gd name="T16" fmla="*/ 2147483647 w 1125"/>
                <a:gd name="T17" fmla="*/ 2147483647 h 2047"/>
                <a:gd name="T18" fmla="*/ 2147483647 w 1125"/>
                <a:gd name="T19" fmla="*/ 2147483647 h 2047"/>
                <a:gd name="T20" fmla="*/ 2147483647 w 1125"/>
                <a:gd name="T21" fmla="*/ 2147483647 h 2047"/>
                <a:gd name="T22" fmla="*/ 2147483647 w 1125"/>
                <a:gd name="T23" fmla="*/ 2147483647 h 2047"/>
                <a:gd name="T24" fmla="*/ 2147483647 w 1125"/>
                <a:gd name="T25" fmla="*/ 2147483647 h 2047"/>
                <a:gd name="T26" fmla="*/ 2147483647 w 1125"/>
                <a:gd name="T27" fmla="*/ 2147483647 h 2047"/>
                <a:gd name="T28" fmla="*/ 2147483647 w 1125"/>
                <a:gd name="T29" fmla="*/ 2147483647 h 2047"/>
                <a:gd name="T30" fmla="*/ 2147483647 w 1125"/>
                <a:gd name="T31" fmla="*/ 2147483647 h 2047"/>
                <a:gd name="T32" fmla="*/ 2147483647 w 1125"/>
                <a:gd name="T33" fmla="*/ 2147483647 h 2047"/>
                <a:gd name="T34" fmla="*/ 2147483647 w 1125"/>
                <a:gd name="T35" fmla="*/ 2147483647 h 2047"/>
                <a:gd name="T36" fmla="*/ 2147483647 w 1125"/>
                <a:gd name="T37" fmla="*/ 2147483647 h 2047"/>
                <a:gd name="T38" fmla="*/ 2147483647 w 1125"/>
                <a:gd name="T39" fmla="*/ 2147483647 h 2047"/>
                <a:gd name="T40" fmla="*/ 2147483647 w 1125"/>
                <a:gd name="T41" fmla="*/ 2147483647 h 2047"/>
                <a:gd name="T42" fmla="*/ 2147483647 w 1125"/>
                <a:gd name="T43" fmla="*/ 2147483647 h 2047"/>
                <a:gd name="T44" fmla="*/ 2147483647 w 1125"/>
                <a:gd name="T45" fmla="*/ 2147483647 h 2047"/>
                <a:gd name="T46" fmla="*/ 2147483647 w 1125"/>
                <a:gd name="T47" fmla="*/ 2147483647 h 2047"/>
                <a:gd name="T48" fmla="*/ 2147483647 w 1125"/>
                <a:gd name="T49" fmla="*/ 2147483647 h 2047"/>
                <a:gd name="T50" fmla="*/ 2147483647 w 1125"/>
                <a:gd name="T51" fmla="*/ 2147483647 h 2047"/>
                <a:gd name="T52" fmla="*/ 2147483647 w 1125"/>
                <a:gd name="T53" fmla="*/ 2147483647 h 2047"/>
                <a:gd name="T54" fmla="*/ 2147483647 w 1125"/>
                <a:gd name="T55" fmla="*/ 2147483647 h 2047"/>
                <a:gd name="T56" fmla="*/ 2147483647 w 1125"/>
                <a:gd name="T57" fmla="*/ 2147483647 h 2047"/>
                <a:gd name="T58" fmla="*/ 2147483647 w 1125"/>
                <a:gd name="T59" fmla="*/ 2147483647 h 2047"/>
                <a:gd name="T60" fmla="*/ 2147483647 w 1125"/>
                <a:gd name="T61" fmla="*/ 2147483647 h 2047"/>
                <a:gd name="T62" fmla="*/ 2147483647 w 1125"/>
                <a:gd name="T63" fmla="*/ 2147483647 h 2047"/>
                <a:gd name="T64" fmla="*/ 2147483647 w 1125"/>
                <a:gd name="T65" fmla="*/ 2147483647 h 2047"/>
                <a:gd name="T66" fmla="*/ 2147483647 w 1125"/>
                <a:gd name="T67" fmla="*/ 2147483647 h 2047"/>
                <a:gd name="T68" fmla="*/ 2147483647 w 1125"/>
                <a:gd name="T69" fmla="*/ 2147483647 h 2047"/>
                <a:gd name="T70" fmla="*/ 2147483647 w 1125"/>
                <a:gd name="T71" fmla="*/ 2147483647 h 2047"/>
                <a:gd name="T72" fmla="*/ 2147483647 w 1125"/>
                <a:gd name="T73" fmla="*/ 2147483647 h 2047"/>
                <a:gd name="T74" fmla="*/ 2147483647 w 1125"/>
                <a:gd name="T75" fmla="*/ 2147483647 h 2047"/>
                <a:gd name="T76" fmla="*/ 2147483647 w 1125"/>
                <a:gd name="T77" fmla="*/ 2147483647 h 2047"/>
                <a:gd name="T78" fmla="*/ 2147483647 w 1125"/>
                <a:gd name="T79" fmla="*/ 2147483647 h 2047"/>
                <a:gd name="T80" fmla="*/ 2147483647 w 1125"/>
                <a:gd name="T81" fmla="*/ 2147483647 h 2047"/>
                <a:gd name="T82" fmla="*/ 2147483647 w 1125"/>
                <a:gd name="T83" fmla="*/ 2147483647 h 2047"/>
                <a:gd name="T84" fmla="*/ 2147483647 w 1125"/>
                <a:gd name="T85" fmla="*/ 2147483647 h 2047"/>
                <a:gd name="T86" fmla="*/ 2147483647 w 1125"/>
                <a:gd name="T87" fmla="*/ 2147483647 h 2047"/>
                <a:gd name="T88" fmla="*/ 2147483647 w 1125"/>
                <a:gd name="T89" fmla="*/ 2147483647 h 2047"/>
                <a:gd name="T90" fmla="*/ 2147483647 w 1125"/>
                <a:gd name="T91" fmla="*/ 2147483647 h 2047"/>
                <a:gd name="T92" fmla="*/ 2147483647 w 1125"/>
                <a:gd name="T93" fmla="*/ 2147483647 h 2047"/>
                <a:gd name="T94" fmla="*/ 2147483647 w 1125"/>
                <a:gd name="T95" fmla="*/ 2147483647 h 2047"/>
                <a:gd name="T96" fmla="*/ 2147483647 w 1125"/>
                <a:gd name="T97" fmla="*/ 2147483647 h 2047"/>
                <a:gd name="T98" fmla="*/ 2147483647 w 1125"/>
                <a:gd name="T99" fmla="*/ 2147483647 h 2047"/>
                <a:gd name="T100" fmla="*/ 2147483647 w 1125"/>
                <a:gd name="T101" fmla="*/ 2147483647 h 2047"/>
                <a:gd name="T102" fmla="*/ 2147483647 w 1125"/>
                <a:gd name="T103" fmla="*/ 2147483647 h 2047"/>
                <a:gd name="T104" fmla="*/ 2147483647 w 1125"/>
                <a:gd name="T105" fmla="*/ 2147483647 h 2047"/>
                <a:gd name="T106" fmla="*/ 2147483647 w 1125"/>
                <a:gd name="T107" fmla="*/ 2147483647 h 2047"/>
                <a:gd name="T108" fmla="*/ 2147483647 w 1125"/>
                <a:gd name="T109" fmla="*/ 2147483647 h 2047"/>
                <a:gd name="T110" fmla="*/ 2147483647 w 1125"/>
                <a:gd name="T111" fmla="*/ 2147483647 h 2047"/>
                <a:gd name="T112" fmla="*/ 2147483647 w 1125"/>
                <a:gd name="T113" fmla="*/ 2147483647 h 2047"/>
                <a:gd name="T114" fmla="*/ 2147483647 w 1125"/>
                <a:gd name="T115" fmla="*/ 2147483647 h 2047"/>
                <a:gd name="T116" fmla="*/ 2147483647 w 1125"/>
                <a:gd name="T117" fmla="*/ 2147483647 h 2047"/>
                <a:gd name="T118" fmla="*/ 2147483647 w 1125"/>
                <a:gd name="T119" fmla="*/ 2147483647 h 2047"/>
                <a:gd name="T120" fmla="*/ 2147483647 w 1125"/>
                <a:gd name="T121" fmla="*/ 2147483647 h 2047"/>
                <a:gd name="T122" fmla="*/ 2147483647 w 1125"/>
                <a:gd name="T123" fmla="*/ 2147483647 h 2047"/>
                <a:gd name="T124" fmla="*/ 2147483647 w 1125"/>
                <a:gd name="T125" fmla="*/ 2147483647 h 204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125" h="2047">
                  <a:moveTo>
                    <a:pt x="718" y="105"/>
                  </a:moveTo>
                  <a:lnTo>
                    <a:pt x="722" y="102"/>
                  </a:lnTo>
                  <a:lnTo>
                    <a:pt x="730" y="95"/>
                  </a:lnTo>
                  <a:lnTo>
                    <a:pt x="740" y="83"/>
                  </a:lnTo>
                  <a:lnTo>
                    <a:pt x="751" y="70"/>
                  </a:lnTo>
                  <a:lnTo>
                    <a:pt x="760" y="58"/>
                  </a:lnTo>
                  <a:lnTo>
                    <a:pt x="764" y="46"/>
                  </a:lnTo>
                  <a:lnTo>
                    <a:pt x="761" y="37"/>
                  </a:lnTo>
                  <a:lnTo>
                    <a:pt x="748" y="32"/>
                  </a:lnTo>
                  <a:lnTo>
                    <a:pt x="735" y="30"/>
                  </a:lnTo>
                  <a:lnTo>
                    <a:pt x="725" y="27"/>
                  </a:lnTo>
                  <a:lnTo>
                    <a:pt x="716" y="22"/>
                  </a:lnTo>
                  <a:lnTo>
                    <a:pt x="708" y="17"/>
                  </a:lnTo>
                  <a:lnTo>
                    <a:pt x="700" y="13"/>
                  </a:lnTo>
                  <a:lnTo>
                    <a:pt x="693" y="8"/>
                  </a:lnTo>
                  <a:lnTo>
                    <a:pt x="686" y="4"/>
                  </a:lnTo>
                  <a:lnTo>
                    <a:pt x="678" y="1"/>
                  </a:lnTo>
                  <a:lnTo>
                    <a:pt x="672" y="0"/>
                  </a:lnTo>
                  <a:lnTo>
                    <a:pt x="665" y="0"/>
                  </a:lnTo>
                  <a:lnTo>
                    <a:pt x="658" y="0"/>
                  </a:lnTo>
                  <a:lnTo>
                    <a:pt x="651" y="2"/>
                  </a:lnTo>
                  <a:lnTo>
                    <a:pt x="633" y="7"/>
                  </a:lnTo>
                  <a:lnTo>
                    <a:pt x="610" y="13"/>
                  </a:lnTo>
                  <a:lnTo>
                    <a:pt x="583" y="19"/>
                  </a:lnTo>
                  <a:lnTo>
                    <a:pt x="558" y="25"/>
                  </a:lnTo>
                  <a:lnTo>
                    <a:pt x="534" y="34"/>
                  </a:lnTo>
                  <a:lnTo>
                    <a:pt x="512" y="42"/>
                  </a:lnTo>
                  <a:lnTo>
                    <a:pt x="496" y="52"/>
                  </a:lnTo>
                  <a:lnTo>
                    <a:pt x="487" y="62"/>
                  </a:lnTo>
                  <a:lnTo>
                    <a:pt x="483" y="74"/>
                  </a:lnTo>
                  <a:lnTo>
                    <a:pt x="478" y="84"/>
                  </a:lnTo>
                  <a:lnTo>
                    <a:pt x="474" y="93"/>
                  </a:lnTo>
                  <a:lnTo>
                    <a:pt x="468" y="102"/>
                  </a:lnTo>
                  <a:lnTo>
                    <a:pt x="461" y="107"/>
                  </a:lnTo>
                  <a:lnTo>
                    <a:pt x="452" y="110"/>
                  </a:lnTo>
                  <a:lnTo>
                    <a:pt x="440" y="110"/>
                  </a:lnTo>
                  <a:lnTo>
                    <a:pt x="426" y="105"/>
                  </a:lnTo>
                  <a:lnTo>
                    <a:pt x="409" y="100"/>
                  </a:lnTo>
                  <a:lnTo>
                    <a:pt x="391" y="98"/>
                  </a:lnTo>
                  <a:lnTo>
                    <a:pt x="371" y="100"/>
                  </a:lnTo>
                  <a:lnTo>
                    <a:pt x="351" y="105"/>
                  </a:lnTo>
                  <a:lnTo>
                    <a:pt x="334" y="112"/>
                  </a:lnTo>
                  <a:lnTo>
                    <a:pt x="319" y="120"/>
                  </a:lnTo>
                  <a:lnTo>
                    <a:pt x="306" y="130"/>
                  </a:lnTo>
                  <a:lnTo>
                    <a:pt x="300" y="141"/>
                  </a:lnTo>
                  <a:lnTo>
                    <a:pt x="291" y="151"/>
                  </a:lnTo>
                  <a:lnTo>
                    <a:pt x="278" y="161"/>
                  </a:lnTo>
                  <a:lnTo>
                    <a:pt x="260" y="172"/>
                  </a:lnTo>
                  <a:lnTo>
                    <a:pt x="241" y="182"/>
                  </a:lnTo>
                  <a:lnTo>
                    <a:pt x="221" y="194"/>
                  </a:lnTo>
                  <a:lnTo>
                    <a:pt x="204" y="208"/>
                  </a:lnTo>
                  <a:lnTo>
                    <a:pt x="191" y="224"/>
                  </a:lnTo>
                  <a:lnTo>
                    <a:pt x="184" y="242"/>
                  </a:lnTo>
                  <a:lnTo>
                    <a:pt x="180" y="261"/>
                  </a:lnTo>
                  <a:lnTo>
                    <a:pt x="172" y="277"/>
                  </a:lnTo>
                  <a:lnTo>
                    <a:pt x="160" y="289"/>
                  </a:lnTo>
                  <a:lnTo>
                    <a:pt x="146" y="299"/>
                  </a:lnTo>
                  <a:lnTo>
                    <a:pt x="130" y="305"/>
                  </a:lnTo>
                  <a:lnTo>
                    <a:pt x="113" y="311"/>
                  </a:lnTo>
                  <a:lnTo>
                    <a:pt x="94" y="314"/>
                  </a:lnTo>
                  <a:lnTo>
                    <a:pt x="76" y="315"/>
                  </a:lnTo>
                  <a:lnTo>
                    <a:pt x="59" y="316"/>
                  </a:lnTo>
                  <a:lnTo>
                    <a:pt x="44" y="319"/>
                  </a:lnTo>
                  <a:lnTo>
                    <a:pt x="31" y="325"/>
                  </a:lnTo>
                  <a:lnTo>
                    <a:pt x="22" y="332"/>
                  </a:lnTo>
                  <a:lnTo>
                    <a:pt x="16" y="342"/>
                  </a:lnTo>
                  <a:lnTo>
                    <a:pt x="13" y="355"/>
                  </a:lnTo>
                  <a:lnTo>
                    <a:pt x="11" y="369"/>
                  </a:lnTo>
                  <a:lnTo>
                    <a:pt x="15" y="386"/>
                  </a:lnTo>
                  <a:lnTo>
                    <a:pt x="17" y="402"/>
                  </a:lnTo>
                  <a:lnTo>
                    <a:pt x="16" y="415"/>
                  </a:lnTo>
                  <a:lnTo>
                    <a:pt x="13" y="425"/>
                  </a:lnTo>
                  <a:lnTo>
                    <a:pt x="9" y="434"/>
                  </a:lnTo>
                  <a:lnTo>
                    <a:pt x="4" y="444"/>
                  </a:lnTo>
                  <a:lnTo>
                    <a:pt x="1" y="454"/>
                  </a:lnTo>
                  <a:lnTo>
                    <a:pt x="0" y="466"/>
                  </a:lnTo>
                  <a:lnTo>
                    <a:pt x="2" y="482"/>
                  </a:lnTo>
                  <a:lnTo>
                    <a:pt x="7" y="499"/>
                  </a:lnTo>
                  <a:lnTo>
                    <a:pt x="13" y="515"/>
                  </a:lnTo>
                  <a:lnTo>
                    <a:pt x="18" y="530"/>
                  </a:lnTo>
                  <a:lnTo>
                    <a:pt x="25" y="543"/>
                  </a:lnTo>
                  <a:lnTo>
                    <a:pt x="34" y="553"/>
                  </a:lnTo>
                  <a:lnTo>
                    <a:pt x="45" y="562"/>
                  </a:lnTo>
                  <a:lnTo>
                    <a:pt x="59" y="568"/>
                  </a:lnTo>
                  <a:lnTo>
                    <a:pt x="76" y="572"/>
                  </a:lnTo>
                  <a:lnTo>
                    <a:pt x="94" y="575"/>
                  </a:lnTo>
                  <a:lnTo>
                    <a:pt x="113" y="579"/>
                  </a:lnTo>
                  <a:lnTo>
                    <a:pt x="130" y="584"/>
                  </a:lnTo>
                  <a:lnTo>
                    <a:pt x="145" y="593"/>
                  </a:lnTo>
                  <a:lnTo>
                    <a:pt x="159" y="605"/>
                  </a:lnTo>
                  <a:lnTo>
                    <a:pt x="169" y="621"/>
                  </a:lnTo>
                  <a:lnTo>
                    <a:pt x="176" y="642"/>
                  </a:lnTo>
                  <a:lnTo>
                    <a:pt x="179" y="668"/>
                  </a:lnTo>
                  <a:lnTo>
                    <a:pt x="181" y="695"/>
                  </a:lnTo>
                  <a:lnTo>
                    <a:pt x="185" y="718"/>
                  </a:lnTo>
                  <a:lnTo>
                    <a:pt x="191" y="740"/>
                  </a:lnTo>
                  <a:lnTo>
                    <a:pt x="198" y="762"/>
                  </a:lnTo>
                  <a:lnTo>
                    <a:pt x="203" y="785"/>
                  </a:lnTo>
                  <a:lnTo>
                    <a:pt x="206" y="810"/>
                  </a:lnTo>
                  <a:lnTo>
                    <a:pt x="207" y="841"/>
                  </a:lnTo>
                  <a:lnTo>
                    <a:pt x="203" y="878"/>
                  </a:lnTo>
                  <a:lnTo>
                    <a:pt x="196" y="915"/>
                  </a:lnTo>
                  <a:lnTo>
                    <a:pt x="190" y="945"/>
                  </a:lnTo>
                  <a:lnTo>
                    <a:pt x="184" y="968"/>
                  </a:lnTo>
                  <a:lnTo>
                    <a:pt x="181" y="986"/>
                  </a:lnTo>
                  <a:lnTo>
                    <a:pt x="180" y="999"/>
                  </a:lnTo>
                  <a:lnTo>
                    <a:pt x="180" y="1009"/>
                  </a:lnTo>
                  <a:lnTo>
                    <a:pt x="184" y="1016"/>
                  </a:lnTo>
                  <a:lnTo>
                    <a:pt x="191" y="1022"/>
                  </a:lnTo>
                  <a:lnTo>
                    <a:pt x="200" y="1028"/>
                  </a:lnTo>
                  <a:lnTo>
                    <a:pt x="210" y="1034"/>
                  </a:lnTo>
                  <a:lnTo>
                    <a:pt x="218" y="1042"/>
                  </a:lnTo>
                  <a:lnTo>
                    <a:pt x="225" y="1050"/>
                  </a:lnTo>
                  <a:lnTo>
                    <a:pt x="227" y="1057"/>
                  </a:lnTo>
                  <a:lnTo>
                    <a:pt x="225" y="1062"/>
                  </a:lnTo>
                  <a:lnTo>
                    <a:pt x="217" y="1067"/>
                  </a:lnTo>
                  <a:lnTo>
                    <a:pt x="203" y="1068"/>
                  </a:lnTo>
                  <a:lnTo>
                    <a:pt x="189" y="1070"/>
                  </a:lnTo>
                  <a:lnTo>
                    <a:pt x="183" y="1075"/>
                  </a:lnTo>
                  <a:lnTo>
                    <a:pt x="183" y="1082"/>
                  </a:lnTo>
                  <a:lnTo>
                    <a:pt x="188" y="1089"/>
                  </a:lnTo>
                  <a:lnTo>
                    <a:pt x="194" y="1097"/>
                  </a:lnTo>
                  <a:lnTo>
                    <a:pt x="200" y="1104"/>
                  </a:lnTo>
                  <a:lnTo>
                    <a:pt x="206" y="1108"/>
                  </a:lnTo>
                  <a:lnTo>
                    <a:pt x="208" y="1111"/>
                  </a:lnTo>
                  <a:lnTo>
                    <a:pt x="206" y="1111"/>
                  </a:lnTo>
                  <a:lnTo>
                    <a:pt x="200" y="1110"/>
                  </a:lnTo>
                  <a:lnTo>
                    <a:pt x="191" y="1108"/>
                  </a:lnTo>
                  <a:lnTo>
                    <a:pt x="182" y="1108"/>
                  </a:lnTo>
                  <a:lnTo>
                    <a:pt x="172" y="1111"/>
                  </a:lnTo>
                  <a:lnTo>
                    <a:pt x="162" y="1115"/>
                  </a:lnTo>
                  <a:lnTo>
                    <a:pt x="157" y="1123"/>
                  </a:lnTo>
                  <a:lnTo>
                    <a:pt x="154" y="1135"/>
                  </a:lnTo>
                  <a:lnTo>
                    <a:pt x="157" y="1149"/>
                  </a:lnTo>
                  <a:lnTo>
                    <a:pt x="164" y="1163"/>
                  </a:lnTo>
                  <a:lnTo>
                    <a:pt x="173" y="1176"/>
                  </a:lnTo>
                  <a:lnTo>
                    <a:pt x="184" y="1187"/>
                  </a:lnTo>
                  <a:lnTo>
                    <a:pt x="196" y="1196"/>
                  </a:lnTo>
                  <a:lnTo>
                    <a:pt x="207" y="1201"/>
                  </a:lnTo>
                  <a:lnTo>
                    <a:pt x="219" y="1201"/>
                  </a:lnTo>
                  <a:lnTo>
                    <a:pt x="227" y="1195"/>
                  </a:lnTo>
                  <a:lnTo>
                    <a:pt x="234" y="1186"/>
                  </a:lnTo>
                  <a:lnTo>
                    <a:pt x="238" y="1178"/>
                  </a:lnTo>
                  <a:lnTo>
                    <a:pt x="244" y="1171"/>
                  </a:lnTo>
                  <a:lnTo>
                    <a:pt x="249" y="1165"/>
                  </a:lnTo>
                  <a:lnTo>
                    <a:pt x="252" y="1161"/>
                  </a:lnTo>
                  <a:lnTo>
                    <a:pt x="258" y="1158"/>
                  </a:lnTo>
                  <a:lnTo>
                    <a:pt x="263" y="1158"/>
                  </a:lnTo>
                  <a:lnTo>
                    <a:pt x="270" y="1159"/>
                  </a:lnTo>
                  <a:lnTo>
                    <a:pt x="278" y="1174"/>
                  </a:lnTo>
                  <a:lnTo>
                    <a:pt x="275" y="1202"/>
                  </a:lnTo>
                  <a:lnTo>
                    <a:pt x="267" y="1233"/>
                  </a:lnTo>
                  <a:lnTo>
                    <a:pt x="258" y="1255"/>
                  </a:lnTo>
                  <a:lnTo>
                    <a:pt x="252" y="1261"/>
                  </a:lnTo>
                  <a:lnTo>
                    <a:pt x="244" y="1265"/>
                  </a:lnTo>
                  <a:lnTo>
                    <a:pt x="234" y="1270"/>
                  </a:lnTo>
                  <a:lnTo>
                    <a:pt x="223" y="1273"/>
                  </a:lnTo>
                  <a:lnTo>
                    <a:pt x="212" y="1279"/>
                  </a:lnTo>
                  <a:lnTo>
                    <a:pt x="202" y="1285"/>
                  </a:lnTo>
                  <a:lnTo>
                    <a:pt x="192" y="1292"/>
                  </a:lnTo>
                  <a:lnTo>
                    <a:pt x="184" y="1302"/>
                  </a:lnTo>
                  <a:lnTo>
                    <a:pt x="177" y="1318"/>
                  </a:lnTo>
                  <a:lnTo>
                    <a:pt x="169" y="1340"/>
                  </a:lnTo>
                  <a:lnTo>
                    <a:pt x="161" y="1369"/>
                  </a:lnTo>
                  <a:lnTo>
                    <a:pt x="154" y="1399"/>
                  </a:lnTo>
                  <a:lnTo>
                    <a:pt x="149" y="1430"/>
                  </a:lnTo>
                  <a:lnTo>
                    <a:pt x="144" y="1459"/>
                  </a:lnTo>
                  <a:lnTo>
                    <a:pt x="142" y="1483"/>
                  </a:lnTo>
                  <a:lnTo>
                    <a:pt x="143" y="1500"/>
                  </a:lnTo>
                  <a:lnTo>
                    <a:pt x="146" y="1514"/>
                  </a:lnTo>
                  <a:lnTo>
                    <a:pt x="153" y="1530"/>
                  </a:lnTo>
                  <a:lnTo>
                    <a:pt x="160" y="1547"/>
                  </a:lnTo>
                  <a:lnTo>
                    <a:pt x="168" y="1566"/>
                  </a:lnTo>
                  <a:lnTo>
                    <a:pt x="174" y="1585"/>
                  </a:lnTo>
                  <a:lnTo>
                    <a:pt x="180" y="1606"/>
                  </a:lnTo>
                  <a:lnTo>
                    <a:pt x="181" y="1628"/>
                  </a:lnTo>
                  <a:lnTo>
                    <a:pt x="179" y="1650"/>
                  </a:lnTo>
                  <a:lnTo>
                    <a:pt x="176" y="1672"/>
                  </a:lnTo>
                  <a:lnTo>
                    <a:pt x="179" y="1694"/>
                  </a:lnTo>
                  <a:lnTo>
                    <a:pt x="184" y="1714"/>
                  </a:lnTo>
                  <a:lnTo>
                    <a:pt x="191" y="1735"/>
                  </a:lnTo>
                  <a:lnTo>
                    <a:pt x="200" y="1754"/>
                  </a:lnTo>
                  <a:lnTo>
                    <a:pt x="210" y="1772"/>
                  </a:lnTo>
                  <a:lnTo>
                    <a:pt x="219" y="1791"/>
                  </a:lnTo>
                  <a:lnTo>
                    <a:pt x="227" y="1807"/>
                  </a:lnTo>
                  <a:lnTo>
                    <a:pt x="235" y="1825"/>
                  </a:lnTo>
                  <a:lnTo>
                    <a:pt x="245" y="1847"/>
                  </a:lnTo>
                  <a:lnTo>
                    <a:pt x="257" y="1872"/>
                  </a:lnTo>
                  <a:lnTo>
                    <a:pt x="270" y="1897"/>
                  </a:lnTo>
                  <a:lnTo>
                    <a:pt x="283" y="1918"/>
                  </a:lnTo>
                  <a:lnTo>
                    <a:pt x="300" y="1937"/>
                  </a:lnTo>
                  <a:lnTo>
                    <a:pt x="315" y="1948"/>
                  </a:lnTo>
                  <a:lnTo>
                    <a:pt x="331" y="1951"/>
                  </a:lnTo>
                  <a:lnTo>
                    <a:pt x="346" y="1950"/>
                  </a:lnTo>
                  <a:lnTo>
                    <a:pt x="358" y="1953"/>
                  </a:lnTo>
                  <a:lnTo>
                    <a:pt x="370" y="1959"/>
                  </a:lnTo>
                  <a:lnTo>
                    <a:pt x="379" y="1967"/>
                  </a:lnTo>
                  <a:lnTo>
                    <a:pt x="386" y="1977"/>
                  </a:lnTo>
                  <a:lnTo>
                    <a:pt x="392" y="1988"/>
                  </a:lnTo>
                  <a:lnTo>
                    <a:pt x="395" y="1999"/>
                  </a:lnTo>
                  <a:lnTo>
                    <a:pt x="396" y="2011"/>
                  </a:lnTo>
                  <a:lnTo>
                    <a:pt x="398" y="2016"/>
                  </a:lnTo>
                  <a:lnTo>
                    <a:pt x="401" y="2022"/>
                  </a:lnTo>
                  <a:lnTo>
                    <a:pt x="406" y="2028"/>
                  </a:lnTo>
                  <a:lnTo>
                    <a:pt x="413" y="2032"/>
                  </a:lnTo>
                  <a:lnTo>
                    <a:pt x="421" y="2037"/>
                  </a:lnTo>
                  <a:lnTo>
                    <a:pt x="430" y="2042"/>
                  </a:lnTo>
                  <a:lnTo>
                    <a:pt x="439" y="2044"/>
                  </a:lnTo>
                  <a:lnTo>
                    <a:pt x="449" y="2046"/>
                  </a:lnTo>
                  <a:lnTo>
                    <a:pt x="460" y="2047"/>
                  </a:lnTo>
                  <a:lnTo>
                    <a:pt x="470" y="2046"/>
                  </a:lnTo>
                  <a:lnTo>
                    <a:pt x="479" y="2044"/>
                  </a:lnTo>
                  <a:lnTo>
                    <a:pt x="489" y="2039"/>
                  </a:lnTo>
                  <a:lnTo>
                    <a:pt x="497" y="2034"/>
                  </a:lnTo>
                  <a:lnTo>
                    <a:pt x="504" y="2024"/>
                  </a:lnTo>
                  <a:lnTo>
                    <a:pt x="508" y="2013"/>
                  </a:lnTo>
                  <a:lnTo>
                    <a:pt x="512" y="1998"/>
                  </a:lnTo>
                  <a:lnTo>
                    <a:pt x="515" y="1969"/>
                  </a:lnTo>
                  <a:lnTo>
                    <a:pt x="519" y="1947"/>
                  </a:lnTo>
                  <a:lnTo>
                    <a:pt x="522" y="1930"/>
                  </a:lnTo>
                  <a:lnTo>
                    <a:pt x="524" y="1916"/>
                  </a:lnTo>
                  <a:lnTo>
                    <a:pt x="529" y="1906"/>
                  </a:lnTo>
                  <a:lnTo>
                    <a:pt x="534" y="1898"/>
                  </a:lnTo>
                  <a:lnTo>
                    <a:pt x="539" y="1891"/>
                  </a:lnTo>
                  <a:lnTo>
                    <a:pt x="547" y="1884"/>
                  </a:lnTo>
                  <a:lnTo>
                    <a:pt x="557" y="1865"/>
                  </a:lnTo>
                  <a:lnTo>
                    <a:pt x="555" y="1840"/>
                  </a:lnTo>
                  <a:lnTo>
                    <a:pt x="551" y="1816"/>
                  </a:lnTo>
                  <a:lnTo>
                    <a:pt x="554" y="1800"/>
                  </a:lnTo>
                  <a:lnTo>
                    <a:pt x="561" y="1792"/>
                  </a:lnTo>
                  <a:lnTo>
                    <a:pt x="570" y="1779"/>
                  </a:lnTo>
                  <a:lnTo>
                    <a:pt x="582" y="1762"/>
                  </a:lnTo>
                  <a:lnTo>
                    <a:pt x="595" y="1741"/>
                  </a:lnTo>
                  <a:lnTo>
                    <a:pt x="605" y="1718"/>
                  </a:lnTo>
                  <a:lnTo>
                    <a:pt x="614" y="1695"/>
                  </a:lnTo>
                  <a:lnTo>
                    <a:pt x="620" y="1672"/>
                  </a:lnTo>
                  <a:lnTo>
                    <a:pt x="621" y="1650"/>
                  </a:lnTo>
                  <a:lnTo>
                    <a:pt x="622" y="1629"/>
                  </a:lnTo>
                  <a:lnTo>
                    <a:pt x="630" y="1607"/>
                  </a:lnTo>
                  <a:lnTo>
                    <a:pt x="642" y="1587"/>
                  </a:lnTo>
                  <a:lnTo>
                    <a:pt x="658" y="1567"/>
                  </a:lnTo>
                  <a:lnTo>
                    <a:pt x="675" y="1550"/>
                  </a:lnTo>
                  <a:lnTo>
                    <a:pt x="692" y="1536"/>
                  </a:lnTo>
                  <a:lnTo>
                    <a:pt x="707" y="1528"/>
                  </a:lnTo>
                  <a:lnTo>
                    <a:pt x="718" y="1524"/>
                  </a:lnTo>
                  <a:lnTo>
                    <a:pt x="728" y="1523"/>
                  </a:lnTo>
                  <a:lnTo>
                    <a:pt x="743" y="1519"/>
                  </a:lnTo>
                  <a:lnTo>
                    <a:pt x="760" y="1511"/>
                  </a:lnTo>
                  <a:lnTo>
                    <a:pt x="777" y="1498"/>
                  </a:lnTo>
                  <a:lnTo>
                    <a:pt x="795" y="1482"/>
                  </a:lnTo>
                  <a:lnTo>
                    <a:pt x="814" y="1461"/>
                  </a:lnTo>
                  <a:lnTo>
                    <a:pt x="831" y="1436"/>
                  </a:lnTo>
                  <a:lnTo>
                    <a:pt x="846" y="1405"/>
                  </a:lnTo>
                  <a:lnTo>
                    <a:pt x="858" y="1375"/>
                  </a:lnTo>
                  <a:lnTo>
                    <a:pt x="867" y="1354"/>
                  </a:lnTo>
                  <a:lnTo>
                    <a:pt x="875" y="1338"/>
                  </a:lnTo>
                  <a:lnTo>
                    <a:pt x="881" y="1327"/>
                  </a:lnTo>
                  <a:lnTo>
                    <a:pt x="888" y="1320"/>
                  </a:lnTo>
                  <a:lnTo>
                    <a:pt x="893" y="1316"/>
                  </a:lnTo>
                  <a:lnTo>
                    <a:pt x="901" y="1312"/>
                  </a:lnTo>
                  <a:lnTo>
                    <a:pt x="912" y="1309"/>
                  </a:lnTo>
                  <a:lnTo>
                    <a:pt x="919" y="1305"/>
                  </a:lnTo>
                  <a:lnTo>
                    <a:pt x="929" y="1299"/>
                  </a:lnTo>
                  <a:lnTo>
                    <a:pt x="943" y="1289"/>
                  </a:lnTo>
                  <a:lnTo>
                    <a:pt x="958" y="1279"/>
                  </a:lnTo>
                  <a:lnTo>
                    <a:pt x="974" y="1265"/>
                  </a:lnTo>
                  <a:lnTo>
                    <a:pt x="991" y="1251"/>
                  </a:lnTo>
                  <a:lnTo>
                    <a:pt x="1009" y="1236"/>
                  </a:lnTo>
                  <a:lnTo>
                    <a:pt x="1027" y="1220"/>
                  </a:lnTo>
                  <a:lnTo>
                    <a:pt x="1045" y="1204"/>
                  </a:lnTo>
                  <a:lnTo>
                    <a:pt x="1062" y="1188"/>
                  </a:lnTo>
                  <a:lnTo>
                    <a:pt x="1078" y="1173"/>
                  </a:lnTo>
                  <a:lnTo>
                    <a:pt x="1092" y="1158"/>
                  </a:lnTo>
                  <a:lnTo>
                    <a:pt x="1103" y="1143"/>
                  </a:lnTo>
                  <a:lnTo>
                    <a:pt x="1111" y="1130"/>
                  </a:lnTo>
                  <a:lnTo>
                    <a:pt x="1117" y="1120"/>
                  </a:lnTo>
                  <a:lnTo>
                    <a:pt x="1119" y="1111"/>
                  </a:lnTo>
                  <a:lnTo>
                    <a:pt x="1116" y="1097"/>
                  </a:lnTo>
                  <a:lnTo>
                    <a:pt x="1104" y="1087"/>
                  </a:lnTo>
                  <a:lnTo>
                    <a:pt x="1088" y="1080"/>
                  </a:lnTo>
                  <a:lnTo>
                    <a:pt x="1070" y="1077"/>
                  </a:lnTo>
                  <a:lnTo>
                    <a:pt x="1048" y="1077"/>
                  </a:lnTo>
                  <a:lnTo>
                    <a:pt x="1027" y="1082"/>
                  </a:lnTo>
                  <a:lnTo>
                    <a:pt x="1007" y="1088"/>
                  </a:lnTo>
                  <a:lnTo>
                    <a:pt x="991" y="1098"/>
                  </a:lnTo>
                  <a:lnTo>
                    <a:pt x="983" y="1105"/>
                  </a:lnTo>
                  <a:lnTo>
                    <a:pt x="983" y="1102"/>
                  </a:lnTo>
                  <a:lnTo>
                    <a:pt x="988" y="1093"/>
                  </a:lnTo>
                  <a:lnTo>
                    <a:pt x="995" y="1081"/>
                  </a:lnTo>
                  <a:lnTo>
                    <a:pt x="999" y="1066"/>
                  </a:lnTo>
                  <a:lnTo>
                    <a:pt x="998" y="1053"/>
                  </a:lnTo>
                  <a:lnTo>
                    <a:pt x="989" y="1043"/>
                  </a:lnTo>
                  <a:lnTo>
                    <a:pt x="967" y="1039"/>
                  </a:lnTo>
                  <a:lnTo>
                    <a:pt x="958" y="1038"/>
                  </a:lnTo>
                  <a:lnTo>
                    <a:pt x="961" y="1034"/>
                  </a:lnTo>
                  <a:lnTo>
                    <a:pt x="975" y="1028"/>
                  </a:lnTo>
                  <a:lnTo>
                    <a:pt x="994" y="1022"/>
                  </a:lnTo>
                  <a:lnTo>
                    <a:pt x="1015" y="1019"/>
                  </a:lnTo>
                  <a:lnTo>
                    <a:pt x="1035" y="1017"/>
                  </a:lnTo>
                  <a:lnTo>
                    <a:pt x="1051" y="1020"/>
                  </a:lnTo>
                  <a:lnTo>
                    <a:pt x="1058" y="1028"/>
                  </a:lnTo>
                  <a:lnTo>
                    <a:pt x="1063" y="1037"/>
                  </a:lnTo>
                  <a:lnTo>
                    <a:pt x="1071" y="1043"/>
                  </a:lnTo>
                  <a:lnTo>
                    <a:pt x="1082" y="1045"/>
                  </a:lnTo>
                  <a:lnTo>
                    <a:pt x="1094" y="1043"/>
                  </a:lnTo>
                  <a:lnTo>
                    <a:pt x="1105" y="1038"/>
                  </a:lnTo>
                  <a:lnTo>
                    <a:pt x="1116" y="1030"/>
                  </a:lnTo>
                  <a:lnTo>
                    <a:pt x="1123" y="1019"/>
                  </a:lnTo>
                  <a:lnTo>
                    <a:pt x="1125" y="1004"/>
                  </a:lnTo>
                  <a:lnTo>
                    <a:pt x="1124" y="989"/>
                  </a:lnTo>
                  <a:lnTo>
                    <a:pt x="1120" y="976"/>
                  </a:lnTo>
                  <a:lnTo>
                    <a:pt x="1115" y="966"/>
                  </a:lnTo>
                  <a:lnTo>
                    <a:pt x="1107" y="955"/>
                  </a:lnTo>
                  <a:lnTo>
                    <a:pt x="1096" y="946"/>
                  </a:lnTo>
                  <a:lnTo>
                    <a:pt x="1085" y="937"/>
                  </a:lnTo>
                  <a:lnTo>
                    <a:pt x="1070" y="929"/>
                  </a:lnTo>
                  <a:lnTo>
                    <a:pt x="1052" y="920"/>
                  </a:lnTo>
                  <a:lnTo>
                    <a:pt x="1036" y="913"/>
                  </a:lnTo>
                  <a:lnTo>
                    <a:pt x="1022" y="909"/>
                  </a:lnTo>
                  <a:lnTo>
                    <a:pt x="1013" y="908"/>
                  </a:lnTo>
                  <a:lnTo>
                    <a:pt x="1007" y="908"/>
                  </a:lnTo>
                  <a:lnTo>
                    <a:pt x="1003" y="908"/>
                  </a:lnTo>
                  <a:lnTo>
                    <a:pt x="1002" y="907"/>
                  </a:lnTo>
                  <a:lnTo>
                    <a:pt x="1002" y="903"/>
                  </a:lnTo>
                  <a:lnTo>
                    <a:pt x="1003" y="896"/>
                  </a:lnTo>
                  <a:lnTo>
                    <a:pt x="1009" y="891"/>
                  </a:lnTo>
                  <a:lnTo>
                    <a:pt x="1018" y="891"/>
                  </a:lnTo>
                  <a:lnTo>
                    <a:pt x="1029" y="893"/>
                  </a:lnTo>
                  <a:lnTo>
                    <a:pt x="1042" y="896"/>
                  </a:lnTo>
                  <a:lnTo>
                    <a:pt x="1051" y="899"/>
                  </a:lnTo>
                  <a:lnTo>
                    <a:pt x="1058" y="898"/>
                  </a:lnTo>
                  <a:lnTo>
                    <a:pt x="1059" y="892"/>
                  </a:lnTo>
                  <a:lnTo>
                    <a:pt x="1052" y="878"/>
                  </a:lnTo>
                  <a:lnTo>
                    <a:pt x="1041" y="862"/>
                  </a:lnTo>
                  <a:lnTo>
                    <a:pt x="1030" y="848"/>
                  </a:lnTo>
                  <a:lnTo>
                    <a:pt x="1021" y="838"/>
                  </a:lnTo>
                  <a:lnTo>
                    <a:pt x="1014" y="830"/>
                  </a:lnTo>
                  <a:lnTo>
                    <a:pt x="1010" y="823"/>
                  </a:lnTo>
                  <a:lnTo>
                    <a:pt x="1009" y="818"/>
                  </a:lnTo>
                  <a:lnTo>
                    <a:pt x="1013" y="815"/>
                  </a:lnTo>
                  <a:lnTo>
                    <a:pt x="1021" y="812"/>
                  </a:lnTo>
                  <a:lnTo>
                    <a:pt x="1033" y="808"/>
                  </a:lnTo>
                  <a:lnTo>
                    <a:pt x="1043" y="801"/>
                  </a:lnTo>
                  <a:lnTo>
                    <a:pt x="1051" y="790"/>
                  </a:lnTo>
                  <a:lnTo>
                    <a:pt x="1059" y="780"/>
                  </a:lnTo>
                  <a:lnTo>
                    <a:pt x="1064" y="767"/>
                  </a:lnTo>
                  <a:lnTo>
                    <a:pt x="1067" y="756"/>
                  </a:lnTo>
                  <a:lnTo>
                    <a:pt x="1067" y="744"/>
                  </a:lnTo>
                  <a:lnTo>
                    <a:pt x="1064" y="734"/>
                  </a:lnTo>
                  <a:lnTo>
                    <a:pt x="1062" y="725"/>
                  </a:lnTo>
                  <a:lnTo>
                    <a:pt x="1063" y="716"/>
                  </a:lnTo>
                  <a:lnTo>
                    <a:pt x="1066" y="706"/>
                  </a:lnTo>
                  <a:lnTo>
                    <a:pt x="1071" y="698"/>
                  </a:lnTo>
                  <a:lnTo>
                    <a:pt x="1074" y="689"/>
                  </a:lnTo>
                  <a:lnTo>
                    <a:pt x="1075" y="680"/>
                  </a:lnTo>
                  <a:lnTo>
                    <a:pt x="1072" y="672"/>
                  </a:lnTo>
                  <a:lnTo>
                    <a:pt x="1064" y="663"/>
                  </a:lnTo>
                  <a:lnTo>
                    <a:pt x="1056" y="655"/>
                  </a:lnTo>
                  <a:lnTo>
                    <a:pt x="1051" y="646"/>
                  </a:lnTo>
                  <a:lnTo>
                    <a:pt x="1051" y="640"/>
                  </a:lnTo>
                  <a:lnTo>
                    <a:pt x="1052" y="632"/>
                  </a:lnTo>
                  <a:lnTo>
                    <a:pt x="1054" y="625"/>
                  </a:lnTo>
                  <a:lnTo>
                    <a:pt x="1055" y="618"/>
                  </a:lnTo>
                  <a:lnTo>
                    <a:pt x="1052" y="610"/>
                  </a:lnTo>
                  <a:lnTo>
                    <a:pt x="1045" y="602"/>
                  </a:lnTo>
                  <a:lnTo>
                    <a:pt x="1034" y="592"/>
                  </a:lnTo>
                  <a:lnTo>
                    <a:pt x="1020" y="582"/>
                  </a:lnTo>
                  <a:lnTo>
                    <a:pt x="1005" y="570"/>
                  </a:lnTo>
                  <a:lnTo>
                    <a:pt x="990" y="559"/>
                  </a:lnTo>
                  <a:lnTo>
                    <a:pt x="980" y="547"/>
                  </a:lnTo>
                  <a:lnTo>
                    <a:pt x="974" y="535"/>
                  </a:lnTo>
                  <a:lnTo>
                    <a:pt x="975" y="523"/>
                  </a:lnTo>
                  <a:lnTo>
                    <a:pt x="986" y="512"/>
                  </a:lnTo>
                  <a:lnTo>
                    <a:pt x="998" y="501"/>
                  </a:lnTo>
                  <a:lnTo>
                    <a:pt x="1006" y="491"/>
                  </a:lnTo>
                  <a:lnTo>
                    <a:pt x="1010" y="482"/>
                  </a:lnTo>
                  <a:lnTo>
                    <a:pt x="1010" y="474"/>
                  </a:lnTo>
                  <a:lnTo>
                    <a:pt x="1006" y="468"/>
                  </a:lnTo>
                  <a:lnTo>
                    <a:pt x="999" y="463"/>
                  </a:lnTo>
                  <a:lnTo>
                    <a:pt x="990" y="460"/>
                  </a:lnTo>
                  <a:lnTo>
                    <a:pt x="979" y="459"/>
                  </a:lnTo>
                  <a:lnTo>
                    <a:pt x="969" y="456"/>
                  </a:lnTo>
                  <a:lnTo>
                    <a:pt x="964" y="452"/>
                  </a:lnTo>
                  <a:lnTo>
                    <a:pt x="960" y="444"/>
                  </a:lnTo>
                  <a:lnTo>
                    <a:pt x="958" y="436"/>
                  </a:lnTo>
                  <a:lnTo>
                    <a:pt x="956" y="428"/>
                  </a:lnTo>
                  <a:lnTo>
                    <a:pt x="952" y="421"/>
                  </a:lnTo>
                  <a:lnTo>
                    <a:pt x="946" y="416"/>
                  </a:lnTo>
                  <a:lnTo>
                    <a:pt x="937" y="416"/>
                  </a:lnTo>
                  <a:lnTo>
                    <a:pt x="920" y="405"/>
                  </a:lnTo>
                  <a:lnTo>
                    <a:pt x="913" y="371"/>
                  </a:lnTo>
                  <a:lnTo>
                    <a:pt x="912" y="328"/>
                  </a:lnTo>
                  <a:lnTo>
                    <a:pt x="912" y="290"/>
                  </a:lnTo>
                  <a:lnTo>
                    <a:pt x="914" y="263"/>
                  </a:lnTo>
                  <a:lnTo>
                    <a:pt x="920" y="240"/>
                  </a:lnTo>
                  <a:lnTo>
                    <a:pt x="922" y="219"/>
                  </a:lnTo>
                  <a:lnTo>
                    <a:pt x="919" y="195"/>
                  </a:lnTo>
                  <a:lnTo>
                    <a:pt x="917" y="173"/>
                  </a:lnTo>
                  <a:lnTo>
                    <a:pt x="924" y="146"/>
                  </a:lnTo>
                  <a:lnTo>
                    <a:pt x="934" y="120"/>
                  </a:lnTo>
                  <a:lnTo>
                    <a:pt x="939" y="95"/>
                  </a:lnTo>
                  <a:lnTo>
                    <a:pt x="939" y="84"/>
                  </a:lnTo>
                  <a:lnTo>
                    <a:pt x="937" y="75"/>
                  </a:lnTo>
                  <a:lnTo>
                    <a:pt x="932" y="68"/>
                  </a:lnTo>
                  <a:lnTo>
                    <a:pt x="924" y="62"/>
                  </a:lnTo>
                  <a:lnTo>
                    <a:pt x="917" y="60"/>
                  </a:lnTo>
                  <a:lnTo>
                    <a:pt x="911" y="59"/>
                  </a:lnTo>
                  <a:lnTo>
                    <a:pt x="904" y="59"/>
                  </a:lnTo>
                  <a:lnTo>
                    <a:pt x="898" y="59"/>
                  </a:lnTo>
                  <a:lnTo>
                    <a:pt x="889" y="62"/>
                  </a:lnTo>
                  <a:lnTo>
                    <a:pt x="879" y="68"/>
                  </a:lnTo>
                  <a:lnTo>
                    <a:pt x="871" y="76"/>
                  </a:lnTo>
                  <a:lnTo>
                    <a:pt x="863" y="84"/>
                  </a:lnTo>
                  <a:lnTo>
                    <a:pt x="856" y="93"/>
                  </a:lnTo>
                  <a:lnTo>
                    <a:pt x="851" y="104"/>
                  </a:lnTo>
                  <a:lnTo>
                    <a:pt x="845" y="113"/>
                  </a:lnTo>
                  <a:lnTo>
                    <a:pt x="839" y="122"/>
                  </a:lnTo>
                  <a:lnTo>
                    <a:pt x="832" y="133"/>
                  </a:lnTo>
                  <a:lnTo>
                    <a:pt x="826" y="140"/>
                  </a:lnTo>
                  <a:lnTo>
                    <a:pt x="821" y="143"/>
                  </a:lnTo>
                  <a:lnTo>
                    <a:pt x="816" y="144"/>
                  </a:lnTo>
                  <a:lnTo>
                    <a:pt x="813" y="143"/>
                  </a:lnTo>
                  <a:lnTo>
                    <a:pt x="809" y="140"/>
                  </a:lnTo>
                  <a:lnTo>
                    <a:pt x="806" y="133"/>
                  </a:lnTo>
                  <a:lnTo>
                    <a:pt x="803" y="122"/>
                  </a:lnTo>
                  <a:lnTo>
                    <a:pt x="800" y="114"/>
                  </a:lnTo>
                  <a:lnTo>
                    <a:pt x="795" y="110"/>
                  </a:lnTo>
                  <a:lnTo>
                    <a:pt x="790" y="111"/>
                  </a:lnTo>
                  <a:lnTo>
                    <a:pt x="783" y="114"/>
                  </a:lnTo>
                  <a:lnTo>
                    <a:pt x="776" y="120"/>
                  </a:lnTo>
                  <a:lnTo>
                    <a:pt x="769" y="128"/>
                  </a:lnTo>
                  <a:lnTo>
                    <a:pt x="761" y="137"/>
                  </a:lnTo>
                  <a:lnTo>
                    <a:pt x="754" y="146"/>
                  </a:lnTo>
                  <a:lnTo>
                    <a:pt x="750" y="151"/>
                  </a:lnTo>
                  <a:lnTo>
                    <a:pt x="750" y="149"/>
                  </a:lnTo>
                  <a:lnTo>
                    <a:pt x="753" y="142"/>
                  </a:lnTo>
                  <a:lnTo>
                    <a:pt x="755" y="133"/>
                  </a:lnTo>
                  <a:lnTo>
                    <a:pt x="754" y="121"/>
                  </a:lnTo>
                  <a:lnTo>
                    <a:pt x="749" y="112"/>
                  </a:lnTo>
                  <a:lnTo>
                    <a:pt x="738" y="106"/>
                  </a:lnTo>
                  <a:lnTo>
                    <a:pt x="718" y="105"/>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39" name="Freeform 136">
              <a:extLst>
                <a:ext uri="{FF2B5EF4-FFF2-40B4-BE49-F238E27FC236}">
                  <a16:creationId xmlns:a16="http://schemas.microsoft.com/office/drawing/2014/main" id="{C4A5776A-F1D2-A75F-BE8B-AB51A5E94D86}"/>
                </a:ext>
              </a:extLst>
            </p:cNvPr>
            <p:cNvSpPr>
              <a:spLocks/>
            </p:cNvSpPr>
            <p:nvPr/>
          </p:nvSpPr>
          <p:spPr bwMode="auto">
            <a:xfrm>
              <a:off x="2098945" y="1437003"/>
              <a:ext cx="49445" cy="43598"/>
            </a:xfrm>
            <a:custGeom>
              <a:avLst/>
              <a:gdLst>
                <a:gd name="T0" fmla="*/ 2147483647 w 40"/>
                <a:gd name="T1" fmla="*/ 2147483647 h 36"/>
                <a:gd name="T2" fmla="*/ 2147483647 w 40"/>
                <a:gd name="T3" fmla="*/ 2147483647 h 36"/>
                <a:gd name="T4" fmla="*/ 2147483647 w 40"/>
                <a:gd name="T5" fmla="*/ 2147483647 h 36"/>
                <a:gd name="T6" fmla="*/ 2147483647 w 40"/>
                <a:gd name="T7" fmla="*/ 2147483647 h 36"/>
                <a:gd name="T8" fmla="*/ 2147483647 w 40"/>
                <a:gd name="T9" fmla="*/ 2147483647 h 36"/>
                <a:gd name="T10" fmla="*/ 2147483647 w 40"/>
                <a:gd name="T11" fmla="*/ 2147483647 h 36"/>
                <a:gd name="T12" fmla="*/ 2147483647 w 40"/>
                <a:gd name="T13" fmla="*/ 2147483647 h 36"/>
                <a:gd name="T14" fmla="*/ 2147483647 w 40"/>
                <a:gd name="T15" fmla="*/ 2147483647 h 36"/>
                <a:gd name="T16" fmla="*/ 2147483647 w 40"/>
                <a:gd name="T17" fmla="*/ 2147483647 h 36"/>
                <a:gd name="T18" fmla="*/ 2147483647 w 40"/>
                <a:gd name="T19" fmla="*/ 2147483647 h 36"/>
                <a:gd name="T20" fmla="*/ 2147483647 w 40"/>
                <a:gd name="T21" fmla="*/ 2147483647 h 36"/>
                <a:gd name="T22" fmla="*/ 2147483647 w 40"/>
                <a:gd name="T23" fmla="*/ 2147483647 h 36"/>
                <a:gd name="T24" fmla="*/ 2147483647 w 40"/>
                <a:gd name="T25" fmla="*/ 2147483647 h 36"/>
                <a:gd name="T26" fmla="*/ 2147483647 w 40"/>
                <a:gd name="T27" fmla="*/ 2147483647 h 36"/>
                <a:gd name="T28" fmla="*/ 0 w 40"/>
                <a:gd name="T29" fmla="*/ 2147483647 h 36"/>
                <a:gd name="T30" fmla="*/ 2147483647 w 40"/>
                <a:gd name="T31" fmla="*/ 2147483647 h 36"/>
                <a:gd name="T32" fmla="*/ 2147483647 w 40"/>
                <a:gd name="T33" fmla="*/ 2147483647 h 36"/>
                <a:gd name="T34" fmla="*/ 2147483647 w 40"/>
                <a:gd name="T35" fmla="*/ 2147483647 h 36"/>
                <a:gd name="T36" fmla="*/ 2147483647 w 40"/>
                <a:gd name="T37" fmla="*/ 2147483647 h 36"/>
                <a:gd name="T38" fmla="*/ 2147483647 w 40"/>
                <a:gd name="T39" fmla="*/ 0 h 36"/>
                <a:gd name="T40" fmla="*/ 2147483647 w 40"/>
                <a:gd name="T41" fmla="*/ 2147483647 h 36"/>
                <a:gd name="T42" fmla="*/ 2147483647 w 40"/>
                <a:gd name="T43" fmla="*/ 2147483647 h 36"/>
                <a:gd name="T44" fmla="*/ 2147483647 w 40"/>
                <a:gd name="T45" fmla="*/ 2147483647 h 36"/>
                <a:gd name="T46" fmla="*/ 2147483647 w 40"/>
                <a:gd name="T47" fmla="*/ 2147483647 h 36"/>
                <a:gd name="T48" fmla="*/ 2147483647 w 40"/>
                <a:gd name="T49" fmla="*/ 2147483647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0" h="36">
                  <a:moveTo>
                    <a:pt x="39" y="19"/>
                  </a:moveTo>
                  <a:lnTo>
                    <a:pt x="38" y="21"/>
                  </a:lnTo>
                  <a:lnTo>
                    <a:pt x="35" y="25"/>
                  </a:lnTo>
                  <a:lnTo>
                    <a:pt x="31" y="29"/>
                  </a:lnTo>
                  <a:lnTo>
                    <a:pt x="27" y="33"/>
                  </a:lnTo>
                  <a:lnTo>
                    <a:pt x="23" y="35"/>
                  </a:lnTo>
                  <a:lnTo>
                    <a:pt x="18" y="36"/>
                  </a:lnTo>
                  <a:lnTo>
                    <a:pt x="13" y="36"/>
                  </a:lnTo>
                  <a:lnTo>
                    <a:pt x="12" y="36"/>
                  </a:lnTo>
                  <a:lnTo>
                    <a:pt x="11" y="35"/>
                  </a:lnTo>
                  <a:lnTo>
                    <a:pt x="10" y="33"/>
                  </a:lnTo>
                  <a:lnTo>
                    <a:pt x="8" y="31"/>
                  </a:lnTo>
                  <a:lnTo>
                    <a:pt x="4" y="27"/>
                  </a:lnTo>
                  <a:lnTo>
                    <a:pt x="1" y="24"/>
                  </a:lnTo>
                  <a:lnTo>
                    <a:pt x="0" y="19"/>
                  </a:lnTo>
                  <a:lnTo>
                    <a:pt x="1" y="16"/>
                  </a:lnTo>
                  <a:lnTo>
                    <a:pt x="7" y="11"/>
                  </a:lnTo>
                  <a:lnTo>
                    <a:pt x="12" y="6"/>
                  </a:lnTo>
                  <a:lnTo>
                    <a:pt x="16" y="2"/>
                  </a:lnTo>
                  <a:lnTo>
                    <a:pt x="19" y="0"/>
                  </a:lnTo>
                  <a:lnTo>
                    <a:pt x="24" y="1"/>
                  </a:lnTo>
                  <a:lnTo>
                    <a:pt x="31" y="3"/>
                  </a:lnTo>
                  <a:lnTo>
                    <a:pt x="37" y="6"/>
                  </a:lnTo>
                  <a:lnTo>
                    <a:pt x="40" y="11"/>
                  </a:lnTo>
                  <a:lnTo>
                    <a:pt x="39" y="19"/>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40" name="Freeform 137">
              <a:extLst>
                <a:ext uri="{FF2B5EF4-FFF2-40B4-BE49-F238E27FC236}">
                  <a16:creationId xmlns:a16="http://schemas.microsoft.com/office/drawing/2014/main" id="{D71426A1-5134-2A57-7369-FB2021473FDE}"/>
                </a:ext>
              </a:extLst>
            </p:cNvPr>
            <p:cNvSpPr>
              <a:spLocks/>
            </p:cNvSpPr>
            <p:nvPr/>
          </p:nvSpPr>
          <p:spPr bwMode="auto">
            <a:xfrm>
              <a:off x="2521128" y="1789575"/>
              <a:ext cx="0" cy="5687"/>
            </a:xfrm>
            <a:custGeom>
              <a:avLst/>
              <a:gdLst>
                <a:gd name="T0" fmla="*/ 1 w 1"/>
                <a:gd name="T1" fmla="*/ 2147483647 h 4"/>
                <a:gd name="T2" fmla="*/ 1 w 1"/>
                <a:gd name="T3" fmla="*/ 2147483647 h 4"/>
                <a:gd name="T4" fmla="*/ 1 w 1"/>
                <a:gd name="T5" fmla="*/ 2147483647 h 4"/>
                <a:gd name="T6" fmla="*/ 0 w 1"/>
                <a:gd name="T7" fmla="*/ 0 h 4"/>
                <a:gd name="T8" fmla="*/ 0 w 1"/>
                <a:gd name="T9" fmla="*/ 0 h 4"/>
                <a:gd name="T10" fmla="*/ 1 w 1"/>
                <a:gd name="T11" fmla="*/ 2147483647 h 4"/>
                <a:gd name="T12" fmla="*/ 1 w 1"/>
                <a:gd name="T13" fmla="*/ 2147483647 h 4"/>
                <a:gd name="T14" fmla="*/ 1 w 1"/>
                <a:gd name="T15" fmla="*/ 2147483647 h 4"/>
                <a:gd name="T16" fmla="*/ 1 w 1"/>
                <a:gd name="T17" fmla="*/ 2147483647 h 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 h="4">
                  <a:moveTo>
                    <a:pt x="1" y="2"/>
                  </a:moveTo>
                  <a:lnTo>
                    <a:pt x="1" y="1"/>
                  </a:lnTo>
                  <a:lnTo>
                    <a:pt x="0" y="0"/>
                  </a:lnTo>
                  <a:lnTo>
                    <a:pt x="1" y="2"/>
                  </a:lnTo>
                  <a:lnTo>
                    <a:pt x="1" y="4"/>
                  </a:lnTo>
                  <a:lnTo>
                    <a:pt x="1" y="2"/>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41" name="Freeform 138">
              <a:extLst>
                <a:ext uri="{FF2B5EF4-FFF2-40B4-BE49-F238E27FC236}">
                  <a16:creationId xmlns:a16="http://schemas.microsoft.com/office/drawing/2014/main" id="{784956CB-9017-8D25-69F1-ABE01FA76F6D}"/>
                </a:ext>
              </a:extLst>
            </p:cNvPr>
            <p:cNvSpPr>
              <a:spLocks/>
            </p:cNvSpPr>
            <p:nvPr/>
          </p:nvSpPr>
          <p:spPr bwMode="auto">
            <a:xfrm>
              <a:off x="2949015" y="1829382"/>
              <a:ext cx="3803" cy="7582"/>
            </a:xfrm>
            <a:custGeom>
              <a:avLst/>
              <a:gdLst>
                <a:gd name="T0" fmla="*/ 2147483647 w 5"/>
                <a:gd name="T1" fmla="*/ 2147483647 h 8"/>
                <a:gd name="T2" fmla="*/ 2147483647 w 5"/>
                <a:gd name="T3" fmla="*/ 2147483647 h 8"/>
                <a:gd name="T4" fmla="*/ 2147483647 w 5"/>
                <a:gd name="T5" fmla="*/ 2147483647 h 8"/>
                <a:gd name="T6" fmla="*/ 2147483647 w 5"/>
                <a:gd name="T7" fmla="*/ 2147483647 h 8"/>
                <a:gd name="T8" fmla="*/ 2147483647 w 5"/>
                <a:gd name="T9" fmla="*/ 0 h 8"/>
                <a:gd name="T10" fmla="*/ 0 w 5"/>
                <a:gd name="T11" fmla="*/ 0 h 8"/>
                <a:gd name="T12" fmla="*/ 0 w 5"/>
                <a:gd name="T13" fmla="*/ 2147483647 h 8"/>
                <a:gd name="T14" fmla="*/ 2147483647 w 5"/>
                <a:gd name="T15" fmla="*/ 2147483647 h 8"/>
                <a:gd name="T16" fmla="*/ 2147483647 w 5"/>
                <a:gd name="T17" fmla="*/ 2147483647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 h="8">
                  <a:moveTo>
                    <a:pt x="5" y="8"/>
                  </a:moveTo>
                  <a:lnTo>
                    <a:pt x="5" y="6"/>
                  </a:lnTo>
                  <a:lnTo>
                    <a:pt x="5" y="5"/>
                  </a:lnTo>
                  <a:lnTo>
                    <a:pt x="5" y="2"/>
                  </a:lnTo>
                  <a:lnTo>
                    <a:pt x="3" y="0"/>
                  </a:lnTo>
                  <a:lnTo>
                    <a:pt x="0" y="0"/>
                  </a:lnTo>
                  <a:lnTo>
                    <a:pt x="0" y="1"/>
                  </a:lnTo>
                  <a:lnTo>
                    <a:pt x="2" y="5"/>
                  </a:lnTo>
                  <a:lnTo>
                    <a:pt x="5" y="8"/>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42" name="Freeform 139">
              <a:extLst>
                <a:ext uri="{FF2B5EF4-FFF2-40B4-BE49-F238E27FC236}">
                  <a16:creationId xmlns:a16="http://schemas.microsoft.com/office/drawing/2014/main" id="{B10A809A-754C-BA03-1B97-88B07ADAB87F}"/>
                </a:ext>
              </a:extLst>
            </p:cNvPr>
            <p:cNvSpPr>
              <a:spLocks/>
            </p:cNvSpPr>
            <p:nvPr/>
          </p:nvSpPr>
          <p:spPr bwMode="auto">
            <a:xfrm>
              <a:off x="2528734" y="1330852"/>
              <a:ext cx="17115" cy="17061"/>
            </a:xfrm>
            <a:custGeom>
              <a:avLst/>
              <a:gdLst>
                <a:gd name="T0" fmla="*/ 2147483647 w 14"/>
                <a:gd name="T1" fmla="*/ 2147483647 h 15"/>
                <a:gd name="T2" fmla="*/ 2147483647 w 14"/>
                <a:gd name="T3" fmla="*/ 2147483647 h 15"/>
                <a:gd name="T4" fmla="*/ 2147483647 w 14"/>
                <a:gd name="T5" fmla="*/ 2147483647 h 15"/>
                <a:gd name="T6" fmla="*/ 2147483647 w 14"/>
                <a:gd name="T7" fmla="*/ 2147483647 h 15"/>
                <a:gd name="T8" fmla="*/ 2147483647 w 14"/>
                <a:gd name="T9" fmla="*/ 2147483647 h 15"/>
                <a:gd name="T10" fmla="*/ 2147483647 w 14"/>
                <a:gd name="T11" fmla="*/ 2147483647 h 15"/>
                <a:gd name="T12" fmla="*/ 2147483647 w 14"/>
                <a:gd name="T13" fmla="*/ 2147483647 h 15"/>
                <a:gd name="T14" fmla="*/ 2147483647 w 14"/>
                <a:gd name="T15" fmla="*/ 2147483647 h 15"/>
                <a:gd name="T16" fmla="*/ 2147483647 w 14"/>
                <a:gd name="T17" fmla="*/ 0 h 15"/>
                <a:gd name="T18" fmla="*/ 2147483647 w 14"/>
                <a:gd name="T19" fmla="*/ 2147483647 h 15"/>
                <a:gd name="T20" fmla="*/ 2147483647 w 14"/>
                <a:gd name="T21" fmla="*/ 2147483647 h 15"/>
                <a:gd name="T22" fmla="*/ 2147483647 w 14"/>
                <a:gd name="T23" fmla="*/ 2147483647 h 15"/>
                <a:gd name="T24" fmla="*/ 0 w 14"/>
                <a:gd name="T25" fmla="*/ 2147483647 h 15"/>
                <a:gd name="T26" fmla="*/ 2147483647 w 14"/>
                <a:gd name="T27" fmla="*/ 2147483647 h 15"/>
                <a:gd name="T28" fmla="*/ 2147483647 w 14"/>
                <a:gd name="T29" fmla="*/ 2147483647 h 15"/>
                <a:gd name="T30" fmla="*/ 2147483647 w 14"/>
                <a:gd name="T31" fmla="*/ 2147483647 h 15"/>
                <a:gd name="T32" fmla="*/ 2147483647 w 14"/>
                <a:gd name="T33" fmla="*/ 2147483647 h 1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4" h="15">
                  <a:moveTo>
                    <a:pt x="2" y="7"/>
                  </a:moveTo>
                  <a:lnTo>
                    <a:pt x="9" y="13"/>
                  </a:lnTo>
                  <a:lnTo>
                    <a:pt x="14" y="15"/>
                  </a:lnTo>
                  <a:lnTo>
                    <a:pt x="14" y="14"/>
                  </a:lnTo>
                  <a:lnTo>
                    <a:pt x="10" y="7"/>
                  </a:lnTo>
                  <a:lnTo>
                    <a:pt x="9" y="5"/>
                  </a:lnTo>
                  <a:lnTo>
                    <a:pt x="9" y="3"/>
                  </a:lnTo>
                  <a:lnTo>
                    <a:pt x="8" y="1"/>
                  </a:lnTo>
                  <a:lnTo>
                    <a:pt x="7" y="0"/>
                  </a:lnTo>
                  <a:lnTo>
                    <a:pt x="6" y="1"/>
                  </a:lnTo>
                  <a:lnTo>
                    <a:pt x="3" y="2"/>
                  </a:lnTo>
                  <a:lnTo>
                    <a:pt x="2" y="3"/>
                  </a:lnTo>
                  <a:lnTo>
                    <a:pt x="0" y="5"/>
                  </a:lnTo>
                  <a:lnTo>
                    <a:pt x="1" y="6"/>
                  </a:lnTo>
                  <a:lnTo>
                    <a:pt x="2" y="7"/>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43" name="Freeform 140">
              <a:extLst>
                <a:ext uri="{FF2B5EF4-FFF2-40B4-BE49-F238E27FC236}">
                  <a16:creationId xmlns:a16="http://schemas.microsoft.com/office/drawing/2014/main" id="{2772C0C5-0C91-BC5A-9CCA-8ED7D43DC8FF}"/>
                </a:ext>
              </a:extLst>
            </p:cNvPr>
            <p:cNvSpPr>
              <a:spLocks/>
            </p:cNvSpPr>
            <p:nvPr/>
          </p:nvSpPr>
          <p:spPr bwMode="auto">
            <a:xfrm>
              <a:off x="2753138" y="1890040"/>
              <a:ext cx="173056" cy="144062"/>
            </a:xfrm>
            <a:custGeom>
              <a:avLst/>
              <a:gdLst>
                <a:gd name="T0" fmla="*/ 2147483647 w 135"/>
                <a:gd name="T1" fmla="*/ 2147483647 h 119"/>
                <a:gd name="T2" fmla="*/ 2147483647 w 135"/>
                <a:gd name="T3" fmla="*/ 2147483647 h 119"/>
                <a:gd name="T4" fmla="*/ 2147483647 w 135"/>
                <a:gd name="T5" fmla="*/ 2147483647 h 119"/>
                <a:gd name="T6" fmla="*/ 2147483647 w 135"/>
                <a:gd name="T7" fmla="*/ 2147483647 h 119"/>
                <a:gd name="T8" fmla="*/ 2147483647 w 135"/>
                <a:gd name="T9" fmla="*/ 2147483647 h 119"/>
                <a:gd name="T10" fmla="*/ 2147483647 w 135"/>
                <a:gd name="T11" fmla="*/ 2147483647 h 119"/>
                <a:gd name="T12" fmla="*/ 2147483647 w 135"/>
                <a:gd name="T13" fmla="*/ 2147483647 h 119"/>
                <a:gd name="T14" fmla="*/ 2147483647 w 135"/>
                <a:gd name="T15" fmla="*/ 2147483647 h 119"/>
                <a:gd name="T16" fmla="*/ 2147483647 w 135"/>
                <a:gd name="T17" fmla="*/ 2147483647 h 119"/>
                <a:gd name="T18" fmla="*/ 2147483647 w 135"/>
                <a:gd name="T19" fmla="*/ 2147483647 h 119"/>
                <a:gd name="T20" fmla="*/ 2147483647 w 135"/>
                <a:gd name="T21" fmla="*/ 2147483647 h 119"/>
                <a:gd name="T22" fmla="*/ 2147483647 w 135"/>
                <a:gd name="T23" fmla="*/ 2147483647 h 119"/>
                <a:gd name="T24" fmla="*/ 2147483647 w 135"/>
                <a:gd name="T25" fmla="*/ 2147483647 h 119"/>
                <a:gd name="T26" fmla="*/ 2147483647 w 135"/>
                <a:gd name="T27" fmla="*/ 2147483647 h 119"/>
                <a:gd name="T28" fmla="*/ 2147483647 w 135"/>
                <a:gd name="T29" fmla="*/ 2147483647 h 119"/>
                <a:gd name="T30" fmla="*/ 2147483647 w 135"/>
                <a:gd name="T31" fmla="*/ 2147483647 h 119"/>
                <a:gd name="T32" fmla="*/ 2147483647 w 135"/>
                <a:gd name="T33" fmla="*/ 2147483647 h 119"/>
                <a:gd name="T34" fmla="*/ 2147483647 w 135"/>
                <a:gd name="T35" fmla="*/ 2147483647 h 119"/>
                <a:gd name="T36" fmla="*/ 2147483647 w 135"/>
                <a:gd name="T37" fmla="*/ 2147483647 h 119"/>
                <a:gd name="T38" fmla="*/ 2147483647 w 135"/>
                <a:gd name="T39" fmla="*/ 2147483647 h 119"/>
                <a:gd name="T40" fmla="*/ 2147483647 w 135"/>
                <a:gd name="T41" fmla="*/ 2147483647 h 119"/>
                <a:gd name="T42" fmla="*/ 2147483647 w 135"/>
                <a:gd name="T43" fmla="*/ 2147483647 h 119"/>
                <a:gd name="T44" fmla="*/ 2147483647 w 135"/>
                <a:gd name="T45" fmla="*/ 2147483647 h 119"/>
                <a:gd name="T46" fmla="*/ 2147483647 w 135"/>
                <a:gd name="T47" fmla="*/ 2147483647 h 119"/>
                <a:gd name="T48" fmla="*/ 2147483647 w 135"/>
                <a:gd name="T49" fmla="*/ 2147483647 h 119"/>
                <a:gd name="T50" fmla="*/ 2147483647 w 135"/>
                <a:gd name="T51" fmla="*/ 2147483647 h 119"/>
                <a:gd name="T52" fmla="*/ 2147483647 w 135"/>
                <a:gd name="T53" fmla="*/ 2147483647 h 119"/>
                <a:gd name="T54" fmla="*/ 2147483647 w 135"/>
                <a:gd name="T55" fmla="*/ 2147483647 h 119"/>
                <a:gd name="T56" fmla="*/ 2147483647 w 135"/>
                <a:gd name="T57" fmla="*/ 2147483647 h 119"/>
                <a:gd name="T58" fmla="*/ 2147483647 w 135"/>
                <a:gd name="T59" fmla="*/ 2147483647 h 119"/>
                <a:gd name="T60" fmla="*/ 2147483647 w 135"/>
                <a:gd name="T61" fmla="*/ 2147483647 h 119"/>
                <a:gd name="T62" fmla="*/ 2147483647 w 135"/>
                <a:gd name="T63" fmla="*/ 2147483647 h 119"/>
                <a:gd name="T64" fmla="*/ 2147483647 w 135"/>
                <a:gd name="T65" fmla="*/ 2147483647 h 119"/>
                <a:gd name="T66" fmla="*/ 2147483647 w 135"/>
                <a:gd name="T67" fmla="*/ 2147483647 h 119"/>
                <a:gd name="T68" fmla="*/ 2147483647 w 135"/>
                <a:gd name="T69" fmla="*/ 2147483647 h 119"/>
                <a:gd name="T70" fmla="*/ 2147483647 w 135"/>
                <a:gd name="T71" fmla="*/ 2147483647 h 119"/>
                <a:gd name="T72" fmla="*/ 2147483647 w 135"/>
                <a:gd name="T73" fmla="*/ 2147483647 h 119"/>
                <a:gd name="T74" fmla="*/ 2147483647 w 135"/>
                <a:gd name="T75" fmla="*/ 2147483647 h 119"/>
                <a:gd name="T76" fmla="*/ 2147483647 w 135"/>
                <a:gd name="T77" fmla="*/ 2147483647 h 119"/>
                <a:gd name="T78" fmla="*/ 2147483647 w 135"/>
                <a:gd name="T79" fmla="*/ 2147483647 h 119"/>
                <a:gd name="T80" fmla="*/ 2147483647 w 135"/>
                <a:gd name="T81" fmla="*/ 2147483647 h 119"/>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35" h="119">
                  <a:moveTo>
                    <a:pt x="122" y="59"/>
                  </a:moveTo>
                  <a:lnTo>
                    <a:pt x="124" y="60"/>
                  </a:lnTo>
                  <a:lnTo>
                    <a:pt x="130" y="62"/>
                  </a:lnTo>
                  <a:lnTo>
                    <a:pt x="135" y="67"/>
                  </a:lnTo>
                  <a:lnTo>
                    <a:pt x="133" y="71"/>
                  </a:lnTo>
                  <a:lnTo>
                    <a:pt x="129" y="76"/>
                  </a:lnTo>
                  <a:lnTo>
                    <a:pt x="126" y="78"/>
                  </a:lnTo>
                  <a:lnTo>
                    <a:pt x="124" y="81"/>
                  </a:lnTo>
                  <a:lnTo>
                    <a:pt x="121" y="83"/>
                  </a:lnTo>
                  <a:lnTo>
                    <a:pt x="118" y="83"/>
                  </a:lnTo>
                  <a:lnTo>
                    <a:pt x="116" y="83"/>
                  </a:lnTo>
                  <a:lnTo>
                    <a:pt x="114" y="82"/>
                  </a:lnTo>
                  <a:lnTo>
                    <a:pt x="108" y="79"/>
                  </a:lnTo>
                  <a:lnTo>
                    <a:pt x="101" y="77"/>
                  </a:lnTo>
                  <a:lnTo>
                    <a:pt x="95" y="75"/>
                  </a:lnTo>
                  <a:lnTo>
                    <a:pt x="91" y="74"/>
                  </a:lnTo>
                  <a:lnTo>
                    <a:pt x="86" y="71"/>
                  </a:lnTo>
                  <a:lnTo>
                    <a:pt x="82" y="68"/>
                  </a:lnTo>
                  <a:lnTo>
                    <a:pt x="77" y="66"/>
                  </a:lnTo>
                  <a:lnTo>
                    <a:pt x="72" y="66"/>
                  </a:lnTo>
                  <a:lnTo>
                    <a:pt x="70" y="70"/>
                  </a:lnTo>
                  <a:lnTo>
                    <a:pt x="71" y="78"/>
                  </a:lnTo>
                  <a:lnTo>
                    <a:pt x="72" y="85"/>
                  </a:lnTo>
                  <a:lnTo>
                    <a:pt x="72" y="92"/>
                  </a:lnTo>
                  <a:lnTo>
                    <a:pt x="68" y="96"/>
                  </a:lnTo>
                  <a:lnTo>
                    <a:pt x="61" y="99"/>
                  </a:lnTo>
                  <a:lnTo>
                    <a:pt x="58" y="102"/>
                  </a:lnTo>
                  <a:lnTo>
                    <a:pt x="57" y="107"/>
                  </a:lnTo>
                  <a:lnTo>
                    <a:pt x="56" y="111"/>
                  </a:lnTo>
                  <a:lnTo>
                    <a:pt x="53" y="114"/>
                  </a:lnTo>
                  <a:lnTo>
                    <a:pt x="48" y="117"/>
                  </a:lnTo>
                  <a:lnTo>
                    <a:pt x="44" y="119"/>
                  </a:lnTo>
                  <a:lnTo>
                    <a:pt x="40" y="116"/>
                  </a:lnTo>
                  <a:lnTo>
                    <a:pt x="39" y="111"/>
                  </a:lnTo>
                  <a:lnTo>
                    <a:pt x="38" y="105"/>
                  </a:lnTo>
                  <a:lnTo>
                    <a:pt x="34" y="100"/>
                  </a:lnTo>
                  <a:lnTo>
                    <a:pt x="29" y="99"/>
                  </a:lnTo>
                  <a:lnTo>
                    <a:pt x="23" y="99"/>
                  </a:lnTo>
                  <a:lnTo>
                    <a:pt x="20" y="100"/>
                  </a:lnTo>
                  <a:lnTo>
                    <a:pt x="17" y="101"/>
                  </a:lnTo>
                  <a:lnTo>
                    <a:pt x="10" y="104"/>
                  </a:lnTo>
                  <a:lnTo>
                    <a:pt x="3" y="105"/>
                  </a:lnTo>
                  <a:lnTo>
                    <a:pt x="0" y="101"/>
                  </a:lnTo>
                  <a:lnTo>
                    <a:pt x="1" y="97"/>
                  </a:lnTo>
                  <a:lnTo>
                    <a:pt x="4" y="90"/>
                  </a:lnTo>
                  <a:lnTo>
                    <a:pt x="9" y="84"/>
                  </a:lnTo>
                  <a:lnTo>
                    <a:pt x="12" y="82"/>
                  </a:lnTo>
                  <a:lnTo>
                    <a:pt x="16" y="79"/>
                  </a:lnTo>
                  <a:lnTo>
                    <a:pt x="16" y="75"/>
                  </a:lnTo>
                  <a:lnTo>
                    <a:pt x="14" y="68"/>
                  </a:lnTo>
                  <a:lnTo>
                    <a:pt x="12" y="61"/>
                  </a:lnTo>
                  <a:lnTo>
                    <a:pt x="11" y="55"/>
                  </a:lnTo>
                  <a:lnTo>
                    <a:pt x="12" y="48"/>
                  </a:lnTo>
                  <a:lnTo>
                    <a:pt x="12" y="44"/>
                  </a:lnTo>
                  <a:lnTo>
                    <a:pt x="10" y="39"/>
                  </a:lnTo>
                  <a:lnTo>
                    <a:pt x="8" y="35"/>
                  </a:lnTo>
                  <a:lnTo>
                    <a:pt x="8" y="26"/>
                  </a:lnTo>
                  <a:lnTo>
                    <a:pt x="8" y="16"/>
                  </a:lnTo>
                  <a:lnTo>
                    <a:pt x="8" y="8"/>
                  </a:lnTo>
                  <a:lnTo>
                    <a:pt x="9" y="2"/>
                  </a:lnTo>
                  <a:lnTo>
                    <a:pt x="12" y="0"/>
                  </a:lnTo>
                  <a:lnTo>
                    <a:pt x="18" y="1"/>
                  </a:lnTo>
                  <a:lnTo>
                    <a:pt x="24" y="3"/>
                  </a:lnTo>
                  <a:lnTo>
                    <a:pt x="27" y="9"/>
                  </a:lnTo>
                  <a:lnTo>
                    <a:pt x="30" y="18"/>
                  </a:lnTo>
                  <a:lnTo>
                    <a:pt x="32" y="26"/>
                  </a:lnTo>
                  <a:lnTo>
                    <a:pt x="33" y="30"/>
                  </a:lnTo>
                  <a:lnTo>
                    <a:pt x="37" y="30"/>
                  </a:lnTo>
                  <a:lnTo>
                    <a:pt x="40" y="28"/>
                  </a:lnTo>
                  <a:lnTo>
                    <a:pt x="44" y="25"/>
                  </a:lnTo>
                  <a:lnTo>
                    <a:pt x="48" y="23"/>
                  </a:lnTo>
                  <a:lnTo>
                    <a:pt x="54" y="23"/>
                  </a:lnTo>
                  <a:lnTo>
                    <a:pt x="61" y="24"/>
                  </a:lnTo>
                  <a:lnTo>
                    <a:pt x="70" y="26"/>
                  </a:lnTo>
                  <a:lnTo>
                    <a:pt x="78" y="30"/>
                  </a:lnTo>
                  <a:lnTo>
                    <a:pt x="85" y="33"/>
                  </a:lnTo>
                  <a:lnTo>
                    <a:pt x="90" y="40"/>
                  </a:lnTo>
                  <a:lnTo>
                    <a:pt x="93" y="48"/>
                  </a:lnTo>
                  <a:lnTo>
                    <a:pt x="98" y="54"/>
                  </a:lnTo>
                  <a:lnTo>
                    <a:pt x="100" y="58"/>
                  </a:lnTo>
                  <a:lnTo>
                    <a:pt x="101" y="59"/>
                  </a:lnTo>
                  <a:lnTo>
                    <a:pt x="122" y="59"/>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44" name="Freeform 141">
              <a:extLst>
                <a:ext uri="{FF2B5EF4-FFF2-40B4-BE49-F238E27FC236}">
                  <a16:creationId xmlns:a16="http://schemas.microsoft.com/office/drawing/2014/main" id="{8B64C590-6127-2A0B-692E-62CCABA99696}"/>
                </a:ext>
              </a:extLst>
            </p:cNvPr>
            <p:cNvSpPr>
              <a:spLocks/>
            </p:cNvSpPr>
            <p:nvPr/>
          </p:nvSpPr>
          <p:spPr bwMode="auto">
            <a:xfrm>
              <a:off x="2614311" y="1457854"/>
              <a:ext cx="716950" cy="477679"/>
            </a:xfrm>
            <a:custGeom>
              <a:avLst/>
              <a:gdLst>
                <a:gd name="T0" fmla="*/ 2147483647 w 556"/>
                <a:gd name="T1" fmla="*/ 2147483647 h 395"/>
                <a:gd name="T2" fmla="*/ 2147483647 w 556"/>
                <a:gd name="T3" fmla="*/ 2147483647 h 395"/>
                <a:gd name="T4" fmla="*/ 2147483647 w 556"/>
                <a:gd name="T5" fmla="*/ 2147483647 h 395"/>
                <a:gd name="T6" fmla="*/ 2147483647 w 556"/>
                <a:gd name="T7" fmla="*/ 2147483647 h 395"/>
                <a:gd name="T8" fmla="*/ 2147483647 w 556"/>
                <a:gd name="T9" fmla="*/ 2147483647 h 395"/>
                <a:gd name="T10" fmla="*/ 2147483647 w 556"/>
                <a:gd name="T11" fmla="*/ 2147483647 h 395"/>
                <a:gd name="T12" fmla="*/ 2147483647 w 556"/>
                <a:gd name="T13" fmla="*/ 2147483647 h 395"/>
                <a:gd name="T14" fmla="*/ 2147483647 w 556"/>
                <a:gd name="T15" fmla="*/ 2147483647 h 395"/>
                <a:gd name="T16" fmla="*/ 2147483647 w 556"/>
                <a:gd name="T17" fmla="*/ 2147483647 h 395"/>
                <a:gd name="T18" fmla="*/ 2147483647 w 556"/>
                <a:gd name="T19" fmla="*/ 2147483647 h 395"/>
                <a:gd name="T20" fmla="*/ 2147483647 w 556"/>
                <a:gd name="T21" fmla="*/ 2147483647 h 395"/>
                <a:gd name="T22" fmla="*/ 2147483647 w 556"/>
                <a:gd name="T23" fmla="*/ 2147483647 h 395"/>
                <a:gd name="T24" fmla="*/ 2147483647 w 556"/>
                <a:gd name="T25" fmla="*/ 2147483647 h 395"/>
                <a:gd name="T26" fmla="*/ 2147483647 w 556"/>
                <a:gd name="T27" fmla="*/ 2147483647 h 395"/>
                <a:gd name="T28" fmla="*/ 2147483647 w 556"/>
                <a:gd name="T29" fmla="*/ 2147483647 h 395"/>
                <a:gd name="T30" fmla="*/ 2147483647 w 556"/>
                <a:gd name="T31" fmla="*/ 2147483647 h 395"/>
                <a:gd name="T32" fmla="*/ 2147483647 w 556"/>
                <a:gd name="T33" fmla="*/ 2147483647 h 395"/>
                <a:gd name="T34" fmla="*/ 2147483647 w 556"/>
                <a:gd name="T35" fmla="*/ 2147483647 h 395"/>
                <a:gd name="T36" fmla="*/ 2147483647 w 556"/>
                <a:gd name="T37" fmla="*/ 2147483647 h 395"/>
                <a:gd name="T38" fmla="*/ 2147483647 w 556"/>
                <a:gd name="T39" fmla="*/ 2147483647 h 395"/>
                <a:gd name="T40" fmla="*/ 2147483647 w 556"/>
                <a:gd name="T41" fmla="*/ 2147483647 h 395"/>
                <a:gd name="T42" fmla="*/ 2147483647 w 556"/>
                <a:gd name="T43" fmla="*/ 2147483647 h 395"/>
                <a:gd name="T44" fmla="*/ 2147483647 w 556"/>
                <a:gd name="T45" fmla="*/ 2147483647 h 395"/>
                <a:gd name="T46" fmla="*/ 2147483647 w 556"/>
                <a:gd name="T47" fmla="*/ 2147483647 h 395"/>
                <a:gd name="T48" fmla="*/ 2147483647 w 556"/>
                <a:gd name="T49" fmla="*/ 2147483647 h 395"/>
                <a:gd name="T50" fmla="*/ 0 w 556"/>
                <a:gd name="T51" fmla="*/ 2147483647 h 395"/>
                <a:gd name="T52" fmla="*/ 2147483647 w 556"/>
                <a:gd name="T53" fmla="*/ 2147483647 h 395"/>
                <a:gd name="T54" fmla="*/ 2147483647 w 556"/>
                <a:gd name="T55" fmla="*/ 2147483647 h 395"/>
                <a:gd name="T56" fmla="*/ 2147483647 w 556"/>
                <a:gd name="T57" fmla="*/ 2147483647 h 395"/>
                <a:gd name="T58" fmla="*/ 2147483647 w 556"/>
                <a:gd name="T59" fmla="*/ 2147483647 h 395"/>
                <a:gd name="T60" fmla="*/ 2147483647 w 556"/>
                <a:gd name="T61" fmla="*/ 2147483647 h 395"/>
                <a:gd name="T62" fmla="*/ 2147483647 w 556"/>
                <a:gd name="T63" fmla="*/ 2147483647 h 395"/>
                <a:gd name="T64" fmla="*/ 2147483647 w 556"/>
                <a:gd name="T65" fmla="*/ 2147483647 h 395"/>
                <a:gd name="T66" fmla="*/ 2147483647 w 556"/>
                <a:gd name="T67" fmla="*/ 2147483647 h 395"/>
                <a:gd name="T68" fmla="*/ 2147483647 w 556"/>
                <a:gd name="T69" fmla="*/ 2147483647 h 395"/>
                <a:gd name="T70" fmla="*/ 2147483647 w 556"/>
                <a:gd name="T71" fmla="*/ 2147483647 h 395"/>
                <a:gd name="T72" fmla="*/ 2147483647 w 556"/>
                <a:gd name="T73" fmla="*/ 2147483647 h 395"/>
                <a:gd name="T74" fmla="*/ 2147483647 w 556"/>
                <a:gd name="T75" fmla="*/ 2147483647 h 395"/>
                <a:gd name="T76" fmla="*/ 2147483647 w 556"/>
                <a:gd name="T77" fmla="*/ 2147483647 h 395"/>
                <a:gd name="T78" fmla="*/ 2147483647 w 556"/>
                <a:gd name="T79" fmla="*/ 2147483647 h 395"/>
                <a:gd name="T80" fmla="*/ 2147483647 w 556"/>
                <a:gd name="T81" fmla="*/ 2147483647 h 395"/>
                <a:gd name="T82" fmla="*/ 2147483647 w 556"/>
                <a:gd name="T83" fmla="*/ 2147483647 h 395"/>
                <a:gd name="T84" fmla="*/ 2147483647 w 556"/>
                <a:gd name="T85" fmla="*/ 2147483647 h 395"/>
                <a:gd name="T86" fmla="*/ 2147483647 w 556"/>
                <a:gd name="T87" fmla="*/ 2147483647 h 395"/>
                <a:gd name="T88" fmla="*/ 2147483647 w 556"/>
                <a:gd name="T89" fmla="*/ 2147483647 h 395"/>
                <a:gd name="T90" fmla="*/ 2147483647 w 556"/>
                <a:gd name="T91" fmla="*/ 2147483647 h 395"/>
                <a:gd name="T92" fmla="*/ 2147483647 w 556"/>
                <a:gd name="T93" fmla="*/ 2147483647 h 395"/>
                <a:gd name="T94" fmla="*/ 2147483647 w 556"/>
                <a:gd name="T95" fmla="*/ 2147483647 h 395"/>
                <a:gd name="T96" fmla="*/ 2147483647 w 556"/>
                <a:gd name="T97" fmla="*/ 2147483647 h 395"/>
                <a:gd name="T98" fmla="*/ 2147483647 w 556"/>
                <a:gd name="T99" fmla="*/ 2147483647 h 395"/>
                <a:gd name="T100" fmla="*/ 2147483647 w 556"/>
                <a:gd name="T101" fmla="*/ 2147483647 h 395"/>
                <a:gd name="T102" fmla="*/ 2147483647 w 556"/>
                <a:gd name="T103" fmla="*/ 2147483647 h 395"/>
                <a:gd name="T104" fmla="*/ 2147483647 w 556"/>
                <a:gd name="T105" fmla="*/ 2147483647 h 395"/>
                <a:gd name="T106" fmla="*/ 2147483647 w 556"/>
                <a:gd name="T107" fmla="*/ 2147483647 h 395"/>
                <a:gd name="T108" fmla="*/ 2147483647 w 556"/>
                <a:gd name="T109" fmla="*/ 2147483647 h 395"/>
                <a:gd name="T110" fmla="*/ 2147483647 w 556"/>
                <a:gd name="T111" fmla="*/ 2147483647 h 395"/>
                <a:gd name="T112" fmla="*/ 2147483647 w 556"/>
                <a:gd name="T113" fmla="*/ 2147483647 h 395"/>
                <a:gd name="T114" fmla="*/ 2147483647 w 556"/>
                <a:gd name="T115" fmla="*/ 2147483647 h 395"/>
                <a:gd name="T116" fmla="*/ 2147483647 w 556"/>
                <a:gd name="T117" fmla="*/ 2147483647 h 395"/>
                <a:gd name="T118" fmla="*/ 2147483647 w 556"/>
                <a:gd name="T119" fmla="*/ 2147483647 h 395"/>
                <a:gd name="T120" fmla="*/ 2147483647 w 556"/>
                <a:gd name="T121" fmla="*/ 2147483647 h 395"/>
                <a:gd name="T122" fmla="*/ 2147483647 w 556"/>
                <a:gd name="T123" fmla="*/ 2147483647 h 395"/>
                <a:gd name="T124" fmla="*/ 2147483647 w 556"/>
                <a:gd name="T125" fmla="*/ 2147483647 h 395"/>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556" h="395">
                  <a:moveTo>
                    <a:pt x="539" y="379"/>
                  </a:moveTo>
                  <a:lnTo>
                    <a:pt x="540" y="380"/>
                  </a:lnTo>
                  <a:lnTo>
                    <a:pt x="542" y="383"/>
                  </a:lnTo>
                  <a:lnTo>
                    <a:pt x="541" y="387"/>
                  </a:lnTo>
                  <a:lnTo>
                    <a:pt x="533" y="388"/>
                  </a:lnTo>
                  <a:lnTo>
                    <a:pt x="527" y="388"/>
                  </a:lnTo>
                  <a:lnTo>
                    <a:pt x="523" y="387"/>
                  </a:lnTo>
                  <a:lnTo>
                    <a:pt x="518" y="387"/>
                  </a:lnTo>
                  <a:lnTo>
                    <a:pt x="514" y="388"/>
                  </a:lnTo>
                  <a:lnTo>
                    <a:pt x="510" y="388"/>
                  </a:lnTo>
                  <a:lnTo>
                    <a:pt x="506" y="389"/>
                  </a:lnTo>
                  <a:lnTo>
                    <a:pt x="501" y="390"/>
                  </a:lnTo>
                  <a:lnTo>
                    <a:pt x="495" y="392"/>
                  </a:lnTo>
                  <a:lnTo>
                    <a:pt x="488" y="393"/>
                  </a:lnTo>
                  <a:lnTo>
                    <a:pt x="482" y="394"/>
                  </a:lnTo>
                  <a:lnTo>
                    <a:pt x="478" y="395"/>
                  </a:lnTo>
                  <a:lnTo>
                    <a:pt x="473" y="395"/>
                  </a:lnTo>
                  <a:lnTo>
                    <a:pt x="468" y="395"/>
                  </a:lnTo>
                  <a:lnTo>
                    <a:pt x="464" y="394"/>
                  </a:lnTo>
                  <a:lnTo>
                    <a:pt x="459" y="394"/>
                  </a:lnTo>
                  <a:lnTo>
                    <a:pt x="453" y="393"/>
                  </a:lnTo>
                  <a:lnTo>
                    <a:pt x="449" y="393"/>
                  </a:lnTo>
                  <a:lnTo>
                    <a:pt x="444" y="393"/>
                  </a:lnTo>
                  <a:lnTo>
                    <a:pt x="440" y="394"/>
                  </a:lnTo>
                  <a:lnTo>
                    <a:pt x="435" y="395"/>
                  </a:lnTo>
                  <a:lnTo>
                    <a:pt x="430" y="395"/>
                  </a:lnTo>
                  <a:lnTo>
                    <a:pt x="427" y="395"/>
                  </a:lnTo>
                  <a:lnTo>
                    <a:pt x="422" y="394"/>
                  </a:lnTo>
                  <a:lnTo>
                    <a:pt x="419" y="392"/>
                  </a:lnTo>
                  <a:lnTo>
                    <a:pt x="414" y="386"/>
                  </a:lnTo>
                  <a:lnTo>
                    <a:pt x="413" y="380"/>
                  </a:lnTo>
                  <a:lnTo>
                    <a:pt x="409" y="375"/>
                  </a:lnTo>
                  <a:lnTo>
                    <a:pt x="397" y="372"/>
                  </a:lnTo>
                  <a:lnTo>
                    <a:pt x="389" y="371"/>
                  </a:lnTo>
                  <a:lnTo>
                    <a:pt x="382" y="368"/>
                  </a:lnTo>
                  <a:lnTo>
                    <a:pt x="376" y="366"/>
                  </a:lnTo>
                  <a:lnTo>
                    <a:pt x="372" y="364"/>
                  </a:lnTo>
                  <a:lnTo>
                    <a:pt x="368" y="362"/>
                  </a:lnTo>
                  <a:lnTo>
                    <a:pt x="365" y="359"/>
                  </a:lnTo>
                  <a:lnTo>
                    <a:pt x="362" y="358"/>
                  </a:lnTo>
                  <a:lnTo>
                    <a:pt x="359" y="356"/>
                  </a:lnTo>
                  <a:lnTo>
                    <a:pt x="354" y="352"/>
                  </a:lnTo>
                  <a:lnTo>
                    <a:pt x="350" y="351"/>
                  </a:lnTo>
                  <a:lnTo>
                    <a:pt x="344" y="352"/>
                  </a:lnTo>
                  <a:lnTo>
                    <a:pt x="335" y="357"/>
                  </a:lnTo>
                  <a:lnTo>
                    <a:pt x="324" y="362"/>
                  </a:lnTo>
                  <a:lnTo>
                    <a:pt x="316" y="363"/>
                  </a:lnTo>
                  <a:lnTo>
                    <a:pt x="309" y="365"/>
                  </a:lnTo>
                  <a:lnTo>
                    <a:pt x="304" y="370"/>
                  </a:lnTo>
                  <a:lnTo>
                    <a:pt x="297" y="377"/>
                  </a:lnTo>
                  <a:lnTo>
                    <a:pt x="290" y="381"/>
                  </a:lnTo>
                  <a:lnTo>
                    <a:pt x="283" y="381"/>
                  </a:lnTo>
                  <a:lnTo>
                    <a:pt x="276" y="377"/>
                  </a:lnTo>
                  <a:lnTo>
                    <a:pt x="271" y="373"/>
                  </a:lnTo>
                  <a:lnTo>
                    <a:pt x="267" y="370"/>
                  </a:lnTo>
                  <a:lnTo>
                    <a:pt x="262" y="366"/>
                  </a:lnTo>
                  <a:lnTo>
                    <a:pt x="259" y="363"/>
                  </a:lnTo>
                  <a:lnTo>
                    <a:pt x="256" y="358"/>
                  </a:lnTo>
                  <a:lnTo>
                    <a:pt x="256" y="355"/>
                  </a:lnTo>
                  <a:lnTo>
                    <a:pt x="260" y="350"/>
                  </a:lnTo>
                  <a:lnTo>
                    <a:pt x="268" y="344"/>
                  </a:lnTo>
                  <a:lnTo>
                    <a:pt x="277" y="340"/>
                  </a:lnTo>
                  <a:lnTo>
                    <a:pt x="283" y="337"/>
                  </a:lnTo>
                  <a:lnTo>
                    <a:pt x="288" y="337"/>
                  </a:lnTo>
                  <a:lnTo>
                    <a:pt x="291" y="337"/>
                  </a:lnTo>
                  <a:lnTo>
                    <a:pt x="293" y="337"/>
                  </a:lnTo>
                  <a:lnTo>
                    <a:pt x="296" y="336"/>
                  </a:lnTo>
                  <a:lnTo>
                    <a:pt x="300" y="334"/>
                  </a:lnTo>
                  <a:lnTo>
                    <a:pt x="305" y="329"/>
                  </a:lnTo>
                  <a:lnTo>
                    <a:pt x="316" y="320"/>
                  </a:lnTo>
                  <a:lnTo>
                    <a:pt x="326" y="313"/>
                  </a:lnTo>
                  <a:lnTo>
                    <a:pt x="330" y="307"/>
                  </a:lnTo>
                  <a:lnTo>
                    <a:pt x="327" y="301"/>
                  </a:lnTo>
                  <a:lnTo>
                    <a:pt x="318" y="295"/>
                  </a:lnTo>
                  <a:lnTo>
                    <a:pt x="308" y="292"/>
                  </a:lnTo>
                  <a:lnTo>
                    <a:pt x="305" y="287"/>
                  </a:lnTo>
                  <a:lnTo>
                    <a:pt x="309" y="273"/>
                  </a:lnTo>
                  <a:lnTo>
                    <a:pt x="320" y="258"/>
                  </a:lnTo>
                  <a:lnTo>
                    <a:pt x="328" y="246"/>
                  </a:lnTo>
                  <a:lnTo>
                    <a:pt x="327" y="235"/>
                  </a:lnTo>
                  <a:lnTo>
                    <a:pt x="315" y="218"/>
                  </a:lnTo>
                  <a:lnTo>
                    <a:pt x="306" y="208"/>
                  </a:lnTo>
                  <a:lnTo>
                    <a:pt x="297" y="200"/>
                  </a:lnTo>
                  <a:lnTo>
                    <a:pt x="289" y="193"/>
                  </a:lnTo>
                  <a:lnTo>
                    <a:pt x="282" y="188"/>
                  </a:lnTo>
                  <a:lnTo>
                    <a:pt x="274" y="183"/>
                  </a:lnTo>
                  <a:lnTo>
                    <a:pt x="267" y="180"/>
                  </a:lnTo>
                  <a:lnTo>
                    <a:pt x="260" y="176"/>
                  </a:lnTo>
                  <a:lnTo>
                    <a:pt x="252" y="173"/>
                  </a:lnTo>
                  <a:lnTo>
                    <a:pt x="244" y="169"/>
                  </a:lnTo>
                  <a:lnTo>
                    <a:pt x="236" y="166"/>
                  </a:lnTo>
                  <a:lnTo>
                    <a:pt x="228" y="161"/>
                  </a:lnTo>
                  <a:lnTo>
                    <a:pt x="221" y="156"/>
                  </a:lnTo>
                  <a:lnTo>
                    <a:pt x="214" y="152"/>
                  </a:lnTo>
                  <a:lnTo>
                    <a:pt x="208" y="148"/>
                  </a:lnTo>
                  <a:lnTo>
                    <a:pt x="202" y="145"/>
                  </a:lnTo>
                  <a:lnTo>
                    <a:pt x="199" y="142"/>
                  </a:lnTo>
                  <a:lnTo>
                    <a:pt x="191" y="137"/>
                  </a:lnTo>
                  <a:lnTo>
                    <a:pt x="183" y="132"/>
                  </a:lnTo>
                  <a:lnTo>
                    <a:pt x="178" y="131"/>
                  </a:lnTo>
                  <a:lnTo>
                    <a:pt x="179" y="137"/>
                  </a:lnTo>
                  <a:lnTo>
                    <a:pt x="185" y="146"/>
                  </a:lnTo>
                  <a:lnTo>
                    <a:pt x="186" y="152"/>
                  </a:lnTo>
                  <a:lnTo>
                    <a:pt x="183" y="155"/>
                  </a:lnTo>
                  <a:lnTo>
                    <a:pt x="171" y="155"/>
                  </a:lnTo>
                  <a:lnTo>
                    <a:pt x="163" y="155"/>
                  </a:lnTo>
                  <a:lnTo>
                    <a:pt x="159" y="155"/>
                  </a:lnTo>
                  <a:lnTo>
                    <a:pt x="154" y="156"/>
                  </a:lnTo>
                  <a:lnTo>
                    <a:pt x="151" y="159"/>
                  </a:lnTo>
                  <a:lnTo>
                    <a:pt x="147" y="161"/>
                  </a:lnTo>
                  <a:lnTo>
                    <a:pt x="142" y="162"/>
                  </a:lnTo>
                  <a:lnTo>
                    <a:pt x="138" y="163"/>
                  </a:lnTo>
                  <a:lnTo>
                    <a:pt x="131" y="165"/>
                  </a:lnTo>
                  <a:lnTo>
                    <a:pt x="124" y="166"/>
                  </a:lnTo>
                  <a:lnTo>
                    <a:pt x="118" y="167"/>
                  </a:lnTo>
                  <a:lnTo>
                    <a:pt x="114" y="168"/>
                  </a:lnTo>
                  <a:lnTo>
                    <a:pt x="110" y="169"/>
                  </a:lnTo>
                  <a:lnTo>
                    <a:pt x="106" y="170"/>
                  </a:lnTo>
                  <a:lnTo>
                    <a:pt x="101" y="170"/>
                  </a:lnTo>
                  <a:lnTo>
                    <a:pt x="95" y="170"/>
                  </a:lnTo>
                  <a:lnTo>
                    <a:pt x="87" y="169"/>
                  </a:lnTo>
                  <a:lnTo>
                    <a:pt x="74" y="166"/>
                  </a:lnTo>
                  <a:lnTo>
                    <a:pt x="70" y="162"/>
                  </a:lnTo>
                  <a:lnTo>
                    <a:pt x="66" y="160"/>
                  </a:lnTo>
                  <a:lnTo>
                    <a:pt x="60" y="161"/>
                  </a:lnTo>
                  <a:lnTo>
                    <a:pt x="51" y="166"/>
                  </a:lnTo>
                  <a:lnTo>
                    <a:pt x="47" y="168"/>
                  </a:lnTo>
                  <a:lnTo>
                    <a:pt x="43" y="168"/>
                  </a:lnTo>
                  <a:lnTo>
                    <a:pt x="35" y="163"/>
                  </a:lnTo>
                  <a:lnTo>
                    <a:pt x="30" y="160"/>
                  </a:lnTo>
                  <a:lnTo>
                    <a:pt x="24" y="156"/>
                  </a:lnTo>
                  <a:lnTo>
                    <a:pt x="18" y="153"/>
                  </a:lnTo>
                  <a:lnTo>
                    <a:pt x="13" y="151"/>
                  </a:lnTo>
                  <a:lnTo>
                    <a:pt x="10" y="148"/>
                  </a:lnTo>
                  <a:lnTo>
                    <a:pt x="9" y="145"/>
                  </a:lnTo>
                  <a:lnTo>
                    <a:pt x="11" y="143"/>
                  </a:lnTo>
                  <a:lnTo>
                    <a:pt x="16" y="140"/>
                  </a:lnTo>
                  <a:lnTo>
                    <a:pt x="23" y="138"/>
                  </a:lnTo>
                  <a:lnTo>
                    <a:pt x="30" y="137"/>
                  </a:lnTo>
                  <a:lnTo>
                    <a:pt x="36" y="136"/>
                  </a:lnTo>
                  <a:lnTo>
                    <a:pt x="41" y="135"/>
                  </a:lnTo>
                  <a:lnTo>
                    <a:pt x="45" y="133"/>
                  </a:lnTo>
                  <a:lnTo>
                    <a:pt x="45" y="132"/>
                  </a:lnTo>
                  <a:lnTo>
                    <a:pt x="42" y="130"/>
                  </a:lnTo>
                  <a:lnTo>
                    <a:pt x="35" y="128"/>
                  </a:lnTo>
                  <a:lnTo>
                    <a:pt x="27" y="125"/>
                  </a:lnTo>
                  <a:lnTo>
                    <a:pt x="19" y="123"/>
                  </a:lnTo>
                  <a:lnTo>
                    <a:pt x="13" y="122"/>
                  </a:lnTo>
                  <a:lnTo>
                    <a:pt x="9" y="121"/>
                  </a:lnTo>
                  <a:lnTo>
                    <a:pt x="4" y="118"/>
                  </a:lnTo>
                  <a:lnTo>
                    <a:pt x="2" y="116"/>
                  </a:lnTo>
                  <a:lnTo>
                    <a:pt x="0" y="112"/>
                  </a:lnTo>
                  <a:lnTo>
                    <a:pt x="0" y="105"/>
                  </a:lnTo>
                  <a:lnTo>
                    <a:pt x="0" y="93"/>
                  </a:lnTo>
                  <a:lnTo>
                    <a:pt x="0" y="85"/>
                  </a:lnTo>
                  <a:lnTo>
                    <a:pt x="0" y="76"/>
                  </a:lnTo>
                  <a:lnTo>
                    <a:pt x="1" y="60"/>
                  </a:lnTo>
                  <a:lnTo>
                    <a:pt x="5" y="39"/>
                  </a:lnTo>
                  <a:lnTo>
                    <a:pt x="12" y="21"/>
                  </a:lnTo>
                  <a:lnTo>
                    <a:pt x="22" y="9"/>
                  </a:lnTo>
                  <a:lnTo>
                    <a:pt x="31" y="3"/>
                  </a:lnTo>
                  <a:lnTo>
                    <a:pt x="39" y="3"/>
                  </a:lnTo>
                  <a:lnTo>
                    <a:pt x="46" y="6"/>
                  </a:lnTo>
                  <a:lnTo>
                    <a:pt x="50" y="10"/>
                  </a:lnTo>
                  <a:lnTo>
                    <a:pt x="49" y="19"/>
                  </a:lnTo>
                  <a:lnTo>
                    <a:pt x="43" y="40"/>
                  </a:lnTo>
                  <a:lnTo>
                    <a:pt x="42" y="56"/>
                  </a:lnTo>
                  <a:lnTo>
                    <a:pt x="45" y="70"/>
                  </a:lnTo>
                  <a:lnTo>
                    <a:pt x="50" y="80"/>
                  </a:lnTo>
                  <a:lnTo>
                    <a:pt x="56" y="90"/>
                  </a:lnTo>
                  <a:lnTo>
                    <a:pt x="62" y="97"/>
                  </a:lnTo>
                  <a:lnTo>
                    <a:pt x="68" y="102"/>
                  </a:lnTo>
                  <a:lnTo>
                    <a:pt x="71" y="108"/>
                  </a:lnTo>
                  <a:lnTo>
                    <a:pt x="70" y="107"/>
                  </a:lnTo>
                  <a:lnTo>
                    <a:pt x="63" y="87"/>
                  </a:lnTo>
                  <a:lnTo>
                    <a:pt x="56" y="62"/>
                  </a:lnTo>
                  <a:lnTo>
                    <a:pt x="55" y="41"/>
                  </a:lnTo>
                  <a:lnTo>
                    <a:pt x="58" y="26"/>
                  </a:lnTo>
                  <a:lnTo>
                    <a:pt x="62" y="12"/>
                  </a:lnTo>
                  <a:lnTo>
                    <a:pt x="69" y="3"/>
                  </a:lnTo>
                  <a:lnTo>
                    <a:pt x="79" y="0"/>
                  </a:lnTo>
                  <a:lnTo>
                    <a:pt x="91" y="2"/>
                  </a:lnTo>
                  <a:lnTo>
                    <a:pt x="100" y="7"/>
                  </a:lnTo>
                  <a:lnTo>
                    <a:pt x="106" y="14"/>
                  </a:lnTo>
                  <a:lnTo>
                    <a:pt x="109" y="21"/>
                  </a:lnTo>
                  <a:lnTo>
                    <a:pt x="111" y="26"/>
                  </a:lnTo>
                  <a:lnTo>
                    <a:pt x="114" y="32"/>
                  </a:lnTo>
                  <a:lnTo>
                    <a:pt x="115" y="39"/>
                  </a:lnTo>
                  <a:lnTo>
                    <a:pt x="116" y="47"/>
                  </a:lnTo>
                  <a:lnTo>
                    <a:pt x="118" y="53"/>
                  </a:lnTo>
                  <a:lnTo>
                    <a:pt x="124" y="54"/>
                  </a:lnTo>
                  <a:lnTo>
                    <a:pt x="132" y="52"/>
                  </a:lnTo>
                  <a:lnTo>
                    <a:pt x="140" y="47"/>
                  </a:lnTo>
                  <a:lnTo>
                    <a:pt x="146" y="41"/>
                  </a:lnTo>
                  <a:lnTo>
                    <a:pt x="147" y="36"/>
                  </a:lnTo>
                  <a:lnTo>
                    <a:pt x="149" y="31"/>
                  </a:lnTo>
                  <a:lnTo>
                    <a:pt x="156" y="27"/>
                  </a:lnTo>
                  <a:lnTo>
                    <a:pt x="164" y="23"/>
                  </a:lnTo>
                  <a:lnTo>
                    <a:pt x="169" y="19"/>
                  </a:lnTo>
                  <a:lnTo>
                    <a:pt x="175" y="19"/>
                  </a:lnTo>
                  <a:lnTo>
                    <a:pt x="185" y="24"/>
                  </a:lnTo>
                  <a:lnTo>
                    <a:pt x="197" y="32"/>
                  </a:lnTo>
                  <a:lnTo>
                    <a:pt x="202" y="38"/>
                  </a:lnTo>
                  <a:lnTo>
                    <a:pt x="206" y="44"/>
                  </a:lnTo>
                  <a:lnTo>
                    <a:pt x="209" y="49"/>
                  </a:lnTo>
                  <a:lnTo>
                    <a:pt x="214" y="55"/>
                  </a:lnTo>
                  <a:lnTo>
                    <a:pt x="221" y="60"/>
                  </a:lnTo>
                  <a:lnTo>
                    <a:pt x="227" y="61"/>
                  </a:lnTo>
                  <a:lnTo>
                    <a:pt x="231" y="56"/>
                  </a:lnTo>
                  <a:lnTo>
                    <a:pt x="237" y="49"/>
                  </a:lnTo>
                  <a:lnTo>
                    <a:pt x="246" y="46"/>
                  </a:lnTo>
                  <a:lnTo>
                    <a:pt x="256" y="46"/>
                  </a:lnTo>
                  <a:lnTo>
                    <a:pt x="263" y="49"/>
                  </a:lnTo>
                  <a:lnTo>
                    <a:pt x="266" y="54"/>
                  </a:lnTo>
                  <a:lnTo>
                    <a:pt x="268" y="56"/>
                  </a:lnTo>
                  <a:lnTo>
                    <a:pt x="271" y="59"/>
                  </a:lnTo>
                  <a:lnTo>
                    <a:pt x="281" y="61"/>
                  </a:lnTo>
                  <a:lnTo>
                    <a:pt x="288" y="62"/>
                  </a:lnTo>
                  <a:lnTo>
                    <a:pt x="296" y="62"/>
                  </a:lnTo>
                  <a:lnTo>
                    <a:pt x="304" y="63"/>
                  </a:lnTo>
                  <a:lnTo>
                    <a:pt x="311" y="63"/>
                  </a:lnTo>
                  <a:lnTo>
                    <a:pt x="318" y="63"/>
                  </a:lnTo>
                  <a:lnTo>
                    <a:pt x="321" y="64"/>
                  </a:lnTo>
                  <a:lnTo>
                    <a:pt x="323" y="67"/>
                  </a:lnTo>
                  <a:lnTo>
                    <a:pt x="321" y="69"/>
                  </a:lnTo>
                  <a:lnTo>
                    <a:pt x="319" y="72"/>
                  </a:lnTo>
                  <a:lnTo>
                    <a:pt x="322" y="72"/>
                  </a:lnTo>
                  <a:lnTo>
                    <a:pt x="329" y="72"/>
                  </a:lnTo>
                  <a:lnTo>
                    <a:pt x="335" y="74"/>
                  </a:lnTo>
                  <a:lnTo>
                    <a:pt x="339" y="78"/>
                  </a:lnTo>
                  <a:lnTo>
                    <a:pt x="345" y="83"/>
                  </a:lnTo>
                  <a:lnTo>
                    <a:pt x="349" y="86"/>
                  </a:lnTo>
                  <a:lnTo>
                    <a:pt x="351" y="87"/>
                  </a:lnTo>
                  <a:lnTo>
                    <a:pt x="350" y="87"/>
                  </a:lnTo>
                  <a:lnTo>
                    <a:pt x="345" y="89"/>
                  </a:lnTo>
                  <a:lnTo>
                    <a:pt x="342" y="91"/>
                  </a:lnTo>
                  <a:lnTo>
                    <a:pt x="339" y="93"/>
                  </a:lnTo>
                  <a:lnTo>
                    <a:pt x="343" y="97"/>
                  </a:lnTo>
                  <a:lnTo>
                    <a:pt x="352" y="100"/>
                  </a:lnTo>
                  <a:lnTo>
                    <a:pt x="361" y="102"/>
                  </a:lnTo>
                  <a:lnTo>
                    <a:pt x="361" y="105"/>
                  </a:lnTo>
                  <a:lnTo>
                    <a:pt x="357" y="107"/>
                  </a:lnTo>
                  <a:lnTo>
                    <a:pt x="353" y="108"/>
                  </a:lnTo>
                  <a:lnTo>
                    <a:pt x="351" y="110"/>
                  </a:lnTo>
                  <a:lnTo>
                    <a:pt x="351" y="115"/>
                  </a:lnTo>
                  <a:lnTo>
                    <a:pt x="350" y="118"/>
                  </a:lnTo>
                  <a:lnTo>
                    <a:pt x="349" y="123"/>
                  </a:lnTo>
                  <a:lnTo>
                    <a:pt x="349" y="127"/>
                  </a:lnTo>
                  <a:lnTo>
                    <a:pt x="353" y="132"/>
                  </a:lnTo>
                  <a:lnTo>
                    <a:pt x="361" y="135"/>
                  </a:lnTo>
                  <a:lnTo>
                    <a:pt x="371" y="133"/>
                  </a:lnTo>
                  <a:lnTo>
                    <a:pt x="377" y="133"/>
                  </a:lnTo>
                  <a:lnTo>
                    <a:pt x="384" y="136"/>
                  </a:lnTo>
                  <a:lnTo>
                    <a:pt x="392" y="143"/>
                  </a:lnTo>
                  <a:lnTo>
                    <a:pt x="400" y="150"/>
                  </a:lnTo>
                  <a:lnTo>
                    <a:pt x="407" y="152"/>
                  </a:lnTo>
                  <a:lnTo>
                    <a:pt x="409" y="150"/>
                  </a:lnTo>
                  <a:lnTo>
                    <a:pt x="406" y="144"/>
                  </a:lnTo>
                  <a:lnTo>
                    <a:pt x="403" y="139"/>
                  </a:lnTo>
                  <a:lnTo>
                    <a:pt x="403" y="137"/>
                  </a:lnTo>
                  <a:lnTo>
                    <a:pt x="409" y="139"/>
                  </a:lnTo>
                  <a:lnTo>
                    <a:pt x="414" y="140"/>
                  </a:lnTo>
                  <a:lnTo>
                    <a:pt x="421" y="142"/>
                  </a:lnTo>
                  <a:lnTo>
                    <a:pt x="429" y="143"/>
                  </a:lnTo>
                  <a:lnTo>
                    <a:pt x="436" y="143"/>
                  </a:lnTo>
                  <a:lnTo>
                    <a:pt x="442" y="144"/>
                  </a:lnTo>
                  <a:lnTo>
                    <a:pt x="447" y="145"/>
                  </a:lnTo>
                  <a:lnTo>
                    <a:pt x="450" y="146"/>
                  </a:lnTo>
                  <a:lnTo>
                    <a:pt x="451" y="148"/>
                  </a:lnTo>
                  <a:lnTo>
                    <a:pt x="450" y="152"/>
                  </a:lnTo>
                  <a:lnTo>
                    <a:pt x="451" y="154"/>
                  </a:lnTo>
                  <a:lnTo>
                    <a:pt x="453" y="155"/>
                  </a:lnTo>
                  <a:lnTo>
                    <a:pt x="457" y="155"/>
                  </a:lnTo>
                  <a:lnTo>
                    <a:pt x="461" y="155"/>
                  </a:lnTo>
                  <a:lnTo>
                    <a:pt x="466" y="153"/>
                  </a:lnTo>
                  <a:lnTo>
                    <a:pt x="472" y="152"/>
                  </a:lnTo>
                  <a:lnTo>
                    <a:pt x="480" y="152"/>
                  </a:lnTo>
                  <a:lnTo>
                    <a:pt x="490" y="153"/>
                  </a:lnTo>
                  <a:lnTo>
                    <a:pt x="501" y="154"/>
                  </a:lnTo>
                  <a:lnTo>
                    <a:pt x="509" y="158"/>
                  </a:lnTo>
                  <a:lnTo>
                    <a:pt x="511" y="163"/>
                  </a:lnTo>
                  <a:lnTo>
                    <a:pt x="508" y="169"/>
                  </a:lnTo>
                  <a:lnTo>
                    <a:pt x="501" y="173"/>
                  </a:lnTo>
                  <a:lnTo>
                    <a:pt x="496" y="176"/>
                  </a:lnTo>
                  <a:lnTo>
                    <a:pt x="496" y="180"/>
                  </a:lnTo>
                  <a:lnTo>
                    <a:pt x="501" y="183"/>
                  </a:lnTo>
                  <a:lnTo>
                    <a:pt x="505" y="186"/>
                  </a:lnTo>
                  <a:lnTo>
                    <a:pt x="510" y="191"/>
                  </a:lnTo>
                  <a:lnTo>
                    <a:pt x="511" y="196"/>
                  </a:lnTo>
                  <a:lnTo>
                    <a:pt x="511" y="200"/>
                  </a:lnTo>
                  <a:lnTo>
                    <a:pt x="509" y="204"/>
                  </a:lnTo>
                  <a:lnTo>
                    <a:pt x="505" y="207"/>
                  </a:lnTo>
                  <a:lnTo>
                    <a:pt x="501" y="209"/>
                  </a:lnTo>
                  <a:lnTo>
                    <a:pt x="497" y="212"/>
                  </a:lnTo>
                  <a:lnTo>
                    <a:pt x="497" y="214"/>
                  </a:lnTo>
                  <a:lnTo>
                    <a:pt x="499" y="219"/>
                  </a:lnTo>
                  <a:lnTo>
                    <a:pt x="505" y="223"/>
                  </a:lnTo>
                  <a:lnTo>
                    <a:pt x="511" y="228"/>
                  </a:lnTo>
                  <a:lnTo>
                    <a:pt x="514" y="234"/>
                  </a:lnTo>
                  <a:lnTo>
                    <a:pt x="514" y="239"/>
                  </a:lnTo>
                  <a:lnTo>
                    <a:pt x="511" y="244"/>
                  </a:lnTo>
                  <a:lnTo>
                    <a:pt x="506" y="248"/>
                  </a:lnTo>
                  <a:lnTo>
                    <a:pt x="503" y="249"/>
                  </a:lnTo>
                  <a:lnTo>
                    <a:pt x="501" y="249"/>
                  </a:lnTo>
                  <a:lnTo>
                    <a:pt x="495" y="245"/>
                  </a:lnTo>
                  <a:lnTo>
                    <a:pt x="487" y="242"/>
                  </a:lnTo>
                  <a:lnTo>
                    <a:pt x="480" y="238"/>
                  </a:lnTo>
                  <a:lnTo>
                    <a:pt x="474" y="235"/>
                  </a:lnTo>
                  <a:lnTo>
                    <a:pt x="468" y="231"/>
                  </a:lnTo>
                  <a:lnTo>
                    <a:pt x="465" y="229"/>
                  </a:lnTo>
                  <a:lnTo>
                    <a:pt x="460" y="228"/>
                  </a:lnTo>
                  <a:lnTo>
                    <a:pt x="456" y="226"/>
                  </a:lnTo>
                  <a:lnTo>
                    <a:pt x="449" y="223"/>
                  </a:lnTo>
                  <a:lnTo>
                    <a:pt x="440" y="220"/>
                  </a:lnTo>
                  <a:lnTo>
                    <a:pt x="432" y="219"/>
                  </a:lnTo>
                  <a:lnTo>
                    <a:pt x="425" y="220"/>
                  </a:lnTo>
                  <a:lnTo>
                    <a:pt x="421" y="224"/>
                  </a:lnTo>
                  <a:lnTo>
                    <a:pt x="421" y="230"/>
                  </a:lnTo>
                  <a:lnTo>
                    <a:pt x="423" y="236"/>
                  </a:lnTo>
                  <a:lnTo>
                    <a:pt x="428" y="243"/>
                  </a:lnTo>
                  <a:lnTo>
                    <a:pt x="435" y="251"/>
                  </a:lnTo>
                  <a:lnTo>
                    <a:pt x="440" y="254"/>
                  </a:lnTo>
                  <a:lnTo>
                    <a:pt x="443" y="259"/>
                  </a:lnTo>
                  <a:lnTo>
                    <a:pt x="449" y="262"/>
                  </a:lnTo>
                  <a:lnTo>
                    <a:pt x="453" y="265"/>
                  </a:lnTo>
                  <a:lnTo>
                    <a:pt x="459" y="268"/>
                  </a:lnTo>
                  <a:lnTo>
                    <a:pt x="465" y="271"/>
                  </a:lnTo>
                  <a:lnTo>
                    <a:pt x="471" y="272"/>
                  </a:lnTo>
                  <a:lnTo>
                    <a:pt x="476" y="273"/>
                  </a:lnTo>
                  <a:lnTo>
                    <a:pt x="487" y="275"/>
                  </a:lnTo>
                  <a:lnTo>
                    <a:pt x="495" y="277"/>
                  </a:lnTo>
                  <a:lnTo>
                    <a:pt x="501" y="281"/>
                  </a:lnTo>
                  <a:lnTo>
                    <a:pt x="505" y="286"/>
                  </a:lnTo>
                  <a:lnTo>
                    <a:pt x="512" y="289"/>
                  </a:lnTo>
                  <a:lnTo>
                    <a:pt x="520" y="291"/>
                  </a:lnTo>
                  <a:lnTo>
                    <a:pt x="528" y="294"/>
                  </a:lnTo>
                  <a:lnTo>
                    <a:pt x="533" y="301"/>
                  </a:lnTo>
                  <a:lnTo>
                    <a:pt x="534" y="307"/>
                  </a:lnTo>
                  <a:lnTo>
                    <a:pt x="533" y="311"/>
                  </a:lnTo>
                  <a:lnTo>
                    <a:pt x="533" y="315"/>
                  </a:lnTo>
                  <a:lnTo>
                    <a:pt x="536" y="324"/>
                  </a:lnTo>
                  <a:lnTo>
                    <a:pt x="541" y="332"/>
                  </a:lnTo>
                  <a:lnTo>
                    <a:pt x="543" y="337"/>
                  </a:lnTo>
                  <a:lnTo>
                    <a:pt x="544" y="342"/>
                  </a:lnTo>
                  <a:lnTo>
                    <a:pt x="548" y="345"/>
                  </a:lnTo>
                  <a:lnTo>
                    <a:pt x="552" y="350"/>
                  </a:lnTo>
                  <a:lnTo>
                    <a:pt x="556" y="354"/>
                  </a:lnTo>
                  <a:lnTo>
                    <a:pt x="555" y="357"/>
                  </a:lnTo>
                  <a:lnTo>
                    <a:pt x="549" y="356"/>
                  </a:lnTo>
                  <a:lnTo>
                    <a:pt x="544" y="352"/>
                  </a:lnTo>
                  <a:lnTo>
                    <a:pt x="541" y="349"/>
                  </a:lnTo>
                  <a:lnTo>
                    <a:pt x="535" y="345"/>
                  </a:lnTo>
                  <a:lnTo>
                    <a:pt x="525" y="345"/>
                  </a:lnTo>
                  <a:lnTo>
                    <a:pt x="513" y="348"/>
                  </a:lnTo>
                  <a:lnTo>
                    <a:pt x="505" y="349"/>
                  </a:lnTo>
                  <a:lnTo>
                    <a:pt x="499" y="349"/>
                  </a:lnTo>
                  <a:lnTo>
                    <a:pt x="493" y="345"/>
                  </a:lnTo>
                  <a:lnTo>
                    <a:pt x="488" y="343"/>
                  </a:lnTo>
                  <a:lnTo>
                    <a:pt x="483" y="342"/>
                  </a:lnTo>
                  <a:lnTo>
                    <a:pt x="478" y="340"/>
                  </a:lnTo>
                  <a:lnTo>
                    <a:pt x="472" y="339"/>
                  </a:lnTo>
                  <a:lnTo>
                    <a:pt x="466" y="337"/>
                  </a:lnTo>
                  <a:lnTo>
                    <a:pt x="461" y="337"/>
                  </a:lnTo>
                  <a:lnTo>
                    <a:pt x="457" y="337"/>
                  </a:lnTo>
                  <a:lnTo>
                    <a:pt x="453" y="337"/>
                  </a:lnTo>
                  <a:lnTo>
                    <a:pt x="451" y="340"/>
                  </a:lnTo>
                  <a:lnTo>
                    <a:pt x="455" y="343"/>
                  </a:lnTo>
                  <a:lnTo>
                    <a:pt x="463" y="347"/>
                  </a:lnTo>
                  <a:lnTo>
                    <a:pt x="476" y="352"/>
                  </a:lnTo>
                  <a:lnTo>
                    <a:pt x="485" y="355"/>
                  </a:lnTo>
                  <a:lnTo>
                    <a:pt x="490" y="357"/>
                  </a:lnTo>
                  <a:lnTo>
                    <a:pt x="496" y="358"/>
                  </a:lnTo>
                  <a:lnTo>
                    <a:pt x="499" y="358"/>
                  </a:lnTo>
                  <a:lnTo>
                    <a:pt x="503" y="359"/>
                  </a:lnTo>
                  <a:lnTo>
                    <a:pt x="506" y="360"/>
                  </a:lnTo>
                  <a:lnTo>
                    <a:pt x="509" y="362"/>
                  </a:lnTo>
                  <a:lnTo>
                    <a:pt x="511" y="364"/>
                  </a:lnTo>
                  <a:lnTo>
                    <a:pt x="517" y="367"/>
                  </a:lnTo>
                  <a:lnTo>
                    <a:pt x="525" y="371"/>
                  </a:lnTo>
                  <a:lnTo>
                    <a:pt x="533" y="374"/>
                  </a:lnTo>
                  <a:lnTo>
                    <a:pt x="539" y="379"/>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45" name="Freeform 142">
              <a:extLst>
                <a:ext uri="{FF2B5EF4-FFF2-40B4-BE49-F238E27FC236}">
                  <a16:creationId xmlns:a16="http://schemas.microsoft.com/office/drawing/2014/main" id="{63E42F1C-39B6-E487-A7FA-926FD1739C14}"/>
                </a:ext>
              </a:extLst>
            </p:cNvPr>
            <p:cNvSpPr>
              <a:spLocks/>
            </p:cNvSpPr>
            <p:nvPr/>
          </p:nvSpPr>
          <p:spPr bwMode="auto">
            <a:xfrm>
              <a:off x="1994349" y="1378241"/>
              <a:ext cx="190172" cy="174391"/>
            </a:xfrm>
            <a:custGeom>
              <a:avLst/>
              <a:gdLst>
                <a:gd name="T0" fmla="*/ 2147483647 w 148"/>
                <a:gd name="T1" fmla="*/ 2147483647 h 146"/>
                <a:gd name="T2" fmla="*/ 2147483647 w 148"/>
                <a:gd name="T3" fmla="*/ 2147483647 h 146"/>
                <a:gd name="T4" fmla="*/ 2147483647 w 148"/>
                <a:gd name="T5" fmla="*/ 2147483647 h 146"/>
                <a:gd name="T6" fmla="*/ 2147483647 w 148"/>
                <a:gd name="T7" fmla="*/ 2147483647 h 146"/>
                <a:gd name="T8" fmla="*/ 2147483647 w 148"/>
                <a:gd name="T9" fmla="*/ 2147483647 h 146"/>
                <a:gd name="T10" fmla="*/ 2147483647 w 148"/>
                <a:gd name="T11" fmla="*/ 2147483647 h 146"/>
                <a:gd name="T12" fmla="*/ 2147483647 w 148"/>
                <a:gd name="T13" fmla="*/ 2147483647 h 146"/>
                <a:gd name="T14" fmla="*/ 2147483647 w 148"/>
                <a:gd name="T15" fmla="*/ 2147483647 h 146"/>
                <a:gd name="T16" fmla="*/ 2147483647 w 148"/>
                <a:gd name="T17" fmla="*/ 2147483647 h 146"/>
                <a:gd name="T18" fmla="*/ 2147483647 w 148"/>
                <a:gd name="T19" fmla="*/ 0 h 146"/>
                <a:gd name="T20" fmla="*/ 2147483647 w 148"/>
                <a:gd name="T21" fmla="*/ 2147483647 h 146"/>
                <a:gd name="T22" fmla="*/ 2147483647 w 148"/>
                <a:gd name="T23" fmla="*/ 2147483647 h 146"/>
                <a:gd name="T24" fmla="*/ 2147483647 w 148"/>
                <a:gd name="T25" fmla="*/ 2147483647 h 146"/>
                <a:gd name="T26" fmla="*/ 2147483647 w 148"/>
                <a:gd name="T27" fmla="*/ 2147483647 h 146"/>
                <a:gd name="T28" fmla="*/ 2147483647 w 148"/>
                <a:gd name="T29" fmla="*/ 2147483647 h 146"/>
                <a:gd name="T30" fmla="*/ 2147483647 w 148"/>
                <a:gd name="T31" fmla="*/ 2147483647 h 146"/>
                <a:gd name="T32" fmla="*/ 2147483647 w 148"/>
                <a:gd name="T33" fmla="*/ 2147483647 h 146"/>
                <a:gd name="T34" fmla="*/ 2147483647 w 148"/>
                <a:gd name="T35" fmla="*/ 2147483647 h 146"/>
                <a:gd name="T36" fmla="*/ 2147483647 w 148"/>
                <a:gd name="T37" fmla="*/ 2147483647 h 146"/>
                <a:gd name="T38" fmla="*/ 2147483647 w 148"/>
                <a:gd name="T39" fmla="*/ 2147483647 h 146"/>
                <a:gd name="T40" fmla="*/ 2147483647 w 148"/>
                <a:gd name="T41" fmla="*/ 2147483647 h 146"/>
                <a:gd name="T42" fmla="*/ 2147483647 w 148"/>
                <a:gd name="T43" fmla="*/ 2147483647 h 146"/>
                <a:gd name="T44" fmla="*/ 2147483647 w 148"/>
                <a:gd name="T45" fmla="*/ 2147483647 h 146"/>
                <a:gd name="T46" fmla="*/ 2147483647 w 148"/>
                <a:gd name="T47" fmla="*/ 2147483647 h 146"/>
                <a:gd name="T48" fmla="*/ 2147483647 w 148"/>
                <a:gd name="T49" fmla="*/ 2147483647 h 146"/>
                <a:gd name="T50" fmla="*/ 2147483647 w 148"/>
                <a:gd name="T51" fmla="*/ 2147483647 h 146"/>
                <a:gd name="T52" fmla="*/ 2147483647 w 148"/>
                <a:gd name="T53" fmla="*/ 2147483647 h 146"/>
                <a:gd name="T54" fmla="*/ 2147483647 w 148"/>
                <a:gd name="T55" fmla="*/ 2147483647 h 146"/>
                <a:gd name="T56" fmla="*/ 2147483647 w 148"/>
                <a:gd name="T57" fmla="*/ 2147483647 h 146"/>
                <a:gd name="T58" fmla="*/ 2147483647 w 148"/>
                <a:gd name="T59" fmla="*/ 2147483647 h 146"/>
                <a:gd name="T60" fmla="*/ 2147483647 w 148"/>
                <a:gd name="T61" fmla="*/ 2147483647 h 146"/>
                <a:gd name="T62" fmla="*/ 2147483647 w 148"/>
                <a:gd name="T63" fmla="*/ 2147483647 h 14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48" h="146">
                  <a:moveTo>
                    <a:pt x="148" y="71"/>
                  </a:moveTo>
                  <a:lnTo>
                    <a:pt x="146" y="67"/>
                  </a:lnTo>
                  <a:lnTo>
                    <a:pt x="145" y="56"/>
                  </a:lnTo>
                  <a:lnTo>
                    <a:pt x="141" y="44"/>
                  </a:lnTo>
                  <a:lnTo>
                    <a:pt x="135" y="36"/>
                  </a:lnTo>
                  <a:lnTo>
                    <a:pt x="129" y="33"/>
                  </a:lnTo>
                  <a:lnTo>
                    <a:pt x="125" y="33"/>
                  </a:lnTo>
                  <a:lnTo>
                    <a:pt x="120" y="35"/>
                  </a:lnTo>
                  <a:lnTo>
                    <a:pt x="115" y="32"/>
                  </a:lnTo>
                  <a:lnTo>
                    <a:pt x="111" y="26"/>
                  </a:lnTo>
                  <a:lnTo>
                    <a:pt x="108" y="20"/>
                  </a:lnTo>
                  <a:lnTo>
                    <a:pt x="104" y="14"/>
                  </a:lnTo>
                  <a:lnTo>
                    <a:pt x="95" y="12"/>
                  </a:lnTo>
                  <a:lnTo>
                    <a:pt x="88" y="10"/>
                  </a:lnTo>
                  <a:lnTo>
                    <a:pt x="82" y="9"/>
                  </a:lnTo>
                  <a:lnTo>
                    <a:pt x="77" y="7"/>
                  </a:lnTo>
                  <a:lnTo>
                    <a:pt x="73" y="3"/>
                  </a:lnTo>
                  <a:lnTo>
                    <a:pt x="68" y="1"/>
                  </a:lnTo>
                  <a:lnTo>
                    <a:pt x="65" y="0"/>
                  </a:lnTo>
                  <a:lnTo>
                    <a:pt x="62" y="0"/>
                  </a:lnTo>
                  <a:lnTo>
                    <a:pt x="60" y="2"/>
                  </a:lnTo>
                  <a:lnTo>
                    <a:pt x="58" y="8"/>
                  </a:lnTo>
                  <a:lnTo>
                    <a:pt x="58" y="15"/>
                  </a:lnTo>
                  <a:lnTo>
                    <a:pt x="57" y="20"/>
                  </a:lnTo>
                  <a:lnTo>
                    <a:pt x="55" y="24"/>
                  </a:lnTo>
                  <a:lnTo>
                    <a:pt x="50" y="31"/>
                  </a:lnTo>
                  <a:lnTo>
                    <a:pt x="42" y="40"/>
                  </a:lnTo>
                  <a:lnTo>
                    <a:pt x="32" y="50"/>
                  </a:lnTo>
                  <a:lnTo>
                    <a:pt x="27" y="55"/>
                  </a:lnTo>
                  <a:lnTo>
                    <a:pt x="20" y="62"/>
                  </a:lnTo>
                  <a:lnTo>
                    <a:pt x="11" y="71"/>
                  </a:lnTo>
                  <a:lnTo>
                    <a:pt x="3" y="82"/>
                  </a:lnTo>
                  <a:lnTo>
                    <a:pt x="0" y="90"/>
                  </a:lnTo>
                  <a:lnTo>
                    <a:pt x="3" y="91"/>
                  </a:lnTo>
                  <a:lnTo>
                    <a:pt x="4" y="91"/>
                  </a:lnTo>
                  <a:lnTo>
                    <a:pt x="6" y="94"/>
                  </a:lnTo>
                  <a:lnTo>
                    <a:pt x="11" y="107"/>
                  </a:lnTo>
                  <a:lnTo>
                    <a:pt x="14" y="123"/>
                  </a:lnTo>
                  <a:lnTo>
                    <a:pt x="14" y="136"/>
                  </a:lnTo>
                  <a:lnTo>
                    <a:pt x="15" y="144"/>
                  </a:lnTo>
                  <a:lnTo>
                    <a:pt x="20" y="146"/>
                  </a:lnTo>
                  <a:lnTo>
                    <a:pt x="27" y="143"/>
                  </a:lnTo>
                  <a:lnTo>
                    <a:pt x="32" y="139"/>
                  </a:lnTo>
                  <a:lnTo>
                    <a:pt x="36" y="137"/>
                  </a:lnTo>
                  <a:lnTo>
                    <a:pt x="39" y="138"/>
                  </a:lnTo>
                  <a:lnTo>
                    <a:pt x="44" y="143"/>
                  </a:lnTo>
                  <a:lnTo>
                    <a:pt x="50" y="146"/>
                  </a:lnTo>
                  <a:lnTo>
                    <a:pt x="55" y="145"/>
                  </a:lnTo>
                  <a:lnTo>
                    <a:pt x="60" y="135"/>
                  </a:lnTo>
                  <a:lnTo>
                    <a:pt x="66" y="124"/>
                  </a:lnTo>
                  <a:lnTo>
                    <a:pt x="75" y="119"/>
                  </a:lnTo>
                  <a:lnTo>
                    <a:pt x="83" y="116"/>
                  </a:lnTo>
                  <a:lnTo>
                    <a:pt x="87" y="111"/>
                  </a:lnTo>
                  <a:lnTo>
                    <a:pt x="87" y="104"/>
                  </a:lnTo>
                  <a:lnTo>
                    <a:pt x="87" y="99"/>
                  </a:lnTo>
                  <a:lnTo>
                    <a:pt x="91" y="96"/>
                  </a:lnTo>
                  <a:lnTo>
                    <a:pt x="104" y="92"/>
                  </a:lnTo>
                  <a:lnTo>
                    <a:pt x="112" y="90"/>
                  </a:lnTo>
                  <a:lnTo>
                    <a:pt x="120" y="89"/>
                  </a:lnTo>
                  <a:lnTo>
                    <a:pt x="128" y="86"/>
                  </a:lnTo>
                  <a:lnTo>
                    <a:pt x="135" y="84"/>
                  </a:lnTo>
                  <a:lnTo>
                    <a:pt x="140" y="82"/>
                  </a:lnTo>
                  <a:lnTo>
                    <a:pt x="144" y="78"/>
                  </a:lnTo>
                  <a:lnTo>
                    <a:pt x="146" y="75"/>
                  </a:lnTo>
                  <a:lnTo>
                    <a:pt x="148" y="71"/>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46" name="Freeform 143">
              <a:extLst>
                <a:ext uri="{FF2B5EF4-FFF2-40B4-BE49-F238E27FC236}">
                  <a16:creationId xmlns:a16="http://schemas.microsoft.com/office/drawing/2014/main" id="{820B17AD-958A-0B28-0330-A34F9CBE3B83}"/>
                </a:ext>
              </a:extLst>
            </p:cNvPr>
            <p:cNvSpPr>
              <a:spLocks/>
            </p:cNvSpPr>
            <p:nvPr/>
          </p:nvSpPr>
          <p:spPr bwMode="auto">
            <a:xfrm>
              <a:off x="2195932" y="1313792"/>
              <a:ext cx="173057" cy="111837"/>
            </a:xfrm>
            <a:custGeom>
              <a:avLst/>
              <a:gdLst>
                <a:gd name="T0" fmla="*/ 2147483647 w 133"/>
                <a:gd name="T1" fmla="*/ 2147483647 h 91"/>
                <a:gd name="T2" fmla="*/ 2147483647 w 133"/>
                <a:gd name="T3" fmla="*/ 2147483647 h 91"/>
                <a:gd name="T4" fmla="*/ 2147483647 w 133"/>
                <a:gd name="T5" fmla="*/ 2147483647 h 91"/>
                <a:gd name="T6" fmla="*/ 2147483647 w 133"/>
                <a:gd name="T7" fmla="*/ 2147483647 h 91"/>
                <a:gd name="T8" fmla="*/ 2147483647 w 133"/>
                <a:gd name="T9" fmla="*/ 2147483647 h 91"/>
                <a:gd name="T10" fmla="*/ 2147483647 w 133"/>
                <a:gd name="T11" fmla="*/ 2147483647 h 91"/>
                <a:gd name="T12" fmla="*/ 2147483647 w 133"/>
                <a:gd name="T13" fmla="*/ 2147483647 h 91"/>
                <a:gd name="T14" fmla="*/ 2147483647 w 133"/>
                <a:gd name="T15" fmla="*/ 2147483647 h 91"/>
                <a:gd name="T16" fmla="*/ 2147483647 w 133"/>
                <a:gd name="T17" fmla="*/ 2147483647 h 91"/>
                <a:gd name="T18" fmla="*/ 2147483647 w 133"/>
                <a:gd name="T19" fmla="*/ 2147483647 h 91"/>
                <a:gd name="T20" fmla="*/ 2147483647 w 133"/>
                <a:gd name="T21" fmla="*/ 2147483647 h 91"/>
                <a:gd name="T22" fmla="*/ 2147483647 w 133"/>
                <a:gd name="T23" fmla="*/ 2147483647 h 91"/>
                <a:gd name="T24" fmla="*/ 2147483647 w 133"/>
                <a:gd name="T25" fmla="*/ 2147483647 h 91"/>
                <a:gd name="T26" fmla="*/ 2147483647 w 133"/>
                <a:gd name="T27" fmla="*/ 2147483647 h 91"/>
                <a:gd name="T28" fmla="*/ 2147483647 w 133"/>
                <a:gd name="T29" fmla="*/ 2147483647 h 91"/>
                <a:gd name="T30" fmla="*/ 2147483647 w 133"/>
                <a:gd name="T31" fmla="*/ 2147483647 h 91"/>
                <a:gd name="T32" fmla="*/ 2147483647 w 133"/>
                <a:gd name="T33" fmla="*/ 2147483647 h 91"/>
                <a:gd name="T34" fmla="*/ 2147483647 w 133"/>
                <a:gd name="T35" fmla="*/ 2147483647 h 91"/>
                <a:gd name="T36" fmla="*/ 2147483647 w 133"/>
                <a:gd name="T37" fmla="*/ 2147483647 h 91"/>
                <a:gd name="T38" fmla="*/ 2147483647 w 133"/>
                <a:gd name="T39" fmla="*/ 2147483647 h 91"/>
                <a:gd name="T40" fmla="*/ 2147483647 w 133"/>
                <a:gd name="T41" fmla="*/ 2147483647 h 91"/>
                <a:gd name="T42" fmla="*/ 2147483647 w 133"/>
                <a:gd name="T43" fmla="*/ 2147483647 h 91"/>
                <a:gd name="T44" fmla="*/ 2147483647 w 133"/>
                <a:gd name="T45" fmla="*/ 2147483647 h 91"/>
                <a:gd name="T46" fmla="*/ 2147483647 w 133"/>
                <a:gd name="T47" fmla="*/ 2147483647 h 91"/>
                <a:gd name="T48" fmla="*/ 2147483647 w 133"/>
                <a:gd name="T49" fmla="*/ 2147483647 h 91"/>
                <a:gd name="T50" fmla="*/ 2147483647 w 133"/>
                <a:gd name="T51" fmla="*/ 2147483647 h 91"/>
                <a:gd name="T52" fmla="*/ 2147483647 w 133"/>
                <a:gd name="T53" fmla="*/ 2147483647 h 91"/>
                <a:gd name="T54" fmla="*/ 2147483647 w 133"/>
                <a:gd name="T55" fmla="*/ 2147483647 h 91"/>
                <a:gd name="T56" fmla="*/ 0 w 133"/>
                <a:gd name="T57" fmla="*/ 2147483647 h 91"/>
                <a:gd name="T58" fmla="*/ 2147483647 w 133"/>
                <a:gd name="T59" fmla="*/ 2147483647 h 91"/>
                <a:gd name="T60" fmla="*/ 2147483647 w 133"/>
                <a:gd name="T61" fmla="*/ 2147483647 h 91"/>
                <a:gd name="T62" fmla="*/ 2147483647 w 133"/>
                <a:gd name="T63" fmla="*/ 2147483647 h 91"/>
                <a:gd name="T64" fmla="*/ 2147483647 w 133"/>
                <a:gd name="T65" fmla="*/ 2147483647 h 91"/>
                <a:gd name="T66" fmla="*/ 2147483647 w 133"/>
                <a:gd name="T67" fmla="*/ 2147483647 h 91"/>
                <a:gd name="T68" fmla="*/ 2147483647 w 133"/>
                <a:gd name="T69" fmla="*/ 0 h 91"/>
                <a:gd name="T70" fmla="*/ 2147483647 w 133"/>
                <a:gd name="T71" fmla="*/ 2147483647 h 91"/>
                <a:gd name="T72" fmla="*/ 2147483647 w 133"/>
                <a:gd name="T73" fmla="*/ 2147483647 h 91"/>
                <a:gd name="T74" fmla="*/ 2147483647 w 133"/>
                <a:gd name="T75" fmla="*/ 2147483647 h 91"/>
                <a:gd name="T76" fmla="*/ 2147483647 w 133"/>
                <a:gd name="T77" fmla="*/ 2147483647 h 91"/>
                <a:gd name="T78" fmla="*/ 2147483647 w 133"/>
                <a:gd name="T79" fmla="*/ 2147483647 h 91"/>
                <a:gd name="T80" fmla="*/ 2147483647 w 133"/>
                <a:gd name="T81" fmla="*/ 2147483647 h 91"/>
                <a:gd name="T82" fmla="*/ 2147483647 w 133"/>
                <a:gd name="T83" fmla="*/ 2147483647 h 91"/>
                <a:gd name="T84" fmla="*/ 2147483647 w 133"/>
                <a:gd name="T85" fmla="*/ 2147483647 h 91"/>
                <a:gd name="T86" fmla="*/ 2147483647 w 133"/>
                <a:gd name="T87" fmla="*/ 2147483647 h 91"/>
                <a:gd name="T88" fmla="*/ 2147483647 w 133"/>
                <a:gd name="T89" fmla="*/ 2147483647 h 91"/>
                <a:gd name="T90" fmla="*/ 2147483647 w 133"/>
                <a:gd name="T91" fmla="*/ 2147483647 h 91"/>
                <a:gd name="T92" fmla="*/ 2147483647 w 133"/>
                <a:gd name="T93" fmla="*/ 2147483647 h 91"/>
                <a:gd name="T94" fmla="*/ 2147483647 w 133"/>
                <a:gd name="T95" fmla="*/ 2147483647 h 91"/>
                <a:gd name="T96" fmla="*/ 2147483647 w 133"/>
                <a:gd name="T97" fmla="*/ 2147483647 h 91"/>
                <a:gd name="T98" fmla="*/ 2147483647 w 133"/>
                <a:gd name="T99" fmla="*/ 2147483647 h 91"/>
                <a:gd name="T100" fmla="*/ 2147483647 w 133"/>
                <a:gd name="T101" fmla="*/ 2147483647 h 91"/>
                <a:gd name="T102" fmla="*/ 2147483647 w 133"/>
                <a:gd name="T103" fmla="*/ 2147483647 h 9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133" h="91">
                  <a:moveTo>
                    <a:pt x="104" y="0"/>
                  </a:moveTo>
                  <a:lnTo>
                    <a:pt x="104" y="4"/>
                  </a:lnTo>
                  <a:lnTo>
                    <a:pt x="103" y="13"/>
                  </a:lnTo>
                  <a:lnTo>
                    <a:pt x="103" y="23"/>
                  </a:lnTo>
                  <a:lnTo>
                    <a:pt x="102" y="30"/>
                  </a:lnTo>
                  <a:lnTo>
                    <a:pt x="101" y="35"/>
                  </a:lnTo>
                  <a:lnTo>
                    <a:pt x="101" y="39"/>
                  </a:lnTo>
                  <a:lnTo>
                    <a:pt x="102" y="44"/>
                  </a:lnTo>
                  <a:lnTo>
                    <a:pt x="107" y="46"/>
                  </a:lnTo>
                  <a:lnTo>
                    <a:pt x="111" y="43"/>
                  </a:lnTo>
                  <a:lnTo>
                    <a:pt x="113" y="37"/>
                  </a:lnTo>
                  <a:lnTo>
                    <a:pt x="115" y="34"/>
                  </a:lnTo>
                  <a:lnTo>
                    <a:pt x="121" y="36"/>
                  </a:lnTo>
                  <a:lnTo>
                    <a:pt x="128" y="42"/>
                  </a:lnTo>
                  <a:lnTo>
                    <a:pt x="132" y="45"/>
                  </a:lnTo>
                  <a:lnTo>
                    <a:pt x="133" y="49"/>
                  </a:lnTo>
                  <a:lnTo>
                    <a:pt x="132" y="54"/>
                  </a:lnTo>
                  <a:lnTo>
                    <a:pt x="132" y="60"/>
                  </a:lnTo>
                  <a:lnTo>
                    <a:pt x="132" y="62"/>
                  </a:lnTo>
                  <a:lnTo>
                    <a:pt x="131" y="66"/>
                  </a:lnTo>
                  <a:lnTo>
                    <a:pt x="128" y="72"/>
                  </a:lnTo>
                  <a:lnTo>
                    <a:pt x="123" y="78"/>
                  </a:lnTo>
                  <a:lnTo>
                    <a:pt x="121" y="82"/>
                  </a:lnTo>
                  <a:lnTo>
                    <a:pt x="116" y="84"/>
                  </a:lnTo>
                  <a:lnTo>
                    <a:pt x="107" y="83"/>
                  </a:lnTo>
                  <a:lnTo>
                    <a:pt x="96" y="81"/>
                  </a:lnTo>
                  <a:lnTo>
                    <a:pt x="88" y="78"/>
                  </a:lnTo>
                  <a:lnTo>
                    <a:pt x="83" y="77"/>
                  </a:lnTo>
                  <a:lnTo>
                    <a:pt x="79" y="80"/>
                  </a:lnTo>
                  <a:lnTo>
                    <a:pt x="76" y="83"/>
                  </a:lnTo>
                  <a:lnTo>
                    <a:pt x="72" y="85"/>
                  </a:lnTo>
                  <a:lnTo>
                    <a:pt x="68" y="88"/>
                  </a:lnTo>
                  <a:lnTo>
                    <a:pt x="61" y="90"/>
                  </a:lnTo>
                  <a:lnTo>
                    <a:pt x="54" y="91"/>
                  </a:lnTo>
                  <a:lnTo>
                    <a:pt x="49" y="91"/>
                  </a:lnTo>
                  <a:lnTo>
                    <a:pt x="45" y="91"/>
                  </a:lnTo>
                  <a:lnTo>
                    <a:pt x="39" y="91"/>
                  </a:lnTo>
                  <a:lnTo>
                    <a:pt x="32" y="89"/>
                  </a:lnTo>
                  <a:lnTo>
                    <a:pt x="24" y="85"/>
                  </a:lnTo>
                  <a:lnTo>
                    <a:pt x="18" y="82"/>
                  </a:lnTo>
                  <a:lnTo>
                    <a:pt x="19" y="78"/>
                  </a:lnTo>
                  <a:lnTo>
                    <a:pt x="25" y="77"/>
                  </a:lnTo>
                  <a:lnTo>
                    <a:pt x="32" y="77"/>
                  </a:lnTo>
                  <a:lnTo>
                    <a:pt x="38" y="77"/>
                  </a:lnTo>
                  <a:lnTo>
                    <a:pt x="43" y="75"/>
                  </a:lnTo>
                  <a:lnTo>
                    <a:pt x="48" y="70"/>
                  </a:lnTo>
                  <a:lnTo>
                    <a:pt x="49" y="64"/>
                  </a:lnTo>
                  <a:lnTo>
                    <a:pt x="48" y="60"/>
                  </a:lnTo>
                  <a:lnTo>
                    <a:pt x="42" y="60"/>
                  </a:lnTo>
                  <a:lnTo>
                    <a:pt x="35" y="65"/>
                  </a:lnTo>
                  <a:lnTo>
                    <a:pt x="32" y="67"/>
                  </a:lnTo>
                  <a:lnTo>
                    <a:pt x="27" y="67"/>
                  </a:lnTo>
                  <a:lnTo>
                    <a:pt x="20" y="62"/>
                  </a:lnTo>
                  <a:lnTo>
                    <a:pt x="14" y="57"/>
                  </a:lnTo>
                  <a:lnTo>
                    <a:pt x="8" y="53"/>
                  </a:lnTo>
                  <a:lnTo>
                    <a:pt x="4" y="51"/>
                  </a:lnTo>
                  <a:lnTo>
                    <a:pt x="2" y="46"/>
                  </a:lnTo>
                  <a:lnTo>
                    <a:pt x="0" y="42"/>
                  </a:lnTo>
                  <a:lnTo>
                    <a:pt x="0" y="38"/>
                  </a:lnTo>
                  <a:lnTo>
                    <a:pt x="2" y="35"/>
                  </a:lnTo>
                  <a:lnTo>
                    <a:pt x="8" y="30"/>
                  </a:lnTo>
                  <a:lnTo>
                    <a:pt x="12" y="25"/>
                  </a:lnTo>
                  <a:lnTo>
                    <a:pt x="14" y="22"/>
                  </a:lnTo>
                  <a:lnTo>
                    <a:pt x="15" y="20"/>
                  </a:lnTo>
                  <a:lnTo>
                    <a:pt x="18" y="14"/>
                  </a:lnTo>
                  <a:lnTo>
                    <a:pt x="23" y="7"/>
                  </a:lnTo>
                  <a:lnTo>
                    <a:pt x="25" y="4"/>
                  </a:lnTo>
                  <a:lnTo>
                    <a:pt x="28" y="1"/>
                  </a:lnTo>
                  <a:lnTo>
                    <a:pt x="34" y="0"/>
                  </a:lnTo>
                  <a:lnTo>
                    <a:pt x="41" y="0"/>
                  </a:lnTo>
                  <a:lnTo>
                    <a:pt x="45" y="2"/>
                  </a:lnTo>
                  <a:lnTo>
                    <a:pt x="46" y="5"/>
                  </a:lnTo>
                  <a:lnTo>
                    <a:pt x="45" y="8"/>
                  </a:lnTo>
                  <a:lnTo>
                    <a:pt x="46" y="13"/>
                  </a:lnTo>
                  <a:lnTo>
                    <a:pt x="50" y="15"/>
                  </a:lnTo>
                  <a:lnTo>
                    <a:pt x="55" y="19"/>
                  </a:lnTo>
                  <a:lnTo>
                    <a:pt x="56" y="23"/>
                  </a:lnTo>
                  <a:lnTo>
                    <a:pt x="56" y="28"/>
                  </a:lnTo>
                  <a:lnTo>
                    <a:pt x="61" y="31"/>
                  </a:lnTo>
                  <a:lnTo>
                    <a:pt x="65" y="35"/>
                  </a:lnTo>
                  <a:lnTo>
                    <a:pt x="68" y="39"/>
                  </a:lnTo>
                  <a:lnTo>
                    <a:pt x="68" y="44"/>
                  </a:lnTo>
                  <a:lnTo>
                    <a:pt x="68" y="47"/>
                  </a:lnTo>
                  <a:lnTo>
                    <a:pt x="70" y="50"/>
                  </a:lnTo>
                  <a:lnTo>
                    <a:pt x="75" y="52"/>
                  </a:lnTo>
                  <a:lnTo>
                    <a:pt x="80" y="55"/>
                  </a:lnTo>
                  <a:lnTo>
                    <a:pt x="86" y="59"/>
                  </a:lnTo>
                  <a:lnTo>
                    <a:pt x="90" y="59"/>
                  </a:lnTo>
                  <a:lnTo>
                    <a:pt x="91" y="54"/>
                  </a:lnTo>
                  <a:lnTo>
                    <a:pt x="91" y="47"/>
                  </a:lnTo>
                  <a:lnTo>
                    <a:pt x="91" y="42"/>
                  </a:lnTo>
                  <a:lnTo>
                    <a:pt x="91" y="37"/>
                  </a:lnTo>
                  <a:lnTo>
                    <a:pt x="91" y="32"/>
                  </a:lnTo>
                  <a:lnTo>
                    <a:pt x="88" y="30"/>
                  </a:lnTo>
                  <a:lnTo>
                    <a:pt x="86" y="30"/>
                  </a:lnTo>
                  <a:lnTo>
                    <a:pt x="85" y="29"/>
                  </a:lnTo>
                  <a:lnTo>
                    <a:pt x="84" y="24"/>
                  </a:lnTo>
                  <a:lnTo>
                    <a:pt x="84" y="19"/>
                  </a:lnTo>
                  <a:lnTo>
                    <a:pt x="84" y="14"/>
                  </a:lnTo>
                  <a:lnTo>
                    <a:pt x="85" y="11"/>
                  </a:lnTo>
                  <a:lnTo>
                    <a:pt x="88" y="8"/>
                  </a:lnTo>
                  <a:lnTo>
                    <a:pt x="94" y="6"/>
                  </a:lnTo>
                  <a:lnTo>
                    <a:pt x="99" y="4"/>
                  </a:lnTo>
                  <a:lnTo>
                    <a:pt x="103" y="1"/>
                  </a:lnTo>
                  <a:lnTo>
                    <a:pt x="104"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47" name="Freeform 144">
              <a:extLst>
                <a:ext uri="{FF2B5EF4-FFF2-40B4-BE49-F238E27FC236}">
                  <a16:creationId xmlns:a16="http://schemas.microsoft.com/office/drawing/2014/main" id="{634917F9-9371-4EA1-0825-E549C17E088E}"/>
                </a:ext>
              </a:extLst>
            </p:cNvPr>
            <p:cNvSpPr>
              <a:spLocks/>
            </p:cNvSpPr>
            <p:nvPr/>
          </p:nvSpPr>
          <p:spPr bwMode="auto">
            <a:xfrm>
              <a:off x="2123667" y="1255030"/>
              <a:ext cx="131220" cy="73927"/>
            </a:xfrm>
            <a:custGeom>
              <a:avLst/>
              <a:gdLst>
                <a:gd name="T0" fmla="*/ 2147483647 w 102"/>
                <a:gd name="T1" fmla="*/ 2147483647 h 60"/>
                <a:gd name="T2" fmla="*/ 2147483647 w 102"/>
                <a:gd name="T3" fmla="*/ 2147483647 h 60"/>
                <a:gd name="T4" fmla="*/ 2147483647 w 102"/>
                <a:gd name="T5" fmla="*/ 2147483647 h 60"/>
                <a:gd name="T6" fmla="*/ 2147483647 w 102"/>
                <a:gd name="T7" fmla="*/ 2147483647 h 60"/>
                <a:gd name="T8" fmla="*/ 2147483647 w 102"/>
                <a:gd name="T9" fmla="*/ 2147483647 h 60"/>
                <a:gd name="T10" fmla="*/ 2147483647 w 102"/>
                <a:gd name="T11" fmla="*/ 2147483647 h 60"/>
                <a:gd name="T12" fmla="*/ 2147483647 w 102"/>
                <a:gd name="T13" fmla="*/ 2147483647 h 60"/>
                <a:gd name="T14" fmla="*/ 2147483647 w 102"/>
                <a:gd name="T15" fmla="*/ 2147483647 h 60"/>
                <a:gd name="T16" fmla="*/ 2147483647 w 102"/>
                <a:gd name="T17" fmla="*/ 2147483647 h 60"/>
                <a:gd name="T18" fmla="*/ 2147483647 w 102"/>
                <a:gd name="T19" fmla="*/ 2147483647 h 60"/>
                <a:gd name="T20" fmla="*/ 2147483647 w 102"/>
                <a:gd name="T21" fmla="*/ 2147483647 h 60"/>
                <a:gd name="T22" fmla="*/ 2147483647 w 102"/>
                <a:gd name="T23" fmla="*/ 2147483647 h 60"/>
                <a:gd name="T24" fmla="*/ 2147483647 w 102"/>
                <a:gd name="T25" fmla="*/ 2147483647 h 60"/>
                <a:gd name="T26" fmla="*/ 2147483647 w 102"/>
                <a:gd name="T27" fmla="*/ 2147483647 h 60"/>
                <a:gd name="T28" fmla="*/ 2147483647 w 102"/>
                <a:gd name="T29" fmla="*/ 2147483647 h 60"/>
                <a:gd name="T30" fmla="*/ 2147483647 w 102"/>
                <a:gd name="T31" fmla="*/ 2147483647 h 60"/>
                <a:gd name="T32" fmla="*/ 2147483647 w 102"/>
                <a:gd name="T33" fmla="*/ 2147483647 h 60"/>
                <a:gd name="T34" fmla="*/ 2147483647 w 102"/>
                <a:gd name="T35" fmla="*/ 2147483647 h 60"/>
                <a:gd name="T36" fmla="*/ 2147483647 w 102"/>
                <a:gd name="T37" fmla="*/ 2147483647 h 60"/>
                <a:gd name="T38" fmla="*/ 2147483647 w 102"/>
                <a:gd name="T39" fmla="*/ 2147483647 h 60"/>
                <a:gd name="T40" fmla="*/ 2147483647 w 102"/>
                <a:gd name="T41" fmla="*/ 2147483647 h 60"/>
                <a:gd name="T42" fmla="*/ 2147483647 w 102"/>
                <a:gd name="T43" fmla="*/ 2147483647 h 60"/>
                <a:gd name="T44" fmla="*/ 2147483647 w 102"/>
                <a:gd name="T45" fmla="*/ 2147483647 h 60"/>
                <a:gd name="T46" fmla="*/ 0 w 102"/>
                <a:gd name="T47" fmla="*/ 2147483647 h 60"/>
                <a:gd name="T48" fmla="*/ 2147483647 w 102"/>
                <a:gd name="T49" fmla="*/ 2147483647 h 60"/>
                <a:gd name="T50" fmla="*/ 2147483647 w 102"/>
                <a:gd name="T51" fmla="*/ 2147483647 h 60"/>
                <a:gd name="T52" fmla="*/ 2147483647 w 102"/>
                <a:gd name="T53" fmla="*/ 2147483647 h 60"/>
                <a:gd name="T54" fmla="*/ 2147483647 w 102"/>
                <a:gd name="T55" fmla="*/ 2147483647 h 60"/>
                <a:gd name="T56" fmla="*/ 2147483647 w 102"/>
                <a:gd name="T57" fmla="*/ 2147483647 h 60"/>
                <a:gd name="T58" fmla="*/ 2147483647 w 102"/>
                <a:gd name="T59" fmla="*/ 2147483647 h 60"/>
                <a:gd name="T60" fmla="*/ 2147483647 w 102"/>
                <a:gd name="T61" fmla="*/ 2147483647 h 60"/>
                <a:gd name="T62" fmla="*/ 2147483647 w 102"/>
                <a:gd name="T63" fmla="*/ 2147483647 h 60"/>
                <a:gd name="T64" fmla="*/ 2147483647 w 102"/>
                <a:gd name="T65" fmla="*/ 0 h 60"/>
                <a:gd name="T66" fmla="*/ 2147483647 w 102"/>
                <a:gd name="T67" fmla="*/ 0 h 60"/>
                <a:gd name="T68" fmla="*/ 2147483647 w 102"/>
                <a:gd name="T69" fmla="*/ 0 h 60"/>
                <a:gd name="T70" fmla="*/ 2147483647 w 102"/>
                <a:gd name="T71" fmla="*/ 0 h 60"/>
                <a:gd name="T72" fmla="*/ 2147483647 w 102"/>
                <a:gd name="T73" fmla="*/ 0 h 60"/>
                <a:gd name="T74" fmla="*/ 2147483647 w 102"/>
                <a:gd name="T75" fmla="*/ 0 h 60"/>
                <a:gd name="T76" fmla="*/ 2147483647 w 102"/>
                <a:gd name="T77" fmla="*/ 2147483647 h 60"/>
                <a:gd name="T78" fmla="*/ 2147483647 w 102"/>
                <a:gd name="T79" fmla="*/ 2147483647 h 60"/>
                <a:gd name="T80" fmla="*/ 2147483647 w 102"/>
                <a:gd name="T81" fmla="*/ 2147483647 h 60"/>
                <a:gd name="T82" fmla="*/ 2147483647 w 102"/>
                <a:gd name="T83" fmla="*/ 2147483647 h 60"/>
                <a:gd name="T84" fmla="*/ 2147483647 w 102"/>
                <a:gd name="T85" fmla="*/ 2147483647 h 60"/>
                <a:gd name="T86" fmla="*/ 2147483647 w 102"/>
                <a:gd name="T87" fmla="*/ 2147483647 h 60"/>
                <a:gd name="T88" fmla="*/ 2147483647 w 102"/>
                <a:gd name="T89" fmla="*/ 2147483647 h 60"/>
                <a:gd name="T90" fmla="*/ 2147483647 w 102"/>
                <a:gd name="T91" fmla="*/ 2147483647 h 60"/>
                <a:gd name="T92" fmla="*/ 2147483647 w 102"/>
                <a:gd name="T93" fmla="*/ 2147483647 h 60"/>
                <a:gd name="T94" fmla="*/ 2147483647 w 102"/>
                <a:gd name="T95" fmla="*/ 2147483647 h 60"/>
                <a:gd name="T96" fmla="*/ 2147483647 w 102"/>
                <a:gd name="T97" fmla="*/ 2147483647 h 6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02" h="60">
                  <a:moveTo>
                    <a:pt x="76" y="40"/>
                  </a:moveTo>
                  <a:lnTo>
                    <a:pt x="75" y="41"/>
                  </a:lnTo>
                  <a:lnTo>
                    <a:pt x="72" y="45"/>
                  </a:lnTo>
                  <a:lnTo>
                    <a:pt x="68" y="46"/>
                  </a:lnTo>
                  <a:lnTo>
                    <a:pt x="66" y="42"/>
                  </a:lnTo>
                  <a:lnTo>
                    <a:pt x="64" y="35"/>
                  </a:lnTo>
                  <a:lnTo>
                    <a:pt x="61" y="30"/>
                  </a:lnTo>
                  <a:lnTo>
                    <a:pt x="58" y="27"/>
                  </a:lnTo>
                  <a:lnTo>
                    <a:pt x="56" y="31"/>
                  </a:lnTo>
                  <a:lnTo>
                    <a:pt x="55" y="38"/>
                  </a:lnTo>
                  <a:lnTo>
                    <a:pt x="55" y="44"/>
                  </a:lnTo>
                  <a:lnTo>
                    <a:pt x="53" y="47"/>
                  </a:lnTo>
                  <a:lnTo>
                    <a:pt x="48" y="47"/>
                  </a:lnTo>
                  <a:lnTo>
                    <a:pt x="42" y="47"/>
                  </a:lnTo>
                  <a:lnTo>
                    <a:pt x="38" y="52"/>
                  </a:lnTo>
                  <a:lnTo>
                    <a:pt x="38" y="57"/>
                  </a:lnTo>
                  <a:lnTo>
                    <a:pt x="38" y="60"/>
                  </a:lnTo>
                  <a:lnTo>
                    <a:pt x="37" y="57"/>
                  </a:lnTo>
                  <a:lnTo>
                    <a:pt x="33" y="54"/>
                  </a:lnTo>
                  <a:lnTo>
                    <a:pt x="27" y="50"/>
                  </a:lnTo>
                  <a:lnTo>
                    <a:pt x="22" y="48"/>
                  </a:lnTo>
                  <a:lnTo>
                    <a:pt x="15" y="48"/>
                  </a:lnTo>
                  <a:lnTo>
                    <a:pt x="6" y="48"/>
                  </a:lnTo>
                  <a:lnTo>
                    <a:pt x="0" y="46"/>
                  </a:lnTo>
                  <a:lnTo>
                    <a:pt x="4" y="40"/>
                  </a:lnTo>
                  <a:lnTo>
                    <a:pt x="11" y="34"/>
                  </a:lnTo>
                  <a:lnTo>
                    <a:pt x="17" y="30"/>
                  </a:lnTo>
                  <a:lnTo>
                    <a:pt x="23" y="25"/>
                  </a:lnTo>
                  <a:lnTo>
                    <a:pt x="35" y="19"/>
                  </a:lnTo>
                  <a:lnTo>
                    <a:pt x="46" y="12"/>
                  </a:lnTo>
                  <a:lnTo>
                    <a:pt x="55" y="7"/>
                  </a:lnTo>
                  <a:lnTo>
                    <a:pt x="60" y="2"/>
                  </a:lnTo>
                  <a:lnTo>
                    <a:pt x="68" y="0"/>
                  </a:lnTo>
                  <a:lnTo>
                    <a:pt x="76" y="0"/>
                  </a:lnTo>
                  <a:lnTo>
                    <a:pt x="80" y="0"/>
                  </a:lnTo>
                  <a:lnTo>
                    <a:pt x="83" y="0"/>
                  </a:lnTo>
                  <a:lnTo>
                    <a:pt x="87" y="0"/>
                  </a:lnTo>
                  <a:lnTo>
                    <a:pt x="93" y="0"/>
                  </a:lnTo>
                  <a:lnTo>
                    <a:pt x="98" y="2"/>
                  </a:lnTo>
                  <a:lnTo>
                    <a:pt x="102" y="6"/>
                  </a:lnTo>
                  <a:lnTo>
                    <a:pt x="99" y="10"/>
                  </a:lnTo>
                  <a:lnTo>
                    <a:pt x="95" y="15"/>
                  </a:lnTo>
                  <a:lnTo>
                    <a:pt x="93" y="17"/>
                  </a:lnTo>
                  <a:lnTo>
                    <a:pt x="93" y="19"/>
                  </a:lnTo>
                  <a:lnTo>
                    <a:pt x="91" y="24"/>
                  </a:lnTo>
                  <a:lnTo>
                    <a:pt x="89" y="31"/>
                  </a:lnTo>
                  <a:lnTo>
                    <a:pt x="86" y="35"/>
                  </a:lnTo>
                  <a:lnTo>
                    <a:pt x="81" y="39"/>
                  </a:lnTo>
                  <a:lnTo>
                    <a:pt x="76" y="4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48" name="Freeform 145">
              <a:extLst>
                <a:ext uri="{FF2B5EF4-FFF2-40B4-BE49-F238E27FC236}">
                  <a16:creationId xmlns:a16="http://schemas.microsoft.com/office/drawing/2014/main" id="{BD3DCFA7-FC65-E553-6DB8-0BEFCDFFE5F2}"/>
                </a:ext>
              </a:extLst>
            </p:cNvPr>
            <p:cNvSpPr>
              <a:spLocks/>
            </p:cNvSpPr>
            <p:nvPr/>
          </p:nvSpPr>
          <p:spPr bwMode="auto">
            <a:xfrm>
              <a:off x="2382301" y="1328957"/>
              <a:ext cx="110300" cy="96672"/>
            </a:xfrm>
            <a:custGeom>
              <a:avLst/>
              <a:gdLst>
                <a:gd name="T0" fmla="*/ 2147483647 w 86"/>
                <a:gd name="T1" fmla="*/ 2147483647 h 80"/>
                <a:gd name="T2" fmla="*/ 2147483647 w 86"/>
                <a:gd name="T3" fmla="*/ 0 h 80"/>
                <a:gd name="T4" fmla="*/ 2147483647 w 86"/>
                <a:gd name="T5" fmla="*/ 2147483647 h 80"/>
                <a:gd name="T6" fmla="*/ 2147483647 w 86"/>
                <a:gd name="T7" fmla="*/ 2147483647 h 80"/>
                <a:gd name="T8" fmla="*/ 2147483647 w 86"/>
                <a:gd name="T9" fmla="*/ 2147483647 h 80"/>
                <a:gd name="T10" fmla="*/ 2147483647 w 86"/>
                <a:gd name="T11" fmla="*/ 2147483647 h 80"/>
                <a:gd name="T12" fmla="*/ 2147483647 w 86"/>
                <a:gd name="T13" fmla="*/ 2147483647 h 80"/>
                <a:gd name="T14" fmla="*/ 2147483647 w 86"/>
                <a:gd name="T15" fmla="*/ 2147483647 h 80"/>
                <a:gd name="T16" fmla="*/ 2147483647 w 86"/>
                <a:gd name="T17" fmla="*/ 2147483647 h 80"/>
                <a:gd name="T18" fmla="*/ 2147483647 w 86"/>
                <a:gd name="T19" fmla="*/ 2147483647 h 80"/>
                <a:gd name="T20" fmla="*/ 2147483647 w 86"/>
                <a:gd name="T21" fmla="*/ 2147483647 h 80"/>
                <a:gd name="T22" fmla="*/ 2147483647 w 86"/>
                <a:gd name="T23" fmla="*/ 2147483647 h 80"/>
                <a:gd name="T24" fmla="*/ 2147483647 w 86"/>
                <a:gd name="T25" fmla="*/ 2147483647 h 80"/>
                <a:gd name="T26" fmla="*/ 2147483647 w 86"/>
                <a:gd name="T27" fmla="*/ 2147483647 h 80"/>
                <a:gd name="T28" fmla="*/ 2147483647 w 86"/>
                <a:gd name="T29" fmla="*/ 2147483647 h 80"/>
                <a:gd name="T30" fmla="*/ 2147483647 w 86"/>
                <a:gd name="T31" fmla="*/ 2147483647 h 80"/>
                <a:gd name="T32" fmla="*/ 2147483647 w 86"/>
                <a:gd name="T33" fmla="*/ 2147483647 h 80"/>
                <a:gd name="T34" fmla="*/ 2147483647 w 86"/>
                <a:gd name="T35" fmla="*/ 2147483647 h 80"/>
                <a:gd name="T36" fmla="*/ 2147483647 w 86"/>
                <a:gd name="T37" fmla="*/ 2147483647 h 80"/>
                <a:gd name="T38" fmla="*/ 2147483647 w 86"/>
                <a:gd name="T39" fmla="*/ 2147483647 h 80"/>
                <a:gd name="T40" fmla="*/ 2147483647 w 86"/>
                <a:gd name="T41" fmla="*/ 2147483647 h 80"/>
                <a:gd name="T42" fmla="*/ 2147483647 w 86"/>
                <a:gd name="T43" fmla="*/ 2147483647 h 80"/>
                <a:gd name="T44" fmla="*/ 2147483647 w 86"/>
                <a:gd name="T45" fmla="*/ 2147483647 h 80"/>
                <a:gd name="T46" fmla="*/ 2147483647 w 86"/>
                <a:gd name="T47" fmla="*/ 2147483647 h 80"/>
                <a:gd name="T48" fmla="*/ 2147483647 w 86"/>
                <a:gd name="T49" fmla="*/ 2147483647 h 80"/>
                <a:gd name="T50" fmla="*/ 2147483647 w 86"/>
                <a:gd name="T51" fmla="*/ 2147483647 h 80"/>
                <a:gd name="T52" fmla="*/ 2147483647 w 86"/>
                <a:gd name="T53" fmla="*/ 2147483647 h 80"/>
                <a:gd name="T54" fmla="*/ 2147483647 w 86"/>
                <a:gd name="T55" fmla="*/ 2147483647 h 80"/>
                <a:gd name="T56" fmla="*/ 2147483647 w 86"/>
                <a:gd name="T57" fmla="*/ 2147483647 h 80"/>
                <a:gd name="T58" fmla="*/ 2147483647 w 86"/>
                <a:gd name="T59" fmla="*/ 2147483647 h 80"/>
                <a:gd name="T60" fmla="*/ 2147483647 w 86"/>
                <a:gd name="T61" fmla="*/ 2147483647 h 80"/>
                <a:gd name="T62" fmla="*/ 2147483647 w 86"/>
                <a:gd name="T63" fmla="*/ 2147483647 h 80"/>
                <a:gd name="T64" fmla="*/ 2147483647 w 86"/>
                <a:gd name="T65" fmla="*/ 2147483647 h 80"/>
                <a:gd name="T66" fmla="*/ 2147483647 w 86"/>
                <a:gd name="T67" fmla="*/ 2147483647 h 8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86" h="80">
                  <a:moveTo>
                    <a:pt x="20" y="16"/>
                  </a:moveTo>
                  <a:lnTo>
                    <a:pt x="17" y="12"/>
                  </a:lnTo>
                  <a:lnTo>
                    <a:pt x="10" y="5"/>
                  </a:lnTo>
                  <a:lnTo>
                    <a:pt x="3" y="0"/>
                  </a:lnTo>
                  <a:lnTo>
                    <a:pt x="0" y="2"/>
                  </a:lnTo>
                  <a:lnTo>
                    <a:pt x="1" y="9"/>
                  </a:lnTo>
                  <a:lnTo>
                    <a:pt x="2" y="15"/>
                  </a:lnTo>
                  <a:lnTo>
                    <a:pt x="3" y="22"/>
                  </a:lnTo>
                  <a:lnTo>
                    <a:pt x="4" y="27"/>
                  </a:lnTo>
                  <a:lnTo>
                    <a:pt x="5" y="33"/>
                  </a:lnTo>
                  <a:lnTo>
                    <a:pt x="8" y="38"/>
                  </a:lnTo>
                  <a:lnTo>
                    <a:pt x="11" y="41"/>
                  </a:lnTo>
                  <a:lnTo>
                    <a:pt x="15" y="42"/>
                  </a:lnTo>
                  <a:lnTo>
                    <a:pt x="18" y="42"/>
                  </a:lnTo>
                  <a:lnTo>
                    <a:pt x="22" y="42"/>
                  </a:lnTo>
                  <a:lnTo>
                    <a:pt x="24" y="43"/>
                  </a:lnTo>
                  <a:lnTo>
                    <a:pt x="23" y="47"/>
                  </a:lnTo>
                  <a:lnTo>
                    <a:pt x="20" y="52"/>
                  </a:lnTo>
                  <a:lnTo>
                    <a:pt x="22" y="54"/>
                  </a:lnTo>
                  <a:lnTo>
                    <a:pt x="24" y="54"/>
                  </a:lnTo>
                  <a:lnTo>
                    <a:pt x="31" y="54"/>
                  </a:lnTo>
                  <a:lnTo>
                    <a:pt x="38" y="53"/>
                  </a:lnTo>
                  <a:lnTo>
                    <a:pt x="41" y="53"/>
                  </a:lnTo>
                  <a:lnTo>
                    <a:pt x="42" y="54"/>
                  </a:lnTo>
                  <a:lnTo>
                    <a:pt x="42" y="58"/>
                  </a:lnTo>
                  <a:lnTo>
                    <a:pt x="40" y="65"/>
                  </a:lnTo>
                  <a:lnTo>
                    <a:pt x="38" y="73"/>
                  </a:lnTo>
                  <a:lnTo>
                    <a:pt x="38" y="79"/>
                  </a:lnTo>
                  <a:lnTo>
                    <a:pt x="43" y="80"/>
                  </a:lnTo>
                  <a:lnTo>
                    <a:pt x="54" y="77"/>
                  </a:lnTo>
                  <a:lnTo>
                    <a:pt x="64" y="72"/>
                  </a:lnTo>
                  <a:lnTo>
                    <a:pt x="72" y="66"/>
                  </a:lnTo>
                  <a:lnTo>
                    <a:pt x="76" y="64"/>
                  </a:lnTo>
                  <a:lnTo>
                    <a:pt x="75" y="62"/>
                  </a:lnTo>
                  <a:lnTo>
                    <a:pt x="72" y="57"/>
                  </a:lnTo>
                  <a:lnTo>
                    <a:pt x="72" y="54"/>
                  </a:lnTo>
                  <a:lnTo>
                    <a:pt x="75" y="54"/>
                  </a:lnTo>
                  <a:lnTo>
                    <a:pt x="79" y="56"/>
                  </a:lnTo>
                  <a:lnTo>
                    <a:pt x="84" y="58"/>
                  </a:lnTo>
                  <a:lnTo>
                    <a:pt x="86" y="57"/>
                  </a:lnTo>
                  <a:lnTo>
                    <a:pt x="83" y="50"/>
                  </a:lnTo>
                  <a:lnTo>
                    <a:pt x="77" y="42"/>
                  </a:lnTo>
                  <a:lnTo>
                    <a:pt x="72" y="39"/>
                  </a:lnTo>
                  <a:lnTo>
                    <a:pt x="71" y="37"/>
                  </a:lnTo>
                  <a:lnTo>
                    <a:pt x="72" y="31"/>
                  </a:lnTo>
                  <a:lnTo>
                    <a:pt x="76" y="22"/>
                  </a:lnTo>
                  <a:lnTo>
                    <a:pt x="77" y="15"/>
                  </a:lnTo>
                  <a:lnTo>
                    <a:pt x="76" y="9"/>
                  </a:lnTo>
                  <a:lnTo>
                    <a:pt x="71" y="7"/>
                  </a:lnTo>
                  <a:lnTo>
                    <a:pt x="65" y="8"/>
                  </a:lnTo>
                  <a:lnTo>
                    <a:pt x="64" y="10"/>
                  </a:lnTo>
                  <a:lnTo>
                    <a:pt x="63" y="12"/>
                  </a:lnTo>
                  <a:lnTo>
                    <a:pt x="60" y="11"/>
                  </a:lnTo>
                  <a:lnTo>
                    <a:pt x="55" y="8"/>
                  </a:lnTo>
                  <a:lnTo>
                    <a:pt x="50" y="3"/>
                  </a:lnTo>
                  <a:lnTo>
                    <a:pt x="47" y="2"/>
                  </a:lnTo>
                  <a:lnTo>
                    <a:pt x="45" y="3"/>
                  </a:lnTo>
                  <a:lnTo>
                    <a:pt x="45" y="7"/>
                  </a:lnTo>
                  <a:lnTo>
                    <a:pt x="47" y="11"/>
                  </a:lnTo>
                  <a:lnTo>
                    <a:pt x="48" y="13"/>
                  </a:lnTo>
                  <a:lnTo>
                    <a:pt x="47" y="16"/>
                  </a:lnTo>
                  <a:lnTo>
                    <a:pt x="43" y="15"/>
                  </a:lnTo>
                  <a:lnTo>
                    <a:pt x="39" y="11"/>
                  </a:lnTo>
                  <a:lnTo>
                    <a:pt x="35" y="9"/>
                  </a:lnTo>
                  <a:lnTo>
                    <a:pt x="32" y="11"/>
                  </a:lnTo>
                  <a:lnTo>
                    <a:pt x="28" y="15"/>
                  </a:lnTo>
                  <a:lnTo>
                    <a:pt x="25" y="16"/>
                  </a:lnTo>
                  <a:lnTo>
                    <a:pt x="22" y="16"/>
                  </a:lnTo>
                  <a:lnTo>
                    <a:pt x="20" y="1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49" name="Freeform 146">
              <a:extLst>
                <a:ext uri="{FF2B5EF4-FFF2-40B4-BE49-F238E27FC236}">
                  <a16:creationId xmlns:a16="http://schemas.microsoft.com/office/drawing/2014/main" id="{2D224216-F47F-DE20-5192-B76AF1422797}"/>
                </a:ext>
              </a:extLst>
            </p:cNvPr>
            <p:cNvSpPr>
              <a:spLocks/>
            </p:cNvSpPr>
            <p:nvPr/>
          </p:nvSpPr>
          <p:spPr bwMode="auto">
            <a:xfrm>
              <a:off x="2494503" y="1387718"/>
              <a:ext cx="43739" cy="54972"/>
            </a:xfrm>
            <a:custGeom>
              <a:avLst/>
              <a:gdLst>
                <a:gd name="T0" fmla="*/ 2147483647 w 34"/>
                <a:gd name="T1" fmla="*/ 2147483647 h 46"/>
                <a:gd name="T2" fmla="*/ 2147483647 w 34"/>
                <a:gd name="T3" fmla="*/ 2147483647 h 46"/>
                <a:gd name="T4" fmla="*/ 2147483647 w 34"/>
                <a:gd name="T5" fmla="*/ 2147483647 h 46"/>
                <a:gd name="T6" fmla="*/ 2147483647 w 34"/>
                <a:gd name="T7" fmla="*/ 2147483647 h 46"/>
                <a:gd name="T8" fmla="*/ 2147483647 w 34"/>
                <a:gd name="T9" fmla="*/ 2147483647 h 46"/>
                <a:gd name="T10" fmla="*/ 2147483647 w 34"/>
                <a:gd name="T11" fmla="*/ 2147483647 h 46"/>
                <a:gd name="T12" fmla="*/ 2147483647 w 34"/>
                <a:gd name="T13" fmla="*/ 2147483647 h 46"/>
                <a:gd name="T14" fmla="*/ 0 w 34"/>
                <a:gd name="T15" fmla="*/ 2147483647 h 46"/>
                <a:gd name="T16" fmla="*/ 2147483647 w 34"/>
                <a:gd name="T17" fmla="*/ 2147483647 h 46"/>
                <a:gd name="T18" fmla="*/ 2147483647 w 34"/>
                <a:gd name="T19" fmla="*/ 2147483647 h 46"/>
                <a:gd name="T20" fmla="*/ 2147483647 w 34"/>
                <a:gd name="T21" fmla="*/ 2147483647 h 46"/>
                <a:gd name="T22" fmla="*/ 2147483647 w 34"/>
                <a:gd name="T23" fmla="*/ 2147483647 h 46"/>
                <a:gd name="T24" fmla="*/ 2147483647 w 34"/>
                <a:gd name="T25" fmla="*/ 2147483647 h 46"/>
                <a:gd name="T26" fmla="*/ 2147483647 w 34"/>
                <a:gd name="T27" fmla="*/ 2147483647 h 46"/>
                <a:gd name="T28" fmla="*/ 2147483647 w 34"/>
                <a:gd name="T29" fmla="*/ 2147483647 h 46"/>
                <a:gd name="T30" fmla="*/ 2147483647 w 34"/>
                <a:gd name="T31" fmla="*/ 2147483647 h 46"/>
                <a:gd name="T32" fmla="*/ 2147483647 w 34"/>
                <a:gd name="T33" fmla="*/ 2147483647 h 46"/>
                <a:gd name="T34" fmla="*/ 2147483647 w 34"/>
                <a:gd name="T35" fmla="*/ 2147483647 h 46"/>
                <a:gd name="T36" fmla="*/ 2147483647 w 34"/>
                <a:gd name="T37" fmla="*/ 2147483647 h 46"/>
                <a:gd name="T38" fmla="*/ 2147483647 w 34"/>
                <a:gd name="T39" fmla="*/ 2147483647 h 46"/>
                <a:gd name="T40" fmla="*/ 2147483647 w 34"/>
                <a:gd name="T41" fmla="*/ 2147483647 h 46"/>
                <a:gd name="T42" fmla="*/ 2147483647 w 34"/>
                <a:gd name="T43" fmla="*/ 2147483647 h 46"/>
                <a:gd name="T44" fmla="*/ 2147483647 w 34"/>
                <a:gd name="T45" fmla="*/ 2147483647 h 46"/>
                <a:gd name="T46" fmla="*/ 2147483647 w 34"/>
                <a:gd name="T47" fmla="*/ 2147483647 h 46"/>
                <a:gd name="T48" fmla="*/ 2147483647 w 34"/>
                <a:gd name="T49" fmla="*/ 0 h 46"/>
                <a:gd name="T50" fmla="*/ 2147483647 w 34"/>
                <a:gd name="T51" fmla="*/ 0 h 46"/>
                <a:gd name="T52" fmla="*/ 2147483647 w 34"/>
                <a:gd name="T53" fmla="*/ 0 h 46"/>
                <a:gd name="T54" fmla="*/ 2147483647 w 34"/>
                <a:gd name="T55" fmla="*/ 2147483647 h 46"/>
                <a:gd name="T56" fmla="*/ 2147483647 w 34"/>
                <a:gd name="T57" fmla="*/ 2147483647 h 4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4" h="46">
                  <a:moveTo>
                    <a:pt x="14" y="4"/>
                  </a:moveTo>
                  <a:lnTo>
                    <a:pt x="14" y="5"/>
                  </a:lnTo>
                  <a:lnTo>
                    <a:pt x="13" y="7"/>
                  </a:lnTo>
                  <a:lnTo>
                    <a:pt x="11" y="12"/>
                  </a:lnTo>
                  <a:lnTo>
                    <a:pt x="7" y="15"/>
                  </a:lnTo>
                  <a:lnTo>
                    <a:pt x="4" y="18"/>
                  </a:lnTo>
                  <a:lnTo>
                    <a:pt x="1" y="23"/>
                  </a:lnTo>
                  <a:lnTo>
                    <a:pt x="0" y="28"/>
                  </a:lnTo>
                  <a:lnTo>
                    <a:pt x="3" y="31"/>
                  </a:lnTo>
                  <a:lnTo>
                    <a:pt x="7" y="35"/>
                  </a:lnTo>
                  <a:lnTo>
                    <a:pt x="12" y="37"/>
                  </a:lnTo>
                  <a:lnTo>
                    <a:pt x="16" y="40"/>
                  </a:lnTo>
                  <a:lnTo>
                    <a:pt x="19" y="44"/>
                  </a:lnTo>
                  <a:lnTo>
                    <a:pt x="22" y="46"/>
                  </a:lnTo>
                  <a:lnTo>
                    <a:pt x="27" y="44"/>
                  </a:lnTo>
                  <a:lnTo>
                    <a:pt x="31" y="40"/>
                  </a:lnTo>
                  <a:lnTo>
                    <a:pt x="34" y="35"/>
                  </a:lnTo>
                  <a:lnTo>
                    <a:pt x="34" y="29"/>
                  </a:lnTo>
                  <a:lnTo>
                    <a:pt x="33" y="24"/>
                  </a:lnTo>
                  <a:lnTo>
                    <a:pt x="30" y="20"/>
                  </a:lnTo>
                  <a:lnTo>
                    <a:pt x="30" y="15"/>
                  </a:lnTo>
                  <a:lnTo>
                    <a:pt x="29" y="9"/>
                  </a:lnTo>
                  <a:lnTo>
                    <a:pt x="27" y="5"/>
                  </a:lnTo>
                  <a:lnTo>
                    <a:pt x="23" y="1"/>
                  </a:lnTo>
                  <a:lnTo>
                    <a:pt x="22" y="0"/>
                  </a:lnTo>
                  <a:lnTo>
                    <a:pt x="21" y="0"/>
                  </a:lnTo>
                  <a:lnTo>
                    <a:pt x="19" y="0"/>
                  </a:lnTo>
                  <a:lnTo>
                    <a:pt x="16" y="1"/>
                  </a:lnTo>
                  <a:lnTo>
                    <a:pt x="14" y="4"/>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50" name="Freeform 147">
              <a:extLst>
                <a:ext uri="{FF2B5EF4-FFF2-40B4-BE49-F238E27FC236}">
                  <a16:creationId xmlns:a16="http://schemas.microsoft.com/office/drawing/2014/main" id="{84122233-A830-8569-E7E6-2C59246B310C}"/>
                </a:ext>
              </a:extLst>
            </p:cNvPr>
            <p:cNvSpPr>
              <a:spLocks/>
            </p:cNvSpPr>
            <p:nvPr/>
          </p:nvSpPr>
          <p:spPr bwMode="auto">
            <a:xfrm>
              <a:off x="2483093" y="1311896"/>
              <a:ext cx="258634" cy="123211"/>
            </a:xfrm>
            <a:custGeom>
              <a:avLst/>
              <a:gdLst>
                <a:gd name="T0" fmla="*/ 2147483647 w 202"/>
                <a:gd name="T1" fmla="*/ 2147483647 h 100"/>
                <a:gd name="T2" fmla="*/ 2147483647 w 202"/>
                <a:gd name="T3" fmla="*/ 2147483647 h 100"/>
                <a:gd name="T4" fmla="*/ 2147483647 w 202"/>
                <a:gd name="T5" fmla="*/ 2147483647 h 100"/>
                <a:gd name="T6" fmla="*/ 2147483647 w 202"/>
                <a:gd name="T7" fmla="*/ 2147483647 h 100"/>
                <a:gd name="T8" fmla="*/ 2147483647 w 202"/>
                <a:gd name="T9" fmla="*/ 2147483647 h 100"/>
                <a:gd name="T10" fmla="*/ 2147483647 w 202"/>
                <a:gd name="T11" fmla="*/ 2147483647 h 100"/>
                <a:gd name="T12" fmla="*/ 2147483647 w 202"/>
                <a:gd name="T13" fmla="*/ 2147483647 h 100"/>
                <a:gd name="T14" fmla="*/ 2147483647 w 202"/>
                <a:gd name="T15" fmla="*/ 2147483647 h 100"/>
                <a:gd name="T16" fmla="*/ 2147483647 w 202"/>
                <a:gd name="T17" fmla="*/ 2147483647 h 100"/>
                <a:gd name="T18" fmla="*/ 2147483647 w 202"/>
                <a:gd name="T19" fmla="*/ 2147483647 h 100"/>
                <a:gd name="T20" fmla="*/ 2147483647 w 202"/>
                <a:gd name="T21" fmla="*/ 2147483647 h 100"/>
                <a:gd name="T22" fmla="*/ 2147483647 w 202"/>
                <a:gd name="T23" fmla="*/ 2147483647 h 100"/>
                <a:gd name="T24" fmla="*/ 2147483647 w 202"/>
                <a:gd name="T25" fmla="*/ 2147483647 h 100"/>
                <a:gd name="T26" fmla="*/ 2147483647 w 202"/>
                <a:gd name="T27" fmla="*/ 2147483647 h 100"/>
                <a:gd name="T28" fmla="*/ 2147483647 w 202"/>
                <a:gd name="T29" fmla="*/ 2147483647 h 100"/>
                <a:gd name="T30" fmla="*/ 2147483647 w 202"/>
                <a:gd name="T31" fmla="*/ 2147483647 h 100"/>
                <a:gd name="T32" fmla="*/ 2147483647 w 202"/>
                <a:gd name="T33" fmla="*/ 2147483647 h 100"/>
                <a:gd name="T34" fmla="*/ 2147483647 w 202"/>
                <a:gd name="T35" fmla="*/ 2147483647 h 100"/>
                <a:gd name="T36" fmla="*/ 2147483647 w 202"/>
                <a:gd name="T37" fmla="*/ 2147483647 h 100"/>
                <a:gd name="T38" fmla="*/ 2147483647 w 202"/>
                <a:gd name="T39" fmla="*/ 2147483647 h 100"/>
                <a:gd name="T40" fmla="*/ 2147483647 w 202"/>
                <a:gd name="T41" fmla="*/ 2147483647 h 100"/>
                <a:gd name="T42" fmla="*/ 2147483647 w 202"/>
                <a:gd name="T43" fmla="*/ 2147483647 h 100"/>
                <a:gd name="T44" fmla="*/ 2147483647 w 202"/>
                <a:gd name="T45" fmla="*/ 2147483647 h 100"/>
                <a:gd name="T46" fmla="*/ 2147483647 w 202"/>
                <a:gd name="T47" fmla="*/ 2147483647 h 100"/>
                <a:gd name="T48" fmla="*/ 2147483647 w 202"/>
                <a:gd name="T49" fmla="*/ 2147483647 h 100"/>
                <a:gd name="T50" fmla="*/ 2147483647 w 202"/>
                <a:gd name="T51" fmla="*/ 2147483647 h 100"/>
                <a:gd name="T52" fmla="*/ 2147483647 w 202"/>
                <a:gd name="T53" fmla="*/ 2147483647 h 100"/>
                <a:gd name="T54" fmla="*/ 0 w 202"/>
                <a:gd name="T55" fmla="*/ 2147483647 h 100"/>
                <a:gd name="T56" fmla="*/ 2147483647 w 202"/>
                <a:gd name="T57" fmla="*/ 2147483647 h 100"/>
                <a:gd name="T58" fmla="*/ 2147483647 w 202"/>
                <a:gd name="T59" fmla="*/ 0 h 100"/>
                <a:gd name="T60" fmla="*/ 2147483647 w 202"/>
                <a:gd name="T61" fmla="*/ 2147483647 h 100"/>
                <a:gd name="T62" fmla="*/ 2147483647 w 202"/>
                <a:gd name="T63" fmla="*/ 2147483647 h 100"/>
                <a:gd name="T64" fmla="*/ 2147483647 w 202"/>
                <a:gd name="T65" fmla="*/ 2147483647 h 100"/>
                <a:gd name="T66" fmla="*/ 2147483647 w 202"/>
                <a:gd name="T67" fmla="*/ 2147483647 h 100"/>
                <a:gd name="T68" fmla="*/ 2147483647 w 202"/>
                <a:gd name="T69" fmla="*/ 2147483647 h 100"/>
                <a:gd name="T70" fmla="*/ 2147483647 w 202"/>
                <a:gd name="T71" fmla="*/ 2147483647 h 100"/>
                <a:gd name="T72" fmla="*/ 2147483647 w 202"/>
                <a:gd name="T73" fmla="*/ 2147483647 h 100"/>
                <a:gd name="T74" fmla="*/ 2147483647 w 202"/>
                <a:gd name="T75" fmla="*/ 2147483647 h 100"/>
                <a:gd name="T76" fmla="*/ 2147483647 w 202"/>
                <a:gd name="T77" fmla="*/ 2147483647 h 100"/>
                <a:gd name="T78" fmla="*/ 2147483647 w 202"/>
                <a:gd name="T79" fmla="*/ 2147483647 h 100"/>
                <a:gd name="T80" fmla="*/ 2147483647 w 202"/>
                <a:gd name="T81" fmla="*/ 2147483647 h 100"/>
                <a:gd name="T82" fmla="*/ 2147483647 w 202"/>
                <a:gd name="T83" fmla="*/ 2147483647 h 100"/>
                <a:gd name="T84" fmla="*/ 2147483647 w 202"/>
                <a:gd name="T85" fmla="*/ 2147483647 h 100"/>
                <a:gd name="T86" fmla="*/ 2147483647 w 202"/>
                <a:gd name="T87" fmla="*/ 2147483647 h 10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02" h="100">
                  <a:moveTo>
                    <a:pt x="166" y="28"/>
                  </a:moveTo>
                  <a:lnTo>
                    <a:pt x="169" y="29"/>
                  </a:lnTo>
                  <a:lnTo>
                    <a:pt x="176" y="30"/>
                  </a:lnTo>
                  <a:lnTo>
                    <a:pt x="184" y="33"/>
                  </a:lnTo>
                  <a:lnTo>
                    <a:pt x="191" y="37"/>
                  </a:lnTo>
                  <a:lnTo>
                    <a:pt x="196" y="41"/>
                  </a:lnTo>
                  <a:lnTo>
                    <a:pt x="198" y="46"/>
                  </a:lnTo>
                  <a:lnTo>
                    <a:pt x="201" y="52"/>
                  </a:lnTo>
                  <a:lnTo>
                    <a:pt x="201" y="60"/>
                  </a:lnTo>
                  <a:lnTo>
                    <a:pt x="201" y="67"/>
                  </a:lnTo>
                  <a:lnTo>
                    <a:pt x="202" y="69"/>
                  </a:lnTo>
                  <a:lnTo>
                    <a:pt x="201" y="73"/>
                  </a:lnTo>
                  <a:lnTo>
                    <a:pt x="196" y="76"/>
                  </a:lnTo>
                  <a:lnTo>
                    <a:pt x="190" y="81"/>
                  </a:lnTo>
                  <a:lnTo>
                    <a:pt x="186" y="84"/>
                  </a:lnTo>
                  <a:lnTo>
                    <a:pt x="180" y="85"/>
                  </a:lnTo>
                  <a:lnTo>
                    <a:pt x="172" y="85"/>
                  </a:lnTo>
                  <a:lnTo>
                    <a:pt x="166" y="84"/>
                  </a:lnTo>
                  <a:lnTo>
                    <a:pt x="163" y="83"/>
                  </a:lnTo>
                  <a:lnTo>
                    <a:pt x="160" y="84"/>
                  </a:lnTo>
                  <a:lnTo>
                    <a:pt x="156" y="88"/>
                  </a:lnTo>
                  <a:lnTo>
                    <a:pt x="152" y="90"/>
                  </a:lnTo>
                  <a:lnTo>
                    <a:pt x="148" y="91"/>
                  </a:lnTo>
                  <a:lnTo>
                    <a:pt x="142" y="92"/>
                  </a:lnTo>
                  <a:lnTo>
                    <a:pt x="136" y="92"/>
                  </a:lnTo>
                  <a:lnTo>
                    <a:pt x="130" y="93"/>
                  </a:lnTo>
                  <a:lnTo>
                    <a:pt x="125" y="93"/>
                  </a:lnTo>
                  <a:lnTo>
                    <a:pt x="120" y="94"/>
                  </a:lnTo>
                  <a:lnTo>
                    <a:pt x="116" y="96"/>
                  </a:lnTo>
                  <a:lnTo>
                    <a:pt x="111" y="98"/>
                  </a:lnTo>
                  <a:lnTo>
                    <a:pt x="106" y="99"/>
                  </a:lnTo>
                  <a:lnTo>
                    <a:pt x="100" y="100"/>
                  </a:lnTo>
                  <a:lnTo>
                    <a:pt x="92" y="100"/>
                  </a:lnTo>
                  <a:lnTo>
                    <a:pt x="84" y="99"/>
                  </a:lnTo>
                  <a:lnTo>
                    <a:pt x="77" y="99"/>
                  </a:lnTo>
                  <a:lnTo>
                    <a:pt x="73" y="97"/>
                  </a:lnTo>
                  <a:lnTo>
                    <a:pt x="68" y="93"/>
                  </a:lnTo>
                  <a:lnTo>
                    <a:pt x="63" y="90"/>
                  </a:lnTo>
                  <a:lnTo>
                    <a:pt x="58" y="85"/>
                  </a:lnTo>
                  <a:lnTo>
                    <a:pt x="53" y="79"/>
                  </a:lnTo>
                  <a:lnTo>
                    <a:pt x="52" y="71"/>
                  </a:lnTo>
                  <a:lnTo>
                    <a:pt x="53" y="61"/>
                  </a:lnTo>
                  <a:lnTo>
                    <a:pt x="53" y="54"/>
                  </a:lnTo>
                  <a:lnTo>
                    <a:pt x="53" y="48"/>
                  </a:lnTo>
                  <a:lnTo>
                    <a:pt x="51" y="44"/>
                  </a:lnTo>
                  <a:lnTo>
                    <a:pt x="49" y="39"/>
                  </a:lnTo>
                  <a:lnTo>
                    <a:pt x="46" y="35"/>
                  </a:lnTo>
                  <a:lnTo>
                    <a:pt x="42" y="32"/>
                  </a:lnTo>
                  <a:lnTo>
                    <a:pt x="36" y="32"/>
                  </a:lnTo>
                  <a:lnTo>
                    <a:pt x="30" y="33"/>
                  </a:lnTo>
                  <a:lnTo>
                    <a:pt x="28" y="35"/>
                  </a:lnTo>
                  <a:lnTo>
                    <a:pt x="24" y="35"/>
                  </a:lnTo>
                  <a:lnTo>
                    <a:pt x="20" y="31"/>
                  </a:lnTo>
                  <a:lnTo>
                    <a:pt x="12" y="25"/>
                  </a:lnTo>
                  <a:lnTo>
                    <a:pt x="5" y="22"/>
                  </a:lnTo>
                  <a:lnTo>
                    <a:pt x="0" y="16"/>
                  </a:lnTo>
                  <a:lnTo>
                    <a:pt x="1" y="9"/>
                  </a:lnTo>
                  <a:lnTo>
                    <a:pt x="7" y="3"/>
                  </a:lnTo>
                  <a:lnTo>
                    <a:pt x="13" y="0"/>
                  </a:lnTo>
                  <a:lnTo>
                    <a:pt x="19" y="0"/>
                  </a:lnTo>
                  <a:lnTo>
                    <a:pt x="24" y="1"/>
                  </a:lnTo>
                  <a:lnTo>
                    <a:pt x="30" y="6"/>
                  </a:lnTo>
                  <a:lnTo>
                    <a:pt x="34" y="12"/>
                  </a:lnTo>
                  <a:lnTo>
                    <a:pt x="37" y="17"/>
                  </a:lnTo>
                  <a:lnTo>
                    <a:pt x="43" y="21"/>
                  </a:lnTo>
                  <a:lnTo>
                    <a:pt x="49" y="20"/>
                  </a:lnTo>
                  <a:lnTo>
                    <a:pt x="52" y="16"/>
                  </a:lnTo>
                  <a:lnTo>
                    <a:pt x="54" y="13"/>
                  </a:lnTo>
                  <a:lnTo>
                    <a:pt x="59" y="12"/>
                  </a:lnTo>
                  <a:lnTo>
                    <a:pt x="63" y="13"/>
                  </a:lnTo>
                  <a:lnTo>
                    <a:pt x="67" y="13"/>
                  </a:lnTo>
                  <a:lnTo>
                    <a:pt x="69" y="16"/>
                  </a:lnTo>
                  <a:lnTo>
                    <a:pt x="70" y="21"/>
                  </a:lnTo>
                  <a:lnTo>
                    <a:pt x="73" y="29"/>
                  </a:lnTo>
                  <a:lnTo>
                    <a:pt x="80" y="36"/>
                  </a:lnTo>
                  <a:lnTo>
                    <a:pt x="85" y="43"/>
                  </a:lnTo>
                  <a:lnTo>
                    <a:pt x="88" y="50"/>
                  </a:lnTo>
                  <a:lnTo>
                    <a:pt x="91" y="53"/>
                  </a:lnTo>
                  <a:lnTo>
                    <a:pt x="100" y="52"/>
                  </a:lnTo>
                  <a:lnTo>
                    <a:pt x="111" y="51"/>
                  </a:lnTo>
                  <a:lnTo>
                    <a:pt x="119" y="52"/>
                  </a:lnTo>
                  <a:lnTo>
                    <a:pt x="123" y="53"/>
                  </a:lnTo>
                  <a:lnTo>
                    <a:pt x="128" y="51"/>
                  </a:lnTo>
                  <a:lnTo>
                    <a:pt x="133" y="46"/>
                  </a:lnTo>
                  <a:lnTo>
                    <a:pt x="138" y="41"/>
                  </a:lnTo>
                  <a:lnTo>
                    <a:pt x="143" y="37"/>
                  </a:lnTo>
                  <a:lnTo>
                    <a:pt x="149" y="32"/>
                  </a:lnTo>
                  <a:lnTo>
                    <a:pt x="154" y="29"/>
                  </a:lnTo>
                  <a:lnTo>
                    <a:pt x="166" y="28"/>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51" name="Freeform 148">
              <a:extLst>
                <a:ext uri="{FF2B5EF4-FFF2-40B4-BE49-F238E27FC236}">
                  <a16:creationId xmlns:a16="http://schemas.microsoft.com/office/drawing/2014/main" id="{1C4E4B15-C6F0-E0CD-FDCA-8EFE63123F61}"/>
                </a:ext>
              </a:extLst>
            </p:cNvPr>
            <p:cNvSpPr>
              <a:spLocks/>
            </p:cNvSpPr>
            <p:nvPr/>
          </p:nvSpPr>
          <p:spPr bwMode="auto">
            <a:xfrm>
              <a:off x="2279608" y="1234179"/>
              <a:ext cx="53248" cy="45493"/>
            </a:xfrm>
            <a:custGeom>
              <a:avLst/>
              <a:gdLst>
                <a:gd name="T0" fmla="*/ 2147483647 w 40"/>
                <a:gd name="T1" fmla="*/ 2147483647 h 37"/>
                <a:gd name="T2" fmla="*/ 2147483647 w 40"/>
                <a:gd name="T3" fmla="*/ 2147483647 h 37"/>
                <a:gd name="T4" fmla="*/ 2147483647 w 40"/>
                <a:gd name="T5" fmla="*/ 2147483647 h 37"/>
                <a:gd name="T6" fmla="*/ 2147483647 w 40"/>
                <a:gd name="T7" fmla="*/ 2147483647 h 37"/>
                <a:gd name="T8" fmla="*/ 2147483647 w 40"/>
                <a:gd name="T9" fmla="*/ 2147483647 h 37"/>
                <a:gd name="T10" fmla="*/ 2147483647 w 40"/>
                <a:gd name="T11" fmla="*/ 2147483647 h 37"/>
                <a:gd name="T12" fmla="*/ 2147483647 w 40"/>
                <a:gd name="T13" fmla="*/ 2147483647 h 37"/>
                <a:gd name="T14" fmla="*/ 2147483647 w 40"/>
                <a:gd name="T15" fmla="*/ 2147483647 h 37"/>
                <a:gd name="T16" fmla="*/ 2147483647 w 40"/>
                <a:gd name="T17" fmla="*/ 2147483647 h 37"/>
                <a:gd name="T18" fmla="*/ 2147483647 w 40"/>
                <a:gd name="T19" fmla="*/ 2147483647 h 37"/>
                <a:gd name="T20" fmla="*/ 2147483647 w 40"/>
                <a:gd name="T21" fmla="*/ 2147483647 h 37"/>
                <a:gd name="T22" fmla="*/ 2147483647 w 40"/>
                <a:gd name="T23" fmla="*/ 2147483647 h 37"/>
                <a:gd name="T24" fmla="*/ 2147483647 w 40"/>
                <a:gd name="T25" fmla="*/ 2147483647 h 37"/>
                <a:gd name="T26" fmla="*/ 2147483647 w 40"/>
                <a:gd name="T27" fmla="*/ 2147483647 h 37"/>
                <a:gd name="T28" fmla="*/ 0 w 40"/>
                <a:gd name="T29" fmla="*/ 2147483647 h 37"/>
                <a:gd name="T30" fmla="*/ 2147483647 w 40"/>
                <a:gd name="T31" fmla="*/ 2147483647 h 37"/>
                <a:gd name="T32" fmla="*/ 2147483647 w 40"/>
                <a:gd name="T33" fmla="*/ 2147483647 h 37"/>
                <a:gd name="T34" fmla="*/ 2147483647 w 40"/>
                <a:gd name="T35" fmla="*/ 2147483647 h 37"/>
                <a:gd name="T36" fmla="*/ 2147483647 w 40"/>
                <a:gd name="T37" fmla="*/ 2147483647 h 37"/>
                <a:gd name="T38" fmla="*/ 2147483647 w 40"/>
                <a:gd name="T39" fmla="*/ 0 h 37"/>
                <a:gd name="T40" fmla="*/ 2147483647 w 40"/>
                <a:gd name="T41" fmla="*/ 2147483647 h 37"/>
                <a:gd name="T42" fmla="*/ 2147483647 w 40"/>
                <a:gd name="T43" fmla="*/ 2147483647 h 37"/>
                <a:gd name="T44" fmla="*/ 2147483647 w 40"/>
                <a:gd name="T45" fmla="*/ 2147483647 h 37"/>
                <a:gd name="T46" fmla="*/ 2147483647 w 40"/>
                <a:gd name="T47" fmla="*/ 2147483647 h 37"/>
                <a:gd name="T48" fmla="*/ 2147483647 w 40"/>
                <a:gd name="T49" fmla="*/ 2147483647 h 3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0" h="37">
                  <a:moveTo>
                    <a:pt x="38" y="20"/>
                  </a:moveTo>
                  <a:lnTo>
                    <a:pt x="37" y="21"/>
                  </a:lnTo>
                  <a:lnTo>
                    <a:pt x="35" y="26"/>
                  </a:lnTo>
                  <a:lnTo>
                    <a:pt x="32" y="30"/>
                  </a:lnTo>
                  <a:lnTo>
                    <a:pt x="28" y="34"/>
                  </a:lnTo>
                  <a:lnTo>
                    <a:pt x="24" y="36"/>
                  </a:lnTo>
                  <a:lnTo>
                    <a:pt x="19" y="37"/>
                  </a:lnTo>
                  <a:lnTo>
                    <a:pt x="14" y="37"/>
                  </a:lnTo>
                  <a:lnTo>
                    <a:pt x="13" y="37"/>
                  </a:lnTo>
                  <a:lnTo>
                    <a:pt x="12" y="36"/>
                  </a:lnTo>
                  <a:lnTo>
                    <a:pt x="11" y="34"/>
                  </a:lnTo>
                  <a:lnTo>
                    <a:pt x="9" y="32"/>
                  </a:lnTo>
                  <a:lnTo>
                    <a:pt x="5" y="28"/>
                  </a:lnTo>
                  <a:lnTo>
                    <a:pt x="2" y="24"/>
                  </a:lnTo>
                  <a:lnTo>
                    <a:pt x="0" y="20"/>
                  </a:lnTo>
                  <a:lnTo>
                    <a:pt x="2" y="17"/>
                  </a:lnTo>
                  <a:lnTo>
                    <a:pt x="6" y="12"/>
                  </a:lnTo>
                  <a:lnTo>
                    <a:pt x="12" y="7"/>
                  </a:lnTo>
                  <a:lnTo>
                    <a:pt x="17" y="3"/>
                  </a:lnTo>
                  <a:lnTo>
                    <a:pt x="20" y="0"/>
                  </a:lnTo>
                  <a:lnTo>
                    <a:pt x="25" y="2"/>
                  </a:lnTo>
                  <a:lnTo>
                    <a:pt x="32" y="4"/>
                  </a:lnTo>
                  <a:lnTo>
                    <a:pt x="37" y="7"/>
                  </a:lnTo>
                  <a:lnTo>
                    <a:pt x="40" y="12"/>
                  </a:lnTo>
                  <a:lnTo>
                    <a:pt x="38" y="2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52" name="Freeform 149">
              <a:extLst>
                <a:ext uri="{FF2B5EF4-FFF2-40B4-BE49-F238E27FC236}">
                  <a16:creationId xmlns:a16="http://schemas.microsoft.com/office/drawing/2014/main" id="{BA37A553-0AC6-0076-58E6-0330615FDB5C}"/>
                </a:ext>
              </a:extLst>
            </p:cNvPr>
            <p:cNvSpPr>
              <a:spLocks/>
            </p:cNvSpPr>
            <p:nvPr/>
          </p:nvSpPr>
          <p:spPr bwMode="auto">
            <a:xfrm flipV="1">
              <a:off x="2483093" y="946056"/>
              <a:ext cx="258634" cy="386692"/>
            </a:xfrm>
            <a:custGeom>
              <a:avLst/>
              <a:gdLst>
                <a:gd name="T0" fmla="*/ 2147483647 w 201"/>
                <a:gd name="T1" fmla="*/ 2147483647 h 319"/>
                <a:gd name="T2" fmla="*/ 2147483647 w 201"/>
                <a:gd name="T3" fmla="*/ 2147483647 h 319"/>
                <a:gd name="T4" fmla="*/ 2147483647 w 201"/>
                <a:gd name="T5" fmla="*/ 2147483647 h 319"/>
                <a:gd name="T6" fmla="*/ 2147483647 w 201"/>
                <a:gd name="T7" fmla="*/ 2147483647 h 319"/>
                <a:gd name="T8" fmla="*/ 2147483647 w 201"/>
                <a:gd name="T9" fmla="*/ 2147483647 h 319"/>
                <a:gd name="T10" fmla="*/ 2147483647 w 201"/>
                <a:gd name="T11" fmla="*/ 2147483647 h 319"/>
                <a:gd name="T12" fmla="*/ 2147483647 w 201"/>
                <a:gd name="T13" fmla="*/ 2147483647 h 319"/>
                <a:gd name="T14" fmla="*/ 2147483647 w 201"/>
                <a:gd name="T15" fmla="*/ 2147483647 h 319"/>
                <a:gd name="T16" fmla="*/ 2147483647 w 201"/>
                <a:gd name="T17" fmla="*/ 2147483647 h 319"/>
                <a:gd name="T18" fmla="*/ 2147483647 w 201"/>
                <a:gd name="T19" fmla="*/ 2147483647 h 319"/>
                <a:gd name="T20" fmla="*/ 2147483647 w 201"/>
                <a:gd name="T21" fmla="*/ 2147483647 h 319"/>
                <a:gd name="T22" fmla="*/ 2147483647 w 201"/>
                <a:gd name="T23" fmla="*/ 2147483647 h 319"/>
                <a:gd name="T24" fmla="*/ 2147483647 w 201"/>
                <a:gd name="T25" fmla="*/ 2147483647 h 319"/>
                <a:gd name="T26" fmla="*/ 2147483647 w 201"/>
                <a:gd name="T27" fmla="*/ 2147483647 h 319"/>
                <a:gd name="T28" fmla="*/ 2147483647 w 201"/>
                <a:gd name="T29" fmla="*/ 2147483647 h 319"/>
                <a:gd name="T30" fmla="*/ 2147483647 w 201"/>
                <a:gd name="T31" fmla="*/ 2147483647 h 319"/>
                <a:gd name="T32" fmla="*/ 2147483647 w 201"/>
                <a:gd name="T33" fmla="*/ 2147483647 h 319"/>
                <a:gd name="T34" fmla="*/ 2147483647 w 201"/>
                <a:gd name="T35" fmla="*/ 2147483647 h 319"/>
                <a:gd name="T36" fmla="*/ 2147483647 w 201"/>
                <a:gd name="T37" fmla="*/ 2147483647 h 319"/>
                <a:gd name="T38" fmla="*/ 2147483647 w 201"/>
                <a:gd name="T39" fmla="*/ 2147483647 h 319"/>
                <a:gd name="T40" fmla="*/ 2147483647 w 201"/>
                <a:gd name="T41" fmla="*/ 2147483647 h 319"/>
                <a:gd name="T42" fmla="*/ 2147483647 w 201"/>
                <a:gd name="T43" fmla="*/ 2147483647 h 319"/>
                <a:gd name="T44" fmla="*/ 2147483647 w 201"/>
                <a:gd name="T45" fmla="*/ 2147483647 h 319"/>
                <a:gd name="T46" fmla="*/ 2147483647 w 201"/>
                <a:gd name="T47" fmla="*/ 2147483647 h 319"/>
                <a:gd name="T48" fmla="*/ 2147483647 w 201"/>
                <a:gd name="T49" fmla="*/ 2147483647 h 319"/>
                <a:gd name="T50" fmla="*/ 2147483647 w 201"/>
                <a:gd name="T51" fmla="*/ 0 h 319"/>
                <a:gd name="T52" fmla="*/ 2147483647 w 201"/>
                <a:gd name="T53" fmla="*/ 2147483647 h 319"/>
                <a:gd name="T54" fmla="*/ 2147483647 w 201"/>
                <a:gd name="T55" fmla="*/ 2147483647 h 319"/>
                <a:gd name="T56" fmla="*/ 2147483647 w 201"/>
                <a:gd name="T57" fmla="*/ 2147483647 h 319"/>
                <a:gd name="T58" fmla="*/ 2147483647 w 201"/>
                <a:gd name="T59" fmla="*/ 2147483647 h 319"/>
                <a:gd name="T60" fmla="*/ 2147483647 w 201"/>
                <a:gd name="T61" fmla="*/ 2147483647 h 319"/>
                <a:gd name="T62" fmla="*/ 2147483647 w 201"/>
                <a:gd name="T63" fmla="*/ 2147483647 h 319"/>
                <a:gd name="T64" fmla="*/ 2147483647 w 201"/>
                <a:gd name="T65" fmla="*/ 2147483647 h 319"/>
                <a:gd name="T66" fmla="*/ 2147483647 w 201"/>
                <a:gd name="T67" fmla="*/ 2147483647 h 319"/>
                <a:gd name="T68" fmla="*/ 2147483647 w 201"/>
                <a:gd name="T69" fmla="*/ 2147483647 h 319"/>
                <a:gd name="T70" fmla="*/ 2147483647 w 201"/>
                <a:gd name="T71" fmla="*/ 2147483647 h 319"/>
                <a:gd name="T72" fmla="*/ 2147483647 w 201"/>
                <a:gd name="T73" fmla="*/ 2147483647 h 319"/>
                <a:gd name="T74" fmla="*/ 2147483647 w 201"/>
                <a:gd name="T75" fmla="*/ 2147483647 h 319"/>
                <a:gd name="T76" fmla="*/ 2147483647 w 201"/>
                <a:gd name="T77" fmla="*/ 2147483647 h 319"/>
                <a:gd name="T78" fmla="*/ 2147483647 w 201"/>
                <a:gd name="T79" fmla="*/ 2147483647 h 319"/>
                <a:gd name="T80" fmla="*/ 2147483647 w 201"/>
                <a:gd name="T81" fmla="*/ 2147483647 h 319"/>
                <a:gd name="T82" fmla="*/ 2147483647 w 201"/>
                <a:gd name="T83" fmla="*/ 2147483647 h 319"/>
                <a:gd name="T84" fmla="*/ 2147483647 w 201"/>
                <a:gd name="T85" fmla="*/ 2147483647 h 319"/>
                <a:gd name="T86" fmla="*/ 0 w 201"/>
                <a:gd name="T87" fmla="*/ 2147483647 h 319"/>
                <a:gd name="T88" fmla="*/ 2147483647 w 201"/>
                <a:gd name="T89" fmla="*/ 2147483647 h 319"/>
                <a:gd name="T90" fmla="*/ 2147483647 w 201"/>
                <a:gd name="T91" fmla="*/ 2147483647 h 319"/>
                <a:gd name="T92" fmla="*/ 2147483647 w 201"/>
                <a:gd name="T93" fmla="*/ 2147483647 h 319"/>
                <a:gd name="T94" fmla="*/ 2147483647 w 201"/>
                <a:gd name="T95" fmla="*/ 2147483647 h 319"/>
                <a:gd name="T96" fmla="*/ 2147483647 w 201"/>
                <a:gd name="T97" fmla="*/ 2147483647 h 319"/>
                <a:gd name="T98" fmla="*/ 2147483647 w 201"/>
                <a:gd name="T99" fmla="*/ 2147483647 h 319"/>
                <a:gd name="T100" fmla="*/ 2147483647 w 201"/>
                <a:gd name="T101" fmla="*/ 2147483647 h 319"/>
                <a:gd name="T102" fmla="*/ 2147483647 w 201"/>
                <a:gd name="T103" fmla="*/ 2147483647 h 319"/>
                <a:gd name="T104" fmla="*/ 2147483647 w 201"/>
                <a:gd name="T105" fmla="*/ 2147483647 h 319"/>
                <a:gd name="T106" fmla="*/ 2147483647 w 201"/>
                <a:gd name="T107" fmla="*/ 2147483647 h 319"/>
                <a:gd name="T108" fmla="*/ 2147483647 w 201"/>
                <a:gd name="T109" fmla="*/ 2147483647 h 319"/>
                <a:gd name="T110" fmla="*/ 2147483647 w 201"/>
                <a:gd name="T111" fmla="*/ 2147483647 h 31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01" h="319">
                  <a:moveTo>
                    <a:pt x="84" y="267"/>
                  </a:moveTo>
                  <a:lnTo>
                    <a:pt x="88" y="270"/>
                  </a:lnTo>
                  <a:lnTo>
                    <a:pt x="93" y="277"/>
                  </a:lnTo>
                  <a:lnTo>
                    <a:pt x="97" y="283"/>
                  </a:lnTo>
                  <a:lnTo>
                    <a:pt x="95" y="290"/>
                  </a:lnTo>
                  <a:lnTo>
                    <a:pt x="88" y="294"/>
                  </a:lnTo>
                  <a:lnTo>
                    <a:pt x="82" y="296"/>
                  </a:lnTo>
                  <a:lnTo>
                    <a:pt x="78" y="301"/>
                  </a:lnTo>
                  <a:lnTo>
                    <a:pt x="80" y="308"/>
                  </a:lnTo>
                  <a:lnTo>
                    <a:pt x="82" y="315"/>
                  </a:lnTo>
                  <a:lnTo>
                    <a:pt x="85" y="318"/>
                  </a:lnTo>
                  <a:lnTo>
                    <a:pt x="92" y="319"/>
                  </a:lnTo>
                  <a:lnTo>
                    <a:pt x="104" y="319"/>
                  </a:lnTo>
                  <a:lnTo>
                    <a:pt x="116" y="319"/>
                  </a:lnTo>
                  <a:lnTo>
                    <a:pt x="123" y="318"/>
                  </a:lnTo>
                  <a:lnTo>
                    <a:pt x="129" y="316"/>
                  </a:lnTo>
                  <a:lnTo>
                    <a:pt x="136" y="312"/>
                  </a:lnTo>
                  <a:lnTo>
                    <a:pt x="144" y="309"/>
                  </a:lnTo>
                  <a:lnTo>
                    <a:pt x="151" y="305"/>
                  </a:lnTo>
                  <a:lnTo>
                    <a:pt x="158" y="304"/>
                  </a:lnTo>
                  <a:lnTo>
                    <a:pt x="164" y="304"/>
                  </a:lnTo>
                  <a:lnTo>
                    <a:pt x="171" y="306"/>
                  </a:lnTo>
                  <a:lnTo>
                    <a:pt x="176" y="306"/>
                  </a:lnTo>
                  <a:lnTo>
                    <a:pt x="182" y="305"/>
                  </a:lnTo>
                  <a:lnTo>
                    <a:pt x="187" y="300"/>
                  </a:lnTo>
                  <a:lnTo>
                    <a:pt x="191" y="294"/>
                  </a:lnTo>
                  <a:lnTo>
                    <a:pt x="197" y="289"/>
                  </a:lnTo>
                  <a:lnTo>
                    <a:pt x="198" y="285"/>
                  </a:lnTo>
                  <a:lnTo>
                    <a:pt x="191" y="279"/>
                  </a:lnTo>
                  <a:lnTo>
                    <a:pt x="180" y="273"/>
                  </a:lnTo>
                  <a:lnTo>
                    <a:pt x="173" y="270"/>
                  </a:lnTo>
                  <a:lnTo>
                    <a:pt x="169" y="266"/>
                  </a:lnTo>
                  <a:lnTo>
                    <a:pt x="172" y="263"/>
                  </a:lnTo>
                  <a:lnTo>
                    <a:pt x="177" y="259"/>
                  </a:lnTo>
                  <a:lnTo>
                    <a:pt x="181" y="256"/>
                  </a:lnTo>
                  <a:lnTo>
                    <a:pt x="182" y="251"/>
                  </a:lnTo>
                  <a:lnTo>
                    <a:pt x="182" y="244"/>
                  </a:lnTo>
                  <a:lnTo>
                    <a:pt x="180" y="238"/>
                  </a:lnTo>
                  <a:lnTo>
                    <a:pt x="179" y="235"/>
                  </a:lnTo>
                  <a:lnTo>
                    <a:pt x="179" y="232"/>
                  </a:lnTo>
                  <a:lnTo>
                    <a:pt x="182" y="227"/>
                  </a:lnTo>
                  <a:lnTo>
                    <a:pt x="188" y="219"/>
                  </a:lnTo>
                  <a:lnTo>
                    <a:pt x="195" y="209"/>
                  </a:lnTo>
                  <a:lnTo>
                    <a:pt x="197" y="197"/>
                  </a:lnTo>
                  <a:lnTo>
                    <a:pt x="190" y="187"/>
                  </a:lnTo>
                  <a:lnTo>
                    <a:pt x="177" y="179"/>
                  </a:lnTo>
                  <a:lnTo>
                    <a:pt x="168" y="173"/>
                  </a:lnTo>
                  <a:lnTo>
                    <a:pt x="165" y="168"/>
                  </a:lnTo>
                  <a:lnTo>
                    <a:pt x="168" y="162"/>
                  </a:lnTo>
                  <a:lnTo>
                    <a:pt x="177" y="156"/>
                  </a:lnTo>
                  <a:lnTo>
                    <a:pt x="188" y="149"/>
                  </a:lnTo>
                  <a:lnTo>
                    <a:pt x="195" y="139"/>
                  </a:lnTo>
                  <a:lnTo>
                    <a:pt x="195" y="130"/>
                  </a:lnTo>
                  <a:lnTo>
                    <a:pt x="192" y="120"/>
                  </a:lnTo>
                  <a:lnTo>
                    <a:pt x="194" y="109"/>
                  </a:lnTo>
                  <a:lnTo>
                    <a:pt x="195" y="100"/>
                  </a:lnTo>
                  <a:lnTo>
                    <a:pt x="196" y="90"/>
                  </a:lnTo>
                  <a:lnTo>
                    <a:pt x="197" y="77"/>
                  </a:lnTo>
                  <a:lnTo>
                    <a:pt x="199" y="65"/>
                  </a:lnTo>
                  <a:lnTo>
                    <a:pt x="201" y="55"/>
                  </a:lnTo>
                  <a:lnTo>
                    <a:pt x="196" y="52"/>
                  </a:lnTo>
                  <a:lnTo>
                    <a:pt x="189" y="54"/>
                  </a:lnTo>
                  <a:lnTo>
                    <a:pt x="183" y="54"/>
                  </a:lnTo>
                  <a:lnTo>
                    <a:pt x="183" y="51"/>
                  </a:lnTo>
                  <a:lnTo>
                    <a:pt x="190" y="40"/>
                  </a:lnTo>
                  <a:lnTo>
                    <a:pt x="197" y="29"/>
                  </a:lnTo>
                  <a:lnTo>
                    <a:pt x="199" y="18"/>
                  </a:lnTo>
                  <a:lnTo>
                    <a:pt x="198" y="10"/>
                  </a:lnTo>
                  <a:lnTo>
                    <a:pt x="194" y="6"/>
                  </a:lnTo>
                  <a:lnTo>
                    <a:pt x="192" y="5"/>
                  </a:lnTo>
                  <a:lnTo>
                    <a:pt x="190" y="5"/>
                  </a:lnTo>
                  <a:lnTo>
                    <a:pt x="189" y="5"/>
                  </a:lnTo>
                  <a:lnTo>
                    <a:pt x="187" y="5"/>
                  </a:lnTo>
                  <a:lnTo>
                    <a:pt x="179" y="6"/>
                  </a:lnTo>
                  <a:lnTo>
                    <a:pt x="173" y="3"/>
                  </a:lnTo>
                  <a:lnTo>
                    <a:pt x="168" y="1"/>
                  </a:lnTo>
                  <a:lnTo>
                    <a:pt x="164" y="0"/>
                  </a:lnTo>
                  <a:lnTo>
                    <a:pt x="163" y="0"/>
                  </a:lnTo>
                  <a:lnTo>
                    <a:pt x="161" y="0"/>
                  </a:lnTo>
                  <a:lnTo>
                    <a:pt x="160" y="1"/>
                  </a:lnTo>
                  <a:lnTo>
                    <a:pt x="159" y="2"/>
                  </a:lnTo>
                  <a:lnTo>
                    <a:pt x="156" y="5"/>
                  </a:lnTo>
                  <a:lnTo>
                    <a:pt x="151" y="6"/>
                  </a:lnTo>
                  <a:lnTo>
                    <a:pt x="145" y="6"/>
                  </a:lnTo>
                  <a:lnTo>
                    <a:pt x="139" y="7"/>
                  </a:lnTo>
                  <a:lnTo>
                    <a:pt x="135" y="8"/>
                  </a:lnTo>
                  <a:lnTo>
                    <a:pt x="129" y="9"/>
                  </a:lnTo>
                  <a:lnTo>
                    <a:pt x="126" y="10"/>
                  </a:lnTo>
                  <a:lnTo>
                    <a:pt x="123" y="14"/>
                  </a:lnTo>
                  <a:lnTo>
                    <a:pt x="121" y="17"/>
                  </a:lnTo>
                  <a:lnTo>
                    <a:pt x="119" y="18"/>
                  </a:lnTo>
                  <a:lnTo>
                    <a:pt x="115" y="18"/>
                  </a:lnTo>
                  <a:lnTo>
                    <a:pt x="108" y="20"/>
                  </a:lnTo>
                  <a:lnTo>
                    <a:pt x="100" y="23"/>
                  </a:lnTo>
                  <a:lnTo>
                    <a:pt x="93" y="26"/>
                  </a:lnTo>
                  <a:lnTo>
                    <a:pt x="87" y="31"/>
                  </a:lnTo>
                  <a:lnTo>
                    <a:pt x="82" y="39"/>
                  </a:lnTo>
                  <a:lnTo>
                    <a:pt x="80" y="47"/>
                  </a:lnTo>
                  <a:lnTo>
                    <a:pt x="81" y="54"/>
                  </a:lnTo>
                  <a:lnTo>
                    <a:pt x="81" y="59"/>
                  </a:lnTo>
                  <a:lnTo>
                    <a:pt x="80" y="60"/>
                  </a:lnTo>
                  <a:lnTo>
                    <a:pt x="74" y="61"/>
                  </a:lnTo>
                  <a:lnTo>
                    <a:pt x="67" y="62"/>
                  </a:lnTo>
                  <a:lnTo>
                    <a:pt x="60" y="66"/>
                  </a:lnTo>
                  <a:lnTo>
                    <a:pt x="59" y="70"/>
                  </a:lnTo>
                  <a:lnTo>
                    <a:pt x="57" y="74"/>
                  </a:lnTo>
                  <a:lnTo>
                    <a:pt x="52" y="77"/>
                  </a:lnTo>
                  <a:lnTo>
                    <a:pt x="46" y="81"/>
                  </a:lnTo>
                  <a:lnTo>
                    <a:pt x="43" y="84"/>
                  </a:lnTo>
                  <a:lnTo>
                    <a:pt x="40" y="89"/>
                  </a:lnTo>
                  <a:lnTo>
                    <a:pt x="37" y="93"/>
                  </a:lnTo>
                  <a:lnTo>
                    <a:pt x="35" y="99"/>
                  </a:lnTo>
                  <a:lnTo>
                    <a:pt x="38" y="107"/>
                  </a:lnTo>
                  <a:lnTo>
                    <a:pt x="44" y="115"/>
                  </a:lnTo>
                  <a:lnTo>
                    <a:pt x="47" y="122"/>
                  </a:lnTo>
                  <a:lnTo>
                    <a:pt x="49" y="128"/>
                  </a:lnTo>
                  <a:lnTo>
                    <a:pt x="47" y="132"/>
                  </a:lnTo>
                  <a:lnTo>
                    <a:pt x="45" y="138"/>
                  </a:lnTo>
                  <a:lnTo>
                    <a:pt x="44" y="143"/>
                  </a:lnTo>
                  <a:lnTo>
                    <a:pt x="43" y="143"/>
                  </a:lnTo>
                  <a:lnTo>
                    <a:pt x="38" y="136"/>
                  </a:lnTo>
                  <a:lnTo>
                    <a:pt x="34" y="126"/>
                  </a:lnTo>
                  <a:lnTo>
                    <a:pt x="31" y="118"/>
                  </a:lnTo>
                  <a:lnTo>
                    <a:pt x="28" y="113"/>
                  </a:lnTo>
                  <a:lnTo>
                    <a:pt x="24" y="114"/>
                  </a:lnTo>
                  <a:lnTo>
                    <a:pt x="21" y="118"/>
                  </a:lnTo>
                  <a:lnTo>
                    <a:pt x="16" y="123"/>
                  </a:lnTo>
                  <a:lnTo>
                    <a:pt x="12" y="128"/>
                  </a:lnTo>
                  <a:lnTo>
                    <a:pt x="9" y="132"/>
                  </a:lnTo>
                  <a:lnTo>
                    <a:pt x="7" y="141"/>
                  </a:lnTo>
                  <a:lnTo>
                    <a:pt x="4" y="153"/>
                  </a:lnTo>
                  <a:lnTo>
                    <a:pt x="0" y="166"/>
                  </a:lnTo>
                  <a:lnTo>
                    <a:pt x="0" y="176"/>
                  </a:lnTo>
                  <a:lnTo>
                    <a:pt x="1" y="184"/>
                  </a:lnTo>
                  <a:lnTo>
                    <a:pt x="2" y="190"/>
                  </a:lnTo>
                  <a:lnTo>
                    <a:pt x="6" y="195"/>
                  </a:lnTo>
                  <a:lnTo>
                    <a:pt x="12" y="198"/>
                  </a:lnTo>
                  <a:lnTo>
                    <a:pt x="19" y="199"/>
                  </a:lnTo>
                  <a:lnTo>
                    <a:pt x="23" y="200"/>
                  </a:lnTo>
                  <a:lnTo>
                    <a:pt x="27" y="200"/>
                  </a:lnTo>
                  <a:lnTo>
                    <a:pt x="30" y="199"/>
                  </a:lnTo>
                  <a:lnTo>
                    <a:pt x="31" y="200"/>
                  </a:lnTo>
                  <a:lnTo>
                    <a:pt x="30" y="205"/>
                  </a:lnTo>
                  <a:lnTo>
                    <a:pt x="28" y="211"/>
                  </a:lnTo>
                  <a:lnTo>
                    <a:pt x="24" y="215"/>
                  </a:lnTo>
                  <a:lnTo>
                    <a:pt x="23" y="219"/>
                  </a:lnTo>
                  <a:lnTo>
                    <a:pt x="24" y="224"/>
                  </a:lnTo>
                  <a:lnTo>
                    <a:pt x="28" y="229"/>
                  </a:lnTo>
                  <a:lnTo>
                    <a:pt x="31" y="234"/>
                  </a:lnTo>
                  <a:lnTo>
                    <a:pt x="36" y="238"/>
                  </a:lnTo>
                  <a:lnTo>
                    <a:pt x="44" y="245"/>
                  </a:lnTo>
                  <a:lnTo>
                    <a:pt x="54" y="248"/>
                  </a:lnTo>
                  <a:lnTo>
                    <a:pt x="63" y="244"/>
                  </a:lnTo>
                  <a:lnTo>
                    <a:pt x="70" y="237"/>
                  </a:lnTo>
                  <a:lnTo>
                    <a:pt x="75" y="232"/>
                  </a:lnTo>
                  <a:lnTo>
                    <a:pt x="77" y="229"/>
                  </a:lnTo>
                  <a:lnTo>
                    <a:pt x="82" y="230"/>
                  </a:lnTo>
                  <a:lnTo>
                    <a:pt x="88" y="234"/>
                  </a:lnTo>
                  <a:lnTo>
                    <a:pt x="96" y="240"/>
                  </a:lnTo>
                  <a:lnTo>
                    <a:pt x="104" y="247"/>
                  </a:lnTo>
                  <a:lnTo>
                    <a:pt x="111" y="256"/>
                  </a:lnTo>
                  <a:lnTo>
                    <a:pt x="113" y="263"/>
                  </a:lnTo>
                  <a:lnTo>
                    <a:pt x="113" y="264"/>
                  </a:lnTo>
                  <a:lnTo>
                    <a:pt x="110" y="262"/>
                  </a:lnTo>
                  <a:lnTo>
                    <a:pt x="103" y="256"/>
                  </a:lnTo>
                  <a:lnTo>
                    <a:pt x="93" y="252"/>
                  </a:lnTo>
                  <a:lnTo>
                    <a:pt x="85" y="252"/>
                  </a:lnTo>
                  <a:lnTo>
                    <a:pt x="82" y="258"/>
                  </a:lnTo>
                  <a:lnTo>
                    <a:pt x="84" y="267"/>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53" name="Freeform 150">
              <a:extLst>
                <a:ext uri="{FF2B5EF4-FFF2-40B4-BE49-F238E27FC236}">
                  <a16:creationId xmlns:a16="http://schemas.microsoft.com/office/drawing/2014/main" id="{712E9D28-3082-3179-16B7-DB4BADA38357}"/>
                </a:ext>
              </a:extLst>
            </p:cNvPr>
            <p:cNvSpPr>
              <a:spLocks/>
            </p:cNvSpPr>
            <p:nvPr/>
          </p:nvSpPr>
          <p:spPr bwMode="auto">
            <a:xfrm>
              <a:off x="2488798" y="1266403"/>
              <a:ext cx="43740" cy="20852"/>
            </a:xfrm>
            <a:custGeom>
              <a:avLst/>
              <a:gdLst>
                <a:gd name="T0" fmla="*/ 2147483647 w 34"/>
                <a:gd name="T1" fmla="*/ 0 h 18"/>
                <a:gd name="T2" fmla="*/ 2147483647 w 34"/>
                <a:gd name="T3" fmla="*/ 2147483647 h 18"/>
                <a:gd name="T4" fmla="*/ 2147483647 w 34"/>
                <a:gd name="T5" fmla="*/ 2147483647 h 18"/>
                <a:gd name="T6" fmla="*/ 2147483647 w 34"/>
                <a:gd name="T7" fmla="*/ 2147483647 h 18"/>
                <a:gd name="T8" fmla="*/ 2147483647 w 34"/>
                <a:gd name="T9" fmla="*/ 2147483647 h 18"/>
                <a:gd name="T10" fmla="*/ 2147483647 w 34"/>
                <a:gd name="T11" fmla="*/ 2147483647 h 18"/>
                <a:gd name="T12" fmla="*/ 2147483647 w 34"/>
                <a:gd name="T13" fmla="*/ 2147483647 h 18"/>
                <a:gd name="T14" fmla="*/ 2147483647 w 34"/>
                <a:gd name="T15" fmla="*/ 2147483647 h 18"/>
                <a:gd name="T16" fmla="*/ 2147483647 w 34"/>
                <a:gd name="T17" fmla="*/ 2147483647 h 18"/>
                <a:gd name="T18" fmla="*/ 2147483647 w 34"/>
                <a:gd name="T19" fmla="*/ 2147483647 h 18"/>
                <a:gd name="T20" fmla="*/ 0 w 34"/>
                <a:gd name="T21" fmla="*/ 2147483647 h 18"/>
                <a:gd name="T22" fmla="*/ 0 w 34"/>
                <a:gd name="T23" fmla="*/ 2147483647 h 18"/>
                <a:gd name="T24" fmla="*/ 2147483647 w 34"/>
                <a:gd name="T25" fmla="*/ 2147483647 h 18"/>
                <a:gd name="T26" fmla="*/ 2147483647 w 34"/>
                <a:gd name="T27" fmla="*/ 2147483647 h 18"/>
                <a:gd name="T28" fmla="*/ 2147483647 w 34"/>
                <a:gd name="T29" fmla="*/ 2147483647 h 18"/>
                <a:gd name="T30" fmla="*/ 2147483647 w 34"/>
                <a:gd name="T31" fmla="*/ 2147483647 h 18"/>
                <a:gd name="T32" fmla="*/ 2147483647 w 34"/>
                <a:gd name="T33" fmla="*/ 0 h 1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4" h="18">
                  <a:moveTo>
                    <a:pt x="31" y="0"/>
                  </a:moveTo>
                  <a:lnTo>
                    <a:pt x="32" y="1"/>
                  </a:lnTo>
                  <a:lnTo>
                    <a:pt x="34" y="3"/>
                  </a:lnTo>
                  <a:lnTo>
                    <a:pt x="34" y="6"/>
                  </a:lnTo>
                  <a:lnTo>
                    <a:pt x="30" y="10"/>
                  </a:lnTo>
                  <a:lnTo>
                    <a:pt x="24" y="14"/>
                  </a:lnTo>
                  <a:lnTo>
                    <a:pt x="22" y="16"/>
                  </a:lnTo>
                  <a:lnTo>
                    <a:pt x="19" y="18"/>
                  </a:lnTo>
                  <a:lnTo>
                    <a:pt x="12" y="18"/>
                  </a:lnTo>
                  <a:lnTo>
                    <a:pt x="4" y="16"/>
                  </a:lnTo>
                  <a:lnTo>
                    <a:pt x="0" y="13"/>
                  </a:lnTo>
                  <a:lnTo>
                    <a:pt x="0" y="9"/>
                  </a:lnTo>
                  <a:lnTo>
                    <a:pt x="4" y="7"/>
                  </a:lnTo>
                  <a:lnTo>
                    <a:pt x="14" y="4"/>
                  </a:lnTo>
                  <a:lnTo>
                    <a:pt x="22" y="2"/>
                  </a:lnTo>
                  <a:lnTo>
                    <a:pt x="29" y="1"/>
                  </a:lnTo>
                  <a:lnTo>
                    <a:pt x="31"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54" name="Freeform 151">
              <a:extLst>
                <a:ext uri="{FF2B5EF4-FFF2-40B4-BE49-F238E27FC236}">
                  <a16:creationId xmlns:a16="http://schemas.microsoft.com/office/drawing/2014/main" id="{CEA92495-D14A-3108-D8EA-43EF42D940E2}"/>
                </a:ext>
              </a:extLst>
            </p:cNvPr>
            <p:cNvSpPr>
              <a:spLocks/>
            </p:cNvSpPr>
            <p:nvPr/>
          </p:nvSpPr>
          <p:spPr bwMode="auto">
            <a:xfrm>
              <a:off x="2465977" y="1211433"/>
              <a:ext cx="39937" cy="56867"/>
            </a:xfrm>
            <a:custGeom>
              <a:avLst/>
              <a:gdLst>
                <a:gd name="T0" fmla="*/ 2147483647 w 34"/>
                <a:gd name="T1" fmla="*/ 2147483647 h 46"/>
                <a:gd name="T2" fmla="*/ 2147483647 w 34"/>
                <a:gd name="T3" fmla="*/ 2147483647 h 46"/>
                <a:gd name="T4" fmla="*/ 2147483647 w 34"/>
                <a:gd name="T5" fmla="*/ 2147483647 h 46"/>
                <a:gd name="T6" fmla="*/ 2147483647 w 34"/>
                <a:gd name="T7" fmla="*/ 0 h 46"/>
                <a:gd name="T8" fmla="*/ 2147483647 w 34"/>
                <a:gd name="T9" fmla="*/ 0 h 46"/>
                <a:gd name="T10" fmla="*/ 2147483647 w 34"/>
                <a:gd name="T11" fmla="*/ 2147483647 h 46"/>
                <a:gd name="T12" fmla="*/ 0 w 34"/>
                <a:gd name="T13" fmla="*/ 2147483647 h 46"/>
                <a:gd name="T14" fmla="*/ 2147483647 w 34"/>
                <a:gd name="T15" fmla="*/ 2147483647 h 46"/>
                <a:gd name="T16" fmla="*/ 2147483647 w 34"/>
                <a:gd name="T17" fmla="*/ 2147483647 h 46"/>
                <a:gd name="T18" fmla="*/ 2147483647 w 34"/>
                <a:gd name="T19" fmla="*/ 2147483647 h 46"/>
                <a:gd name="T20" fmla="*/ 2147483647 w 34"/>
                <a:gd name="T21" fmla="*/ 2147483647 h 46"/>
                <a:gd name="T22" fmla="*/ 2147483647 w 34"/>
                <a:gd name="T23" fmla="*/ 2147483647 h 46"/>
                <a:gd name="T24" fmla="*/ 2147483647 w 34"/>
                <a:gd name="T25" fmla="*/ 2147483647 h 46"/>
                <a:gd name="T26" fmla="*/ 2147483647 w 34"/>
                <a:gd name="T27" fmla="*/ 2147483647 h 46"/>
                <a:gd name="T28" fmla="*/ 2147483647 w 34"/>
                <a:gd name="T29" fmla="*/ 2147483647 h 46"/>
                <a:gd name="T30" fmla="*/ 2147483647 w 34"/>
                <a:gd name="T31" fmla="*/ 2147483647 h 46"/>
                <a:gd name="T32" fmla="*/ 2147483647 w 34"/>
                <a:gd name="T33" fmla="*/ 2147483647 h 46"/>
                <a:gd name="T34" fmla="*/ 2147483647 w 34"/>
                <a:gd name="T35" fmla="*/ 2147483647 h 46"/>
                <a:gd name="T36" fmla="*/ 2147483647 w 34"/>
                <a:gd name="T37" fmla="*/ 2147483647 h 46"/>
                <a:gd name="T38" fmla="*/ 2147483647 w 34"/>
                <a:gd name="T39" fmla="*/ 2147483647 h 46"/>
                <a:gd name="T40" fmla="*/ 2147483647 w 34"/>
                <a:gd name="T41" fmla="*/ 2147483647 h 46"/>
                <a:gd name="T42" fmla="*/ 2147483647 w 34"/>
                <a:gd name="T43" fmla="*/ 2147483647 h 46"/>
                <a:gd name="T44" fmla="*/ 2147483647 w 34"/>
                <a:gd name="T45" fmla="*/ 2147483647 h 46"/>
                <a:gd name="T46" fmla="*/ 2147483647 w 34"/>
                <a:gd name="T47" fmla="*/ 2147483647 h 46"/>
                <a:gd name="T48" fmla="*/ 2147483647 w 34"/>
                <a:gd name="T49" fmla="*/ 2147483647 h 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4" h="46">
                  <a:moveTo>
                    <a:pt x="22" y="14"/>
                  </a:moveTo>
                  <a:lnTo>
                    <a:pt x="20" y="10"/>
                  </a:lnTo>
                  <a:lnTo>
                    <a:pt x="14" y="5"/>
                  </a:lnTo>
                  <a:lnTo>
                    <a:pt x="7" y="0"/>
                  </a:lnTo>
                  <a:lnTo>
                    <a:pt x="3" y="0"/>
                  </a:lnTo>
                  <a:lnTo>
                    <a:pt x="1" y="5"/>
                  </a:lnTo>
                  <a:lnTo>
                    <a:pt x="0" y="10"/>
                  </a:lnTo>
                  <a:lnTo>
                    <a:pt x="1" y="15"/>
                  </a:lnTo>
                  <a:lnTo>
                    <a:pt x="1" y="20"/>
                  </a:lnTo>
                  <a:lnTo>
                    <a:pt x="3" y="27"/>
                  </a:lnTo>
                  <a:lnTo>
                    <a:pt x="4" y="36"/>
                  </a:lnTo>
                  <a:lnTo>
                    <a:pt x="7" y="43"/>
                  </a:lnTo>
                  <a:lnTo>
                    <a:pt x="11" y="46"/>
                  </a:lnTo>
                  <a:lnTo>
                    <a:pt x="16" y="46"/>
                  </a:lnTo>
                  <a:lnTo>
                    <a:pt x="21" y="44"/>
                  </a:lnTo>
                  <a:lnTo>
                    <a:pt x="26" y="42"/>
                  </a:lnTo>
                  <a:lnTo>
                    <a:pt x="29" y="38"/>
                  </a:lnTo>
                  <a:lnTo>
                    <a:pt x="31" y="33"/>
                  </a:lnTo>
                  <a:lnTo>
                    <a:pt x="34" y="30"/>
                  </a:lnTo>
                  <a:lnTo>
                    <a:pt x="34" y="27"/>
                  </a:lnTo>
                  <a:lnTo>
                    <a:pt x="30" y="22"/>
                  </a:lnTo>
                  <a:lnTo>
                    <a:pt x="26" y="17"/>
                  </a:lnTo>
                  <a:lnTo>
                    <a:pt x="23" y="15"/>
                  </a:lnTo>
                  <a:lnTo>
                    <a:pt x="22" y="14"/>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55" name="Freeform 152">
              <a:extLst>
                <a:ext uri="{FF2B5EF4-FFF2-40B4-BE49-F238E27FC236}">
                  <a16:creationId xmlns:a16="http://schemas.microsoft.com/office/drawing/2014/main" id="{1D190859-370F-D4D6-7F20-B26B918E9F43}"/>
                </a:ext>
              </a:extLst>
            </p:cNvPr>
            <p:cNvSpPr>
              <a:spLocks/>
            </p:cNvSpPr>
            <p:nvPr/>
          </p:nvSpPr>
          <p:spPr bwMode="auto">
            <a:xfrm>
              <a:off x="2386105" y="1184895"/>
              <a:ext cx="72266" cy="81508"/>
            </a:xfrm>
            <a:custGeom>
              <a:avLst/>
              <a:gdLst>
                <a:gd name="T0" fmla="*/ 2147483647 w 58"/>
                <a:gd name="T1" fmla="*/ 2147483647 h 67"/>
                <a:gd name="T2" fmla="*/ 2147483647 w 58"/>
                <a:gd name="T3" fmla="*/ 2147483647 h 67"/>
                <a:gd name="T4" fmla="*/ 2147483647 w 58"/>
                <a:gd name="T5" fmla="*/ 2147483647 h 67"/>
                <a:gd name="T6" fmla="*/ 2147483647 w 58"/>
                <a:gd name="T7" fmla="*/ 2147483647 h 67"/>
                <a:gd name="T8" fmla="*/ 2147483647 w 58"/>
                <a:gd name="T9" fmla="*/ 2147483647 h 67"/>
                <a:gd name="T10" fmla="*/ 2147483647 w 58"/>
                <a:gd name="T11" fmla="*/ 2147483647 h 67"/>
                <a:gd name="T12" fmla="*/ 2147483647 w 58"/>
                <a:gd name="T13" fmla="*/ 2147483647 h 67"/>
                <a:gd name="T14" fmla="*/ 2147483647 w 58"/>
                <a:gd name="T15" fmla="*/ 2147483647 h 67"/>
                <a:gd name="T16" fmla="*/ 2147483647 w 58"/>
                <a:gd name="T17" fmla="*/ 2147483647 h 67"/>
                <a:gd name="T18" fmla="*/ 2147483647 w 58"/>
                <a:gd name="T19" fmla="*/ 2147483647 h 67"/>
                <a:gd name="T20" fmla="*/ 2147483647 w 58"/>
                <a:gd name="T21" fmla="*/ 2147483647 h 67"/>
                <a:gd name="T22" fmla="*/ 2147483647 w 58"/>
                <a:gd name="T23" fmla="*/ 2147483647 h 67"/>
                <a:gd name="T24" fmla="*/ 2147483647 w 58"/>
                <a:gd name="T25" fmla="*/ 2147483647 h 67"/>
                <a:gd name="T26" fmla="*/ 2147483647 w 58"/>
                <a:gd name="T27" fmla="*/ 2147483647 h 67"/>
                <a:gd name="T28" fmla="*/ 2147483647 w 58"/>
                <a:gd name="T29" fmla="*/ 2147483647 h 67"/>
                <a:gd name="T30" fmla="*/ 2147483647 w 58"/>
                <a:gd name="T31" fmla="*/ 2147483647 h 67"/>
                <a:gd name="T32" fmla="*/ 2147483647 w 58"/>
                <a:gd name="T33" fmla="*/ 2147483647 h 67"/>
                <a:gd name="T34" fmla="*/ 2147483647 w 58"/>
                <a:gd name="T35" fmla="*/ 2147483647 h 67"/>
                <a:gd name="T36" fmla="*/ 2147483647 w 58"/>
                <a:gd name="T37" fmla="*/ 2147483647 h 67"/>
                <a:gd name="T38" fmla="*/ 2147483647 w 58"/>
                <a:gd name="T39" fmla="*/ 2147483647 h 67"/>
                <a:gd name="T40" fmla="*/ 2147483647 w 58"/>
                <a:gd name="T41" fmla="*/ 2147483647 h 67"/>
                <a:gd name="T42" fmla="*/ 2147483647 w 58"/>
                <a:gd name="T43" fmla="*/ 2147483647 h 67"/>
                <a:gd name="T44" fmla="*/ 2147483647 w 58"/>
                <a:gd name="T45" fmla="*/ 2147483647 h 67"/>
                <a:gd name="T46" fmla="*/ 0 w 58"/>
                <a:gd name="T47" fmla="*/ 2147483647 h 67"/>
                <a:gd name="T48" fmla="*/ 2147483647 w 58"/>
                <a:gd name="T49" fmla="*/ 0 h 67"/>
                <a:gd name="T50" fmla="*/ 2147483647 w 58"/>
                <a:gd name="T51" fmla="*/ 0 h 67"/>
                <a:gd name="T52" fmla="*/ 2147483647 w 58"/>
                <a:gd name="T53" fmla="*/ 0 h 67"/>
                <a:gd name="T54" fmla="*/ 2147483647 w 58"/>
                <a:gd name="T55" fmla="*/ 2147483647 h 67"/>
                <a:gd name="T56" fmla="*/ 2147483647 w 58"/>
                <a:gd name="T57" fmla="*/ 2147483647 h 67"/>
                <a:gd name="T58" fmla="*/ 2147483647 w 58"/>
                <a:gd name="T59" fmla="*/ 2147483647 h 67"/>
                <a:gd name="T60" fmla="*/ 2147483647 w 58"/>
                <a:gd name="T61" fmla="*/ 2147483647 h 67"/>
                <a:gd name="T62" fmla="*/ 2147483647 w 58"/>
                <a:gd name="T63" fmla="*/ 2147483647 h 67"/>
                <a:gd name="T64" fmla="*/ 2147483647 w 58"/>
                <a:gd name="T65" fmla="*/ 2147483647 h 67"/>
                <a:gd name="T66" fmla="*/ 2147483647 w 58"/>
                <a:gd name="T67" fmla="*/ 2147483647 h 67"/>
                <a:gd name="T68" fmla="*/ 2147483647 w 58"/>
                <a:gd name="T69" fmla="*/ 2147483647 h 67"/>
                <a:gd name="T70" fmla="*/ 2147483647 w 58"/>
                <a:gd name="T71" fmla="*/ 2147483647 h 67"/>
                <a:gd name="T72" fmla="*/ 2147483647 w 58"/>
                <a:gd name="T73" fmla="*/ 2147483647 h 6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58" h="67">
                  <a:moveTo>
                    <a:pt x="53" y="34"/>
                  </a:moveTo>
                  <a:lnTo>
                    <a:pt x="54" y="37"/>
                  </a:lnTo>
                  <a:lnTo>
                    <a:pt x="57" y="44"/>
                  </a:lnTo>
                  <a:lnTo>
                    <a:pt x="58" y="53"/>
                  </a:lnTo>
                  <a:lnTo>
                    <a:pt x="57" y="60"/>
                  </a:lnTo>
                  <a:lnTo>
                    <a:pt x="54" y="64"/>
                  </a:lnTo>
                  <a:lnTo>
                    <a:pt x="52" y="66"/>
                  </a:lnTo>
                  <a:lnTo>
                    <a:pt x="48" y="67"/>
                  </a:lnTo>
                  <a:lnTo>
                    <a:pt x="44" y="65"/>
                  </a:lnTo>
                  <a:lnTo>
                    <a:pt x="39" y="62"/>
                  </a:lnTo>
                  <a:lnTo>
                    <a:pt x="35" y="60"/>
                  </a:lnTo>
                  <a:lnTo>
                    <a:pt x="32" y="58"/>
                  </a:lnTo>
                  <a:lnTo>
                    <a:pt x="29" y="53"/>
                  </a:lnTo>
                  <a:lnTo>
                    <a:pt x="24" y="50"/>
                  </a:lnTo>
                  <a:lnTo>
                    <a:pt x="17" y="49"/>
                  </a:lnTo>
                  <a:lnTo>
                    <a:pt x="12" y="47"/>
                  </a:lnTo>
                  <a:lnTo>
                    <a:pt x="8" y="42"/>
                  </a:lnTo>
                  <a:lnTo>
                    <a:pt x="9" y="37"/>
                  </a:lnTo>
                  <a:lnTo>
                    <a:pt x="13" y="37"/>
                  </a:lnTo>
                  <a:lnTo>
                    <a:pt x="15" y="36"/>
                  </a:lnTo>
                  <a:lnTo>
                    <a:pt x="13" y="30"/>
                  </a:lnTo>
                  <a:lnTo>
                    <a:pt x="7" y="20"/>
                  </a:lnTo>
                  <a:lnTo>
                    <a:pt x="2" y="11"/>
                  </a:lnTo>
                  <a:lnTo>
                    <a:pt x="0" y="4"/>
                  </a:lnTo>
                  <a:lnTo>
                    <a:pt x="4" y="0"/>
                  </a:lnTo>
                  <a:lnTo>
                    <a:pt x="9" y="0"/>
                  </a:lnTo>
                  <a:lnTo>
                    <a:pt x="14" y="0"/>
                  </a:lnTo>
                  <a:lnTo>
                    <a:pt x="19" y="2"/>
                  </a:lnTo>
                  <a:lnTo>
                    <a:pt x="23" y="8"/>
                  </a:lnTo>
                  <a:lnTo>
                    <a:pt x="28" y="13"/>
                  </a:lnTo>
                  <a:lnTo>
                    <a:pt x="34" y="15"/>
                  </a:lnTo>
                  <a:lnTo>
                    <a:pt x="38" y="16"/>
                  </a:lnTo>
                  <a:lnTo>
                    <a:pt x="40" y="19"/>
                  </a:lnTo>
                  <a:lnTo>
                    <a:pt x="43" y="24"/>
                  </a:lnTo>
                  <a:lnTo>
                    <a:pt x="47" y="29"/>
                  </a:lnTo>
                  <a:lnTo>
                    <a:pt x="51" y="32"/>
                  </a:lnTo>
                  <a:lnTo>
                    <a:pt x="53" y="34"/>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56" name="Freeform 153">
              <a:extLst>
                <a:ext uri="{FF2B5EF4-FFF2-40B4-BE49-F238E27FC236}">
                  <a16:creationId xmlns:a16="http://schemas.microsoft.com/office/drawing/2014/main" id="{E07E5CBC-F3B0-6DBC-26AB-50C9FF21B82F}"/>
                </a:ext>
              </a:extLst>
            </p:cNvPr>
            <p:cNvSpPr>
              <a:spLocks/>
            </p:cNvSpPr>
            <p:nvPr/>
          </p:nvSpPr>
          <p:spPr bwMode="auto">
            <a:xfrm>
              <a:off x="2095141" y="1480601"/>
              <a:ext cx="323293" cy="280541"/>
            </a:xfrm>
            <a:custGeom>
              <a:avLst/>
              <a:gdLst>
                <a:gd name="T0" fmla="*/ 2147483647 w 249"/>
                <a:gd name="T1" fmla="*/ 2147483647 h 231"/>
                <a:gd name="T2" fmla="*/ 2147483647 w 249"/>
                <a:gd name="T3" fmla="*/ 2147483647 h 231"/>
                <a:gd name="T4" fmla="*/ 2147483647 w 249"/>
                <a:gd name="T5" fmla="*/ 2147483647 h 231"/>
                <a:gd name="T6" fmla="*/ 2147483647 w 249"/>
                <a:gd name="T7" fmla="*/ 2147483647 h 231"/>
                <a:gd name="T8" fmla="*/ 2147483647 w 249"/>
                <a:gd name="T9" fmla="*/ 2147483647 h 231"/>
                <a:gd name="T10" fmla="*/ 2147483647 w 249"/>
                <a:gd name="T11" fmla="*/ 2147483647 h 231"/>
                <a:gd name="T12" fmla="*/ 2147483647 w 249"/>
                <a:gd name="T13" fmla="*/ 2147483647 h 231"/>
                <a:gd name="T14" fmla="*/ 2147483647 w 249"/>
                <a:gd name="T15" fmla="*/ 2147483647 h 231"/>
                <a:gd name="T16" fmla="*/ 2147483647 w 249"/>
                <a:gd name="T17" fmla="*/ 2147483647 h 231"/>
                <a:gd name="T18" fmla="*/ 2147483647 w 249"/>
                <a:gd name="T19" fmla="*/ 2147483647 h 231"/>
                <a:gd name="T20" fmla="*/ 2147483647 w 249"/>
                <a:gd name="T21" fmla="*/ 2147483647 h 231"/>
                <a:gd name="T22" fmla="*/ 2147483647 w 249"/>
                <a:gd name="T23" fmla="*/ 2147483647 h 231"/>
                <a:gd name="T24" fmla="*/ 2147483647 w 249"/>
                <a:gd name="T25" fmla="*/ 2147483647 h 231"/>
                <a:gd name="T26" fmla="*/ 2147483647 w 249"/>
                <a:gd name="T27" fmla="*/ 2147483647 h 231"/>
                <a:gd name="T28" fmla="*/ 2147483647 w 249"/>
                <a:gd name="T29" fmla="*/ 2147483647 h 231"/>
                <a:gd name="T30" fmla="*/ 2147483647 w 249"/>
                <a:gd name="T31" fmla="*/ 2147483647 h 231"/>
                <a:gd name="T32" fmla="*/ 2147483647 w 249"/>
                <a:gd name="T33" fmla="*/ 2147483647 h 231"/>
                <a:gd name="T34" fmla="*/ 2147483647 w 249"/>
                <a:gd name="T35" fmla="*/ 2147483647 h 231"/>
                <a:gd name="T36" fmla="*/ 2147483647 w 249"/>
                <a:gd name="T37" fmla="*/ 2147483647 h 231"/>
                <a:gd name="T38" fmla="*/ 2147483647 w 249"/>
                <a:gd name="T39" fmla="*/ 2147483647 h 231"/>
                <a:gd name="T40" fmla="*/ 2147483647 w 249"/>
                <a:gd name="T41" fmla="*/ 2147483647 h 231"/>
                <a:gd name="T42" fmla="*/ 2147483647 w 249"/>
                <a:gd name="T43" fmla="*/ 2147483647 h 231"/>
                <a:gd name="T44" fmla="*/ 2147483647 w 249"/>
                <a:gd name="T45" fmla="*/ 2147483647 h 231"/>
                <a:gd name="T46" fmla="*/ 2147483647 w 249"/>
                <a:gd name="T47" fmla="*/ 2147483647 h 231"/>
                <a:gd name="T48" fmla="*/ 2147483647 w 249"/>
                <a:gd name="T49" fmla="*/ 2147483647 h 231"/>
                <a:gd name="T50" fmla="*/ 2147483647 w 249"/>
                <a:gd name="T51" fmla="*/ 2147483647 h 231"/>
                <a:gd name="T52" fmla="*/ 2147483647 w 249"/>
                <a:gd name="T53" fmla="*/ 2147483647 h 231"/>
                <a:gd name="T54" fmla="*/ 2147483647 w 249"/>
                <a:gd name="T55" fmla="*/ 2147483647 h 231"/>
                <a:gd name="T56" fmla="*/ 2147483647 w 249"/>
                <a:gd name="T57" fmla="*/ 2147483647 h 231"/>
                <a:gd name="T58" fmla="*/ 2147483647 w 249"/>
                <a:gd name="T59" fmla="*/ 2147483647 h 231"/>
                <a:gd name="T60" fmla="*/ 2147483647 w 249"/>
                <a:gd name="T61" fmla="*/ 2147483647 h 231"/>
                <a:gd name="T62" fmla="*/ 2147483647 w 249"/>
                <a:gd name="T63" fmla="*/ 2147483647 h 231"/>
                <a:gd name="T64" fmla="*/ 2147483647 w 249"/>
                <a:gd name="T65" fmla="*/ 2147483647 h 231"/>
                <a:gd name="T66" fmla="*/ 2147483647 w 249"/>
                <a:gd name="T67" fmla="*/ 2147483647 h 231"/>
                <a:gd name="T68" fmla="*/ 2147483647 w 249"/>
                <a:gd name="T69" fmla="*/ 2147483647 h 231"/>
                <a:gd name="T70" fmla="*/ 2147483647 w 249"/>
                <a:gd name="T71" fmla="*/ 2147483647 h 231"/>
                <a:gd name="T72" fmla="*/ 2147483647 w 249"/>
                <a:gd name="T73" fmla="*/ 2147483647 h 231"/>
                <a:gd name="T74" fmla="*/ 2147483647 w 249"/>
                <a:gd name="T75" fmla="*/ 2147483647 h 231"/>
                <a:gd name="T76" fmla="*/ 2147483647 w 249"/>
                <a:gd name="T77" fmla="*/ 2147483647 h 231"/>
                <a:gd name="T78" fmla="*/ 2147483647 w 249"/>
                <a:gd name="T79" fmla="*/ 2147483647 h 231"/>
                <a:gd name="T80" fmla="*/ 2147483647 w 249"/>
                <a:gd name="T81" fmla="*/ 2147483647 h 231"/>
                <a:gd name="T82" fmla="*/ 2147483647 w 249"/>
                <a:gd name="T83" fmla="*/ 2147483647 h 231"/>
                <a:gd name="T84" fmla="*/ 2147483647 w 249"/>
                <a:gd name="T85" fmla="*/ 2147483647 h 231"/>
                <a:gd name="T86" fmla="*/ 2147483647 w 249"/>
                <a:gd name="T87" fmla="*/ 2147483647 h 231"/>
                <a:gd name="T88" fmla="*/ 2147483647 w 249"/>
                <a:gd name="T89" fmla="*/ 2147483647 h 231"/>
                <a:gd name="T90" fmla="*/ 2147483647 w 249"/>
                <a:gd name="T91" fmla="*/ 2147483647 h 231"/>
                <a:gd name="T92" fmla="*/ 2147483647 w 249"/>
                <a:gd name="T93" fmla="*/ 2147483647 h 231"/>
                <a:gd name="T94" fmla="*/ 2147483647 w 249"/>
                <a:gd name="T95" fmla="*/ 2147483647 h 231"/>
                <a:gd name="T96" fmla="*/ 2147483647 w 249"/>
                <a:gd name="T97" fmla="*/ 2147483647 h 23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49" h="231">
                  <a:moveTo>
                    <a:pt x="239" y="162"/>
                  </a:moveTo>
                  <a:lnTo>
                    <a:pt x="241" y="164"/>
                  </a:lnTo>
                  <a:lnTo>
                    <a:pt x="246" y="168"/>
                  </a:lnTo>
                  <a:lnTo>
                    <a:pt x="249" y="175"/>
                  </a:lnTo>
                  <a:lnTo>
                    <a:pt x="248" y="182"/>
                  </a:lnTo>
                  <a:lnTo>
                    <a:pt x="244" y="187"/>
                  </a:lnTo>
                  <a:lnTo>
                    <a:pt x="239" y="188"/>
                  </a:lnTo>
                  <a:lnTo>
                    <a:pt x="236" y="187"/>
                  </a:lnTo>
                  <a:lnTo>
                    <a:pt x="232" y="187"/>
                  </a:lnTo>
                  <a:lnTo>
                    <a:pt x="229" y="187"/>
                  </a:lnTo>
                  <a:lnTo>
                    <a:pt x="226" y="187"/>
                  </a:lnTo>
                  <a:lnTo>
                    <a:pt x="226" y="189"/>
                  </a:lnTo>
                  <a:lnTo>
                    <a:pt x="228" y="195"/>
                  </a:lnTo>
                  <a:lnTo>
                    <a:pt x="230" y="204"/>
                  </a:lnTo>
                  <a:lnTo>
                    <a:pt x="232" y="213"/>
                  </a:lnTo>
                  <a:lnTo>
                    <a:pt x="231" y="220"/>
                  </a:lnTo>
                  <a:lnTo>
                    <a:pt x="224" y="225"/>
                  </a:lnTo>
                  <a:lnTo>
                    <a:pt x="216" y="227"/>
                  </a:lnTo>
                  <a:lnTo>
                    <a:pt x="211" y="230"/>
                  </a:lnTo>
                  <a:lnTo>
                    <a:pt x="205" y="231"/>
                  </a:lnTo>
                  <a:lnTo>
                    <a:pt x="195" y="225"/>
                  </a:lnTo>
                  <a:lnTo>
                    <a:pt x="190" y="220"/>
                  </a:lnTo>
                  <a:lnTo>
                    <a:pt x="184" y="215"/>
                  </a:lnTo>
                  <a:lnTo>
                    <a:pt x="178" y="210"/>
                  </a:lnTo>
                  <a:lnTo>
                    <a:pt x="173" y="205"/>
                  </a:lnTo>
                  <a:lnTo>
                    <a:pt x="170" y="202"/>
                  </a:lnTo>
                  <a:lnTo>
                    <a:pt x="165" y="198"/>
                  </a:lnTo>
                  <a:lnTo>
                    <a:pt x="163" y="196"/>
                  </a:lnTo>
                  <a:lnTo>
                    <a:pt x="161" y="195"/>
                  </a:lnTo>
                  <a:lnTo>
                    <a:pt x="158" y="194"/>
                  </a:lnTo>
                  <a:lnTo>
                    <a:pt x="157" y="194"/>
                  </a:lnTo>
                  <a:lnTo>
                    <a:pt x="154" y="196"/>
                  </a:lnTo>
                  <a:lnTo>
                    <a:pt x="146" y="202"/>
                  </a:lnTo>
                  <a:lnTo>
                    <a:pt x="140" y="206"/>
                  </a:lnTo>
                  <a:lnTo>
                    <a:pt x="132" y="210"/>
                  </a:lnTo>
                  <a:lnTo>
                    <a:pt x="123" y="213"/>
                  </a:lnTo>
                  <a:lnTo>
                    <a:pt x="114" y="216"/>
                  </a:lnTo>
                  <a:lnTo>
                    <a:pt x="104" y="219"/>
                  </a:lnTo>
                  <a:lnTo>
                    <a:pt x="95" y="220"/>
                  </a:lnTo>
                  <a:lnTo>
                    <a:pt x="89" y="221"/>
                  </a:lnTo>
                  <a:lnTo>
                    <a:pt x="85" y="223"/>
                  </a:lnTo>
                  <a:lnTo>
                    <a:pt x="81" y="223"/>
                  </a:lnTo>
                  <a:lnTo>
                    <a:pt x="78" y="223"/>
                  </a:lnTo>
                  <a:lnTo>
                    <a:pt x="73" y="221"/>
                  </a:lnTo>
                  <a:lnTo>
                    <a:pt x="67" y="219"/>
                  </a:lnTo>
                  <a:lnTo>
                    <a:pt x="62" y="218"/>
                  </a:lnTo>
                  <a:lnTo>
                    <a:pt x="57" y="216"/>
                  </a:lnTo>
                  <a:lnTo>
                    <a:pt x="52" y="215"/>
                  </a:lnTo>
                  <a:lnTo>
                    <a:pt x="49" y="215"/>
                  </a:lnTo>
                  <a:lnTo>
                    <a:pt x="46" y="213"/>
                  </a:lnTo>
                  <a:lnTo>
                    <a:pt x="44" y="210"/>
                  </a:lnTo>
                  <a:lnTo>
                    <a:pt x="44" y="204"/>
                  </a:lnTo>
                  <a:lnTo>
                    <a:pt x="43" y="197"/>
                  </a:lnTo>
                  <a:lnTo>
                    <a:pt x="40" y="188"/>
                  </a:lnTo>
                  <a:lnTo>
                    <a:pt x="33" y="180"/>
                  </a:lnTo>
                  <a:lnTo>
                    <a:pt x="25" y="173"/>
                  </a:lnTo>
                  <a:lnTo>
                    <a:pt x="16" y="167"/>
                  </a:lnTo>
                  <a:lnTo>
                    <a:pt x="9" y="164"/>
                  </a:lnTo>
                  <a:lnTo>
                    <a:pt x="3" y="162"/>
                  </a:lnTo>
                  <a:lnTo>
                    <a:pt x="1" y="157"/>
                  </a:lnTo>
                  <a:lnTo>
                    <a:pt x="0" y="151"/>
                  </a:lnTo>
                  <a:lnTo>
                    <a:pt x="0" y="143"/>
                  </a:lnTo>
                  <a:lnTo>
                    <a:pt x="0" y="136"/>
                  </a:lnTo>
                  <a:lnTo>
                    <a:pt x="1" y="130"/>
                  </a:lnTo>
                  <a:lnTo>
                    <a:pt x="5" y="129"/>
                  </a:lnTo>
                  <a:lnTo>
                    <a:pt x="12" y="129"/>
                  </a:lnTo>
                  <a:lnTo>
                    <a:pt x="20" y="128"/>
                  </a:lnTo>
                  <a:lnTo>
                    <a:pt x="27" y="129"/>
                  </a:lnTo>
                  <a:lnTo>
                    <a:pt x="36" y="132"/>
                  </a:lnTo>
                  <a:lnTo>
                    <a:pt x="42" y="135"/>
                  </a:lnTo>
                  <a:lnTo>
                    <a:pt x="49" y="138"/>
                  </a:lnTo>
                  <a:lnTo>
                    <a:pt x="57" y="142"/>
                  </a:lnTo>
                  <a:lnTo>
                    <a:pt x="65" y="147"/>
                  </a:lnTo>
                  <a:lnTo>
                    <a:pt x="72" y="149"/>
                  </a:lnTo>
                  <a:lnTo>
                    <a:pt x="79" y="151"/>
                  </a:lnTo>
                  <a:lnTo>
                    <a:pt x="82" y="151"/>
                  </a:lnTo>
                  <a:lnTo>
                    <a:pt x="85" y="149"/>
                  </a:lnTo>
                  <a:lnTo>
                    <a:pt x="86" y="141"/>
                  </a:lnTo>
                  <a:lnTo>
                    <a:pt x="86" y="133"/>
                  </a:lnTo>
                  <a:lnTo>
                    <a:pt x="81" y="126"/>
                  </a:lnTo>
                  <a:lnTo>
                    <a:pt x="69" y="121"/>
                  </a:lnTo>
                  <a:lnTo>
                    <a:pt x="56" y="118"/>
                  </a:lnTo>
                  <a:lnTo>
                    <a:pt x="50" y="117"/>
                  </a:lnTo>
                  <a:lnTo>
                    <a:pt x="44" y="117"/>
                  </a:lnTo>
                  <a:lnTo>
                    <a:pt x="35" y="115"/>
                  </a:lnTo>
                  <a:lnTo>
                    <a:pt x="24" y="115"/>
                  </a:lnTo>
                  <a:lnTo>
                    <a:pt x="17" y="115"/>
                  </a:lnTo>
                  <a:lnTo>
                    <a:pt x="12" y="114"/>
                  </a:lnTo>
                  <a:lnTo>
                    <a:pt x="8" y="111"/>
                  </a:lnTo>
                  <a:lnTo>
                    <a:pt x="3" y="104"/>
                  </a:lnTo>
                  <a:lnTo>
                    <a:pt x="2" y="96"/>
                  </a:lnTo>
                  <a:lnTo>
                    <a:pt x="2" y="90"/>
                  </a:lnTo>
                  <a:lnTo>
                    <a:pt x="4" y="86"/>
                  </a:lnTo>
                  <a:lnTo>
                    <a:pt x="11" y="84"/>
                  </a:lnTo>
                  <a:lnTo>
                    <a:pt x="20" y="86"/>
                  </a:lnTo>
                  <a:lnTo>
                    <a:pt x="28" y="84"/>
                  </a:lnTo>
                  <a:lnTo>
                    <a:pt x="29" y="79"/>
                  </a:lnTo>
                  <a:lnTo>
                    <a:pt x="26" y="73"/>
                  </a:lnTo>
                  <a:lnTo>
                    <a:pt x="23" y="71"/>
                  </a:lnTo>
                  <a:lnTo>
                    <a:pt x="19" y="68"/>
                  </a:lnTo>
                  <a:lnTo>
                    <a:pt x="13" y="62"/>
                  </a:lnTo>
                  <a:lnTo>
                    <a:pt x="8" y="54"/>
                  </a:lnTo>
                  <a:lnTo>
                    <a:pt x="3" y="49"/>
                  </a:lnTo>
                  <a:lnTo>
                    <a:pt x="3" y="44"/>
                  </a:lnTo>
                  <a:lnTo>
                    <a:pt x="8" y="39"/>
                  </a:lnTo>
                  <a:lnTo>
                    <a:pt x="14" y="37"/>
                  </a:lnTo>
                  <a:lnTo>
                    <a:pt x="19" y="35"/>
                  </a:lnTo>
                  <a:lnTo>
                    <a:pt x="21" y="33"/>
                  </a:lnTo>
                  <a:lnTo>
                    <a:pt x="24" y="27"/>
                  </a:lnTo>
                  <a:lnTo>
                    <a:pt x="25" y="21"/>
                  </a:lnTo>
                  <a:lnTo>
                    <a:pt x="25" y="18"/>
                  </a:lnTo>
                  <a:lnTo>
                    <a:pt x="28" y="15"/>
                  </a:lnTo>
                  <a:lnTo>
                    <a:pt x="33" y="14"/>
                  </a:lnTo>
                  <a:lnTo>
                    <a:pt x="40" y="13"/>
                  </a:lnTo>
                  <a:lnTo>
                    <a:pt x="46" y="9"/>
                  </a:lnTo>
                  <a:lnTo>
                    <a:pt x="51" y="7"/>
                  </a:lnTo>
                  <a:lnTo>
                    <a:pt x="61" y="5"/>
                  </a:lnTo>
                  <a:lnTo>
                    <a:pt x="72" y="3"/>
                  </a:lnTo>
                  <a:lnTo>
                    <a:pt x="81" y="0"/>
                  </a:lnTo>
                  <a:lnTo>
                    <a:pt x="88" y="3"/>
                  </a:lnTo>
                  <a:lnTo>
                    <a:pt x="88" y="9"/>
                  </a:lnTo>
                  <a:lnTo>
                    <a:pt x="85" y="18"/>
                  </a:lnTo>
                  <a:lnTo>
                    <a:pt x="81" y="23"/>
                  </a:lnTo>
                  <a:lnTo>
                    <a:pt x="82" y="27"/>
                  </a:lnTo>
                  <a:lnTo>
                    <a:pt x="88" y="26"/>
                  </a:lnTo>
                  <a:lnTo>
                    <a:pt x="95" y="23"/>
                  </a:lnTo>
                  <a:lnTo>
                    <a:pt x="100" y="24"/>
                  </a:lnTo>
                  <a:lnTo>
                    <a:pt x="102" y="27"/>
                  </a:lnTo>
                  <a:lnTo>
                    <a:pt x="104" y="34"/>
                  </a:lnTo>
                  <a:lnTo>
                    <a:pt x="110" y="41"/>
                  </a:lnTo>
                  <a:lnTo>
                    <a:pt x="117" y="46"/>
                  </a:lnTo>
                  <a:lnTo>
                    <a:pt x="124" y="47"/>
                  </a:lnTo>
                  <a:lnTo>
                    <a:pt x="127" y="45"/>
                  </a:lnTo>
                  <a:lnTo>
                    <a:pt x="127" y="38"/>
                  </a:lnTo>
                  <a:lnTo>
                    <a:pt x="126" y="31"/>
                  </a:lnTo>
                  <a:lnTo>
                    <a:pt x="125" y="27"/>
                  </a:lnTo>
                  <a:lnTo>
                    <a:pt x="129" y="27"/>
                  </a:lnTo>
                  <a:lnTo>
                    <a:pt x="134" y="33"/>
                  </a:lnTo>
                  <a:lnTo>
                    <a:pt x="140" y="39"/>
                  </a:lnTo>
                  <a:lnTo>
                    <a:pt x="145" y="47"/>
                  </a:lnTo>
                  <a:lnTo>
                    <a:pt x="146" y="58"/>
                  </a:lnTo>
                  <a:lnTo>
                    <a:pt x="147" y="69"/>
                  </a:lnTo>
                  <a:lnTo>
                    <a:pt x="148" y="80"/>
                  </a:lnTo>
                  <a:lnTo>
                    <a:pt x="152" y="83"/>
                  </a:lnTo>
                  <a:lnTo>
                    <a:pt x="155" y="75"/>
                  </a:lnTo>
                  <a:lnTo>
                    <a:pt x="158" y="64"/>
                  </a:lnTo>
                  <a:lnTo>
                    <a:pt x="161" y="57"/>
                  </a:lnTo>
                  <a:lnTo>
                    <a:pt x="162" y="51"/>
                  </a:lnTo>
                  <a:lnTo>
                    <a:pt x="160" y="46"/>
                  </a:lnTo>
                  <a:lnTo>
                    <a:pt x="157" y="39"/>
                  </a:lnTo>
                  <a:lnTo>
                    <a:pt x="156" y="33"/>
                  </a:lnTo>
                  <a:lnTo>
                    <a:pt x="157" y="27"/>
                  </a:lnTo>
                  <a:lnTo>
                    <a:pt x="160" y="22"/>
                  </a:lnTo>
                  <a:lnTo>
                    <a:pt x="164" y="20"/>
                  </a:lnTo>
                  <a:lnTo>
                    <a:pt x="169" y="21"/>
                  </a:lnTo>
                  <a:lnTo>
                    <a:pt x="173" y="23"/>
                  </a:lnTo>
                  <a:lnTo>
                    <a:pt x="179" y="26"/>
                  </a:lnTo>
                  <a:lnTo>
                    <a:pt x="181" y="24"/>
                  </a:lnTo>
                  <a:lnTo>
                    <a:pt x="183" y="22"/>
                  </a:lnTo>
                  <a:lnTo>
                    <a:pt x="181" y="19"/>
                  </a:lnTo>
                  <a:lnTo>
                    <a:pt x="181" y="18"/>
                  </a:lnTo>
                  <a:lnTo>
                    <a:pt x="179" y="15"/>
                  </a:lnTo>
                  <a:lnTo>
                    <a:pt x="175" y="11"/>
                  </a:lnTo>
                  <a:lnTo>
                    <a:pt x="172" y="7"/>
                  </a:lnTo>
                  <a:lnTo>
                    <a:pt x="179" y="5"/>
                  </a:lnTo>
                  <a:lnTo>
                    <a:pt x="185" y="5"/>
                  </a:lnTo>
                  <a:lnTo>
                    <a:pt x="192" y="5"/>
                  </a:lnTo>
                  <a:lnTo>
                    <a:pt x="198" y="5"/>
                  </a:lnTo>
                  <a:lnTo>
                    <a:pt x="203" y="6"/>
                  </a:lnTo>
                  <a:lnTo>
                    <a:pt x="208" y="8"/>
                  </a:lnTo>
                  <a:lnTo>
                    <a:pt x="211" y="11"/>
                  </a:lnTo>
                  <a:lnTo>
                    <a:pt x="213" y="15"/>
                  </a:lnTo>
                  <a:lnTo>
                    <a:pt x="211" y="21"/>
                  </a:lnTo>
                  <a:lnTo>
                    <a:pt x="207" y="31"/>
                  </a:lnTo>
                  <a:lnTo>
                    <a:pt x="203" y="37"/>
                  </a:lnTo>
                  <a:lnTo>
                    <a:pt x="199" y="39"/>
                  </a:lnTo>
                  <a:lnTo>
                    <a:pt x="195" y="42"/>
                  </a:lnTo>
                  <a:lnTo>
                    <a:pt x="192" y="45"/>
                  </a:lnTo>
                  <a:lnTo>
                    <a:pt x="193" y="52"/>
                  </a:lnTo>
                  <a:lnTo>
                    <a:pt x="195" y="60"/>
                  </a:lnTo>
                  <a:lnTo>
                    <a:pt x="196" y="69"/>
                  </a:lnTo>
                  <a:lnTo>
                    <a:pt x="198" y="79"/>
                  </a:lnTo>
                  <a:lnTo>
                    <a:pt x="199" y="89"/>
                  </a:lnTo>
                  <a:lnTo>
                    <a:pt x="201" y="98"/>
                  </a:lnTo>
                  <a:lnTo>
                    <a:pt x="201" y="105"/>
                  </a:lnTo>
                  <a:lnTo>
                    <a:pt x="200" y="110"/>
                  </a:lnTo>
                  <a:lnTo>
                    <a:pt x="199" y="112"/>
                  </a:lnTo>
                  <a:lnTo>
                    <a:pt x="198" y="115"/>
                  </a:lnTo>
                  <a:lnTo>
                    <a:pt x="198" y="122"/>
                  </a:lnTo>
                  <a:lnTo>
                    <a:pt x="201" y="130"/>
                  </a:lnTo>
                  <a:lnTo>
                    <a:pt x="205" y="136"/>
                  </a:lnTo>
                  <a:lnTo>
                    <a:pt x="209" y="141"/>
                  </a:lnTo>
                  <a:lnTo>
                    <a:pt x="216" y="147"/>
                  </a:lnTo>
                  <a:lnTo>
                    <a:pt x="224" y="153"/>
                  </a:lnTo>
                  <a:lnTo>
                    <a:pt x="231" y="158"/>
                  </a:lnTo>
                  <a:lnTo>
                    <a:pt x="237" y="160"/>
                  </a:lnTo>
                  <a:lnTo>
                    <a:pt x="239" y="162"/>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57" name="Freeform 154">
              <a:extLst>
                <a:ext uri="{FF2B5EF4-FFF2-40B4-BE49-F238E27FC236}">
                  <a16:creationId xmlns:a16="http://schemas.microsoft.com/office/drawing/2014/main" id="{77B576E2-4F7C-1EEF-5A4F-96BF97D3E863}"/>
                </a:ext>
              </a:extLst>
            </p:cNvPr>
            <p:cNvSpPr>
              <a:spLocks/>
            </p:cNvSpPr>
            <p:nvPr/>
          </p:nvSpPr>
          <p:spPr bwMode="auto">
            <a:xfrm>
              <a:off x="3327458" y="4030115"/>
              <a:ext cx="43739" cy="22747"/>
            </a:xfrm>
            <a:custGeom>
              <a:avLst/>
              <a:gdLst>
                <a:gd name="T0" fmla="*/ 2147483647 w 23"/>
                <a:gd name="T1" fmla="*/ 0 h 18"/>
                <a:gd name="T2" fmla="*/ 2147483647 w 23"/>
                <a:gd name="T3" fmla="*/ 2147483647 h 18"/>
                <a:gd name="T4" fmla="*/ 2147483647 w 23"/>
                <a:gd name="T5" fmla="*/ 2147483647 h 18"/>
                <a:gd name="T6" fmla="*/ 0 w 23"/>
                <a:gd name="T7" fmla="*/ 2147483647 h 18"/>
                <a:gd name="T8" fmla="*/ 2147483647 w 23"/>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18">
                  <a:moveTo>
                    <a:pt x="2" y="0"/>
                  </a:moveTo>
                  <a:lnTo>
                    <a:pt x="23" y="1"/>
                  </a:lnTo>
                  <a:lnTo>
                    <a:pt x="21" y="18"/>
                  </a:lnTo>
                  <a:lnTo>
                    <a:pt x="0" y="13"/>
                  </a:lnTo>
                  <a:lnTo>
                    <a:pt x="2"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58" name="Freeform 155">
              <a:extLst>
                <a:ext uri="{FF2B5EF4-FFF2-40B4-BE49-F238E27FC236}">
                  <a16:creationId xmlns:a16="http://schemas.microsoft.com/office/drawing/2014/main" id="{C941DECF-F227-BE60-E52A-795C77A745EA}"/>
                </a:ext>
              </a:extLst>
            </p:cNvPr>
            <p:cNvSpPr>
              <a:spLocks/>
            </p:cNvSpPr>
            <p:nvPr/>
          </p:nvSpPr>
          <p:spPr bwMode="auto">
            <a:xfrm>
              <a:off x="4576890" y="1912786"/>
              <a:ext cx="157844" cy="60658"/>
            </a:xfrm>
            <a:custGeom>
              <a:avLst/>
              <a:gdLst>
                <a:gd name="T0" fmla="*/ 2147483647 w 114"/>
                <a:gd name="T1" fmla="*/ 0 h 54"/>
                <a:gd name="T2" fmla="*/ 2147483647 w 114"/>
                <a:gd name="T3" fmla="*/ 2147483647 h 54"/>
                <a:gd name="T4" fmla="*/ 2147483647 w 114"/>
                <a:gd name="T5" fmla="*/ 2147483647 h 54"/>
                <a:gd name="T6" fmla="*/ 2147483647 w 114"/>
                <a:gd name="T7" fmla="*/ 0 h 54"/>
                <a:gd name="T8" fmla="*/ 2147483647 w 114"/>
                <a:gd name="T9" fmla="*/ 2147483647 h 54"/>
                <a:gd name="T10" fmla="*/ 2147483647 w 114"/>
                <a:gd name="T11" fmla="*/ 2147483647 h 54"/>
                <a:gd name="T12" fmla="*/ 2147483647 w 114"/>
                <a:gd name="T13" fmla="*/ 2147483647 h 54"/>
                <a:gd name="T14" fmla="*/ 2147483647 w 114"/>
                <a:gd name="T15" fmla="*/ 2147483647 h 54"/>
                <a:gd name="T16" fmla="*/ 2147483647 w 114"/>
                <a:gd name="T17" fmla="*/ 2147483647 h 54"/>
                <a:gd name="T18" fmla="*/ 2147483647 w 114"/>
                <a:gd name="T19" fmla="*/ 2147483647 h 54"/>
                <a:gd name="T20" fmla="*/ 2147483647 w 114"/>
                <a:gd name="T21" fmla="*/ 2147483647 h 54"/>
                <a:gd name="T22" fmla="*/ 0 w 114"/>
                <a:gd name="T23" fmla="*/ 2147483647 h 54"/>
                <a:gd name="T24" fmla="*/ 2147483647 w 114"/>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4" h="54">
                  <a:moveTo>
                    <a:pt x="14" y="0"/>
                  </a:moveTo>
                  <a:lnTo>
                    <a:pt x="26" y="14"/>
                  </a:lnTo>
                  <a:lnTo>
                    <a:pt x="54" y="4"/>
                  </a:lnTo>
                  <a:lnTo>
                    <a:pt x="88" y="0"/>
                  </a:lnTo>
                  <a:lnTo>
                    <a:pt x="114" y="18"/>
                  </a:lnTo>
                  <a:lnTo>
                    <a:pt x="96" y="38"/>
                  </a:lnTo>
                  <a:lnTo>
                    <a:pt x="68" y="54"/>
                  </a:lnTo>
                  <a:lnTo>
                    <a:pt x="30" y="42"/>
                  </a:lnTo>
                  <a:lnTo>
                    <a:pt x="10" y="44"/>
                  </a:lnTo>
                  <a:lnTo>
                    <a:pt x="26" y="36"/>
                  </a:lnTo>
                  <a:lnTo>
                    <a:pt x="16" y="22"/>
                  </a:lnTo>
                  <a:lnTo>
                    <a:pt x="0" y="16"/>
                  </a:lnTo>
                  <a:lnTo>
                    <a:pt x="14"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59" name="Freeform 156">
              <a:extLst>
                <a:ext uri="{FF2B5EF4-FFF2-40B4-BE49-F238E27FC236}">
                  <a16:creationId xmlns:a16="http://schemas.microsoft.com/office/drawing/2014/main" id="{706CBFA7-6628-696A-9F5C-1E53775649B6}"/>
                </a:ext>
              </a:extLst>
            </p:cNvPr>
            <p:cNvSpPr>
              <a:spLocks/>
            </p:cNvSpPr>
            <p:nvPr/>
          </p:nvSpPr>
          <p:spPr bwMode="auto">
            <a:xfrm>
              <a:off x="9363530" y="4460406"/>
              <a:ext cx="258634" cy="221779"/>
            </a:xfrm>
            <a:custGeom>
              <a:avLst/>
              <a:gdLst>
                <a:gd name="T0" fmla="*/ 2147483647 w 575"/>
                <a:gd name="T1" fmla="*/ 2147483647 h 488"/>
                <a:gd name="T2" fmla="*/ 2147483647 w 575"/>
                <a:gd name="T3" fmla="*/ 2147483647 h 488"/>
                <a:gd name="T4" fmla="*/ 2147483647 w 575"/>
                <a:gd name="T5" fmla="*/ 2147483647 h 488"/>
                <a:gd name="T6" fmla="*/ 2147483647 w 575"/>
                <a:gd name="T7" fmla="*/ 2147483647 h 488"/>
                <a:gd name="T8" fmla="*/ 2147483647 w 575"/>
                <a:gd name="T9" fmla="*/ 0 h 488"/>
                <a:gd name="T10" fmla="*/ 2147483647 w 575"/>
                <a:gd name="T11" fmla="*/ 2147483647 h 488"/>
                <a:gd name="T12" fmla="*/ 0 w 575"/>
                <a:gd name="T13" fmla="*/ 2147483647 h 488"/>
                <a:gd name="T14" fmla="*/ 2147483647 w 575"/>
                <a:gd name="T15" fmla="*/ 2147483647 h 488"/>
                <a:gd name="T16" fmla="*/ 2147483647 w 575"/>
                <a:gd name="T17" fmla="*/ 2147483647 h 488"/>
                <a:gd name="T18" fmla="*/ 2147483647 w 575"/>
                <a:gd name="T19" fmla="*/ 2147483647 h 488"/>
                <a:gd name="T20" fmla="*/ 2147483647 w 575"/>
                <a:gd name="T21" fmla="*/ 2147483647 h 488"/>
                <a:gd name="T22" fmla="*/ 2147483647 w 575"/>
                <a:gd name="T23" fmla="*/ 2147483647 h 488"/>
                <a:gd name="T24" fmla="*/ 2147483647 w 575"/>
                <a:gd name="T25" fmla="*/ 2147483647 h 488"/>
                <a:gd name="T26" fmla="*/ 2147483647 w 575"/>
                <a:gd name="T27" fmla="*/ 2147483647 h 488"/>
                <a:gd name="T28" fmla="*/ 2147483647 w 575"/>
                <a:gd name="T29" fmla="*/ 2147483647 h 488"/>
                <a:gd name="T30" fmla="*/ 2147483647 w 575"/>
                <a:gd name="T31" fmla="*/ 2147483647 h 488"/>
                <a:gd name="T32" fmla="*/ 2147483647 w 575"/>
                <a:gd name="T33" fmla="*/ 2147483647 h 488"/>
                <a:gd name="T34" fmla="*/ 2147483647 w 575"/>
                <a:gd name="T35" fmla="*/ 2147483647 h 488"/>
                <a:gd name="T36" fmla="*/ 2147483647 w 575"/>
                <a:gd name="T37" fmla="*/ 2147483647 h 488"/>
                <a:gd name="T38" fmla="*/ 2147483647 w 575"/>
                <a:gd name="T39" fmla="*/ 2147483647 h 488"/>
                <a:gd name="T40" fmla="*/ 2147483647 w 575"/>
                <a:gd name="T41" fmla="*/ 2147483647 h 4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5" h="488">
                  <a:moveTo>
                    <a:pt x="410" y="71"/>
                  </a:moveTo>
                  <a:lnTo>
                    <a:pt x="321" y="142"/>
                  </a:lnTo>
                  <a:lnTo>
                    <a:pt x="233" y="142"/>
                  </a:lnTo>
                  <a:lnTo>
                    <a:pt x="178" y="71"/>
                  </a:lnTo>
                  <a:lnTo>
                    <a:pt x="107" y="0"/>
                  </a:lnTo>
                  <a:lnTo>
                    <a:pt x="36" y="19"/>
                  </a:lnTo>
                  <a:lnTo>
                    <a:pt x="0" y="90"/>
                  </a:lnTo>
                  <a:lnTo>
                    <a:pt x="72" y="124"/>
                  </a:lnTo>
                  <a:lnTo>
                    <a:pt x="89" y="159"/>
                  </a:lnTo>
                  <a:lnTo>
                    <a:pt x="107" y="213"/>
                  </a:lnTo>
                  <a:lnTo>
                    <a:pt x="160" y="213"/>
                  </a:lnTo>
                  <a:lnTo>
                    <a:pt x="197" y="230"/>
                  </a:lnTo>
                  <a:lnTo>
                    <a:pt x="321" y="283"/>
                  </a:lnTo>
                  <a:lnTo>
                    <a:pt x="446" y="353"/>
                  </a:lnTo>
                  <a:lnTo>
                    <a:pt x="465" y="389"/>
                  </a:lnTo>
                  <a:lnTo>
                    <a:pt x="393" y="424"/>
                  </a:lnTo>
                  <a:lnTo>
                    <a:pt x="465" y="442"/>
                  </a:lnTo>
                  <a:lnTo>
                    <a:pt x="518" y="459"/>
                  </a:lnTo>
                  <a:lnTo>
                    <a:pt x="575" y="488"/>
                  </a:lnTo>
                  <a:lnTo>
                    <a:pt x="575" y="122"/>
                  </a:lnTo>
                  <a:lnTo>
                    <a:pt x="410" y="71"/>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60" name="Freeform 157">
              <a:extLst>
                <a:ext uri="{FF2B5EF4-FFF2-40B4-BE49-F238E27FC236}">
                  <a16:creationId xmlns:a16="http://schemas.microsoft.com/office/drawing/2014/main" id="{13B19E16-1731-2599-C9FA-58B65E3CEE3C}"/>
                </a:ext>
              </a:extLst>
            </p:cNvPr>
            <p:cNvSpPr>
              <a:spLocks/>
            </p:cNvSpPr>
            <p:nvPr/>
          </p:nvSpPr>
          <p:spPr bwMode="auto">
            <a:xfrm>
              <a:off x="9622164" y="4513481"/>
              <a:ext cx="209190" cy="202823"/>
            </a:xfrm>
            <a:custGeom>
              <a:avLst/>
              <a:gdLst>
                <a:gd name="T0" fmla="*/ 2147483647 w 460"/>
                <a:gd name="T1" fmla="*/ 2147483647 h 443"/>
                <a:gd name="T2" fmla="*/ 2147483647 w 460"/>
                <a:gd name="T3" fmla="*/ 2147483647 h 443"/>
                <a:gd name="T4" fmla="*/ 2147483647 w 460"/>
                <a:gd name="T5" fmla="*/ 2147483647 h 443"/>
                <a:gd name="T6" fmla="*/ 2147483647 w 460"/>
                <a:gd name="T7" fmla="*/ 2147483647 h 443"/>
                <a:gd name="T8" fmla="*/ 2147483647 w 460"/>
                <a:gd name="T9" fmla="*/ 2147483647 h 443"/>
                <a:gd name="T10" fmla="*/ 2147483647 w 460"/>
                <a:gd name="T11" fmla="*/ 2147483647 h 443"/>
                <a:gd name="T12" fmla="*/ 0 w 460"/>
                <a:gd name="T13" fmla="*/ 0 h 443"/>
                <a:gd name="T14" fmla="*/ 0 w 460"/>
                <a:gd name="T15" fmla="*/ 2147483647 h 443"/>
                <a:gd name="T16" fmla="*/ 2147483647 w 460"/>
                <a:gd name="T17" fmla="*/ 2147483647 h 443"/>
                <a:gd name="T18" fmla="*/ 2147483647 w 460"/>
                <a:gd name="T19" fmla="*/ 2147483647 h 443"/>
                <a:gd name="T20" fmla="*/ 2147483647 w 460"/>
                <a:gd name="T21" fmla="*/ 2147483647 h 443"/>
                <a:gd name="T22" fmla="*/ 2147483647 w 460"/>
                <a:gd name="T23" fmla="*/ 2147483647 h 443"/>
                <a:gd name="T24" fmla="*/ 2147483647 w 460"/>
                <a:gd name="T25" fmla="*/ 2147483647 h 443"/>
                <a:gd name="T26" fmla="*/ 2147483647 w 460"/>
                <a:gd name="T27" fmla="*/ 2147483647 h 443"/>
                <a:gd name="T28" fmla="*/ 2147483647 w 460"/>
                <a:gd name="T29" fmla="*/ 2147483647 h 443"/>
                <a:gd name="T30" fmla="*/ 2147483647 w 460"/>
                <a:gd name="T31" fmla="*/ 2147483647 h 443"/>
                <a:gd name="T32" fmla="*/ 2147483647 w 460"/>
                <a:gd name="T33" fmla="*/ 2147483647 h 44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60" h="443">
                  <a:moveTo>
                    <a:pt x="353" y="302"/>
                  </a:moveTo>
                  <a:lnTo>
                    <a:pt x="336" y="249"/>
                  </a:lnTo>
                  <a:lnTo>
                    <a:pt x="372" y="214"/>
                  </a:lnTo>
                  <a:lnTo>
                    <a:pt x="283" y="161"/>
                  </a:lnTo>
                  <a:lnTo>
                    <a:pt x="247" y="108"/>
                  </a:lnTo>
                  <a:lnTo>
                    <a:pt x="122" y="37"/>
                  </a:lnTo>
                  <a:lnTo>
                    <a:pt x="0" y="0"/>
                  </a:lnTo>
                  <a:lnTo>
                    <a:pt x="0" y="366"/>
                  </a:lnTo>
                  <a:lnTo>
                    <a:pt x="14" y="373"/>
                  </a:lnTo>
                  <a:lnTo>
                    <a:pt x="67" y="373"/>
                  </a:lnTo>
                  <a:lnTo>
                    <a:pt x="122" y="320"/>
                  </a:lnTo>
                  <a:lnTo>
                    <a:pt x="211" y="284"/>
                  </a:lnTo>
                  <a:lnTo>
                    <a:pt x="264" y="320"/>
                  </a:lnTo>
                  <a:lnTo>
                    <a:pt x="389" y="408"/>
                  </a:lnTo>
                  <a:lnTo>
                    <a:pt x="460" y="443"/>
                  </a:lnTo>
                  <a:lnTo>
                    <a:pt x="460" y="337"/>
                  </a:lnTo>
                  <a:lnTo>
                    <a:pt x="353" y="302"/>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grpSp>
          <p:nvGrpSpPr>
            <p:cNvPr id="161" name="Group 160">
              <a:extLst>
                <a:ext uri="{FF2B5EF4-FFF2-40B4-BE49-F238E27FC236}">
                  <a16:creationId xmlns:a16="http://schemas.microsoft.com/office/drawing/2014/main" id="{C09C1E53-5F18-BC9A-0255-20C17F83170E}"/>
                </a:ext>
              </a:extLst>
            </p:cNvPr>
            <p:cNvGrpSpPr>
              <a:grpSpLocks/>
            </p:cNvGrpSpPr>
            <p:nvPr/>
          </p:nvGrpSpPr>
          <p:grpSpPr bwMode="auto">
            <a:xfrm>
              <a:off x="5143604" y="2377195"/>
              <a:ext cx="300472" cy="439768"/>
              <a:chOff x="2201" y="1250"/>
              <a:chExt cx="133" cy="193"/>
            </a:xfrm>
            <a:grpFill/>
          </p:grpSpPr>
          <p:sp>
            <p:nvSpPr>
              <p:cNvPr id="201" name="Freeform 198">
                <a:extLst>
                  <a:ext uri="{FF2B5EF4-FFF2-40B4-BE49-F238E27FC236}">
                    <a16:creationId xmlns:a16="http://schemas.microsoft.com/office/drawing/2014/main" id="{870634B3-84E7-755C-8C45-5E847B247039}"/>
                  </a:ext>
                </a:extLst>
              </p:cNvPr>
              <p:cNvSpPr>
                <a:spLocks/>
              </p:cNvSpPr>
              <p:nvPr/>
            </p:nvSpPr>
            <p:spPr bwMode="auto">
              <a:xfrm>
                <a:off x="2234" y="1250"/>
                <a:ext cx="100" cy="193"/>
              </a:xfrm>
              <a:custGeom>
                <a:avLst/>
                <a:gdLst>
                  <a:gd name="T0" fmla="*/ 543767 w 24"/>
                  <a:gd name="T1" fmla="*/ 2833725 h 47"/>
                  <a:gd name="T2" fmla="*/ 371667 w 24"/>
                  <a:gd name="T3" fmla="*/ 2675083 h 47"/>
                  <a:gd name="T4" fmla="*/ 915658 w 24"/>
                  <a:gd name="T5" fmla="*/ 2344646 h 47"/>
                  <a:gd name="T6" fmla="*/ 826458 w 24"/>
                  <a:gd name="T7" fmla="*/ 2028208 h 47"/>
                  <a:gd name="T8" fmla="*/ 722154 w 24"/>
                  <a:gd name="T9" fmla="*/ 1773736 h 47"/>
                  <a:gd name="T10" fmla="*/ 282692 w 24"/>
                  <a:gd name="T11" fmla="*/ 1773736 h 47"/>
                  <a:gd name="T12" fmla="*/ 371667 w 24"/>
                  <a:gd name="T13" fmla="*/ 1299416 h 47"/>
                  <a:gd name="T14" fmla="*/ 89200 w 24"/>
                  <a:gd name="T15" fmla="*/ 1457232 h 47"/>
                  <a:gd name="T16" fmla="*/ 0 w 24"/>
                  <a:gd name="T17" fmla="*/ 1044943 h 47"/>
                  <a:gd name="T18" fmla="*/ 0 w 24"/>
                  <a:gd name="T19" fmla="*/ 651445 h 47"/>
                  <a:gd name="T20" fmla="*/ 89200 w 24"/>
                  <a:gd name="T21" fmla="*/ 316438 h 47"/>
                  <a:gd name="T22" fmla="*/ 460867 w 24"/>
                  <a:gd name="T23" fmla="*/ 0 h 47"/>
                  <a:gd name="T24" fmla="*/ 722154 w 24"/>
                  <a:gd name="T25" fmla="*/ 77060 h 47"/>
                  <a:gd name="T26" fmla="*/ 632950 w 24"/>
                  <a:gd name="T27" fmla="*/ 493916 h 47"/>
                  <a:gd name="T28" fmla="*/ 1177883 w 24"/>
                  <a:gd name="T29" fmla="*/ 493916 h 47"/>
                  <a:gd name="T30" fmla="*/ 1004638 w 24"/>
                  <a:gd name="T31" fmla="*/ 887418 h 47"/>
                  <a:gd name="T32" fmla="*/ 826458 w 24"/>
                  <a:gd name="T33" fmla="*/ 1222355 h 47"/>
                  <a:gd name="T34" fmla="*/ 1177883 w 24"/>
                  <a:gd name="T35" fmla="*/ 1376492 h 47"/>
                  <a:gd name="T36" fmla="*/ 1548613 w 24"/>
                  <a:gd name="T37" fmla="*/ 1951148 h 47"/>
                  <a:gd name="T38" fmla="*/ 1721929 w 24"/>
                  <a:gd name="T39" fmla="*/ 2344646 h 47"/>
                  <a:gd name="T40" fmla="*/ 1721929 w 24"/>
                  <a:gd name="T41" fmla="*/ 2579252 h 47"/>
                  <a:gd name="T42" fmla="*/ 2093613 w 24"/>
                  <a:gd name="T43" fmla="*/ 2579252 h 47"/>
                  <a:gd name="T44" fmla="*/ 2004342 w 24"/>
                  <a:gd name="T45" fmla="*/ 3150228 h 47"/>
                  <a:gd name="T46" fmla="*/ 2182796 w 24"/>
                  <a:gd name="T47" fmla="*/ 3227223 h 47"/>
                  <a:gd name="T48" fmla="*/ 1548613 w 24"/>
                  <a:gd name="T49" fmla="*/ 3485436 h 47"/>
                  <a:gd name="T50" fmla="*/ 1004638 w 24"/>
                  <a:gd name="T51" fmla="*/ 3562497 h 47"/>
                  <a:gd name="T52" fmla="*/ 722154 w 24"/>
                  <a:gd name="T53" fmla="*/ 3644078 h 47"/>
                  <a:gd name="T54" fmla="*/ 371667 w 24"/>
                  <a:gd name="T55" fmla="*/ 3644078 h 47"/>
                  <a:gd name="T56" fmla="*/ 89200 w 24"/>
                  <a:gd name="T57" fmla="*/ 3721139 h 47"/>
                  <a:gd name="T58" fmla="*/ 460867 w 24"/>
                  <a:gd name="T59" fmla="*/ 3384752 h 47"/>
                  <a:gd name="T60" fmla="*/ 543767 w 24"/>
                  <a:gd name="T61" fmla="*/ 3073151 h 47"/>
                  <a:gd name="T62" fmla="*/ 282692 w 24"/>
                  <a:gd name="T63" fmla="*/ 2991521 h 4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4" h="47">
                    <a:moveTo>
                      <a:pt x="3" y="37"/>
                    </a:moveTo>
                    <a:cubicBezTo>
                      <a:pt x="6" y="35"/>
                      <a:pt x="6" y="35"/>
                      <a:pt x="6" y="35"/>
                    </a:cubicBezTo>
                    <a:cubicBezTo>
                      <a:pt x="6" y="33"/>
                      <a:pt x="6" y="33"/>
                      <a:pt x="6" y="33"/>
                    </a:cubicBezTo>
                    <a:cubicBezTo>
                      <a:pt x="4" y="33"/>
                      <a:pt x="4" y="33"/>
                      <a:pt x="4" y="33"/>
                    </a:cubicBezTo>
                    <a:cubicBezTo>
                      <a:pt x="6" y="30"/>
                      <a:pt x="6" y="30"/>
                      <a:pt x="6" y="30"/>
                    </a:cubicBezTo>
                    <a:cubicBezTo>
                      <a:pt x="10" y="29"/>
                      <a:pt x="10" y="29"/>
                      <a:pt x="10" y="29"/>
                    </a:cubicBezTo>
                    <a:cubicBezTo>
                      <a:pt x="9" y="26"/>
                      <a:pt x="9" y="26"/>
                      <a:pt x="9" y="26"/>
                    </a:cubicBezTo>
                    <a:cubicBezTo>
                      <a:pt x="9" y="25"/>
                      <a:pt x="9" y="25"/>
                      <a:pt x="9" y="25"/>
                    </a:cubicBezTo>
                    <a:cubicBezTo>
                      <a:pt x="8" y="23"/>
                      <a:pt x="8" y="23"/>
                      <a:pt x="8" y="23"/>
                    </a:cubicBezTo>
                    <a:cubicBezTo>
                      <a:pt x="8" y="22"/>
                      <a:pt x="8" y="22"/>
                      <a:pt x="8" y="22"/>
                    </a:cubicBezTo>
                    <a:cubicBezTo>
                      <a:pt x="5" y="22"/>
                      <a:pt x="5" y="22"/>
                      <a:pt x="5" y="22"/>
                    </a:cubicBezTo>
                    <a:cubicBezTo>
                      <a:pt x="3" y="22"/>
                      <a:pt x="3" y="22"/>
                      <a:pt x="3" y="22"/>
                    </a:cubicBezTo>
                    <a:cubicBezTo>
                      <a:pt x="3" y="20"/>
                      <a:pt x="3" y="20"/>
                      <a:pt x="3" y="20"/>
                    </a:cubicBezTo>
                    <a:cubicBezTo>
                      <a:pt x="4" y="16"/>
                      <a:pt x="4" y="16"/>
                      <a:pt x="4" y="16"/>
                    </a:cubicBezTo>
                    <a:cubicBezTo>
                      <a:pt x="2" y="16"/>
                      <a:pt x="2" y="16"/>
                      <a:pt x="2" y="16"/>
                    </a:cubicBezTo>
                    <a:cubicBezTo>
                      <a:pt x="1" y="18"/>
                      <a:pt x="1" y="18"/>
                      <a:pt x="1" y="18"/>
                    </a:cubicBezTo>
                    <a:cubicBezTo>
                      <a:pt x="1" y="18"/>
                      <a:pt x="0" y="17"/>
                      <a:pt x="0" y="16"/>
                    </a:cubicBezTo>
                    <a:cubicBezTo>
                      <a:pt x="0" y="15"/>
                      <a:pt x="0" y="13"/>
                      <a:pt x="0" y="13"/>
                    </a:cubicBezTo>
                    <a:cubicBezTo>
                      <a:pt x="0" y="11"/>
                      <a:pt x="0" y="11"/>
                      <a:pt x="0" y="11"/>
                    </a:cubicBezTo>
                    <a:cubicBezTo>
                      <a:pt x="0" y="8"/>
                      <a:pt x="0" y="8"/>
                      <a:pt x="0" y="8"/>
                    </a:cubicBezTo>
                    <a:cubicBezTo>
                      <a:pt x="0" y="6"/>
                      <a:pt x="0" y="6"/>
                      <a:pt x="0" y="6"/>
                    </a:cubicBezTo>
                    <a:cubicBezTo>
                      <a:pt x="1" y="4"/>
                      <a:pt x="1" y="4"/>
                      <a:pt x="1" y="4"/>
                    </a:cubicBezTo>
                    <a:cubicBezTo>
                      <a:pt x="3" y="0"/>
                      <a:pt x="3" y="0"/>
                      <a:pt x="3" y="0"/>
                    </a:cubicBezTo>
                    <a:cubicBezTo>
                      <a:pt x="5" y="0"/>
                      <a:pt x="5" y="0"/>
                      <a:pt x="5" y="0"/>
                    </a:cubicBezTo>
                    <a:cubicBezTo>
                      <a:pt x="8" y="0"/>
                      <a:pt x="8" y="0"/>
                      <a:pt x="8" y="0"/>
                    </a:cubicBezTo>
                    <a:cubicBezTo>
                      <a:pt x="8" y="1"/>
                      <a:pt x="8" y="1"/>
                      <a:pt x="8" y="1"/>
                    </a:cubicBezTo>
                    <a:cubicBezTo>
                      <a:pt x="6" y="5"/>
                      <a:pt x="6" y="5"/>
                      <a:pt x="6" y="5"/>
                    </a:cubicBezTo>
                    <a:cubicBezTo>
                      <a:pt x="7" y="6"/>
                      <a:pt x="7" y="6"/>
                      <a:pt x="7" y="6"/>
                    </a:cubicBezTo>
                    <a:cubicBezTo>
                      <a:pt x="10" y="5"/>
                      <a:pt x="10" y="5"/>
                      <a:pt x="10" y="5"/>
                    </a:cubicBezTo>
                    <a:cubicBezTo>
                      <a:pt x="13" y="6"/>
                      <a:pt x="13" y="6"/>
                      <a:pt x="13" y="6"/>
                    </a:cubicBezTo>
                    <a:cubicBezTo>
                      <a:pt x="12" y="8"/>
                      <a:pt x="12" y="8"/>
                      <a:pt x="12" y="8"/>
                    </a:cubicBezTo>
                    <a:cubicBezTo>
                      <a:pt x="11" y="11"/>
                      <a:pt x="11" y="11"/>
                      <a:pt x="11" y="11"/>
                    </a:cubicBezTo>
                    <a:cubicBezTo>
                      <a:pt x="9" y="14"/>
                      <a:pt x="9" y="14"/>
                      <a:pt x="9" y="14"/>
                    </a:cubicBezTo>
                    <a:cubicBezTo>
                      <a:pt x="9" y="15"/>
                      <a:pt x="9" y="15"/>
                      <a:pt x="9" y="15"/>
                    </a:cubicBezTo>
                    <a:cubicBezTo>
                      <a:pt x="11" y="16"/>
                      <a:pt x="11" y="16"/>
                      <a:pt x="11" y="16"/>
                    </a:cubicBezTo>
                    <a:cubicBezTo>
                      <a:pt x="13" y="17"/>
                      <a:pt x="13" y="17"/>
                      <a:pt x="13" y="17"/>
                    </a:cubicBezTo>
                    <a:cubicBezTo>
                      <a:pt x="15" y="22"/>
                      <a:pt x="15" y="22"/>
                      <a:pt x="15" y="22"/>
                    </a:cubicBezTo>
                    <a:cubicBezTo>
                      <a:pt x="17" y="24"/>
                      <a:pt x="17" y="24"/>
                      <a:pt x="17" y="24"/>
                    </a:cubicBezTo>
                    <a:cubicBezTo>
                      <a:pt x="20" y="28"/>
                      <a:pt x="20" y="28"/>
                      <a:pt x="20" y="28"/>
                    </a:cubicBezTo>
                    <a:cubicBezTo>
                      <a:pt x="19" y="29"/>
                      <a:pt x="19" y="29"/>
                      <a:pt x="19" y="29"/>
                    </a:cubicBezTo>
                    <a:cubicBezTo>
                      <a:pt x="19" y="30"/>
                      <a:pt x="19" y="30"/>
                      <a:pt x="19" y="30"/>
                    </a:cubicBezTo>
                    <a:cubicBezTo>
                      <a:pt x="19" y="32"/>
                      <a:pt x="19" y="32"/>
                      <a:pt x="19" y="32"/>
                    </a:cubicBezTo>
                    <a:cubicBezTo>
                      <a:pt x="21" y="32"/>
                      <a:pt x="21" y="32"/>
                      <a:pt x="21" y="32"/>
                    </a:cubicBezTo>
                    <a:cubicBezTo>
                      <a:pt x="23" y="32"/>
                      <a:pt x="23" y="32"/>
                      <a:pt x="23" y="32"/>
                    </a:cubicBezTo>
                    <a:cubicBezTo>
                      <a:pt x="24" y="36"/>
                      <a:pt x="24" y="36"/>
                      <a:pt x="24" y="36"/>
                    </a:cubicBezTo>
                    <a:cubicBezTo>
                      <a:pt x="22" y="39"/>
                      <a:pt x="22" y="39"/>
                      <a:pt x="22" y="39"/>
                    </a:cubicBezTo>
                    <a:cubicBezTo>
                      <a:pt x="22" y="40"/>
                      <a:pt x="22" y="40"/>
                      <a:pt x="22" y="40"/>
                    </a:cubicBezTo>
                    <a:cubicBezTo>
                      <a:pt x="24" y="40"/>
                      <a:pt x="24" y="40"/>
                      <a:pt x="24" y="40"/>
                    </a:cubicBezTo>
                    <a:cubicBezTo>
                      <a:pt x="22" y="41"/>
                      <a:pt x="22" y="41"/>
                      <a:pt x="22" y="41"/>
                    </a:cubicBezTo>
                    <a:cubicBezTo>
                      <a:pt x="17" y="43"/>
                      <a:pt x="17" y="43"/>
                      <a:pt x="17" y="43"/>
                    </a:cubicBezTo>
                    <a:cubicBezTo>
                      <a:pt x="14" y="43"/>
                      <a:pt x="14" y="43"/>
                      <a:pt x="14" y="43"/>
                    </a:cubicBezTo>
                    <a:cubicBezTo>
                      <a:pt x="11" y="44"/>
                      <a:pt x="11" y="44"/>
                      <a:pt x="11" y="44"/>
                    </a:cubicBezTo>
                    <a:cubicBezTo>
                      <a:pt x="11" y="44"/>
                      <a:pt x="10" y="43"/>
                      <a:pt x="9" y="43"/>
                    </a:cubicBezTo>
                    <a:cubicBezTo>
                      <a:pt x="9" y="43"/>
                      <a:pt x="8" y="45"/>
                      <a:pt x="8" y="45"/>
                    </a:cubicBezTo>
                    <a:cubicBezTo>
                      <a:pt x="6" y="45"/>
                      <a:pt x="6" y="45"/>
                      <a:pt x="6" y="45"/>
                    </a:cubicBezTo>
                    <a:cubicBezTo>
                      <a:pt x="4" y="45"/>
                      <a:pt x="4" y="45"/>
                      <a:pt x="4" y="45"/>
                    </a:cubicBezTo>
                    <a:cubicBezTo>
                      <a:pt x="3" y="47"/>
                      <a:pt x="3" y="47"/>
                      <a:pt x="3" y="47"/>
                    </a:cubicBezTo>
                    <a:cubicBezTo>
                      <a:pt x="1" y="46"/>
                      <a:pt x="1" y="46"/>
                      <a:pt x="1" y="46"/>
                    </a:cubicBezTo>
                    <a:cubicBezTo>
                      <a:pt x="2" y="44"/>
                      <a:pt x="2" y="44"/>
                      <a:pt x="2" y="44"/>
                    </a:cubicBezTo>
                    <a:cubicBezTo>
                      <a:pt x="5" y="42"/>
                      <a:pt x="5" y="42"/>
                      <a:pt x="5" y="42"/>
                    </a:cubicBezTo>
                    <a:cubicBezTo>
                      <a:pt x="8" y="39"/>
                      <a:pt x="8" y="39"/>
                      <a:pt x="8" y="39"/>
                    </a:cubicBezTo>
                    <a:cubicBezTo>
                      <a:pt x="6" y="38"/>
                      <a:pt x="6" y="38"/>
                      <a:pt x="6" y="38"/>
                    </a:cubicBezTo>
                    <a:cubicBezTo>
                      <a:pt x="4" y="38"/>
                      <a:pt x="4" y="38"/>
                      <a:pt x="4" y="38"/>
                    </a:cubicBezTo>
                    <a:lnTo>
                      <a:pt x="3" y="37"/>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202" name="Freeform 199">
                <a:extLst>
                  <a:ext uri="{FF2B5EF4-FFF2-40B4-BE49-F238E27FC236}">
                    <a16:creationId xmlns:a16="http://schemas.microsoft.com/office/drawing/2014/main" id="{36E5D7CE-C3D8-CA8D-85E2-C99F08839ACB}"/>
                  </a:ext>
                </a:extLst>
              </p:cNvPr>
              <p:cNvSpPr>
                <a:spLocks/>
              </p:cNvSpPr>
              <p:nvPr/>
            </p:nvSpPr>
            <p:spPr bwMode="auto">
              <a:xfrm>
                <a:off x="2201" y="1331"/>
                <a:ext cx="34" cy="22"/>
              </a:xfrm>
              <a:custGeom>
                <a:avLst/>
                <a:gdLst>
                  <a:gd name="T0" fmla="*/ 24 w 34"/>
                  <a:gd name="T1" fmla="*/ 22 h 22"/>
                  <a:gd name="T2" fmla="*/ 0 w 34"/>
                  <a:gd name="T3" fmla="*/ 18 h 22"/>
                  <a:gd name="T4" fmla="*/ 13 w 34"/>
                  <a:gd name="T5" fmla="*/ 0 h 22"/>
                  <a:gd name="T6" fmla="*/ 27 w 34"/>
                  <a:gd name="T7" fmla="*/ 3 h 22"/>
                  <a:gd name="T8" fmla="*/ 34 w 34"/>
                  <a:gd name="T9" fmla="*/ 15 h 22"/>
                  <a:gd name="T10" fmla="*/ 24 w 34"/>
                  <a:gd name="T11" fmla="*/ 22 h 2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4" h="22">
                    <a:moveTo>
                      <a:pt x="24" y="22"/>
                    </a:moveTo>
                    <a:lnTo>
                      <a:pt x="0" y="18"/>
                    </a:lnTo>
                    <a:lnTo>
                      <a:pt x="13" y="0"/>
                    </a:lnTo>
                    <a:lnTo>
                      <a:pt x="27" y="3"/>
                    </a:lnTo>
                    <a:lnTo>
                      <a:pt x="34" y="15"/>
                    </a:lnTo>
                    <a:lnTo>
                      <a:pt x="24" y="22"/>
                    </a:lnTo>
                    <a:close/>
                  </a:path>
                </a:pathLst>
              </a:custGeom>
              <a:grpFill/>
              <a:ln w="3175" cap="flat" cmpd="sng">
                <a:solidFill>
                  <a:srgbClr val="FFFFFF"/>
                </a:solidFill>
                <a:prstDash val="solid"/>
                <a:miter/>
                <a:headEnd type="none" w="med" len="med"/>
                <a:tailEnd type="none" w="med" len="med"/>
              </a:ln>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grpSp>
        <p:sp>
          <p:nvSpPr>
            <p:cNvPr id="162" name="Freeform 159">
              <a:extLst>
                <a:ext uri="{FF2B5EF4-FFF2-40B4-BE49-F238E27FC236}">
                  <a16:creationId xmlns:a16="http://schemas.microsoft.com/office/drawing/2014/main" id="{AC1159E6-6AF2-2489-40E7-F0D7BAAA28D1}"/>
                </a:ext>
              </a:extLst>
            </p:cNvPr>
            <p:cNvSpPr>
              <a:spLocks/>
            </p:cNvSpPr>
            <p:nvPr/>
          </p:nvSpPr>
          <p:spPr bwMode="auto">
            <a:xfrm>
              <a:off x="6320772" y="3391315"/>
              <a:ext cx="87479" cy="53075"/>
            </a:xfrm>
            <a:custGeom>
              <a:avLst/>
              <a:gdLst>
                <a:gd name="T0" fmla="*/ 0 w 46"/>
                <a:gd name="T1" fmla="*/ 2147483647 h 28"/>
                <a:gd name="T2" fmla="*/ 2147483647 w 46"/>
                <a:gd name="T3" fmla="*/ 2147483647 h 28"/>
                <a:gd name="T4" fmla="*/ 2147483647 w 46"/>
                <a:gd name="T5" fmla="*/ 2147483647 h 28"/>
                <a:gd name="T6" fmla="*/ 2147483647 w 46"/>
                <a:gd name="T7" fmla="*/ 2147483647 h 28"/>
                <a:gd name="T8" fmla="*/ 2147483647 w 46"/>
                <a:gd name="T9" fmla="*/ 2147483647 h 28"/>
                <a:gd name="T10" fmla="*/ 2147483647 w 46"/>
                <a:gd name="T11" fmla="*/ 0 h 28"/>
                <a:gd name="T12" fmla="*/ 2147483647 w 46"/>
                <a:gd name="T13" fmla="*/ 2147483647 h 28"/>
                <a:gd name="T14" fmla="*/ 2147483647 w 46"/>
                <a:gd name="T15" fmla="*/ 2147483647 h 28"/>
                <a:gd name="T16" fmla="*/ 2147483647 w 46"/>
                <a:gd name="T17" fmla="*/ 2147483647 h 28"/>
                <a:gd name="T18" fmla="*/ 2147483647 w 46"/>
                <a:gd name="T19" fmla="*/ 2147483647 h 28"/>
                <a:gd name="T20" fmla="*/ 2147483647 w 46"/>
                <a:gd name="T21" fmla="*/ 2147483647 h 28"/>
                <a:gd name="T22" fmla="*/ 2147483647 w 46"/>
                <a:gd name="T23" fmla="*/ 2147483647 h 28"/>
                <a:gd name="T24" fmla="*/ 2147483647 w 46"/>
                <a:gd name="T25" fmla="*/ 2147483647 h 28"/>
                <a:gd name="T26" fmla="*/ 2147483647 w 46"/>
                <a:gd name="T27" fmla="*/ 2147483647 h 28"/>
                <a:gd name="T28" fmla="*/ 0 w 46"/>
                <a:gd name="T29" fmla="*/ 2147483647 h 2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6" h="28">
                  <a:moveTo>
                    <a:pt x="0" y="15"/>
                  </a:moveTo>
                  <a:lnTo>
                    <a:pt x="3" y="17"/>
                  </a:lnTo>
                  <a:lnTo>
                    <a:pt x="12" y="14"/>
                  </a:lnTo>
                  <a:lnTo>
                    <a:pt x="13" y="8"/>
                  </a:lnTo>
                  <a:lnTo>
                    <a:pt x="27" y="9"/>
                  </a:lnTo>
                  <a:lnTo>
                    <a:pt x="46" y="0"/>
                  </a:lnTo>
                  <a:lnTo>
                    <a:pt x="46" y="1"/>
                  </a:lnTo>
                  <a:lnTo>
                    <a:pt x="33" y="11"/>
                  </a:lnTo>
                  <a:lnTo>
                    <a:pt x="36" y="18"/>
                  </a:lnTo>
                  <a:lnTo>
                    <a:pt x="27" y="21"/>
                  </a:lnTo>
                  <a:lnTo>
                    <a:pt x="15" y="28"/>
                  </a:lnTo>
                  <a:lnTo>
                    <a:pt x="13" y="28"/>
                  </a:lnTo>
                  <a:lnTo>
                    <a:pt x="8" y="26"/>
                  </a:lnTo>
                  <a:lnTo>
                    <a:pt x="2" y="23"/>
                  </a:lnTo>
                  <a:lnTo>
                    <a:pt x="0" y="15"/>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63" name="Freeform 160">
              <a:extLst>
                <a:ext uri="{FF2B5EF4-FFF2-40B4-BE49-F238E27FC236}">
                  <a16:creationId xmlns:a16="http://schemas.microsoft.com/office/drawing/2014/main" id="{D9458D26-A550-E704-C811-7BEA59A9A089}"/>
                </a:ext>
              </a:extLst>
            </p:cNvPr>
            <p:cNvSpPr>
              <a:spLocks/>
            </p:cNvSpPr>
            <p:nvPr/>
          </p:nvSpPr>
          <p:spPr bwMode="auto">
            <a:xfrm>
              <a:off x="7598730" y="2657737"/>
              <a:ext cx="1806638" cy="1251063"/>
            </a:xfrm>
            <a:custGeom>
              <a:avLst/>
              <a:gdLst>
                <a:gd name="T0" fmla="*/ 2147483647 w 950"/>
                <a:gd name="T1" fmla="*/ 2147483647 h 660"/>
                <a:gd name="T2" fmla="*/ 2147483647 w 950"/>
                <a:gd name="T3" fmla="*/ 2147483647 h 660"/>
                <a:gd name="T4" fmla="*/ 2147483647 w 950"/>
                <a:gd name="T5" fmla="*/ 2147483647 h 660"/>
                <a:gd name="T6" fmla="*/ 2147483647 w 950"/>
                <a:gd name="T7" fmla="*/ 2147483647 h 660"/>
                <a:gd name="T8" fmla="*/ 2147483647 w 950"/>
                <a:gd name="T9" fmla="*/ 2147483647 h 660"/>
                <a:gd name="T10" fmla="*/ 2147483647 w 950"/>
                <a:gd name="T11" fmla="*/ 2147483647 h 660"/>
                <a:gd name="T12" fmla="*/ 2147483647 w 950"/>
                <a:gd name="T13" fmla="*/ 2147483647 h 660"/>
                <a:gd name="T14" fmla="*/ 2147483647 w 950"/>
                <a:gd name="T15" fmla="*/ 2147483647 h 660"/>
                <a:gd name="T16" fmla="*/ 2147483647 w 950"/>
                <a:gd name="T17" fmla="*/ 2147483647 h 660"/>
                <a:gd name="T18" fmla="*/ 2147483647 w 950"/>
                <a:gd name="T19" fmla="*/ 2147483647 h 660"/>
                <a:gd name="T20" fmla="*/ 2147483647 w 950"/>
                <a:gd name="T21" fmla="*/ 2147483647 h 660"/>
                <a:gd name="T22" fmla="*/ 2147483647 w 950"/>
                <a:gd name="T23" fmla="*/ 2147483647 h 660"/>
                <a:gd name="T24" fmla="*/ 2147483647 w 950"/>
                <a:gd name="T25" fmla="*/ 2147483647 h 660"/>
                <a:gd name="T26" fmla="*/ 2147483647 w 950"/>
                <a:gd name="T27" fmla="*/ 2147483647 h 660"/>
                <a:gd name="T28" fmla="*/ 2147483647 w 950"/>
                <a:gd name="T29" fmla="*/ 2147483647 h 660"/>
                <a:gd name="T30" fmla="*/ 2147483647 w 950"/>
                <a:gd name="T31" fmla="*/ 2147483647 h 660"/>
                <a:gd name="T32" fmla="*/ 2147483647 w 950"/>
                <a:gd name="T33" fmla="*/ 2147483647 h 660"/>
                <a:gd name="T34" fmla="*/ 2147483647 w 950"/>
                <a:gd name="T35" fmla="*/ 2147483647 h 660"/>
                <a:gd name="T36" fmla="*/ 2147483647 w 950"/>
                <a:gd name="T37" fmla="*/ 2147483647 h 660"/>
                <a:gd name="T38" fmla="*/ 2147483647 w 950"/>
                <a:gd name="T39" fmla="*/ 2147483647 h 660"/>
                <a:gd name="T40" fmla="*/ 2147483647 w 950"/>
                <a:gd name="T41" fmla="*/ 2147483647 h 660"/>
                <a:gd name="T42" fmla="*/ 2147483647 w 950"/>
                <a:gd name="T43" fmla="*/ 2147483647 h 660"/>
                <a:gd name="T44" fmla="*/ 2147483647 w 950"/>
                <a:gd name="T45" fmla="*/ 2147483647 h 660"/>
                <a:gd name="T46" fmla="*/ 2147483647 w 950"/>
                <a:gd name="T47" fmla="*/ 2147483647 h 660"/>
                <a:gd name="T48" fmla="*/ 2147483647 w 950"/>
                <a:gd name="T49" fmla="*/ 2147483647 h 660"/>
                <a:gd name="T50" fmla="*/ 2147483647 w 950"/>
                <a:gd name="T51" fmla="*/ 2147483647 h 660"/>
                <a:gd name="T52" fmla="*/ 2147483647 w 950"/>
                <a:gd name="T53" fmla="*/ 2147483647 h 660"/>
                <a:gd name="T54" fmla="*/ 2147483647 w 950"/>
                <a:gd name="T55" fmla="*/ 2147483647 h 660"/>
                <a:gd name="T56" fmla="*/ 2147483647 w 950"/>
                <a:gd name="T57" fmla="*/ 2147483647 h 660"/>
                <a:gd name="T58" fmla="*/ 2147483647 w 950"/>
                <a:gd name="T59" fmla="*/ 2147483647 h 660"/>
                <a:gd name="T60" fmla="*/ 2147483647 w 950"/>
                <a:gd name="T61" fmla="*/ 2147483647 h 660"/>
                <a:gd name="T62" fmla="*/ 2147483647 w 950"/>
                <a:gd name="T63" fmla="*/ 2147483647 h 660"/>
                <a:gd name="T64" fmla="*/ 2147483647 w 950"/>
                <a:gd name="T65" fmla="*/ 2147483647 h 660"/>
                <a:gd name="T66" fmla="*/ 2147483647 w 950"/>
                <a:gd name="T67" fmla="*/ 2147483647 h 660"/>
                <a:gd name="T68" fmla="*/ 2147483647 w 950"/>
                <a:gd name="T69" fmla="*/ 2147483647 h 660"/>
                <a:gd name="T70" fmla="*/ 2147483647 w 950"/>
                <a:gd name="T71" fmla="*/ 2147483647 h 660"/>
                <a:gd name="T72" fmla="*/ 2147483647 w 950"/>
                <a:gd name="T73" fmla="*/ 2147483647 h 660"/>
                <a:gd name="T74" fmla="*/ 2147483647 w 950"/>
                <a:gd name="T75" fmla="*/ 2147483647 h 660"/>
                <a:gd name="T76" fmla="*/ 2147483647 w 950"/>
                <a:gd name="T77" fmla="*/ 2147483647 h 660"/>
                <a:gd name="T78" fmla="*/ 2147483647 w 950"/>
                <a:gd name="T79" fmla="*/ 2147483647 h 660"/>
                <a:gd name="T80" fmla="*/ 2147483647 w 950"/>
                <a:gd name="T81" fmla="*/ 2147483647 h 660"/>
                <a:gd name="T82" fmla="*/ 2147483647 w 950"/>
                <a:gd name="T83" fmla="*/ 2147483647 h 660"/>
                <a:gd name="T84" fmla="*/ 2147483647 w 950"/>
                <a:gd name="T85" fmla="*/ 2147483647 h 660"/>
                <a:gd name="T86" fmla="*/ 2147483647 w 950"/>
                <a:gd name="T87" fmla="*/ 2147483647 h 660"/>
                <a:gd name="T88" fmla="*/ 2147483647 w 950"/>
                <a:gd name="T89" fmla="*/ 2147483647 h 660"/>
                <a:gd name="T90" fmla="*/ 2147483647 w 950"/>
                <a:gd name="T91" fmla="*/ 2147483647 h 660"/>
                <a:gd name="T92" fmla="*/ 2147483647 w 950"/>
                <a:gd name="T93" fmla="*/ 2147483647 h 660"/>
                <a:gd name="T94" fmla="*/ 2147483647 w 950"/>
                <a:gd name="T95" fmla="*/ 2147483647 h 660"/>
                <a:gd name="T96" fmla="*/ 2147483647 w 950"/>
                <a:gd name="T97" fmla="*/ 2147483647 h 660"/>
                <a:gd name="T98" fmla="*/ 2147483647 w 950"/>
                <a:gd name="T99" fmla="*/ 2147483647 h 660"/>
                <a:gd name="T100" fmla="*/ 2147483647 w 950"/>
                <a:gd name="T101" fmla="*/ 2147483647 h 660"/>
                <a:gd name="T102" fmla="*/ 2147483647 w 950"/>
                <a:gd name="T103" fmla="*/ 2147483647 h 660"/>
                <a:gd name="T104" fmla="*/ 2147483647 w 950"/>
                <a:gd name="T105" fmla="*/ 2147483647 h 660"/>
                <a:gd name="T106" fmla="*/ 2147483647 w 950"/>
                <a:gd name="T107" fmla="*/ 2147483647 h 660"/>
                <a:gd name="T108" fmla="*/ 2147483647 w 950"/>
                <a:gd name="T109" fmla="*/ 2147483647 h 660"/>
                <a:gd name="T110" fmla="*/ 2147483647 w 950"/>
                <a:gd name="T111" fmla="*/ 2147483647 h 660"/>
                <a:gd name="T112" fmla="*/ 2147483647 w 950"/>
                <a:gd name="T113" fmla="*/ 2147483647 h 660"/>
                <a:gd name="T114" fmla="*/ 2147483647 w 950"/>
                <a:gd name="T115" fmla="*/ 2147483647 h 660"/>
                <a:gd name="T116" fmla="*/ 2147483647 w 950"/>
                <a:gd name="T117" fmla="*/ 2147483647 h 660"/>
                <a:gd name="T118" fmla="*/ 2147483647 w 950"/>
                <a:gd name="T119" fmla="*/ 2147483647 h 660"/>
                <a:gd name="T120" fmla="*/ 2147483647 w 950"/>
                <a:gd name="T121" fmla="*/ 2147483647 h 66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connsiteX0" fmla="*/ 9368 w 10000"/>
                <a:gd name="connsiteY0" fmla="*/ 1788 h 10000"/>
                <a:gd name="connsiteX1" fmla="*/ 9368 w 10000"/>
                <a:gd name="connsiteY1" fmla="*/ 1788 h 10000"/>
                <a:gd name="connsiteX2" fmla="*/ 9263 w 10000"/>
                <a:gd name="connsiteY2" fmla="*/ 1485 h 10000"/>
                <a:gd name="connsiteX3" fmla="*/ 8842 w 10000"/>
                <a:gd name="connsiteY3" fmla="*/ 1333 h 10000"/>
                <a:gd name="connsiteX4" fmla="*/ 8337 w 10000"/>
                <a:gd name="connsiteY4" fmla="*/ 0 h 10000"/>
                <a:gd name="connsiteX5" fmla="*/ 7853 w 10000"/>
                <a:gd name="connsiteY5" fmla="*/ 0 h 10000"/>
                <a:gd name="connsiteX6" fmla="*/ 7705 w 10000"/>
                <a:gd name="connsiteY6" fmla="*/ 364 h 10000"/>
                <a:gd name="connsiteX7" fmla="*/ 7389 w 10000"/>
                <a:gd name="connsiteY7" fmla="*/ 1182 h 10000"/>
                <a:gd name="connsiteX8" fmla="*/ 7074 w 10000"/>
                <a:gd name="connsiteY8" fmla="*/ 1182 h 10000"/>
                <a:gd name="connsiteX9" fmla="*/ 7032 w 10000"/>
                <a:gd name="connsiteY9" fmla="*/ 1333 h 10000"/>
                <a:gd name="connsiteX10" fmla="*/ 7032 w 10000"/>
                <a:gd name="connsiteY10" fmla="*/ 1364 h 10000"/>
                <a:gd name="connsiteX11" fmla="*/ 7053 w 10000"/>
                <a:gd name="connsiteY11" fmla="*/ 1364 h 10000"/>
                <a:gd name="connsiteX12" fmla="*/ 7074 w 10000"/>
                <a:gd name="connsiteY12" fmla="*/ 1364 h 10000"/>
                <a:gd name="connsiteX13" fmla="*/ 7074 w 10000"/>
                <a:gd name="connsiteY13" fmla="*/ 1394 h 10000"/>
                <a:gd name="connsiteX14" fmla="*/ 7095 w 10000"/>
                <a:gd name="connsiteY14" fmla="*/ 1394 h 10000"/>
                <a:gd name="connsiteX15" fmla="*/ 7116 w 10000"/>
                <a:gd name="connsiteY15" fmla="*/ 1394 h 10000"/>
                <a:gd name="connsiteX16" fmla="*/ 7116 w 10000"/>
                <a:gd name="connsiteY16" fmla="*/ 1424 h 10000"/>
                <a:gd name="connsiteX17" fmla="*/ 7137 w 10000"/>
                <a:gd name="connsiteY17" fmla="*/ 1424 h 10000"/>
                <a:gd name="connsiteX18" fmla="*/ 7116 w 10000"/>
                <a:gd name="connsiteY18" fmla="*/ 1424 h 10000"/>
                <a:gd name="connsiteX19" fmla="*/ 7116 w 10000"/>
                <a:gd name="connsiteY19" fmla="*/ 1394 h 10000"/>
                <a:gd name="connsiteX20" fmla="*/ 7095 w 10000"/>
                <a:gd name="connsiteY20" fmla="*/ 1394 h 10000"/>
                <a:gd name="connsiteX21" fmla="*/ 7074 w 10000"/>
                <a:gd name="connsiteY21" fmla="*/ 1394 h 10000"/>
                <a:gd name="connsiteX22" fmla="*/ 7074 w 10000"/>
                <a:gd name="connsiteY22" fmla="*/ 1364 h 10000"/>
                <a:gd name="connsiteX23" fmla="*/ 7053 w 10000"/>
                <a:gd name="connsiteY23" fmla="*/ 1364 h 10000"/>
                <a:gd name="connsiteX24" fmla="*/ 7032 w 10000"/>
                <a:gd name="connsiteY24" fmla="*/ 1333 h 10000"/>
                <a:gd name="connsiteX25" fmla="*/ 6926 w 10000"/>
                <a:gd name="connsiteY25" fmla="*/ 1636 h 10000"/>
                <a:gd name="connsiteX26" fmla="*/ 6926 w 10000"/>
                <a:gd name="connsiteY26" fmla="*/ 2000 h 10000"/>
                <a:gd name="connsiteX27" fmla="*/ 7389 w 10000"/>
                <a:gd name="connsiteY27" fmla="*/ 2091 h 10000"/>
                <a:gd name="connsiteX28" fmla="*/ 7495 w 10000"/>
                <a:gd name="connsiteY28" fmla="*/ 2394 h 10000"/>
                <a:gd name="connsiteX29" fmla="*/ 7032 w 10000"/>
                <a:gd name="connsiteY29" fmla="*/ 2606 h 10000"/>
                <a:gd name="connsiteX30" fmla="*/ 6653 w 10000"/>
                <a:gd name="connsiteY30" fmla="*/ 2848 h 10000"/>
                <a:gd name="connsiteX31" fmla="*/ 6295 w 10000"/>
                <a:gd name="connsiteY31" fmla="*/ 3061 h 10000"/>
                <a:gd name="connsiteX32" fmla="*/ 6189 w 10000"/>
                <a:gd name="connsiteY32" fmla="*/ 3576 h 10000"/>
                <a:gd name="connsiteX33" fmla="*/ 5621 w 10000"/>
                <a:gd name="connsiteY33" fmla="*/ 3667 h 10000"/>
                <a:gd name="connsiteX34" fmla="*/ 5053 w 10000"/>
                <a:gd name="connsiteY34" fmla="*/ 4182 h 10000"/>
                <a:gd name="connsiteX35" fmla="*/ 4526 w 10000"/>
                <a:gd name="connsiteY35" fmla="*/ 3818 h 10000"/>
                <a:gd name="connsiteX36" fmla="*/ 3895 w 10000"/>
                <a:gd name="connsiteY36" fmla="*/ 3727 h 10000"/>
                <a:gd name="connsiteX37" fmla="*/ 3432 w 10000"/>
                <a:gd name="connsiteY37" fmla="*/ 3061 h 10000"/>
                <a:gd name="connsiteX38" fmla="*/ 2758 w 10000"/>
                <a:gd name="connsiteY38" fmla="*/ 2758 h 10000"/>
                <a:gd name="connsiteX39" fmla="*/ 2695 w 10000"/>
                <a:gd name="connsiteY39" fmla="*/ 2000 h 10000"/>
                <a:gd name="connsiteX40" fmla="*/ 2379 w 10000"/>
                <a:gd name="connsiteY40" fmla="*/ 1788 h 10000"/>
                <a:gd name="connsiteX41" fmla="*/ 2337 w 10000"/>
                <a:gd name="connsiteY41" fmla="*/ 1727 h 10000"/>
                <a:gd name="connsiteX42" fmla="*/ 2316 w 10000"/>
                <a:gd name="connsiteY42" fmla="*/ 1758 h 10000"/>
                <a:gd name="connsiteX43" fmla="*/ 2295 w 10000"/>
                <a:gd name="connsiteY43" fmla="*/ 1818 h 10000"/>
                <a:gd name="connsiteX44" fmla="*/ 2295 w 10000"/>
                <a:gd name="connsiteY44" fmla="*/ 1848 h 10000"/>
                <a:gd name="connsiteX45" fmla="*/ 2295 w 10000"/>
                <a:gd name="connsiteY45" fmla="*/ 1879 h 10000"/>
                <a:gd name="connsiteX46" fmla="*/ 2295 w 10000"/>
                <a:gd name="connsiteY46" fmla="*/ 1848 h 10000"/>
                <a:gd name="connsiteX47" fmla="*/ 2295 w 10000"/>
                <a:gd name="connsiteY47" fmla="*/ 1818 h 10000"/>
                <a:gd name="connsiteX48" fmla="*/ 2337 w 10000"/>
                <a:gd name="connsiteY48" fmla="*/ 1727 h 10000"/>
                <a:gd name="connsiteX49" fmla="*/ 2295 w 10000"/>
                <a:gd name="connsiteY49" fmla="*/ 1636 h 10000"/>
                <a:gd name="connsiteX50" fmla="*/ 2189 w 10000"/>
                <a:gd name="connsiteY50" fmla="*/ 1727 h 10000"/>
                <a:gd name="connsiteX51" fmla="*/ 2189 w 10000"/>
                <a:gd name="connsiteY51" fmla="*/ 1879 h 10000"/>
                <a:gd name="connsiteX52" fmla="*/ 2189 w 10000"/>
                <a:gd name="connsiteY52" fmla="*/ 1727 h 10000"/>
                <a:gd name="connsiteX53" fmla="*/ 2021 w 10000"/>
                <a:gd name="connsiteY53" fmla="*/ 1788 h 10000"/>
                <a:gd name="connsiteX54" fmla="*/ 1916 w 10000"/>
                <a:gd name="connsiteY54" fmla="*/ 2242 h 10000"/>
                <a:gd name="connsiteX55" fmla="*/ 1495 w 10000"/>
                <a:gd name="connsiteY55" fmla="*/ 2152 h 10000"/>
                <a:gd name="connsiteX56" fmla="*/ 1389 w 10000"/>
                <a:gd name="connsiteY56" fmla="*/ 2909 h 10000"/>
                <a:gd name="connsiteX57" fmla="*/ 1032 w 10000"/>
                <a:gd name="connsiteY57" fmla="*/ 3000 h 10000"/>
                <a:gd name="connsiteX58" fmla="*/ 926 w 10000"/>
                <a:gd name="connsiteY58" fmla="*/ 3879 h 10000"/>
                <a:gd name="connsiteX59" fmla="*/ 716 w 10000"/>
                <a:gd name="connsiteY59" fmla="*/ 4182 h 10000"/>
                <a:gd name="connsiteX60" fmla="*/ 463 w 10000"/>
                <a:gd name="connsiteY60" fmla="*/ 4485 h 10000"/>
                <a:gd name="connsiteX61" fmla="*/ 42 w 10000"/>
                <a:gd name="connsiteY61" fmla="*/ 4636 h 10000"/>
                <a:gd name="connsiteX62" fmla="*/ 0 w 10000"/>
                <a:gd name="connsiteY62" fmla="*/ 4939 h 10000"/>
                <a:gd name="connsiteX63" fmla="*/ 105 w 10000"/>
                <a:gd name="connsiteY63" fmla="*/ 5061 h 10000"/>
                <a:gd name="connsiteX64" fmla="*/ 147 w 10000"/>
                <a:gd name="connsiteY64" fmla="*/ 5303 h 10000"/>
                <a:gd name="connsiteX65" fmla="*/ 42 w 10000"/>
                <a:gd name="connsiteY65" fmla="*/ 5364 h 10000"/>
                <a:gd name="connsiteX66" fmla="*/ 147 w 10000"/>
                <a:gd name="connsiteY66" fmla="*/ 5515 h 10000"/>
                <a:gd name="connsiteX67" fmla="*/ 316 w 10000"/>
                <a:gd name="connsiteY67" fmla="*/ 5606 h 10000"/>
                <a:gd name="connsiteX68" fmla="*/ 463 w 10000"/>
                <a:gd name="connsiteY68" fmla="*/ 5909 h 10000"/>
                <a:gd name="connsiteX69" fmla="*/ 674 w 10000"/>
                <a:gd name="connsiteY69" fmla="*/ 5909 h 10000"/>
                <a:gd name="connsiteX70" fmla="*/ 989 w 10000"/>
                <a:gd name="connsiteY70" fmla="*/ 5909 h 10000"/>
                <a:gd name="connsiteX71" fmla="*/ 1032 w 10000"/>
                <a:gd name="connsiteY71" fmla="*/ 6030 h 10000"/>
                <a:gd name="connsiteX72" fmla="*/ 821 w 10000"/>
                <a:gd name="connsiteY72" fmla="*/ 6485 h 10000"/>
                <a:gd name="connsiteX73" fmla="*/ 884 w 10000"/>
                <a:gd name="connsiteY73" fmla="*/ 6727 h 10000"/>
                <a:gd name="connsiteX74" fmla="*/ 779 w 10000"/>
                <a:gd name="connsiteY74" fmla="*/ 6939 h 10000"/>
                <a:gd name="connsiteX75" fmla="*/ 884 w 10000"/>
                <a:gd name="connsiteY75" fmla="*/ 7242 h 10000"/>
                <a:gd name="connsiteX76" fmla="*/ 1137 w 10000"/>
                <a:gd name="connsiteY76" fmla="*/ 7394 h 10000"/>
                <a:gd name="connsiteX77" fmla="*/ 1095 w 10000"/>
                <a:gd name="connsiteY77" fmla="*/ 7455 h 10000"/>
                <a:gd name="connsiteX78" fmla="*/ 1200 w 10000"/>
                <a:gd name="connsiteY78" fmla="*/ 7455 h 10000"/>
                <a:gd name="connsiteX79" fmla="*/ 1558 w 10000"/>
                <a:gd name="connsiteY79" fmla="*/ 7697 h 10000"/>
                <a:gd name="connsiteX80" fmla="*/ 1874 w 10000"/>
                <a:gd name="connsiteY80" fmla="*/ 7909 h 10000"/>
                <a:gd name="connsiteX81" fmla="*/ 2189 w 10000"/>
                <a:gd name="connsiteY81" fmla="*/ 8000 h 10000"/>
                <a:gd name="connsiteX82" fmla="*/ 2295 w 10000"/>
                <a:gd name="connsiteY82" fmla="*/ 8121 h 10000"/>
                <a:gd name="connsiteX83" fmla="*/ 2379 w 10000"/>
                <a:gd name="connsiteY83" fmla="*/ 8121 h 10000"/>
                <a:gd name="connsiteX84" fmla="*/ 2547 w 10000"/>
                <a:gd name="connsiteY84" fmla="*/ 8273 h 10000"/>
                <a:gd name="connsiteX85" fmla="*/ 2758 w 10000"/>
                <a:gd name="connsiteY85" fmla="*/ 8273 h 10000"/>
                <a:gd name="connsiteX86" fmla="*/ 2968 w 10000"/>
                <a:gd name="connsiteY86" fmla="*/ 8273 h 10000"/>
                <a:gd name="connsiteX87" fmla="*/ 3116 w 10000"/>
                <a:gd name="connsiteY87" fmla="*/ 8000 h 10000"/>
                <a:gd name="connsiteX88" fmla="*/ 3326 w 10000"/>
                <a:gd name="connsiteY88" fmla="*/ 7758 h 10000"/>
                <a:gd name="connsiteX89" fmla="*/ 3579 w 10000"/>
                <a:gd name="connsiteY89" fmla="*/ 7758 h 10000"/>
                <a:gd name="connsiteX90" fmla="*/ 3789 w 10000"/>
                <a:gd name="connsiteY90" fmla="*/ 8000 h 10000"/>
                <a:gd name="connsiteX91" fmla="*/ 3895 w 10000"/>
                <a:gd name="connsiteY91" fmla="*/ 8000 h 10000"/>
                <a:gd name="connsiteX92" fmla="*/ 4000 w 10000"/>
                <a:gd name="connsiteY92" fmla="*/ 8061 h 10000"/>
                <a:gd name="connsiteX93" fmla="*/ 4063 w 10000"/>
                <a:gd name="connsiteY93" fmla="*/ 8424 h 10000"/>
                <a:gd name="connsiteX94" fmla="*/ 3958 w 10000"/>
                <a:gd name="connsiteY94" fmla="*/ 8879 h 10000"/>
                <a:gd name="connsiteX95" fmla="*/ 3958 w 10000"/>
                <a:gd name="connsiteY95" fmla="*/ 9030 h 10000"/>
                <a:gd name="connsiteX96" fmla="*/ 4105 w 10000"/>
                <a:gd name="connsiteY96" fmla="*/ 9091 h 10000"/>
                <a:gd name="connsiteX97" fmla="*/ 4211 w 10000"/>
                <a:gd name="connsiteY97" fmla="*/ 9333 h 10000"/>
                <a:gd name="connsiteX98" fmla="*/ 4211 w 10000"/>
                <a:gd name="connsiteY98" fmla="*/ 9485 h 10000"/>
                <a:gd name="connsiteX99" fmla="*/ 4463 w 10000"/>
                <a:gd name="connsiteY99" fmla="*/ 9636 h 10000"/>
                <a:gd name="connsiteX100" fmla="*/ 4421 w 10000"/>
                <a:gd name="connsiteY100" fmla="*/ 9697 h 10000"/>
                <a:gd name="connsiteX101" fmla="*/ 4674 w 10000"/>
                <a:gd name="connsiteY101" fmla="*/ 9636 h 10000"/>
                <a:gd name="connsiteX102" fmla="*/ 4737 w 10000"/>
                <a:gd name="connsiteY102" fmla="*/ 9333 h 10000"/>
                <a:gd name="connsiteX103" fmla="*/ 5263 w 10000"/>
                <a:gd name="connsiteY103" fmla="*/ 9333 h 10000"/>
                <a:gd name="connsiteX104" fmla="*/ 5453 w 10000"/>
                <a:gd name="connsiteY104" fmla="*/ 9545 h 10000"/>
                <a:gd name="connsiteX105" fmla="*/ 5516 w 10000"/>
                <a:gd name="connsiteY105" fmla="*/ 9788 h 10000"/>
                <a:gd name="connsiteX106" fmla="*/ 5621 w 10000"/>
                <a:gd name="connsiteY106" fmla="*/ 9697 h 10000"/>
                <a:gd name="connsiteX107" fmla="*/ 5979 w 10000"/>
                <a:gd name="connsiteY107" fmla="*/ 10000 h 10000"/>
                <a:gd name="connsiteX108" fmla="*/ 5979 w 10000"/>
                <a:gd name="connsiteY108" fmla="*/ 9788 h 10000"/>
                <a:gd name="connsiteX109" fmla="*/ 6400 w 10000"/>
                <a:gd name="connsiteY109" fmla="*/ 9545 h 10000"/>
                <a:gd name="connsiteX110" fmla="*/ 6442 w 10000"/>
                <a:gd name="connsiteY110" fmla="*/ 9485 h 10000"/>
                <a:gd name="connsiteX111" fmla="*/ 6547 w 10000"/>
                <a:gd name="connsiteY111" fmla="*/ 9394 h 10000"/>
                <a:gd name="connsiteX112" fmla="*/ 6653 w 10000"/>
                <a:gd name="connsiteY112" fmla="*/ 9485 h 10000"/>
                <a:gd name="connsiteX113" fmla="*/ 6863 w 10000"/>
                <a:gd name="connsiteY113" fmla="*/ 9333 h 10000"/>
                <a:gd name="connsiteX114" fmla="*/ 7137 w 10000"/>
                <a:gd name="connsiteY114" fmla="*/ 9091 h 10000"/>
                <a:gd name="connsiteX115" fmla="*/ 7389 w 10000"/>
                <a:gd name="connsiteY115" fmla="*/ 8818 h 10000"/>
                <a:gd name="connsiteX116" fmla="*/ 7495 w 10000"/>
                <a:gd name="connsiteY116" fmla="*/ 8515 h 10000"/>
                <a:gd name="connsiteX117" fmla="*/ 7642 w 10000"/>
                <a:gd name="connsiteY117" fmla="*/ 8212 h 10000"/>
                <a:gd name="connsiteX118" fmla="*/ 7811 w 10000"/>
                <a:gd name="connsiteY118" fmla="*/ 7758 h 10000"/>
                <a:gd name="connsiteX119" fmla="*/ 7811 w 10000"/>
                <a:gd name="connsiteY119" fmla="*/ 7545 h 10000"/>
                <a:gd name="connsiteX120" fmla="*/ 7747 w 10000"/>
                <a:gd name="connsiteY120" fmla="*/ 7394 h 10000"/>
                <a:gd name="connsiteX121" fmla="*/ 7811 w 10000"/>
                <a:gd name="connsiteY121" fmla="*/ 7152 h 10000"/>
                <a:gd name="connsiteX122" fmla="*/ 7747 w 10000"/>
                <a:gd name="connsiteY122" fmla="*/ 6879 h 10000"/>
                <a:gd name="connsiteX123" fmla="*/ 7495 w 10000"/>
                <a:gd name="connsiteY123" fmla="*/ 6121 h 10000"/>
                <a:gd name="connsiteX124" fmla="*/ 7537 w 10000"/>
                <a:gd name="connsiteY124" fmla="*/ 6030 h 10000"/>
                <a:gd name="connsiteX125" fmla="*/ 7747 w 10000"/>
                <a:gd name="connsiteY125" fmla="*/ 5667 h 10000"/>
                <a:gd name="connsiteX126" fmla="*/ 7916 w 10000"/>
                <a:gd name="connsiteY126" fmla="*/ 5606 h 10000"/>
                <a:gd name="connsiteX127" fmla="*/ 7937 w 10000"/>
                <a:gd name="connsiteY127" fmla="*/ 5576 h 10000"/>
                <a:gd name="connsiteX128" fmla="*/ 7937 w 10000"/>
                <a:gd name="connsiteY128" fmla="*/ 5515 h 10000"/>
                <a:gd name="connsiteX129" fmla="*/ 7916 w 10000"/>
                <a:gd name="connsiteY129" fmla="*/ 5455 h 10000"/>
                <a:gd name="connsiteX130" fmla="*/ 7642 w 10000"/>
                <a:gd name="connsiteY130" fmla="*/ 5364 h 10000"/>
                <a:gd name="connsiteX131" fmla="*/ 7495 w 10000"/>
                <a:gd name="connsiteY131" fmla="*/ 5455 h 10000"/>
                <a:gd name="connsiteX132" fmla="*/ 7389 w 10000"/>
                <a:gd name="connsiteY132" fmla="*/ 5364 h 10000"/>
                <a:gd name="connsiteX133" fmla="*/ 7284 w 10000"/>
                <a:gd name="connsiteY133" fmla="*/ 5152 h 10000"/>
                <a:gd name="connsiteX134" fmla="*/ 7179 w 10000"/>
                <a:gd name="connsiteY134" fmla="*/ 5000 h 10000"/>
                <a:gd name="connsiteX135" fmla="*/ 7432 w 10000"/>
                <a:gd name="connsiteY135" fmla="*/ 4848 h 10000"/>
                <a:gd name="connsiteX136" fmla="*/ 7600 w 10000"/>
                <a:gd name="connsiteY136" fmla="*/ 4636 h 10000"/>
                <a:gd name="connsiteX137" fmla="*/ 7853 w 10000"/>
                <a:gd name="connsiteY137" fmla="*/ 4394 h 10000"/>
                <a:gd name="connsiteX138" fmla="*/ 7958 w 10000"/>
                <a:gd name="connsiteY138" fmla="*/ 4394 h 10000"/>
                <a:gd name="connsiteX139" fmla="*/ 7811 w 10000"/>
                <a:gd name="connsiteY139" fmla="*/ 4697 h 10000"/>
                <a:gd name="connsiteX140" fmla="*/ 7916 w 10000"/>
                <a:gd name="connsiteY140" fmla="*/ 4848 h 10000"/>
                <a:gd name="connsiteX141" fmla="*/ 8021 w 10000"/>
                <a:gd name="connsiteY141" fmla="*/ 4788 h 10000"/>
                <a:gd name="connsiteX142" fmla="*/ 8274 w 10000"/>
                <a:gd name="connsiteY142" fmla="*/ 4636 h 10000"/>
                <a:gd name="connsiteX143" fmla="*/ 8337 w 10000"/>
                <a:gd name="connsiteY143" fmla="*/ 4303 h 10000"/>
                <a:gd name="connsiteX144" fmla="*/ 8484 w 10000"/>
                <a:gd name="connsiteY144" fmla="*/ 4121 h 10000"/>
                <a:gd name="connsiteX145" fmla="*/ 8632 w 10000"/>
                <a:gd name="connsiteY145" fmla="*/ 4273 h 10000"/>
                <a:gd name="connsiteX146" fmla="*/ 8611 w 10000"/>
                <a:gd name="connsiteY146" fmla="*/ 3970 h 10000"/>
                <a:gd name="connsiteX147" fmla="*/ 8821 w 10000"/>
                <a:gd name="connsiteY147" fmla="*/ 3788 h 10000"/>
                <a:gd name="connsiteX148" fmla="*/ 9095 w 10000"/>
                <a:gd name="connsiteY148" fmla="*/ 3848 h 10000"/>
                <a:gd name="connsiteX149" fmla="*/ 9221 w 10000"/>
                <a:gd name="connsiteY149" fmla="*/ 3727 h 10000"/>
                <a:gd name="connsiteX150" fmla="*/ 9368 w 10000"/>
                <a:gd name="connsiteY150" fmla="*/ 3818 h 10000"/>
                <a:gd name="connsiteX151" fmla="*/ 9474 w 10000"/>
                <a:gd name="connsiteY151" fmla="*/ 3000 h 10000"/>
                <a:gd name="connsiteX152" fmla="*/ 9726 w 10000"/>
                <a:gd name="connsiteY152" fmla="*/ 2909 h 10000"/>
                <a:gd name="connsiteX153" fmla="*/ 10000 w 10000"/>
                <a:gd name="connsiteY153" fmla="*/ 1788 h 10000"/>
                <a:gd name="connsiteX154" fmla="*/ 9368 w 10000"/>
                <a:gd name="connsiteY154" fmla="*/ 1788 h 10000"/>
                <a:gd name="connsiteX0" fmla="*/ 9368 w 10000"/>
                <a:gd name="connsiteY0" fmla="*/ 1788 h 10000"/>
                <a:gd name="connsiteX1" fmla="*/ 9368 w 10000"/>
                <a:gd name="connsiteY1" fmla="*/ 1788 h 10000"/>
                <a:gd name="connsiteX2" fmla="*/ 9263 w 10000"/>
                <a:gd name="connsiteY2" fmla="*/ 1485 h 10000"/>
                <a:gd name="connsiteX3" fmla="*/ 8842 w 10000"/>
                <a:gd name="connsiteY3" fmla="*/ 1333 h 10000"/>
                <a:gd name="connsiteX4" fmla="*/ 8337 w 10000"/>
                <a:gd name="connsiteY4" fmla="*/ 0 h 10000"/>
                <a:gd name="connsiteX5" fmla="*/ 7853 w 10000"/>
                <a:gd name="connsiteY5" fmla="*/ 0 h 10000"/>
                <a:gd name="connsiteX6" fmla="*/ 7705 w 10000"/>
                <a:gd name="connsiteY6" fmla="*/ 364 h 10000"/>
                <a:gd name="connsiteX7" fmla="*/ 7389 w 10000"/>
                <a:gd name="connsiteY7" fmla="*/ 1182 h 10000"/>
                <a:gd name="connsiteX8" fmla="*/ 7074 w 10000"/>
                <a:gd name="connsiteY8" fmla="*/ 1182 h 10000"/>
                <a:gd name="connsiteX9" fmla="*/ 7032 w 10000"/>
                <a:gd name="connsiteY9" fmla="*/ 1333 h 10000"/>
                <a:gd name="connsiteX10" fmla="*/ 7032 w 10000"/>
                <a:gd name="connsiteY10" fmla="*/ 1364 h 10000"/>
                <a:gd name="connsiteX11" fmla="*/ 7053 w 10000"/>
                <a:gd name="connsiteY11" fmla="*/ 1364 h 10000"/>
                <a:gd name="connsiteX12" fmla="*/ 7074 w 10000"/>
                <a:gd name="connsiteY12" fmla="*/ 1364 h 10000"/>
                <a:gd name="connsiteX13" fmla="*/ 7074 w 10000"/>
                <a:gd name="connsiteY13" fmla="*/ 1394 h 10000"/>
                <a:gd name="connsiteX14" fmla="*/ 7095 w 10000"/>
                <a:gd name="connsiteY14" fmla="*/ 1394 h 10000"/>
                <a:gd name="connsiteX15" fmla="*/ 7116 w 10000"/>
                <a:gd name="connsiteY15" fmla="*/ 1394 h 10000"/>
                <a:gd name="connsiteX16" fmla="*/ 7116 w 10000"/>
                <a:gd name="connsiteY16" fmla="*/ 1424 h 10000"/>
                <a:gd name="connsiteX17" fmla="*/ 7137 w 10000"/>
                <a:gd name="connsiteY17" fmla="*/ 1424 h 10000"/>
                <a:gd name="connsiteX18" fmla="*/ 7116 w 10000"/>
                <a:gd name="connsiteY18" fmla="*/ 1424 h 10000"/>
                <a:gd name="connsiteX19" fmla="*/ 7116 w 10000"/>
                <a:gd name="connsiteY19" fmla="*/ 1394 h 10000"/>
                <a:gd name="connsiteX20" fmla="*/ 7095 w 10000"/>
                <a:gd name="connsiteY20" fmla="*/ 1394 h 10000"/>
                <a:gd name="connsiteX21" fmla="*/ 7074 w 10000"/>
                <a:gd name="connsiteY21" fmla="*/ 1394 h 10000"/>
                <a:gd name="connsiteX22" fmla="*/ 7074 w 10000"/>
                <a:gd name="connsiteY22" fmla="*/ 1364 h 10000"/>
                <a:gd name="connsiteX23" fmla="*/ 7053 w 10000"/>
                <a:gd name="connsiteY23" fmla="*/ 1364 h 10000"/>
                <a:gd name="connsiteX24" fmla="*/ 6926 w 10000"/>
                <a:gd name="connsiteY24" fmla="*/ 1636 h 10000"/>
                <a:gd name="connsiteX25" fmla="*/ 6926 w 10000"/>
                <a:gd name="connsiteY25" fmla="*/ 2000 h 10000"/>
                <a:gd name="connsiteX26" fmla="*/ 7389 w 10000"/>
                <a:gd name="connsiteY26" fmla="*/ 2091 h 10000"/>
                <a:gd name="connsiteX27" fmla="*/ 7495 w 10000"/>
                <a:gd name="connsiteY27" fmla="*/ 2394 h 10000"/>
                <a:gd name="connsiteX28" fmla="*/ 7032 w 10000"/>
                <a:gd name="connsiteY28" fmla="*/ 2606 h 10000"/>
                <a:gd name="connsiteX29" fmla="*/ 6653 w 10000"/>
                <a:gd name="connsiteY29" fmla="*/ 2848 h 10000"/>
                <a:gd name="connsiteX30" fmla="*/ 6295 w 10000"/>
                <a:gd name="connsiteY30" fmla="*/ 3061 h 10000"/>
                <a:gd name="connsiteX31" fmla="*/ 6189 w 10000"/>
                <a:gd name="connsiteY31" fmla="*/ 3576 h 10000"/>
                <a:gd name="connsiteX32" fmla="*/ 5621 w 10000"/>
                <a:gd name="connsiteY32" fmla="*/ 3667 h 10000"/>
                <a:gd name="connsiteX33" fmla="*/ 5053 w 10000"/>
                <a:gd name="connsiteY33" fmla="*/ 4182 h 10000"/>
                <a:gd name="connsiteX34" fmla="*/ 4526 w 10000"/>
                <a:gd name="connsiteY34" fmla="*/ 3818 h 10000"/>
                <a:gd name="connsiteX35" fmla="*/ 3895 w 10000"/>
                <a:gd name="connsiteY35" fmla="*/ 3727 h 10000"/>
                <a:gd name="connsiteX36" fmla="*/ 3432 w 10000"/>
                <a:gd name="connsiteY36" fmla="*/ 3061 h 10000"/>
                <a:gd name="connsiteX37" fmla="*/ 2758 w 10000"/>
                <a:gd name="connsiteY37" fmla="*/ 2758 h 10000"/>
                <a:gd name="connsiteX38" fmla="*/ 2695 w 10000"/>
                <a:gd name="connsiteY38" fmla="*/ 2000 h 10000"/>
                <a:gd name="connsiteX39" fmla="*/ 2379 w 10000"/>
                <a:gd name="connsiteY39" fmla="*/ 1788 h 10000"/>
                <a:gd name="connsiteX40" fmla="*/ 2337 w 10000"/>
                <a:gd name="connsiteY40" fmla="*/ 1727 h 10000"/>
                <a:gd name="connsiteX41" fmla="*/ 2316 w 10000"/>
                <a:gd name="connsiteY41" fmla="*/ 1758 h 10000"/>
                <a:gd name="connsiteX42" fmla="*/ 2295 w 10000"/>
                <a:gd name="connsiteY42" fmla="*/ 1818 h 10000"/>
                <a:gd name="connsiteX43" fmla="*/ 2295 w 10000"/>
                <a:gd name="connsiteY43" fmla="*/ 1848 h 10000"/>
                <a:gd name="connsiteX44" fmla="*/ 2295 w 10000"/>
                <a:gd name="connsiteY44" fmla="*/ 1879 h 10000"/>
                <a:gd name="connsiteX45" fmla="*/ 2295 w 10000"/>
                <a:gd name="connsiteY45" fmla="*/ 1848 h 10000"/>
                <a:gd name="connsiteX46" fmla="*/ 2295 w 10000"/>
                <a:gd name="connsiteY46" fmla="*/ 1818 h 10000"/>
                <a:gd name="connsiteX47" fmla="*/ 2337 w 10000"/>
                <a:gd name="connsiteY47" fmla="*/ 1727 h 10000"/>
                <a:gd name="connsiteX48" fmla="*/ 2295 w 10000"/>
                <a:gd name="connsiteY48" fmla="*/ 1636 h 10000"/>
                <a:gd name="connsiteX49" fmla="*/ 2189 w 10000"/>
                <a:gd name="connsiteY49" fmla="*/ 1727 h 10000"/>
                <a:gd name="connsiteX50" fmla="*/ 2189 w 10000"/>
                <a:gd name="connsiteY50" fmla="*/ 1879 h 10000"/>
                <a:gd name="connsiteX51" fmla="*/ 2189 w 10000"/>
                <a:gd name="connsiteY51" fmla="*/ 1727 h 10000"/>
                <a:gd name="connsiteX52" fmla="*/ 2021 w 10000"/>
                <a:gd name="connsiteY52" fmla="*/ 1788 h 10000"/>
                <a:gd name="connsiteX53" fmla="*/ 1916 w 10000"/>
                <a:gd name="connsiteY53" fmla="*/ 2242 h 10000"/>
                <a:gd name="connsiteX54" fmla="*/ 1495 w 10000"/>
                <a:gd name="connsiteY54" fmla="*/ 2152 h 10000"/>
                <a:gd name="connsiteX55" fmla="*/ 1389 w 10000"/>
                <a:gd name="connsiteY55" fmla="*/ 2909 h 10000"/>
                <a:gd name="connsiteX56" fmla="*/ 1032 w 10000"/>
                <a:gd name="connsiteY56" fmla="*/ 3000 h 10000"/>
                <a:gd name="connsiteX57" fmla="*/ 926 w 10000"/>
                <a:gd name="connsiteY57" fmla="*/ 3879 h 10000"/>
                <a:gd name="connsiteX58" fmla="*/ 716 w 10000"/>
                <a:gd name="connsiteY58" fmla="*/ 4182 h 10000"/>
                <a:gd name="connsiteX59" fmla="*/ 463 w 10000"/>
                <a:gd name="connsiteY59" fmla="*/ 4485 h 10000"/>
                <a:gd name="connsiteX60" fmla="*/ 42 w 10000"/>
                <a:gd name="connsiteY60" fmla="*/ 4636 h 10000"/>
                <a:gd name="connsiteX61" fmla="*/ 0 w 10000"/>
                <a:gd name="connsiteY61" fmla="*/ 4939 h 10000"/>
                <a:gd name="connsiteX62" fmla="*/ 105 w 10000"/>
                <a:gd name="connsiteY62" fmla="*/ 5061 h 10000"/>
                <a:gd name="connsiteX63" fmla="*/ 147 w 10000"/>
                <a:gd name="connsiteY63" fmla="*/ 5303 h 10000"/>
                <a:gd name="connsiteX64" fmla="*/ 42 w 10000"/>
                <a:gd name="connsiteY64" fmla="*/ 5364 h 10000"/>
                <a:gd name="connsiteX65" fmla="*/ 147 w 10000"/>
                <a:gd name="connsiteY65" fmla="*/ 5515 h 10000"/>
                <a:gd name="connsiteX66" fmla="*/ 316 w 10000"/>
                <a:gd name="connsiteY66" fmla="*/ 5606 h 10000"/>
                <a:gd name="connsiteX67" fmla="*/ 463 w 10000"/>
                <a:gd name="connsiteY67" fmla="*/ 5909 h 10000"/>
                <a:gd name="connsiteX68" fmla="*/ 674 w 10000"/>
                <a:gd name="connsiteY68" fmla="*/ 5909 h 10000"/>
                <a:gd name="connsiteX69" fmla="*/ 989 w 10000"/>
                <a:gd name="connsiteY69" fmla="*/ 5909 h 10000"/>
                <a:gd name="connsiteX70" fmla="*/ 1032 w 10000"/>
                <a:gd name="connsiteY70" fmla="*/ 6030 h 10000"/>
                <a:gd name="connsiteX71" fmla="*/ 821 w 10000"/>
                <a:gd name="connsiteY71" fmla="*/ 6485 h 10000"/>
                <a:gd name="connsiteX72" fmla="*/ 884 w 10000"/>
                <a:gd name="connsiteY72" fmla="*/ 6727 h 10000"/>
                <a:gd name="connsiteX73" fmla="*/ 779 w 10000"/>
                <a:gd name="connsiteY73" fmla="*/ 6939 h 10000"/>
                <a:gd name="connsiteX74" fmla="*/ 884 w 10000"/>
                <a:gd name="connsiteY74" fmla="*/ 7242 h 10000"/>
                <a:gd name="connsiteX75" fmla="*/ 1137 w 10000"/>
                <a:gd name="connsiteY75" fmla="*/ 7394 h 10000"/>
                <a:gd name="connsiteX76" fmla="*/ 1095 w 10000"/>
                <a:gd name="connsiteY76" fmla="*/ 7455 h 10000"/>
                <a:gd name="connsiteX77" fmla="*/ 1200 w 10000"/>
                <a:gd name="connsiteY77" fmla="*/ 7455 h 10000"/>
                <a:gd name="connsiteX78" fmla="*/ 1558 w 10000"/>
                <a:gd name="connsiteY78" fmla="*/ 7697 h 10000"/>
                <a:gd name="connsiteX79" fmla="*/ 1874 w 10000"/>
                <a:gd name="connsiteY79" fmla="*/ 7909 h 10000"/>
                <a:gd name="connsiteX80" fmla="*/ 2189 w 10000"/>
                <a:gd name="connsiteY80" fmla="*/ 8000 h 10000"/>
                <a:gd name="connsiteX81" fmla="*/ 2295 w 10000"/>
                <a:gd name="connsiteY81" fmla="*/ 8121 h 10000"/>
                <a:gd name="connsiteX82" fmla="*/ 2379 w 10000"/>
                <a:gd name="connsiteY82" fmla="*/ 8121 h 10000"/>
                <a:gd name="connsiteX83" fmla="*/ 2547 w 10000"/>
                <a:gd name="connsiteY83" fmla="*/ 8273 h 10000"/>
                <a:gd name="connsiteX84" fmla="*/ 2758 w 10000"/>
                <a:gd name="connsiteY84" fmla="*/ 8273 h 10000"/>
                <a:gd name="connsiteX85" fmla="*/ 2968 w 10000"/>
                <a:gd name="connsiteY85" fmla="*/ 8273 h 10000"/>
                <a:gd name="connsiteX86" fmla="*/ 3116 w 10000"/>
                <a:gd name="connsiteY86" fmla="*/ 8000 h 10000"/>
                <a:gd name="connsiteX87" fmla="*/ 3326 w 10000"/>
                <a:gd name="connsiteY87" fmla="*/ 7758 h 10000"/>
                <a:gd name="connsiteX88" fmla="*/ 3579 w 10000"/>
                <a:gd name="connsiteY88" fmla="*/ 7758 h 10000"/>
                <a:gd name="connsiteX89" fmla="*/ 3789 w 10000"/>
                <a:gd name="connsiteY89" fmla="*/ 8000 h 10000"/>
                <a:gd name="connsiteX90" fmla="*/ 3895 w 10000"/>
                <a:gd name="connsiteY90" fmla="*/ 8000 h 10000"/>
                <a:gd name="connsiteX91" fmla="*/ 4000 w 10000"/>
                <a:gd name="connsiteY91" fmla="*/ 8061 h 10000"/>
                <a:gd name="connsiteX92" fmla="*/ 4063 w 10000"/>
                <a:gd name="connsiteY92" fmla="*/ 8424 h 10000"/>
                <a:gd name="connsiteX93" fmla="*/ 3958 w 10000"/>
                <a:gd name="connsiteY93" fmla="*/ 8879 h 10000"/>
                <a:gd name="connsiteX94" fmla="*/ 3958 w 10000"/>
                <a:gd name="connsiteY94" fmla="*/ 9030 h 10000"/>
                <a:gd name="connsiteX95" fmla="*/ 4105 w 10000"/>
                <a:gd name="connsiteY95" fmla="*/ 9091 h 10000"/>
                <a:gd name="connsiteX96" fmla="*/ 4211 w 10000"/>
                <a:gd name="connsiteY96" fmla="*/ 9333 h 10000"/>
                <a:gd name="connsiteX97" fmla="*/ 4211 w 10000"/>
                <a:gd name="connsiteY97" fmla="*/ 9485 h 10000"/>
                <a:gd name="connsiteX98" fmla="*/ 4463 w 10000"/>
                <a:gd name="connsiteY98" fmla="*/ 9636 h 10000"/>
                <a:gd name="connsiteX99" fmla="*/ 4421 w 10000"/>
                <a:gd name="connsiteY99" fmla="*/ 9697 h 10000"/>
                <a:gd name="connsiteX100" fmla="*/ 4674 w 10000"/>
                <a:gd name="connsiteY100" fmla="*/ 9636 h 10000"/>
                <a:gd name="connsiteX101" fmla="*/ 4737 w 10000"/>
                <a:gd name="connsiteY101" fmla="*/ 9333 h 10000"/>
                <a:gd name="connsiteX102" fmla="*/ 5263 w 10000"/>
                <a:gd name="connsiteY102" fmla="*/ 9333 h 10000"/>
                <a:gd name="connsiteX103" fmla="*/ 5453 w 10000"/>
                <a:gd name="connsiteY103" fmla="*/ 9545 h 10000"/>
                <a:gd name="connsiteX104" fmla="*/ 5516 w 10000"/>
                <a:gd name="connsiteY104" fmla="*/ 9788 h 10000"/>
                <a:gd name="connsiteX105" fmla="*/ 5621 w 10000"/>
                <a:gd name="connsiteY105" fmla="*/ 9697 h 10000"/>
                <a:gd name="connsiteX106" fmla="*/ 5979 w 10000"/>
                <a:gd name="connsiteY106" fmla="*/ 10000 h 10000"/>
                <a:gd name="connsiteX107" fmla="*/ 5979 w 10000"/>
                <a:gd name="connsiteY107" fmla="*/ 9788 h 10000"/>
                <a:gd name="connsiteX108" fmla="*/ 6400 w 10000"/>
                <a:gd name="connsiteY108" fmla="*/ 9545 h 10000"/>
                <a:gd name="connsiteX109" fmla="*/ 6442 w 10000"/>
                <a:gd name="connsiteY109" fmla="*/ 9485 h 10000"/>
                <a:gd name="connsiteX110" fmla="*/ 6547 w 10000"/>
                <a:gd name="connsiteY110" fmla="*/ 9394 h 10000"/>
                <a:gd name="connsiteX111" fmla="*/ 6653 w 10000"/>
                <a:gd name="connsiteY111" fmla="*/ 9485 h 10000"/>
                <a:gd name="connsiteX112" fmla="*/ 6863 w 10000"/>
                <a:gd name="connsiteY112" fmla="*/ 9333 h 10000"/>
                <a:gd name="connsiteX113" fmla="*/ 7137 w 10000"/>
                <a:gd name="connsiteY113" fmla="*/ 9091 h 10000"/>
                <a:gd name="connsiteX114" fmla="*/ 7389 w 10000"/>
                <a:gd name="connsiteY114" fmla="*/ 8818 h 10000"/>
                <a:gd name="connsiteX115" fmla="*/ 7495 w 10000"/>
                <a:gd name="connsiteY115" fmla="*/ 8515 h 10000"/>
                <a:gd name="connsiteX116" fmla="*/ 7642 w 10000"/>
                <a:gd name="connsiteY116" fmla="*/ 8212 h 10000"/>
                <a:gd name="connsiteX117" fmla="*/ 7811 w 10000"/>
                <a:gd name="connsiteY117" fmla="*/ 7758 h 10000"/>
                <a:gd name="connsiteX118" fmla="*/ 7811 w 10000"/>
                <a:gd name="connsiteY118" fmla="*/ 7545 h 10000"/>
                <a:gd name="connsiteX119" fmla="*/ 7747 w 10000"/>
                <a:gd name="connsiteY119" fmla="*/ 7394 h 10000"/>
                <a:gd name="connsiteX120" fmla="*/ 7811 w 10000"/>
                <a:gd name="connsiteY120" fmla="*/ 7152 h 10000"/>
                <a:gd name="connsiteX121" fmla="*/ 7747 w 10000"/>
                <a:gd name="connsiteY121" fmla="*/ 6879 h 10000"/>
                <a:gd name="connsiteX122" fmla="*/ 7495 w 10000"/>
                <a:gd name="connsiteY122" fmla="*/ 6121 h 10000"/>
                <a:gd name="connsiteX123" fmla="*/ 7537 w 10000"/>
                <a:gd name="connsiteY123" fmla="*/ 6030 h 10000"/>
                <a:gd name="connsiteX124" fmla="*/ 7747 w 10000"/>
                <a:gd name="connsiteY124" fmla="*/ 5667 h 10000"/>
                <a:gd name="connsiteX125" fmla="*/ 7916 w 10000"/>
                <a:gd name="connsiteY125" fmla="*/ 5606 h 10000"/>
                <a:gd name="connsiteX126" fmla="*/ 7937 w 10000"/>
                <a:gd name="connsiteY126" fmla="*/ 5576 h 10000"/>
                <a:gd name="connsiteX127" fmla="*/ 7937 w 10000"/>
                <a:gd name="connsiteY127" fmla="*/ 5515 h 10000"/>
                <a:gd name="connsiteX128" fmla="*/ 7916 w 10000"/>
                <a:gd name="connsiteY128" fmla="*/ 5455 h 10000"/>
                <a:gd name="connsiteX129" fmla="*/ 7642 w 10000"/>
                <a:gd name="connsiteY129" fmla="*/ 5364 h 10000"/>
                <a:gd name="connsiteX130" fmla="*/ 7495 w 10000"/>
                <a:gd name="connsiteY130" fmla="*/ 5455 h 10000"/>
                <a:gd name="connsiteX131" fmla="*/ 7389 w 10000"/>
                <a:gd name="connsiteY131" fmla="*/ 5364 h 10000"/>
                <a:gd name="connsiteX132" fmla="*/ 7284 w 10000"/>
                <a:gd name="connsiteY132" fmla="*/ 5152 h 10000"/>
                <a:gd name="connsiteX133" fmla="*/ 7179 w 10000"/>
                <a:gd name="connsiteY133" fmla="*/ 5000 h 10000"/>
                <a:gd name="connsiteX134" fmla="*/ 7432 w 10000"/>
                <a:gd name="connsiteY134" fmla="*/ 4848 h 10000"/>
                <a:gd name="connsiteX135" fmla="*/ 7600 w 10000"/>
                <a:gd name="connsiteY135" fmla="*/ 4636 h 10000"/>
                <a:gd name="connsiteX136" fmla="*/ 7853 w 10000"/>
                <a:gd name="connsiteY136" fmla="*/ 4394 h 10000"/>
                <a:gd name="connsiteX137" fmla="*/ 7958 w 10000"/>
                <a:gd name="connsiteY137" fmla="*/ 4394 h 10000"/>
                <a:gd name="connsiteX138" fmla="*/ 7811 w 10000"/>
                <a:gd name="connsiteY138" fmla="*/ 4697 h 10000"/>
                <a:gd name="connsiteX139" fmla="*/ 7916 w 10000"/>
                <a:gd name="connsiteY139" fmla="*/ 4848 h 10000"/>
                <a:gd name="connsiteX140" fmla="*/ 8021 w 10000"/>
                <a:gd name="connsiteY140" fmla="*/ 4788 h 10000"/>
                <a:gd name="connsiteX141" fmla="*/ 8274 w 10000"/>
                <a:gd name="connsiteY141" fmla="*/ 4636 h 10000"/>
                <a:gd name="connsiteX142" fmla="*/ 8337 w 10000"/>
                <a:gd name="connsiteY142" fmla="*/ 4303 h 10000"/>
                <a:gd name="connsiteX143" fmla="*/ 8484 w 10000"/>
                <a:gd name="connsiteY143" fmla="*/ 4121 h 10000"/>
                <a:gd name="connsiteX144" fmla="*/ 8632 w 10000"/>
                <a:gd name="connsiteY144" fmla="*/ 4273 h 10000"/>
                <a:gd name="connsiteX145" fmla="*/ 8611 w 10000"/>
                <a:gd name="connsiteY145" fmla="*/ 3970 h 10000"/>
                <a:gd name="connsiteX146" fmla="*/ 8821 w 10000"/>
                <a:gd name="connsiteY146" fmla="*/ 3788 h 10000"/>
                <a:gd name="connsiteX147" fmla="*/ 9095 w 10000"/>
                <a:gd name="connsiteY147" fmla="*/ 3848 h 10000"/>
                <a:gd name="connsiteX148" fmla="*/ 9221 w 10000"/>
                <a:gd name="connsiteY148" fmla="*/ 3727 h 10000"/>
                <a:gd name="connsiteX149" fmla="*/ 9368 w 10000"/>
                <a:gd name="connsiteY149" fmla="*/ 3818 h 10000"/>
                <a:gd name="connsiteX150" fmla="*/ 9474 w 10000"/>
                <a:gd name="connsiteY150" fmla="*/ 3000 h 10000"/>
                <a:gd name="connsiteX151" fmla="*/ 9726 w 10000"/>
                <a:gd name="connsiteY151" fmla="*/ 2909 h 10000"/>
                <a:gd name="connsiteX152" fmla="*/ 10000 w 10000"/>
                <a:gd name="connsiteY152" fmla="*/ 1788 h 10000"/>
                <a:gd name="connsiteX153" fmla="*/ 9368 w 10000"/>
                <a:gd name="connsiteY153" fmla="*/ 1788 h 10000"/>
                <a:gd name="connsiteX0" fmla="*/ 9368 w 10000"/>
                <a:gd name="connsiteY0" fmla="*/ 1788 h 10000"/>
                <a:gd name="connsiteX1" fmla="*/ 9368 w 10000"/>
                <a:gd name="connsiteY1" fmla="*/ 1788 h 10000"/>
                <a:gd name="connsiteX2" fmla="*/ 9263 w 10000"/>
                <a:gd name="connsiteY2" fmla="*/ 1485 h 10000"/>
                <a:gd name="connsiteX3" fmla="*/ 8842 w 10000"/>
                <a:gd name="connsiteY3" fmla="*/ 1333 h 10000"/>
                <a:gd name="connsiteX4" fmla="*/ 8337 w 10000"/>
                <a:gd name="connsiteY4" fmla="*/ 0 h 10000"/>
                <a:gd name="connsiteX5" fmla="*/ 7853 w 10000"/>
                <a:gd name="connsiteY5" fmla="*/ 0 h 10000"/>
                <a:gd name="connsiteX6" fmla="*/ 7705 w 10000"/>
                <a:gd name="connsiteY6" fmla="*/ 364 h 10000"/>
                <a:gd name="connsiteX7" fmla="*/ 7389 w 10000"/>
                <a:gd name="connsiteY7" fmla="*/ 1182 h 10000"/>
                <a:gd name="connsiteX8" fmla="*/ 7074 w 10000"/>
                <a:gd name="connsiteY8" fmla="*/ 1182 h 10000"/>
                <a:gd name="connsiteX9" fmla="*/ 7032 w 10000"/>
                <a:gd name="connsiteY9" fmla="*/ 1333 h 10000"/>
                <a:gd name="connsiteX10" fmla="*/ 7032 w 10000"/>
                <a:gd name="connsiteY10" fmla="*/ 1364 h 10000"/>
                <a:gd name="connsiteX11" fmla="*/ 7053 w 10000"/>
                <a:gd name="connsiteY11" fmla="*/ 1364 h 10000"/>
                <a:gd name="connsiteX12" fmla="*/ 7074 w 10000"/>
                <a:gd name="connsiteY12" fmla="*/ 1364 h 10000"/>
                <a:gd name="connsiteX13" fmla="*/ 7074 w 10000"/>
                <a:gd name="connsiteY13" fmla="*/ 1394 h 10000"/>
                <a:gd name="connsiteX14" fmla="*/ 7095 w 10000"/>
                <a:gd name="connsiteY14" fmla="*/ 1394 h 10000"/>
                <a:gd name="connsiteX15" fmla="*/ 7116 w 10000"/>
                <a:gd name="connsiteY15" fmla="*/ 1394 h 10000"/>
                <a:gd name="connsiteX16" fmla="*/ 7116 w 10000"/>
                <a:gd name="connsiteY16" fmla="*/ 1424 h 10000"/>
                <a:gd name="connsiteX17" fmla="*/ 7137 w 10000"/>
                <a:gd name="connsiteY17" fmla="*/ 1424 h 10000"/>
                <a:gd name="connsiteX18" fmla="*/ 7116 w 10000"/>
                <a:gd name="connsiteY18" fmla="*/ 1424 h 10000"/>
                <a:gd name="connsiteX19" fmla="*/ 7116 w 10000"/>
                <a:gd name="connsiteY19" fmla="*/ 1394 h 10000"/>
                <a:gd name="connsiteX20" fmla="*/ 7095 w 10000"/>
                <a:gd name="connsiteY20" fmla="*/ 1394 h 10000"/>
                <a:gd name="connsiteX21" fmla="*/ 7074 w 10000"/>
                <a:gd name="connsiteY21" fmla="*/ 1394 h 10000"/>
                <a:gd name="connsiteX22" fmla="*/ 7074 w 10000"/>
                <a:gd name="connsiteY22" fmla="*/ 1364 h 10000"/>
                <a:gd name="connsiteX23" fmla="*/ 7100 w 10000"/>
                <a:gd name="connsiteY23" fmla="*/ 1319 h 10000"/>
                <a:gd name="connsiteX24" fmla="*/ 6926 w 10000"/>
                <a:gd name="connsiteY24" fmla="*/ 1636 h 10000"/>
                <a:gd name="connsiteX25" fmla="*/ 6926 w 10000"/>
                <a:gd name="connsiteY25" fmla="*/ 2000 h 10000"/>
                <a:gd name="connsiteX26" fmla="*/ 7389 w 10000"/>
                <a:gd name="connsiteY26" fmla="*/ 2091 h 10000"/>
                <a:gd name="connsiteX27" fmla="*/ 7495 w 10000"/>
                <a:gd name="connsiteY27" fmla="*/ 2394 h 10000"/>
                <a:gd name="connsiteX28" fmla="*/ 7032 w 10000"/>
                <a:gd name="connsiteY28" fmla="*/ 2606 h 10000"/>
                <a:gd name="connsiteX29" fmla="*/ 6653 w 10000"/>
                <a:gd name="connsiteY29" fmla="*/ 2848 h 10000"/>
                <a:gd name="connsiteX30" fmla="*/ 6295 w 10000"/>
                <a:gd name="connsiteY30" fmla="*/ 3061 h 10000"/>
                <a:gd name="connsiteX31" fmla="*/ 6189 w 10000"/>
                <a:gd name="connsiteY31" fmla="*/ 3576 h 10000"/>
                <a:gd name="connsiteX32" fmla="*/ 5621 w 10000"/>
                <a:gd name="connsiteY32" fmla="*/ 3667 h 10000"/>
                <a:gd name="connsiteX33" fmla="*/ 5053 w 10000"/>
                <a:gd name="connsiteY33" fmla="*/ 4182 h 10000"/>
                <a:gd name="connsiteX34" fmla="*/ 4526 w 10000"/>
                <a:gd name="connsiteY34" fmla="*/ 3818 h 10000"/>
                <a:gd name="connsiteX35" fmla="*/ 3895 w 10000"/>
                <a:gd name="connsiteY35" fmla="*/ 3727 h 10000"/>
                <a:gd name="connsiteX36" fmla="*/ 3432 w 10000"/>
                <a:gd name="connsiteY36" fmla="*/ 3061 h 10000"/>
                <a:gd name="connsiteX37" fmla="*/ 2758 w 10000"/>
                <a:gd name="connsiteY37" fmla="*/ 2758 h 10000"/>
                <a:gd name="connsiteX38" fmla="*/ 2695 w 10000"/>
                <a:gd name="connsiteY38" fmla="*/ 2000 h 10000"/>
                <a:gd name="connsiteX39" fmla="*/ 2379 w 10000"/>
                <a:gd name="connsiteY39" fmla="*/ 1788 h 10000"/>
                <a:gd name="connsiteX40" fmla="*/ 2337 w 10000"/>
                <a:gd name="connsiteY40" fmla="*/ 1727 h 10000"/>
                <a:gd name="connsiteX41" fmla="*/ 2316 w 10000"/>
                <a:gd name="connsiteY41" fmla="*/ 1758 h 10000"/>
                <a:gd name="connsiteX42" fmla="*/ 2295 w 10000"/>
                <a:gd name="connsiteY42" fmla="*/ 1818 h 10000"/>
                <a:gd name="connsiteX43" fmla="*/ 2295 w 10000"/>
                <a:gd name="connsiteY43" fmla="*/ 1848 h 10000"/>
                <a:gd name="connsiteX44" fmla="*/ 2295 w 10000"/>
                <a:gd name="connsiteY44" fmla="*/ 1879 h 10000"/>
                <a:gd name="connsiteX45" fmla="*/ 2295 w 10000"/>
                <a:gd name="connsiteY45" fmla="*/ 1848 h 10000"/>
                <a:gd name="connsiteX46" fmla="*/ 2295 w 10000"/>
                <a:gd name="connsiteY46" fmla="*/ 1818 h 10000"/>
                <a:gd name="connsiteX47" fmla="*/ 2337 w 10000"/>
                <a:gd name="connsiteY47" fmla="*/ 1727 h 10000"/>
                <a:gd name="connsiteX48" fmla="*/ 2295 w 10000"/>
                <a:gd name="connsiteY48" fmla="*/ 1636 h 10000"/>
                <a:gd name="connsiteX49" fmla="*/ 2189 w 10000"/>
                <a:gd name="connsiteY49" fmla="*/ 1727 h 10000"/>
                <a:gd name="connsiteX50" fmla="*/ 2189 w 10000"/>
                <a:gd name="connsiteY50" fmla="*/ 1879 h 10000"/>
                <a:gd name="connsiteX51" fmla="*/ 2189 w 10000"/>
                <a:gd name="connsiteY51" fmla="*/ 1727 h 10000"/>
                <a:gd name="connsiteX52" fmla="*/ 2021 w 10000"/>
                <a:gd name="connsiteY52" fmla="*/ 1788 h 10000"/>
                <a:gd name="connsiteX53" fmla="*/ 1916 w 10000"/>
                <a:gd name="connsiteY53" fmla="*/ 2242 h 10000"/>
                <a:gd name="connsiteX54" fmla="*/ 1495 w 10000"/>
                <a:gd name="connsiteY54" fmla="*/ 2152 h 10000"/>
                <a:gd name="connsiteX55" fmla="*/ 1389 w 10000"/>
                <a:gd name="connsiteY55" fmla="*/ 2909 h 10000"/>
                <a:gd name="connsiteX56" fmla="*/ 1032 w 10000"/>
                <a:gd name="connsiteY56" fmla="*/ 3000 h 10000"/>
                <a:gd name="connsiteX57" fmla="*/ 926 w 10000"/>
                <a:gd name="connsiteY57" fmla="*/ 3879 h 10000"/>
                <a:gd name="connsiteX58" fmla="*/ 716 w 10000"/>
                <a:gd name="connsiteY58" fmla="*/ 4182 h 10000"/>
                <a:gd name="connsiteX59" fmla="*/ 463 w 10000"/>
                <a:gd name="connsiteY59" fmla="*/ 4485 h 10000"/>
                <a:gd name="connsiteX60" fmla="*/ 42 w 10000"/>
                <a:gd name="connsiteY60" fmla="*/ 4636 h 10000"/>
                <a:gd name="connsiteX61" fmla="*/ 0 w 10000"/>
                <a:gd name="connsiteY61" fmla="*/ 4939 h 10000"/>
                <a:gd name="connsiteX62" fmla="*/ 105 w 10000"/>
                <a:gd name="connsiteY62" fmla="*/ 5061 h 10000"/>
                <a:gd name="connsiteX63" fmla="*/ 147 w 10000"/>
                <a:gd name="connsiteY63" fmla="*/ 5303 h 10000"/>
                <a:gd name="connsiteX64" fmla="*/ 42 w 10000"/>
                <a:gd name="connsiteY64" fmla="*/ 5364 h 10000"/>
                <a:gd name="connsiteX65" fmla="*/ 147 w 10000"/>
                <a:gd name="connsiteY65" fmla="*/ 5515 h 10000"/>
                <a:gd name="connsiteX66" fmla="*/ 316 w 10000"/>
                <a:gd name="connsiteY66" fmla="*/ 5606 h 10000"/>
                <a:gd name="connsiteX67" fmla="*/ 463 w 10000"/>
                <a:gd name="connsiteY67" fmla="*/ 5909 h 10000"/>
                <a:gd name="connsiteX68" fmla="*/ 674 w 10000"/>
                <a:gd name="connsiteY68" fmla="*/ 5909 h 10000"/>
                <a:gd name="connsiteX69" fmla="*/ 989 w 10000"/>
                <a:gd name="connsiteY69" fmla="*/ 5909 h 10000"/>
                <a:gd name="connsiteX70" fmla="*/ 1032 w 10000"/>
                <a:gd name="connsiteY70" fmla="*/ 6030 h 10000"/>
                <a:gd name="connsiteX71" fmla="*/ 821 w 10000"/>
                <a:gd name="connsiteY71" fmla="*/ 6485 h 10000"/>
                <a:gd name="connsiteX72" fmla="*/ 884 w 10000"/>
                <a:gd name="connsiteY72" fmla="*/ 6727 h 10000"/>
                <a:gd name="connsiteX73" fmla="*/ 779 w 10000"/>
                <a:gd name="connsiteY73" fmla="*/ 6939 h 10000"/>
                <a:gd name="connsiteX74" fmla="*/ 884 w 10000"/>
                <a:gd name="connsiteY74" fmla="*/ 7242 h 10000"/>
                <a:gd name="connsiteX75" fmla="*/ 1137 w 10000"/>
                <a:gd name="connsiteY75" fmla="*/ 7394 h 10000"/>
                <a:gd name="connsiteX76" fmla="*/ 1095 w 10000"/>
                <a:gd name="connsiteY76" fmla="*/ 7455 h 10000"/>
                <a:gd name="connsiteX77" fmla="*/ 1200 w 10000"/>
                <a:gd name="connsiteY77" fmla="*/ 7455 h 10000"/>
                <a:gd name="connsiteX78" fmla="*/ 1558 w 10000"/>
                <a:gd name="connsiteY78" fmla="*/ 7697 h 10000"/>
                <a:gd name="connsiteX79" fmla="*/ 1874 w 10000"/>
                <a:gd name="connsiteY79" fmla="*/ 7909 h 10000"/>
                <a:gd name="connsiteX80" fmla="*/ 2189 w 10000"/>
                <a:gd name="connsiteY80" fmla="*/ 8000 h 10000"/>
                <a:gd name="connsiteX81" fmla="*/ 2295 w 10000"/>
                <a:gd name="connsiteY81" fmla="*/ 8121 h 10000"/>
                <a:gd name="connsiteX82" fmla="*/ 2379 w 10000"/>
                <a:gd name="connsiteY82" fmla="*/ 8121 h 10000"/>
                <a:gd name="connsiteX83" fmla="*/ 2547 w 10000"/>
                <a:gd name="connsiteY83" fmla="*/ 8273 h 10000"/>
                <a:gd name="connsiteX84" fmla="*/ 2758 w 10000"/>
                <a:gd name="connsiteY84" fmla="*/ 8273 h 10000"/>
                <a:gd name="connsiteX85" fmla="*/ 2968 w 10000"/>
                <a:gd name="connsiteY85" fmla="*/ 8273 h 10000"/>
                <a:gd name="connsiteX86" fmla="*/ 3116 w 10000"/>
                <a:gd name="connsiteY86" fmla="*/ 8000 h 10000"/>
                <a:gd name="connsiteX87" fmla="*/ 3326 w 10000"/>
                <a:gd name="connsiteY87" fmla="*/ 7758 h 10000"/>
                <a:gd name="connsiteX88" fmla="*/ 3579 w 10000"/>
                <a:gd name="connsiteY88" fmla="*/ 7758 h 10000"/>
                <a:gd name="connsiteX89" fmla="*/ 3789 w 10000"/>
                <a:gd name="connsiteY89" fmla="*/ 8000 h 10000"/>
                <a:gd name="connsiteX90" fmla="*/ 3895 w 10000"/>
                <a:gd name="connsiteY90" fmla="*/ 8000 h 10000"/>
                <a:gd name="connsiteX91" fmla="*/ 4000 w 10000"/>
                <a:gd name="connsiteY91" fmla="*/ 8061 h 10000"/>
                <a:gd name="connsiteX92" fmla="*/ 4063 w 10000"/>
                <a:gd name="connsiteY92" fmla="*/ 8424 h 10000"/>
                <a:gd name="connsiteX93" fmla="*/ 3958 w 10000"/>
                <a:gd name="connsiteY93" fmla="*/ 8879 h 10000"/>
                <a:gd name="connsiteX94" fmla="*/ 3958 w 10000"/>
                <a:gd name="connsiteY94" fmla="*/ 9030 h 10000"/>
                <a:gd name="connsiteX95" fmla="*/ 4105 w 10000"/>
                <a:gd name="connsiteY95" fmla="*/ 9091 h 10000"/>
                <a:gd name="connsiteX96" fmla="*/ 4211 w 10000"/>
                <a:gd name="connsiteY96" fmla="*/ 9333 h 10000"/>
                <a:gd name="connsiteX97" fmla="*/ 4211 w 10000"/>
                <a:gd name="connsiteY97" fmla="*/ 9485 h 10000"/>
                <a:gd name="connsiteX98" fmla="*/ 4463 w 10000"/>
                <a:gd name="connsiteY98" fmla="*/ 9636 h 10000"/>
                <a:gd name="connsiteX99" fmla="*/ 4421 w 10000"/>
                <a:gd name="connsiteY99" fmla="*/ 9697 h 10000"/>
                <a:gd name="connsiteX100" fmla="*/ 4674 w 10000"/>
                <a:gd name="connsiteY100" fmla="*/ 9636 h 10000"/>
                <a:gd name="connsiteX101" fmla="*/ 4737 w 10000"/>
                <a:gd name="connsiteY101" fmla="*/ 9333 h 10000"/>
                <a:gd name="connsiteX102" fmla="*/ 5263 w 10000"/>
                <a:gd name="connsiteY102" fmla="*/ 9333 h 10000"/>
                <a:gd name="connsiteX103" fmla="*/ 5453 w 10000"/>
                <a:gd name="connsiteY103" fmla="*/ 9545 h 10000"/>
                <a:gd name="connsiteX104" fmla="*/ 5516 w 10000"/>
                <a:gd name="connsiteY104" fmla="*/ 9788 h 10000"/>
                <a:gd name="connsiteX105" fmla="*/ 5621 w 10000"/>
                <a:gd name="connsiteY105" fmla="*/ 9697 h 10000"/>
                <a:gd name="connsiteX106" fmla="*/ 5979 w 10000"/>
                <a:gd name="connsiteY106" fmla="*/ 10000 h 10000"/>
                <a:gd name="connsiteX107" fmla="*/ 5979 w 10000"/>
                <a:gd name="connsiteY107" fmla="*/ 9788 h 10000"/>
                <a:gd name="connsiteX108" fmla="*/ 6400 w 10000"/>
                <a:gd name="connsiteY108" fmla="*/ 9545 h 10000"/>
                <a:gd name="connsiteX109" fmla="*/ 6442 w 10000"/>
                <a:gd name="connsiteY109" fmla="*/ 9485 h 10000"/>
                <a:gd name="connsiteX110" fmla="*/ 6547 w 10000"/>
                <a:gd name="connsiteY110" fmla="*/ 9394 h 10000"/>
                <a:gd name="connsiteX111" fmla="*/ 6653 w 10000"/>
                <a:gd name="connsiteY111" fmla="*/ 9485 h 10000"/>
                <a:gd name="connsiteX112" fmla="*/ 6863 w 10000"/>
                <a:gd name="connsiteY112" fmla="*/ 9333 h 10000"/>
                <a:gd name="connsiteX113" fmla="*/ 7137 w 10000"/>
                <a:gd name="connsiteY113" fmla="*/ 9091 h 10000"/>
                <a:gd name="connsiteX114" fmla="*/ 7389 w 10000"/>
                <a:gd name="connsiteY114" fmla="*/ 8818 h 10000"/>
                <a:gd name="connsiteX115" fmla="*/ 7495 w 10000"/>
                <a:gd name="connsiteY115" fmla="*/ 8515 h 10000"/>
                <a:gd name="connsiteX116" fmla="*/ 7642 w 10000"/>
                <a:gd name="connsiteY116" fmla="*/ 8212 h 10000"/>
                <a:gd name="connsiteX117" fmla="*/ 7811 w 10000"/>
                <a:gd name="connsiteY117" fmla="*/ 7758 h 10000"/>
                <a:gd name="connsiteX118" fmla="*/ 7811 w 10000"/>
                <a:gd name="connsiteY118" fmla="*/ 7545 h 10000"/>
                <a:gd name="connsiteX119" fmla="*/ 7747 w 10000"/>
                <a:gd name="connsiteY119" fmla="*/ 7394 h 10000"/>
                <a:gd name="connsiteX120" fmla="*/ 7811 w 10000"/>
                <a:gd name="connsiteY120" fmla="*/ 7152 h 10000"/>
                <a:gd name="connsiteX121" fmla="*/ 7747 w 10000"/>
                <a:gd name="connsiteY121" fmla="*/ 6879 h 10000"/>
                <a:gd name="connsiteX122" fmla="*/ 7495 w 10000"/>
                <a:gd name="connsiteY122" fmla="*/ 6121 h 10000"/>
                <a:gd name="connsiteX123" fmla="*/ 7537 w 10000"/>
                <a:gd name="connsiteY123" fmla="*/ 6030 h 10000"/>
                <a:gd name="connsiteX124" fmla="*/ 7747 w 10000"/>
                <a:gd name="connsiteY124" fmla="*/ 5667 h 10000"/>
                <a:gd name="connsiteX125" fmla="*/ 7916 w 10000"/>
                <a:gd name="connsiteY125" fmla="*/ 5606 h 10000"/>
                <a:gd name="connsiteX126" fmla="*/ 7937 w 10000"/>
                <a:gd name="connsiteY126" fmla="*/ 5576 h 10000"/>
                <a:gd name="connsiteX127" fmla="*/ 7937 w 10000"/>
                <a:gd name="connsiteY127" fmla="*/ 5515 h 10000"/>
                <a:gd name="connsiteX128" fmla="*/ 7916 w 10000"/>
                <a:gd name="connsiteY128" fmla="*/ 5455 h 10000"/>
                <a:gd name="connsiteX129" fmla="*/ 7642 w 10000"/>
                <a:gd name="connsiteY129" fmla="*/ 5364 h 10000"/>
                <a:gd name="connsiteX130" fmla="*/ 7495 w 10000"/>
                <a:gd name="connsiteY130" fmla="*/ 5455 h 10000"/>
                <a:gd name="connsiteX131" fmla="*/ 7389 w 10000"/>
                <a:gd name="connsiteY131" fmla="*/ 5364 h 10000"/>
                <a:gd name="connsiteX132" fmla="*/ 7284 w 10000"/>
                <a:gd name="connsiteY132" fmla="*/ 5152 h 10000"/>
                <a:gd name="connsiteX133" fmla="*/ 7179 w 10000"/>
                <a:gd name="connsiteY133" fmla="*/ 5000 h 10000"/>
                <a:gd name="connsiteX134" fmla="*/ 7432 w 10000"/>
                <a:gd name="connsiteY134" fmla="*/ 4848 h 10000"/>
                <a:gd name="connsiteX135" fmla="*/ 7600 w 10000"/>
                <a:gd name="connsiteY135" fmla="*/ 4636 h 10000"/>
                <a:gd name="connsiteX136" fmla="*/ 7853 w 10000"/>
                <a:gd name="connsiteY136" fmla="*/ 4394 h 10000"/>
                <a:gd name="connsiteX137" fmla="*/ 7958 w 10000"/>
                <a:gd name="connsiteY137" fmla="*/ 4394 h 10000"/>
                <a:gd name="connsiteX138" fmla="*/ 7811 w 10000"/>
                <a:gd name="connsiteY138" fmla="*/ 4697 h 10000"/>
                <a:gd name="connsiteX139" fmla="*/ 7916 w 10000"/>
                <a:gd name="connsiteY139" fmla="*/ 4848 h 10000"/>
                <a:gd name="connsiteX140" fmla="*/ 8021 w 10000"/>
                <a:gd name="connsiteY140" fmla="*/ 4788 h 10000"/>
                <a:gd name="connsiteX141" fmla="*/ 8274 w 10000"/>
                <a:gd name="connsiteY141" fmla="*/ 4636 h 10000"/>
                <a:gd name="connsiteX142" fmla="*/ 8337 w 10000"/>
                <a:gd name="connsiteY142" fmla="*/ 4303 h 10000"/>
                <a:gd name="connsiteX143" fmla="*/ 8484 w 10000"/>
                <a:gd name="connsiteY143" fmla="*/ 4121 h 10000"/>
                <a:gd name="connsiteX144" fmla="*/ 8632 w 10000"/>
                <a:gd name="connsiteY144" fmla="*/ 4273 h 10000"/>
                <a:gd name="connsiteX145" fmla="*/ 8611 w 10000"/>
                <a:gd name="connsiteY145" fmla="*/ 3970 h 10000"/>
                <a:gd name="connsiteX146" fmla="*/ 8821 w 10000"/>
                <a:gd name="connsiteY146" fmla="*/ 3788 h 10000"/>
                <a:gd name="connsiteX147" fmla="*/ 9095 w 10000"/>
                <a:gd name="connsiteY147" fmla="*/ 3848 h 10000"/>
                <a:gd name="connsiteX148" fmla="*/ 9221 w 10000"/>
                <a:gd name="connsiteY148" fmla="*/ 3727 h 10000"/>
                <a:gd name="connsiteX149" fmla="*/ 9368 w 10000"/>
                <a:gd name="connsiteY149" fmla="*/ 3818 h 10000"/>
                <a:gd name="connsiteX150" fmla="*/ 9474 w 10000"/>
                <a:gd name="connsiteY150" fmla="*/ 3000 h 10000"/>
                <a:gd name="connsiteX151" fmla="*/ 9726 w 10000"/>
                <a:gd name="connsiteY151" fmla="*/ 2909 h 10000"/>
                <a:gd name="connsiteX152" fmla="*/ 10000 w 10000"/>
                <a:gd name="connsiteY152" fmla="*/ 1788 h 10000"/>
                <a:gd name="connsiteX153" fmla="*/ 9368 w 10000"/>
                <a:gd name="connsiteY153" fmla="*/ 1788 h 10000"/>
                <a:gd name="connsiteX0" fmla="*/ 9368 w 10000"/>
                <a:gd name="connsiteY0" fmla="*/ 1788 h 10000"/>
                <a:gd name="connsiteX1" fmla="*/ 9368 w 10000"/>
                <a:gd name="connsiteY1" fmla="*/ 1788 h 10000"/>
                <a:gd name="connsiteX2" fmla="*/ 9263 w 10000"/>
                <a:gd name="connsiteY2" fmla="*/ 1485 h 10000"/>
                <a:gd name="connsiteX3" fmla="*/ 8842 w 10000"/>
                <a:gd name="connsiteY3" fmla="*/ 1333 h 10000"/>
                <a:gd name="connsiteX4" fmla="*/ 8337 w 10000"/>
                <a:gd name="connsiteY4" fmla="*/ 0 h 10000"/>
                <a:gd name="connsiteX5" fmla="*/ 7853 w 10000"/>
                <a:gd name="connsiteY5" fmla="*/ 0 h 10000"/>
                <a:gd name="connsiteX6" fmla="*/ 7705 w 10000"/>
                <a:gd name="connsiteY6" fmla="*/ 364 h 10000"/>
                <a:gd name="connsiteX7" fmla="*/ 7389 w 10000"/>
                <a:gd name="connsiteY7" fmla="*/ 1182 h 10000"/>
                <a:gd name="connsiteX8" fmla="*/ 7074 w 10000"/>
                <a:gd name="connsiteY8" fmla="*/ 1182 h 10000"/>
                <a:gd name="connsiteX9" fmla="*/ 7032 w 10000"/>
                <a:gd name="connsiteY9" fmla="*/ 1333 h 10000"/>
                <a:gd name="connsiteX10" fmla="*/ 7032 w 10000"/>
                <a:gd name="connsiteY10" fmla="*/ 1364 h 10000"/>
                <a:gd name="connsiteX11" fmla="*/ 7053 w 10000"/>
                <a:gd name="connsiteY11" fmla="*/ 1364 h 10000"/>
                <a:gd name="connsiteX12" fmla="*/ 7074 w 10000"/>
                <a:gd name="connsiteY12" fmla="*/ 1364 h 10000"/>
                <a:gd name="connsiteX13" fmla="*/ 7074 w 10000"/>
                <a:gd name="connsiteY13" fmla="*/ 1394 h 10000"/>
                <a:gd name="connsiteX14" fmla="*/ 7095 w 10000"/>
                <a:gd name="connsiteY14" fmla="*/ 1394 h 10000"/>
                <a:gd name="connsiteX15" fmla="*/ 7116 w 10000"/>
                <a:gd name="connsiteY15" fmla="*/ 1394 h 10000"/>
                <a:gd name="connsiteX16" fmla="*/ 7116 w 10000"/>
                <a:gd name="connsiteY16" fmla="*/ 1424 h 10000"/>
                <a:gd name="connsiteX17" fmla="*/ 7137 w 10000"/>
                <a:gd name="connsiteY17" fmla="*/ 1424 h 10000"/>
                <a:gd name="connsiteX18" fmla="*/ 7116 w 10000"/>
                <a:gd name="connsiteY18" fmla="*/ 1424 h 10000"/>
                <a:gd name="connsiteX19" fmla="*/ 7116 w 10000"/>
                <a:gd name="connsiteY19" fmla="*/ 1394 h 10000"/>
                <a:gd name="connsiteX20" fmla="*/ 7095 w 10000"/>
                <a:gd name="connsiteY20" fmla="*/ 1394 h 10000"/>
                <a:gd name="connsiteX21" fmla="*/ 7074 w 10000"/>
                <a:gd name="connsiteY21" fmla="*/ 1394 h 10000"/>
                <a:gd name="connsiteX22" fmla="*/ 7074 w 10000"/>
                <a:gd name="connsiteY22" fmla="*/ 1364 h 10000"/>
                <a:gd name="connsiteX23" fmla="*/ 6926 w 10000"/>
                <a:gd name="connsiteY23" fmla="*/ 1636 h 10000"/>
                <a:gd name="connsiteX24" fmla="*/ 6926 w 10000"/>
                <a:gd name="connsiteY24" fmla="*/ 2000 h 10000"/>
                <a:gd name="connsiteX25" fmla="*/ 7389 w 10000"/>
                <a:gd name="connsiteY25" fmla="*/ 2091 h 10000"/>
                <a:gd name="connsiteX26" fmla="*/ 7495 w 10000"/>
                <a:gd name="connsiteY26" fmla="*/ 2394 h 10000"/>
                <a:gd name="connsiteX27" fmla="*/ 7032 w 10000"/>
                <a:gd name="connsiteY27" fmla="*/ 2606 h 10000"/>
                <a:gd name="connsiteX28" fmla="*/ 6653 w 10000"/>
                <a:gd name="connsiteY28" fmla="*/ 2848 h 10000"/>
                <a:gd name="connsiteX29" fmla="*/ 6295 w 10000"/>
                <a:gd name="connsiteY29" fmla="*/ 3061 h 10000"/>
                <a:gd name="connsiteX30" fmla="*/ 6189 w 10000"/>
                <a:gd name="connsiteY30" fmla="*/ 3576 h 10000"/>
                <a:gd name="connsiteX31" fmla="*/ 5621 w 10000"/>
                <a:gd name="connsiteY31" fmla="*/ 3667 h 10000"/>
                <a:gd name="connsiteX32" fmla="*/ 5053 w 10000"/>
                <a:gd name="connsiteY32" fmla="*/ 4182 h 10000"/>
                <a:gd name="connsiteX33" fmla="*/ 4526 w 10000"/>
                <a:gd name="connsiteY33" fmla="*/ 3818 h 10000"/>
                <a:gd name="connsiteX34" fmla="*/ 3895 w 10000"/>
                <a:gd name="connsiteY34" fmla="*/ 3727 h 10000"/>
                <a:gd name="connsiteX35" fmla="*/ 3432 w 10000"/>
                <a:gd name="connsiteY35" fmla="*/ 3061 h 10000"/>
                <a:gd name="connsiteX36" fmla="*/ 2758 w 10000"/>
                <a:gd name="connsiteY36" fmla="*/ 2758 h 10000"/>
                <a:gd name="connsiteX37" fmla="*/ 2695 w 10000"/>
                <a:gd name="connsiteY37" fmla="*/ 2000 h 10000"/>
                <a:gd name="connsiteX38" fmla="*/ 2379 w 10000"/>
                <a:gd name="connsiteY38" fmla="*/ 1788 h 10000"/>
                <a:gd name="connsiteX39" fmla="*/ 2337 w 10000"/>
                <a:gd name="connsiteY39" fmla="*/ 1727 h 10000"/>
                <a:gd name="connsiteX40" fmla="*/ 2316 w 10000"/>
                <a:gd name="connsiteY40" fmla="*/ 1758 h 10000"/>
                <a:gd name="connsiteX41" fmla="*/ 2295 w 10000"/>
                <a:gd name="connsiteY41" fmla="*/ 1818 h 10000"/>
                <a:gd name="connsiteX42" fmla="*/ 2295 w 10000"/>
                <a:gd name="connsiteY42" fmla="*/ 1848 h 10000"/>
                <a:gd name="connsiteX43" fmla="*/ 2295 w 10000"/>
                <a:gd name="connsiteY43" fmla="*/ 1879 h 10000"/>
                <a:gd name="connsiteX44" fmla="*/ 2295 w 10000"/>
                <a:gd name="connsiteY44" fmla="*/ 1848 h 10000"/>
                <a:gd name="connsiteX45" fmla="*/ 2295 w 10000"/>
                <a:gd name="connsiteY45" fmla="*/ 1818 h 10000"/>
                <a:gd name="connsiteX46" fmla="*/ 2337 w 10000"/>
                <a:gd name="connsiteY46" fmla="*/ 1727 h 10000"/>
                <a:gd name="connsiteX47" fmla="*/ 2295 w 10000"/>
                <a:gd name="connsiteY47" fmla="*/ 1636 h 10000"/>
                <a:gd name="connsiteX48" fmla="*/ 2189 w 10000"/>
                <a:gd name="connsiteY48" fmla="*/ 1727 h 10000"/>
                <a:gd name="connsiteX49" fmla="*/ 2189 w 10000"/>
                <a:gd name="connsiteY49" fmla="*/ 1879 h 10000"/>
                <a:gd name="connsiteX50" fmla="*/ 2189 w 10000"/>
                <a:gd name="connsiteY50" fmla="*/ 1727 h 10000"/>
                <a:gd name="connsiteX51" fmla="*/ 2021 w 10000"/>
                <a:gd name="connsiteY51" fmla="*/ 1788 h 10000"/>
                <a:gd name="connsiteX52" fmla="*/ 1916 w 10000"/>
                <a:gd name="connsiteY52" fmla="*/ 2242 h 10000"/>
                <a:gd name="connsiteX53" fmla="*/ 1495 w 10000"/>
                <a:gd name="connsiteY53" fmla="*/ 2152 h 10000"/>
                <a:gd name="connsiteX54" fmla="*/ 1389 w 10000"/>
                <a:gd name="connsiteY54" fmla="*/ 2909 h 10000"/>
                <a:gd name="connsiteX55" fmla="*/ 1032 w 10000"/>
                <a:gd name="connsiteY55" fmla="*/ 3000 h 10000"/>
                <a:gd name="connsiteX56" fmla="*/ 926 w 10000"/>
                <a:gd name="connsiteY56" fmla="*/ 3879 h 10000"/>
                <a:gd name="connsiteX57" fmla="*/ 716 w 10000"/>
                <a:gd name="connsiteY57" fmla="*/ 4182 h 10000"/>
                <a:gd name="connsiteX58" fmla="*/ 463 w 10000"/>
                <a:gd name="connsiteY58" fmla="*/ 4485 h 10000"/>
                <a:gd name="connsiteX59" fmla="*/ 42 w 10000"/>
                <a:gd name="connsiteY59" fmla="*/ 4636 h 10000"/>
                <a:gd name="connsiteX60" fmla="*/ 0 w 10000"/>
                <a:gd name="connsiteY60" fmla="*/ 4939 h 10000"/>
                <a:gd name="connsiteX61" fmla="*/ 105 w 10000"/>
                <a:gd name="connsiteY61" fmla="*/ 5061 h 10000"/>
                <a:gd name="connsiteX62" fmla="*/ 147 w 10000"/>
                <a:gd name="connsiteY62" fmla="*/ 5303 h 10000"/>
                <a:gd name="connsiteX63" fmla="*/ 42 w 10000"/>
                <a:gd name="connsiteY63" fmla="*/ 5364 h 10000"/>
                <a:gd name="connsiteX64" fmla="*/ 147 w 10000"/>
                <a:gd name="connsiteY64" fmla="*/ 5515 h 10000"/>
                <a:gd name="connsiteX65" fmla="*/ 316 w 10000"/>
                <a:gd name="connsiteY65" fmla="*/ 5606 h 10000"/>
                <a:gd name="connsiteX66" fmla="*/ 463 w 10000"/>
                <a:gd name="connsiteY66" fmla="*/ 5909 h 10000"/>
                <a:gd name="connsiteX67" fmla="*/ 674 w 10000"/>
                <a:gd name="connsiteY67" fmla="*/ 5909 h 10000"/>
                <a:gd name="connsiteX68" fmla="*/ 989 w 10000"/>
                <a:gd name="connsiteY68" fmla="*/ 5909 h 10000"/>
                <a:gd name="connsiteX69" fmla="*/ 1032 w 10000"/>
                <a:gd name="connsiteY69" fmla="*/ 6030 h 10000"/>
                <a:gd name="connsiteX70" fmla="*/ 821 w 10000"/>
                <a:gd name="connsiteY70" fmla="*/ 6485 h 10000"/>
                <a:gd name="connsiteX71" fmla="*/ 884 w 10000"/>
                <a:gd name="connsiteY71" fmla="*/ 6727 h 10000"/>
                <a:gd name="connsiteX72" fmla="*/ 779 w 10000"/>
                <a:gd name="connsiteY72" fmla="*/ 6939 h 10000"/>
                <a:gd name="connsiteX73" fmla="*/ 884 w 10000"/>
                <a:gd name="connsiteY73" fmla="*/ 7242 h 10000"/>
                <a:gd name="connsiteX74" fmla="*/ 1137 w 10000"/>
                <a:gd name="connsiteY74" fmla="*/ 7394 h 10000"/>
                <a:gd name="connsiteX75" fmla="*/ 1095 w 10000"/>
                <a:gd name="connsiteY75" fmla="*/ 7455 h 10000"/>
                <a:gd name="connsiteX76" fmla="*/ 1200 w 10000"/>
                <a:gd name="connsiteY76" fmla="*/ 7455 h 10000"/>
                <a:gd name="connsiteX77" fmla="*/ 1558 w 10000"/>
                <a:gd name="connsiteY77" fmla="*/ 7697 h 10000"/>
                <a:gd name="connsiteX78" fmla="*/ 1874 w 10000"/>
                <a:gd name="connsiteY78" fmla="*/ 7909 h 10000"/>
                <a:gd name="connsiteX79" fmla="*/ 2189 w 10000"/>
                <a:gd name="connsiteY79" fmla="*/ 8000 h 10000"/>
                <a:gd name="connsiteX80" fmla="*/ 2295 w 10000"/>
                <a:gd name="connsiteY80" fmla="*/ 8121 h 10000"/>
                <a:gd name="connsiteX81" fmla="*/ 2379 w 10000"/>
                <a:gd name="connsiteY81" fmla="*/ 8121 h 10000"/>
                <a:gd name="connsiteX82" fmla="*/ 2547 w 10000"/>
                <a:gd name="connsiteY82" fmla="*/ 8273 h 10000"/>
                <a:gd name="connsiteX83" fmla="*/ 2758 w 10000"/>
                <a:gd name="connsiteY83" fmla="*/ 8273 h 10000"/>
                <a:gd name="connsiteX84" fmla="*/ 2968 w 10000"/>
                <a:gd name="connsiteY84" fmla="*/ 8273 h 10000"/>
                <a:gd name="connsiteX85" fmla="*/ 3116 w 10000"/>
                <a:gd name="connsiteY85" fmla="*/ 8000 h 10000"/>
                <a:gd name="connsiteX86" fmla="*/ 3326 w 10000"/>
                <a:gd name="connsiteY86" fmla="*/ 7758 h 10000"/>
                <a:gd name="connsiteX87" fmla="*/ 3579 w 10000"/>
                <a:gd name="connsiteY87" fmla="*/ 7758 h 10000"/>
                <a:gd name="connsiteX88" fmla="*/ 3789 w 10000"/>
                <a:gd name="connsiteY88" fmla="*/ 8000 h 10000"/>
                <a:gd name="connsiteX89" fmla="*/ 3895 w 10000"/>
                <a:gd name="connsiteY89" fmla="*/ 8000 h 10000"/>
                <a:gd name="connsiteX90" fmla="*/ 4000 w 10000"/>
                <a:gd name="connsiteY90" fmla="*/ 8061 h 10000"/>
                <a:gd name="connsiteX91" fmla="*/ 4063 w 10000"/>
                <a:gd name="connsiteY91" fmla="*/ 8424 h 10000"/>
                <a:gd name="connsiteX92" fmla="*/ 3958 w 10000"/>
                <a:gd name="connsiteY92" fmla="*/ 8879 h 10000"/>
                <a:gd name="connsiteX93" fmla="*/ 3958 w 10000"/>
                <a:gd name="connsiteY93" fmla="*/ 9030 h 10000"/>
                <a:gd name="connsiteX94" fmla="*/ 4105 w 10000"/>
                <a:gd name="connsiteY94" fmla="*/ 9091 h 10000"/>
                <a:gd name="connsiteX95" fmla="*/ 4211 w 10000"/>
                <a:gd name="connsiteY95" fmla="*/ 9333 h 10000"/>
                <a:gd name="connsiteX96" fmla="*/ 4211 w 10000"/>
                <a:gd name="connsiteY96" fmla="*/ 9485 h 10000"/>
                <a:gd name="connsiteX97" fmla="*/ 4463 w 10000"/>
                <a:gd name="connsiteY97" fmla="*/ 9636 h 10000"/>
                <a:gd name="connsiteX98" fmla="*/ 4421 w 10000"/>
                <a:gd name="connsiteY98" fmla="*/ 9697 h 10000"/>
                <a:gd name="connsiteX99" fmla="*/ 4674 w 10000"/>
                <a:gd name="connsiteY99" fmla="*/ 9636 h 10000"/>
                <a:gd name="connsiteX100" fmla="*/ 4737 w 10000"/>
                <a:gd name="connsiteY100" fmla="*/ 9333 h 10000"/>
                <a:gd name="connsiteX101" fmla="*/ 5263 w 10000"/>
                <a:gd name="connsiteY101" fmla="*/ 9333 h 10000"/>
                <a:gd name="connsiteX102" fmla="*/ 5453 w 10000"/>
                <a:gd name="connsiteY102" fmla="*/ 9545 h 10000"/>
                <a:gd name="connsiteX103" fmla="*/ 5516 w 10000"/>
                <a:gd name="connsiteY103" fmla="*/ 9788 h 10000"/>
                <a:gd name="connsiteX104" fmla="*/ 5621 w 10000"/>
                <a:gd name="connsiteY104" fmla="*/ 9697 h 10000"/>
                <a:gd name="connsiteX105" fmla="*/ 5979 w 10000"/>
                <a:gd name="connsiteY105" fmla="*/ 10000 h 10000"/>
                <a:gd name="connsiteX106" fmla="*/ 5979 w 10000"/>
                <a:gd name="connsiteY106" fmla="*/ 9788 h 10000"/>
                <a:gd name="connsiteX107" fmla="*/ 6400 w 10000"/>
                <a:gd name="connsiteY107" fmla="*/ 9545 h 10000"/>
                <a:gd name="connsiteX108" fmla="*/ 6442 w 10000"/>
                <a:gd name="connsiteY108" fmla="*/ 9485 h 10000"/>
                <a:gd name="connsiteX109" fmla="*/ 6547 w 10000"/>
                <a:gd name="connsiteY109" fmla="*/ 9394 h 10000"/>
                <a:gd name="connsiteX110" fmla="*/ 6653 w 10000"/>
                <a:gd name="connsiteY110" fmla="*/ 9485 h 10000"/>
                <a:gd name="connsiteX111" fmla="*/ 6863 w 10000"/>
                <a:gd name="connsiteY111" fmla="*/ 9333 h 10000"/>
                <a:gd name="connsiteX112" fmla="*/ 7137 w 10000"/>
                <a:gd name="connsiteY112" fmla="*/ 9091 h 10000"/>
                <a:gd name="connsiteX113" fmla="*/ 7389 w 10000"/>
                <a:gd name="connsiteY113" fmla="*/ 8818 h 10000"/>
                <a:gd name="connsiteX114" fmla="*/ 7495 w 10000"/>
                <a:gd name="connsiteY114" fmla="*/ 8515 h 10000"/>
                <a:gd name="connsiteX115" fmla="*/ 7642 w 10000"/>
                <a:gd name="connsiteY115" fmla="*/ 8212 h 10000"/>
                <a:gd name="connsiteX116" fmla="*/ 7811 w 10000"/>
                <a:gd name="connsiteY116" fmla="*/ 7758 h 10000"/>
                <a:gd name="connsiteX117" fmla="*/ 7811 w 10000"/>
                <a:gd name="connsiteY117" fmla="*/ 7545 h 10000"/>
                <a:gd name="connsiteX118" fmla="*/ 7747 w 10000"/>
                <a:gd name="connsiteY118" fmla="*/ 7394 h 10000"/>
                <a:gd name="connsiteX119" fmla="*/ 7811 w 10000"/>
                <a:gd name="connsiteY119" fmla="*/ 7152 h 10000"/>
                <a:gd name="connsiteX120" fmla="*/ 7747 w 10000"/>
                <a:gd name="connsiteY120" fmla="*/ 6879 h 10000"/>
                <a:gd name="connsiteX121" fmla="*/ 7495 w 10000"/>
                <a:gd name="connsiteY121" fmla="*/ 6121 h 10000"/>
                <a:gd name="connsiteX122" fmla="*/ 7537 w 10000"/>
                <a:gd name="connsiteY122" fmla="*/ 6030 h 10000"/>
                <a:gd name="connsiteX123" fmla="*/ 7747 w 10000"/>
                <a:gd name="connsiteY123" fmla="*/ 5667 h 10000"/>
                <a:gd name="connsiteX124" fmla="*/ 7916 w 10000"/>
                <a:gd name="connsiteY124" fmla="*/ 5606 h 10000"/>
                <a:gd name="connsiteX125" fmla="*/ 7937 w 10000"/>
                <a:gd name="connsiteY125" fmla="*/ 5576 h 10000"/>
                <a:gd name="connsiteX126" fmla="*/ 7937 w 10000"/>
                <a:gd name="connsiteY126" fmla="*/ 5515 h 10000"/>
                <a:gd name="connsiteX127" fmla="*/ 7916 w 10000"/>
                <a:gd name="connsiteY127" fmla="*/ 5455 h 10000"/>
                <a:gd name="connsiteX128" fmla="*/ 7642 w 10000"/>
                <a:gd name="connsiteY128" fmla="*/ 5364 h 10000"/>
                <a:gd name="connsiteX129" fmla="*/ 7495 w 10000"/>
                <a:gd name="connsiteY129" fmla="*/ 5455 h 10000"/>
                <a:gd name="connsiteX130" fmla="*/ 7389 w 10000"/>
                <a:gd name="connsiteY130" fmla="*/ 5364 h 10000"/>
                <a:gd name="connsiteX131" fmla="*/ 7284 w 10000"/>
                <a:gd name="connsiteY131" fmla="*/ 5152 h 10000"/>
                <a:gd name="connsiteX132" fmla="*/ 7179 w 10000"/>
                <a:gd name="connsiteY132" fmla="*/ 5000 h 10000"/>
                <a:gd name="connsiteX133" fmla="*/ 7432 w 10000"/>
                <a:gd name="connsiteY133" fmla="*/ 4848 h 10000"/>
                <a:gd name="connsiteX134" fmla="*/ 7600 w 10000"/>
                <a:gd name="connsiteY134" fmla="*/ 4636 h 10000"/>
                <a:gd name="connsiteX135" fmla="*/ 7853 w 10000"/>
                <a:gd name="connsiteY135" fmla="*/ 4394 h 10000"/>
                <a:gd name="connsiteX136" fmla="*/ 7958 w 10000"/>
                <a:gd name="connsiteY136" fmla="*/ 4394 h 10000"/>
                <a:gd name="connsiteX137" fmla="*/ 7811 w 10000"/>
                <a:gd name="connsiteY137" fmla="*/ 4697 h 10000"/>
                <a:gd name="connsiteX138" fmla="*/ 7916 w 10000"/>
                <a:gd name="connsiteY138" fmla="*/ 4848 h 10000"/>
                <a:gd name="connsiteX139" fmla="*/ 8021 w 10000"/>
                <a:gd name="connsiteY139" fmla="*/ 4788 h 10000"/>
                <a:gd name="connsiteX140" fmla="*/ 8274 w 10000"/>
                <a:gd name="connsiteY140" fmla="*/ 4636 h 10000"/>
                <a:gd name="connsiteX141" fmla="*/ 8337 w 10000"/>
                <a:gd name="connsiteY141" fmla="*/ 4303 h 10000"/>
                <a:gd name="connsiteX142" fmla="*/ 8484 w 10000"/>
                <a:gd name="connsiteY142" fmla="*/ 4121 h 10000"/>
                <a:gd name="connsiteX143" fmla="*/ 8632 w 10000"/>
                <a:gd name="connsiteY143" fmla="*/ 4273 h 10000"/>
                <a:gd name="connsiteX144" fmla="*/ 8611 w 10000"/>
                <a:gd name="connsiteY144" fmla="*/ 3970 h 10000"/>
                <a:gd name="connsiteX145" fmla="*/ 8821 w 10000"/>
                <a:gd name="connsiteY145" fmla="*/ 3788 h 10000"/>
                <a:gd name="connsiteX146" fmla="*/ 9095 w 10000"/>
                <a:gd name="connsiteY146" fmla="*/ 3848 h 10000"/>
                <a:gd name="connsiteX147" fmla="*/ 9221 w 10000"/>
                <a:gd name="connsiteY147" fmla="*/ 3727 h 10000"/>
                <a:gd name="connsiteX148" fmla="*/ 9368 w 10000"/>
                <a:gd name="connsiteY148" fmla="*/ 3818 h 10000"/>
                <a:gd name="connsiteX149" fmla="*/ 9474 w 10000"/>
                <a:gd name="connsiteY149" fmla="*/ 3000 h 10000"/>
                <a:gd name="connsiteX150" fmla="*/ 9726 w 10000"/>
                <a:gd name="connsiteY150" fmla="*/ 2909 h 10000"/>
                <a:gd name="connsiteX151" fmla="*/ 10000 w 10000"/>
                <a:gd name="connsiteY151" fmla="*/ 1788 h 10000"/>
                <a:gd name="connsiteX152" fmla="*/ 9368 w 10000"/>
                <a:gd name="connsiteY152" fmla="*/ 1788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0000" h="10000">
                  <a:moveTo>
                    <a:pt x="9368" y="1788"/>
                  </a:moveTo>
                  <a:lnTo>
                    <a:pt x="9368" y="1788"/>
                  </a:lnTo>
                  <a:lnTo>
                    <a:pt x="9263" y="1485"/>
                  </a:lnTo>
                  <a:lnTo>
                    <a:pt x="8842" y="1333"/>
                  </a:lnTo>
                  <a:lnTo>
                    <a:pt x="8337" y="0"/>
                  </a:lnTo>
                  <a:lnTo>
                    <a:pt x="7853" y="0"/>
                  </a:lnTo>
                  <a:lnTo>
                    <a:pt x="7705" y="364"/>
                  </a:lnTo>
                  <a:cubicBezTo>
                    <a:pt x="7600" y="637"/>
                    <a:pt x="7494" y="909"/>
                    <a:pt x="7389" y="1182"/>
                  </a:cubicBezTo>
                  <a:lnTo>
                    <a:pt x="7074" y="1182"/>
                  </a:lnTo>
                  <a:cubicBezTo>
                    <a:pt x="7060" y="1232"/>
                    <a:pt x="7046" y="1283"/>
                    <a:pt x="7032" y="1333"/>
                  </a:cubicBezTo>
                  <a:lnTo>
                    <a:pt x="7032" y="1364"/>
                  </a:lnTo>
                  <a:lnTo>
                    <a:pt x="7053" y="1364"/>
                  </a:lnTo>
                  <a:lnTo>
                    <a:pt x="7074" y="1364"/>
                  </a:lnTo>
                  <a:lnTo>
                    <a:pt x="7074" y="1394"/>
                  </a:lnTo>
                  <a:lnTo>
                    <a:pt x="7095" y="1394"/>
                  </a:lnTo>
                  <a:lnTo>
                    <a:pt x="7116" y="1394"/>
                  </a:lnTo>
                  <a:lnTo>
                    <a:pt x="7116" y="1424"/>
                  </a:lnTo>
                  <a:lnTo>
                    <a:pt x="7137" y="1424"/>
                  </a:lnTo>
                  <a:lnTo>
                    <a:pt x="7116" y="1424"/>
                  </a:lnTo>
                  <a:lnTo>
                    <a:pt x="7116" y="1394"/>
                  </a:lnTo>
                  <a:lnTo>
                    <a:pt x="7095" y="1394"/>
                  </a:lnTo>
                  <a:lnTo>
                    <a:pt x="7074" y="1394"/>
                  </a:lnTo>
                  <a:lnTo>
                    <a:pt x="7074" y="1364"/>
                  </a:lnTo>
                  <a:cubicBezTo>
                    <a:pt x="7049" y="1404"/>
                    <a:pt x="6951" y="1530"/>
                    <a:pt x="6926" y="1636"/>
                  </a:cubicBezTo>
                  <a:lnTo>
                    <a:pt x="6926" y="2000"/>
                  </a:lnTo>
                  <a:lnTo>
                    <a:pt x="7389" y="2091"/>
                  </a:lnTo>
                  <a:cubicBezTo>
                    <a:pt x="7424" y="2192"/>
                    <a:pt x="7460" y="2293"/>
                    <a:pt x="7495" y="2394"/>
                  </a:cubicBezTo>
                  <a:lnTo>
                    <a:pt x="7032" y="2606"/>
                  </a:lnTo>
                  <a:lnTo>
                    <a:pt x="6653" y="2848"/>
                  </a:lnTo>
                  <a:lnTo>
                    <a:pt x="6295" y="3061"/>
                  </a:lnTo>
                  <a:cubicBezTo>
                    <a:pt x="6260" y="3233"/>
                    <a:pt x="6224" y="3404"/>
                    <a:pt x="6189" y="3576"/>
                  </a:cubicBezTo>
                  <a:lnTo>
                    <a:pt x="5621" y="3667"/>
                  </a:lnTo>
                  <a:lnTo>
                    <a:pt x="5053" y="4182"/>
                  </a:lnTo>
                  <a:lnTo>
                    <a:pt x="4526" y="3818"/>
                  </a:lnTo>
                  <a:lnTo>
                    <a:pt x="3895" y="3727"/>
                  </a:lnTo>
                  <a:lnTo>
                    <a:pt x="3432" y="3061"/>
                  </a:lnTo>
                  <a:lnTo>
                    <a:pt x="2758" y="2758"/>
                  </a:lnTo>
                  <a:cubicBezTo>
                    <a:pt x="2737" y="2505"/>
                    <a:pt x="2716" y="2253"/>
                    <a:pt x="2695" y="2000"/>
                  </a:cubicBezTo>
                  <a:lnTo>
                    <a:pt x="2379" y="1788"/>
                  </a:lnTo>
                  <a:cubicBezTo>
                    <a:pt x="2365" y="1768"/>
                    <a:pt x="2351" y="1747"/>
                    <a:pt x="2337" y="1727"/>
                  </a:cubicBezTo>
                  <a:cubicBezTo>
                    <a:pt x="2330" y="1737"/>
                    <a:pt x="2323" y="1748"/>
                    <a:pt x="2316" y="1758"/>
                  </a:cubicBezTo>
                  <a:lnTo>
                    <a:pt x="2295" y="1818"/>
                  </a:lnTo>
                  <a:lnTo>
                    <a:pt x="2295" y="1848"/>
                  </a:lnTo>
                  <a:lnTo>
                    <a:pt x="2295" y="1879"/>
                  </a:lnTo>
                  <a:lnTo>
                    <a:pt x="2295" y="1848"/>
                  </a:lnTo>
                  <a:lnTo>
                    <a:pt x="2295" y="1818"/>
                  </a:lnTo>
                  <a:cubicBezTo>
                    <a:pt x="2309" y="1788"/>
                    <a:pt x="2323" y="1757"/>
                    <a:pt x="2337" y="1727"/>
                  </a:cubicBezTo>
                  <a:cubicBezTo>
                    <a:pt x="2323" y="1697"/>
                    <a:pt x="2309" y="1666"/>
                    <a:pt x="2295" y="1636"/>
                  </a:cubicBezTo>
                  <a:lnTo>
                    <a:pt x="2189" y="1727"/>
                  </a:lnTo>
                  <a:lnTo>
                    <a:pt x="2189" y="1879"/>
                  </a:lnTo>
                  <a:lnTo>
                    <a:pt x="2189" y="1727"/>
                  </a:lnTo>
                  <a:lnTo>
                    <a:pt x="2021" y="1788"/>
                  </a:lnTo>
                  <a:lnTo>
                    <a:pt x="1916" y="2242"/>
                  </a:lnTo>
                  <a:lnTo>
                    <a:pt x="1495" y="2152"/>
                  </a:lnTo>
                  <a:cubicBezTo>
                    <a:pt x="1460" y="2404"/>
                    <a:pt x="1424" y="2657"/>
                    <a:pt x="1389" y="2909"/>
                  </a:cubicBezTo>
                  <a:lnTo>
                    <a:pt x="1032" y="3000"/>
                  </a:lnTo>
                  <a:cubicBezTo>
                    <a:pt x="997" y="3293"/>
                    <a:pt x="961" y="3586"/>
                    <a:pt x="926" y="3879"/>
                  </a:cubicBezTo>
                  <a:lnTo>
                    <a:pt x="716" y="4182"/>
                  </a:lnTo>
                  <a:lnTo>
                    <a:pt x="463" y="4485"/>
                  </a:lnTo>
                  <a:lnTo>
                    <a:pt x="42" y="4636"/>
                  </a:lnTo>
                  <a:lnTo>
                    <a:pt x="0" y="4939"/>
                  </a:lnTo>
                  <a:lnTo>
                    <a:pt x="105" y="5061"/>
                  </a:lnTo>
                  <a:cubicBezTo>
                    <a:pt x="119" y="5142"/>
                    <a:pt x="133" y="5222"/>
                    <a:pt x="147" y="5303"/>
                  </a:cubicBezTo>
                  <a:lnTo>
                    <a:pt x="42" y="5364"/>
                  </a:lnTo>
                  <a:lnTo>
                    <a:pt x="147" y="5515"/>
                  </a:lnTo>
                  <a:lnTo>
                    <a:pt x="316" y="5606"/>
                  </a:lnTo>
                  <a:lnTo>
                    <a:pt x="463" y="5909"/>
                  </a:lnTo>
                  <a:lnTo>
                    <a:pt x="674" y="5909"/>
                  </a:lnTo>
                  <a:lnTo>
                    <a:pt x="989" y="5909"/>
                  </a:lnTo>
                  <a:cubicBezTo>
                    <a:pt x="1003" y="5949"/>
                    <a:pt x="1018" y="5990"/>
                    <a:pt x="1032" y="6030"/>
                  </a:cubicBezTo>
                  <a:cubicBezTo>
                    <a:pt x="962" y="6182"/>
                    <a:pt x="891" y="6333"/>
                    <a:pt x="821" y="6485"/>
                  </a:cubicBezTo>
                  <a:cubicBezTo>
                    <a:pt x="842" y="6566"/>
                    <a:pt x="863" y="6646"/>
                    <a:pt x="884" y="6727"/>
                  </a:cubicBezTo>
                  <a:lnTo>
                    <a:pt x="779" y="6939"/>
                  </a:lnTo>
                  <a:lnTo>
                    <a:pt x="884" y="7242"/>
                  </a:lnTo>
                  <a:lnTo>
                    <a:pt x="1137" y="7394"/>
                  </a:lnTo>
                  <a:cubicBezTo>
                    <a:pt x="1123" y="7414"/>
                    <a:pt x="1109" y="7435"/>
                    <a:pt x="1095" y="7455"/>
                  </a:cubicBezTo>
                  <a:lnTo>
                    <a:pt x="1200" y="7455"/>
                  </a:lnTo>
                  <a:lnTo>
                    <a:pt x="1558" y="7697"/>
                  </a:lnTo>
                  <a:lnTo>
                    <a:pt x="1874" y="7909"/>
                  </a:lnTo>
                  <a:lnTo>
                    <a:pt x="2189" y="8000"/>
                  </a:lnTo>
                  <a:lnTo>
                    <a:pt x="2295" y="8121"/>
                  </a:lnTo>
                  <a:lnTo>
                    <a:pt x="2379" y="8121"/>
                  </a:lnTo>
                  <a:lnTo>
                    <a:pt x="2547" y="8273"/>
                  </a:lnTo>
                  <a:lnTo>
                    <a:pt x="2758" y="8273"/>
                  </a:lnTo>
                  <a:lnTo>
                    <a:pt x="2968" y="8273"/>
                  </a:lnTo>
                  <a:cubicBezTo>
                    <a:pt x="3017" y="8182"/>
                    <a:pt x="3067" y="8091"/>
                    <a:pt x="3116" y="8000"/>
                  </a:cubicBezTo>
                  <a:lnTo>
                    <a:pt x="3326" y="7758"/>
                  </a:lnTo>
                  <a:lnTo>
                    <a:pt x="3579" y="7758"/>
                  </a:lnTo>
                  <a:lnTo>
                    <a:pt x="3789" y="8000"/>
                  </a:lnTo>
                  <a:lnTo>
                    <a:pt x="3895" y="8000"/>
                  </a:lnTo>
                  <a:lnTo>
                    <a:pt x="4000" y="8061"/>
                  </a:lnTo>
                  <a:lnTo>
                    <a:pt x="4063" y="8424"/>
                  </a:lnTo>
                  <a:lnTo>
                    <a:pt x="3958" y="8879"/>
                  </a:lnTo>
                  <a:lnTo>
                    <a:pt x="3958" y="9030"/>
                  </a:lnTo>
                  <a:lnTo>
                    <a:pt x="4105" y="9091"/>
                  </a:lnTo>
                  <a:cubicBezTo>
                    <a:pt x="4140" y="9172"/>
                    <a:pt x="4176" y="9252"/>
                    <a:pt x="4211" y="9333"/>
                  </a:cubicBezTo>
                  <a:lnTo>
                    <a:pt x="4211" y="9485"/>
                  </a:lnTo>
                  <a:lnTo>
                    <a:pt x="4463" y="9636"/>
                  </a:lnTo>
                  <a:cubicBezTo>
                    <a:pt x="4449" y="9656"/>
                    <a:pt x="4435" y="9677"/>
                    <a:pt x="4421" y="9697"/>
                  </a:cubicBezTo>
                  <a:lnTo>
                    <a:pt x="4674" y="9636"/>
                  </a:lnTo>
                  <a:lnTo>
                    <a:pt x="4737" y="9333"/>
                  </a:lnTo>
                  <a:lnTo>
                    <a:pt x="5263" y="9333"/>
                  </a:lnTo>
                  <a:cubicBezTo>
                    <a:pt x="5326" y="9404"/>
                    <a:pt x="5390" y="9474"/>
                    <a:pt x="5453" y="9545"/>
                  </a:cubicBezTo>
                  <a:lnTo>
                    <a:pt x="5516" y="9788"/>
                  </a:lnTo>
                  <a:lnTo>
                    <a:pt x="5621" y="9697"/>
                  </a:lnTo>
                  <a:lnTo>
                    <a:pt x="5979" y="10000"/>
                  </a:lnTo>
                  <a:lnTo>
                    <a:pt x="5979" y="9788"/>
                  </a:lnTo>
                  <a:lnTo>
                    <a:pt x="6400" y="9545"/>
                  </a:lnTo>
                  <a:lnTo>
                    <a:pt x="6442" y="9485"/>
                  </a:lnTo>
                  <a:lnTo>
                    <a:pt x="6547" y="9394"/>
                  </a:lnTo>
                  <a:lnTo>
                    <a:pt x="6653" y="9485"/>
                  </a:lnTo>
                  <a:lnTo>
                    <a:pt x="6863" y="9333"/>
                  </a:lnTo>
                  <a:lnTo>
                    <a:pt x="7137" y="9091"/>
                  </a:lnTo>
                  <a:lnTo>
                    <a:pt x="7389" y="8818"/>
                  </a:lnTo>
                  <a:cubicBezTo>
                    <a:pt x="7424" y="8717"/>
                    <a:pt x="7460" y="8616"/>
                    <a:pt x="7495" y="8515"/>
                  </a:cubicBezTo>
                  <a:lnTo>
                    <a:pt x="7642" y="8212"/>
                  </a:lnTo>
                  <a:cubicBezTo>
                    <a:pt x="7698" y="8061"/>
                    <a:pt x="7755" y="7909"/>
                    <a:pt x="7811" y="7758"/>
                  </a:cubicBezTo>
                  <a:lnTo>
                    <a:pt x="7811" y="7545"/>
                  </a:lnTo>
                  <a:cubicBezTo>
                    <a:pt x="7790" y="7495"/>
                    <a:pt x="7768" y="7444"/>
                    <a:pt x="7747" y="7394"/>
                  </a:cubicBezTo>
                  <a:cubicBezTo>
                    <a:pt x="7768" y="7313"/>
                    <a:pt x="7790" y="7233"/>
                    <a:pt x="7811" y="7152"/>
                  </a:cubicBezTo>
                  <a:cubicBezTo>
                    <a:pt x="7790" y="7061"/>
                    <a:pt x="7768" y="6970"/>
                    <a:pt x="7747" y="6879"/>
                  </a:cubicBezTo>
                  <a:lnTo>
                    <a:pt x="7495" y="6121"/>
                  </a:lnTo>
                  <a:cubicBezTo>
                    <a:pt x="7509" y="6091"/>
                    <a:pt x="7523" y="6060"/>
                    <a:pt x="7537" y="6030"/>
                  </a:cubicBezTo>
                  <a:lnTo>
                    <a:pt x="7747" y="5667"/>
                  </a:lnTo>
                  <a:lnTo>
                    <a:pt x="7916" y="5606"/>
                  </a:lnTo>
                  <a:lnTo>
                    <a:pt x="7937" y="5576"/>
                  </a:lnTo>
                  <a:lnTo>
                    <a:pt x="7937" y="5515"/>
                  </a:lnTo>
                  <a:lnTo>
                    <a:pt x="7916" y="5455"/>
                  </a:lnTo>
                  <a:lnTo>
                    <a:pt x="7642" y="5364"/>
                  </a:lnTo>
                  <a:lnTo>
                    <a:pt x="7495" y="5455"/>
                  </a:lnTo>
                  <a:lnTo>
                    <a:pt x="7389" y="5364"/>
                  </a:lnTo>
                  <a:lnTo>
                    <a:pt x="7284" y="5152"/>
                  </a:lnTo>
                  <a:lnTo>
                    <a:pt x="7179" y="5000"/>
                  </a:lnTo>
                  <a:lnTo>
                    <a:pt x="7432" y="4848"/>
                  </a:lnTo>
                  <a:lnTo>
                    <a:pt x="7600" y="4636"/>
                  </a:lnTo>
                  <a:lnTo>
                    <a:pt x="7853" y="4394"/>
                  </a:lnTo>
                  <a:lnTo>
                    <a:pt x="7958" y="4394"/>
                  </a:lnTo>
                  <a:lnTo>
                    <a:pt x="7811" y="4697"/>
                  </a:lnTo>
                  <a:lnTo>
                    <a:pt x="7916" y="4848"/>
                  </a:lnTo>
                  <a:lnTo>
                    <a:pt x="8021" y="4788"/>
                  </a:lnTo>
                  <a:lnTo>
                    <a:pt x="8274" y="4636"/>
                  </a:lnTo>
                  <a:lnTo>
                    <a:pt x="8337" y="4303"/>
                  </a:lnTo>
                  <a:lnTo>
                    <a:pt x="8484" y="4121"/>
                  </a:lnTo>
                  <a:cubicBezTo>
                    <a:pt x="8533" y="4172"/>
                    <a:pt x="8583" y="4222"/>
                    <a:pt x="8632" y="4273"/>
                  </a:cubicBezTo>
                  <a:lnTo>
                    <a:pt x="8611" y="3970"/>
                  </a:lnTo>
                  <a:lnTo>
                    <a:pt x="8821" y="3788"/>
                  </a:lnTo>
                  <a:lnTo>
                    <a:pt x="9095" y="3848"/>
                  </a:lnTo>
                  <a:lnTo>
                    <a:pt x="9221" y="3727"/>
                  </a:lnTo>
                  <a:lnTo>
                    <a:pt x="9368" y="3818"/>
                  </a:lnTo>
                  <a:cubicBezTo>
                    <a:pt x="9403" y="3545"/>
                    <a:pt x="9439" y="3273"/>
                    <a:pt x="9474" y="3000"/>
                  </a:cubicBezTo>
                  <a:lnTo>
                    <a:pt x="9726" y="2909"/>
                  </a:lnTo>
                  <a:cubicBezTo>
                    <a:pt x="9817" y="2535"/>
                    <a:pt x="9909" y="2162"/>
                    <a:pt x="10000" y="1788"/>
                  </a:cubicBezTo>
                  <a:lnTo>
                    <a:pt x="9368" y="1788"/>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64" name="Freeform 161">
              <a:extLst>
                <a:ext uri="{FF2B5EF4-FFF2-40B4-BE49-F238E27FC236}">
                  <a16:creationId xmlns:a16="http://schemas.microsoft.com/office/drawing/2014/main" id="{2F42D478-5AD2-BCEB-085F-A04431EFC0E3}"/>
                </a:ext>
              </a:extLst>
            </p:cNvPr>
            <p:cNvSpPr>
              <a:spLocks/>
            </p:cNvSpPr>
            <p:nvPr/>
          </p:nvSpPr>
          <p:spPr bwMode="auto">
            <a:xfrm>
              <a:off x="7651979" y="4530540"/>
              <a:ext cx="68462" cy="81509"/>
            </a:xfrm>
            <a:custGeom>
              <a:avLst/>
              <a:gdLst>
                <a:gd name="T0" fmla="*/ 2147483647 w 42"/>
                <a:gd name="T1" fmla="*/ 0 h 54"/>
                <a:gd name="T2" fmla="*/ 0 w 42"/>
                <a:gd name="T3" fmla="*/ 2147483647 h 54"/>
                <a:gd name="T4" fmla="*/ 2147483647 w 42"/>
                <a:gd name="T5" fmla="*/ 2147483647 h 54"/>
                <a:gd name="T6" fmla="*/ 2147483647 w 42"/>
                <a:gd name="T7" fmla="*/ 2147483647 h 54"/>
                <a:gd name="T8" fmla="*/ 2147483647 w 42"/>
                <a:gd name="T9" fmla="*/ 2147483647 h 54"/>
                <a:gd name="T10" fmla="*/ 2147483647 w 42"/>
                <a:gd name="T11" fmla="*/ 0 h 5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 h="54">
                  <a:moveTo>
                    <a:pt x="6" y="0"/>
                  </a:moveTo>
                  <a:lnTo>
                    <a:pt x="0" y="24"/>
                  </a:lnTo>
                  <a:lnTo>
                    <a:pt x="6" y="54"/>
                  </a:lnTo>
                  <a:lnTo>
                    <a:pt x="30" y="54"/>
                  </a:lnTo>
                  <a:lnTo>
                    <a:pt x="42" y="30"/>
                  </a:lnTo>
                  <a:lnTo>
                    <a:pt x="6"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65" name="Freeform 162">
              <a:extLst>
                <a:ext uri="{FF2B5EF4-FFF2-40B4-BE49-F238E27FC236}">
                  <a16:creationId xmlns:a16="http://schemas.microsoft.com/office/drawing/2014/main" id="{95BFF9F5-6030-D2D4-3968-C9DFD392EB1D}"/>
                </a:ext>
              </a:extLst>
            </p:cNvPr>
            <p:cNvSpPr>
              <a:spLocks/>
            </p:cNvSpPr>
            <p:nvPr/>
          </p:nvSpPr>
          <p:spPr bwMode="auto">
            <a:xfrm>
              <a:off x="8633268" y="3908800"/>
              <a:ext cx="64659" cy="64449"/>
            </a:xfrm>
            <a:custGeom>
              <a:avLst/>
              <a:gdLst>
                <a:gd name="T0" fmla="*/ 0 w 42"/>
                <a:gd name="T1" fmla="*/ 2147483647 h 42"/>
                <a:gd name="T2" fmla="*/ 2147483647 w 42"/>
                <a:gd name="T3" fmla="*/ 2147483647 h 42"/>
                <a:gd name="T4" fmla="*/ 2147483647 w 42"/>
                <a:gd name="T5" fmla="*/ 0 h 42"/>
                <a:gd name="T6" fmla="*/ 2147483647 w 42"/>
                <a:gd name="T7" fmla="*/ 2147483647 h 42"/>
                <a:gd name="T8" fmla="*/ 2147483647 w 42"/>
                <a:gd name="T9" fmla="*/ 2147483647 h 42"/>
                <a:gd name="T10" fmla="*/ 2147483647 w 42"/>
                <a:gd name="T11" fmla="*/ 2147483647 h 42"/>
                <a:gd name="T12" fmla="*/ 0 w 42"/>
                <a:gd name="T13" fmla="*/ 2147483647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 h="42">
                  <a:moveTo>
                    <a:pt x="0" y="30"/>
                  </a:moveTo>
                  <a:lnTo>
                    <a:pt x="12" y="12"/>
                  </a:lnTo>
                  <a:lnTo>
                    <a:pt x="30" y="0"/>
                  </a:lnTo>
                  <a:lnTo>
                    <a:pt x="42" y="12"/>
                  </a:lnTo>
                  <a:lnTo>
                    <a:pt x="30" y="30"/>
                  </a:lnTo>
                  <a:lnTo>
                    <a:pt x="12" y="42"/>
                  </a:lnTo>
                  <a:lnTo>
                    <a:pt x="0" y="3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66" name="Freeform 163">
              <a:extLst>
                <a:ext uri="{FF2B5EF4-FFF2-40B4-BE49-F238E27FC236}">
                  <a16:creationId xmlns:a16="http://schemas.microsoft.com/office/drawing/2014/main" id="{758A2CAD-7ACF-3091-89F7-6F61C0BEF191}"/>
                </a:ext>
              </a:extLst>
            </p:cNvPr>
            <p:cNvSpPr>
              <a:spLocks/>
            </p:cNvSpPr>
            <p:nvPr/>
          </p:nvSpPr>
          <p:spPr bwMode="auto">
            <a:xfrm>
              <a:off x="8981283" y="3749574"/>
              <a:ext cx="38034" cy="111838"/>
            </a:xfrm>
            <a:custGeom>
              <a:avLst/>
              <a:gdLst>
                <a:gd name="T0" fmla="*/ 0 w 24"/>
                <a:gd name="T1" fmla="*/ 2147483647 h 72"/>
                <a:gd name="T2" fmla="*/ 0 w 24"/>
                <a:gd name="T3" fmla="*/ 2147483647 h 72"/>
                <a:gd name="T4" fmla="*/ 2147483647 w 24"/>
                <a:gd name="T5" fmla="*/ 0 h 72"/>
                <a:gd name="T6" fmla="*/ 2147483647 w 24"/>
                <a:gd name="T7" fmla="*/ 2147483647 h 72"/>
                <a:gd name="T8" fmla="*/ 2147483647 w 24"/>
                <a:gd name="T9" fmla="*/ 2147483647 h 72"/>
                <a:gd name="T10" fmla="*/ 0 w 24"/>
                <a:gd name="T11" fmla="*/ 2147483647 h 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 h="72">
                  <a:moveTo>
                    <a:pt x="0" y="42"/>
                  </a:moveTo>
                  <a:lnTo>
                    <a:pt x="0" y="18"/>
                  </a:lnTo>
                  <a:lnTo>
                    <a:pt x="24" y="0"/>
                  </a:lnTo>
                  <a:lnTo>
                    <a:pt x="24" y="24"/>
                  </a:lnTo>
                  <a:lnTo>
                    <a:pt x="6" y="72"/>
                  </a:lnTo>
                  <a:lnTo>
                    <a:pt x="0" y="42"/>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67" name="Freeform 164">
              <a:extLst>
                <a:ext uri="{FF2B5EF4-FFF2-40B4-BE49-F238E27FC236}">
                  <a16:creationId xmlns:a16="http://schemas.microsoft.com/office/drawing/2014/main" id="{64A84C36-AA8F-C168-C37C-16DDD2F789AC}"/>
                </a:ext>
              </a:extLst>
            </p:cNvPr>
            <p:cNvSpPr>
              <a:spLocks/>
            </p:cNvSpPr>
            <p:nvPr/>
          </p:nvSpPr>
          <p:spPr bwMode="auto">
            <a:xfrm>
              <a:off x="9262738" y="3459555"/>
              <a:ext cx="55151" cy="83404"/>
            </a:xfrm>
            <a:custGeom>
              <a:avLst/>
              <a:gdLst>
                <a:gd name="T0" fmla="*/ 0 w 36"/>
                <a:gd name="T1" fmla="*/ 2147483647 h 54"/>
                <a:gd name="T2" fmla="*/ 2147483647 w 36"/>
                <a:gd name="T3" fmla="*/ 2147483647 h 54"/>
                <a:gd name="T4" fmla="*/ 2147483647 w 36"/>
                <a:gd name="T5" fmla="*/ 2147483647 h 54"/>
                <a:gd name="T6" fmla="*/ 2147483647 w 36"/>
                <a:gd name="T7" fmla="*/ 2147483647 h 54"/>
                <a:gd name="T8" fmla="*/ 2147483647 w 36"/>
                <a:gd name="T9" fmla="*/ 2147483647 h 54"/>
                <a:gd name="T10" fmla="*/ 2147483647 w 36"/>
                <a:gd name="T11" fmla="*/ 0 h 54"/>
                <a:gd name="T12" fmla="*/ 0 w 36"/>
                <a:gd name="T13" fmla="*/ 2147483647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6" h="54">
                  <a:moveTo>
                    <a:pt x="0" y="18"/>
                  </a:moveTo>
                  <a:lnTo>
                    <a:pt x="6" y="36"/>
                  </a:lnTo>
                  <a:lnTo>
                    <a:pt x="12" y="54"/>
                  </a:lnTo>
                  <a:lnTo>
                    <a:pt x="30" y="42"/>
                  </a:lnTo>
                  <a:lnTo>
                    <a:pt x="36" y="18"/>
                  </a:lnTo>
                  <a:lnTo>
                    <a:pt x="30" y="0"/>
                  </a:lnTo>
                  <a:lnTo>
                    <a:pt x="0" y="18"/>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68" name="Freeform 165">
              <a:extLst>
                <a:ext uri="{FF2B5EF4-FFF2-40B4-BE49-F238E27FC236}">
                  <a16:creationId xmlns:a16="http://schemas.microsoft.com/office/drawing/2014/main" id="{4D1F6B29-0F76-8E43-CB19-729C235923FF}"/>
                </a:ext>
              </a:extLst>
            </p:cNvPr>
            <p:cNvSpPr>
              <a:spLocks/>
            </p:cNvSpPr>
            <p:nvPr/>
          </p:nvSpPr>
          <p:spPr bwMode="auto">
            <a:xfrm>
              <a:off x="9329299" y="3031161"/>
              <a:ext cx="412673" cy="447350"/>
            </a:xfrm>
            <a:custGeom>
              <a:avLst/>
              <a:gdLst>
                <a:gd name="T0" fmla="*/ 2147483647 w 264"/>
                <a:gd name="T1" fmla="*/ 2147483647 h 289"/>
                <a:gd name="T2" fmla="*/ 2147483647 w 264"/>
                <a:gd name="T3" fmla="*/ 2147483647 h 289"/>
                <a:gd name="T4" fmla="*/ 2147483647 w 264"/>
                <a:gd name="T5" fmla="*/ 2147483647 h 289"/>
                <a:gd name="T6" fmla="*/ 2147483647 w 264"/>
                <a:gd name="T7" fmla="*/ 2147483647 h 289"/>
                <a:gd name="T8" fmla="*/ 2147483647 w 264"/>
                <a:gd name="T9" fmla="*/ 2147483647 h 289"/>
                <a:gd name="T10" fmla="*/ 2147483647 w 264"/>
                <a:gd name="T11" fmla="*/ 2147483647 h 289"/>
                <a:gd name="T12" fmla="*/ 2147483647 w 264"/>
                <a:gd name="T13" fmla="*/ 2147483647 h 289"/>
                <a:gd name="T14" fmla="*/ 2147483647 w 264"/>
                <a:gd name="T15" fmla="*/ 2147483647 h 289"/>
                <a:gd name="T16" fmla="*/ 2147483647 w 264"/>
                <a:gd name="T17" fmla="*/ 2147483647 h 289"/>
                <a:gd name="T18" fmla="*/ 2147483647 w 264"/>
                <a:gd name="T19" fmla="*/ 2147483647 h 289"/>
                <a:gd name="T20" fmla="*/ 2147483647 w 264"/>
                <a:gd name="T21" fmla="*/ 0 h 289"/>
                <a:gd name="T22" fmla="*/ 2147483647 w 264"/>
                <a:gd name="T23" fmla="*/ 2147483647 h 289"/>
                <a:gd name="T24" fmla="*/ 2147483647 w 264"/>
                <a:gd name="T25" fmla="*/ 2147483647 h 289"/>
                <a:gd name="T26" fmla="*/ 2147483647 w 264"/>
                <a:gd name="T27" fmla="*/ 2147483647 h 289"/>
                <a:gd name="T28" fmla="*/ 2147483647 w 264"/>
                <a:gd name="T29" fmla="*/ 2147483647 h 289"/>
                <a:gd name="T30" fmla="*/ 2147483647 w 264"/>
                <a:gd name="T31" fmla="*/ 2147483647 h 289"/>
                <a:gd name="T32" fmla="*/ 2147483647 w 264"/>
                <a:gd name="T33" fmla="*/ 2147483647 h 289"/>
                <a:gd name="T34" fmla="*/ 2147483647 w 264"/>
                <a:gd name="T35" fmla="*/ 2147483647 h 289"/>
                <a:gd name="T36" fmla="*/ 2147483647 w 264"/>
                <a:gd name="T37" fmla="*/ 2147483647 h 289"/>
                <a:gd name="T38" fmla="*/ 2147483647 w 264"/>
                <a:gd name="T39" fmla="*/ 2147483647 h 289"/>
                <a:gd name="T40" fmla="*/ 2147483647 w 264"/>
                <a:gd name="T41" fmla="*/ 2147483647 h 289"/>
                <a:gd name="T42" fmla="*/ 2147483647 w 264"/>
                <a:gd name="T43" fmla="*/ 2147483647 h 289"/>
                <a:gd name="T44" fmla="*/ 2147483647 w 264"/>
                <a:gd name="T45" fmla="*/ 2147483647 h 289"/>
                <a:gd name="T46" fmla="*/ 2147483647 w 264"/>
                <a:gd name="T47" fmla="*/ 2147483647 h 289"/>
                <a:gd name="T48" fmla="*/ 2147483647 w 264"/>
                <a:gd name="T49" fmla="*/ 2147483647 h 289"/>
                <a:gd name="T50" fmla="*/ 2147483647 w 264"/>
                <a:gd name="T51" fmla="*/ 2147483647 h 289"/>
                <a:gd name="T52" fmla="*/ 2147483647 w 264"/>
                <a:gd name="T53" fmla="*/ 2147483647 h 289"/>
                <a:gd name="T54" fmla="*/ 2147483647 w 264"/>
                <a:gd name="T55" fmla="*/ 2147483647 h 289"/>
                <a:gd name="T56" fmla="*/ 2147483647 w 264"/>
                <a:gd name="T57" fmla="*/ 2147483647 h 289"/>
                <a:gd name="T58" fmla="*/ 2147483647 w 264"/>
                <a:gd name="T59" fmla="*/ 2147483647 h 289"/>
                <a:gd name="T60" fmla="*/ 2147483647 w 264"/>
                <a:gd name="T61" fmla="*/ 2147483647 h 289"/>
                <a:gd name="T62" fmla="*/ 2147483647 w 264"/>
                <a:gd name="T63" fmla="*/ 2147483647 h 289"/>
                <a:gd name="T64" fmla="*/ 2147483647 w 264"/>
                <a:gd name="T65" fmla="*/ 2147483647 h 289"/>
                <a:gd name="T66" fmla="*/ 0 w 264"/>
                <a:gd name="T67" fmla="*/ 2147483647 h 289"/>
                <a:gd name="T68" fmla="*/ 2147483647 w 264"/>
                <a:gd name="T69" fmla="*/ 2147483647 h 28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264" h="289">
                  <a:moveTo>
                    <a:pt x="6" y="247"/>
                  </a:moveTo>
                  <a:lnTo>
                    <a:pt x="42" y="235"/>
                  </a:lnTo>
                  <a:lnTo>
                    <a:pt x="66" y="235"/>
                  </a:lnTo>
                  <a:lnTo>
                    <a:pt x="108" y="199"/>
                  </a:lnTo>
                  <a:lnTo>
                    <a:pt x="138" y="187"/>
                  </a:lnTo>
                  <a:lnTo>
                    <a:pt x="144" y="157"/>
                  </a:lnTo>
                  <a:lnTo>
                    <a:pt x="156" y="109"/>
                  </a:lnTo>
                  <a:lnTo>
                    <a:pt x="156" y="72"/>
                  </a:lnTo>
                  <a:lnTo>
                    <a:pt x="174" y="48"/>
                  </a:lnTo>
                  <a:lnTo>
                    <a:pt x="174" y="18"/>
                  </a:lnTo>
                  <a:lnTo>
                    <a:pt x="186" y="0"/>
                  </a:lnTo>
                  <a:lnTo>
                    <a:pt x="210" y="18"/>
                  </a:lnTo>
                  <a:lnTo>
                    <a:pt x="246" y="30"/>
                  </a:lnTo>
                  <a:lnTo>
                    <a:pt x="264" y="30"/>
                  </a:lnTo>
                  <a:lnTo>
                    <a:pt x="240" y="54"/>
                  </a:lnTo>
                  <a:lnTo>
                    <a:pt x="222" y="66"/>
                  </a:lnTo>
                  <a:lnTo>
                    <a:pt x="210" y="85"/>
                  </a:lnTo>
                  <a:lnTo>
                    <a:pt x="180" y="60"/>
                  </a:lnTo>
                  <a:lnTo>
                    <a:pt x="162" y="97"/>
                  </a:lnTo>
                  <a:lnTo>
                    <a:pt x="186" y="139"/>
                  </a:lnTo>
                  <a:lnTo>
                    <a:pt x="168" y="169"/>
                  </a:lnTo>
                  <a:lnTo>
                    <a:pt x="162" y="193"/>
                  </a:lnTo>
                  <a:lnTo>
                    <a:pt x="162" y="235"/>
                  </a:lnTo>
                  <a:lnTo>
                    <a:pt x="150" y="247"/>
                  </a:lnTo>
                  <a:lnTo>
                    <a:pt x="138" y="241"/>
                  </a:lnTo>
                  <a:lnTo>
                    <a:pt x="126" y="247"/>
                  </a:lnTo>
                  <a:lnTo>
                    <a:pt x="102" y="247"/>
                  </a:lnTo>
                  <a:lnTo>
                    <a:pt x="90" y="247"/>
                  </a:lnTo>
                  <a:lnTo>
                    <a:pt x="66" y="271"/>
                  </a:lnTo>
                  <a:lnTo>
                    <a:pt x="60" y="259"/>
                  </a:lnTo>
                  <a:lnTo>
                    <a:pt x="48" y="265"/>
                  </a:lnTo>
                  <a:lnTo>
                    <a:pt x="36" y="271"/>
                  </a:lnTo>
                  <a:lnTo>
                    <a:pt x="12" y="289"/>
                  </a:lnTo>
                  <a:lnTo>
                    <a:pt x="0" y="259"/>
                  </a:lnTo>
                  <a:lnTo>
                    <a:pt x="6" y="247"/>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69" name="Freeform 166">
              <a:extLst>
                <a:ext uri="{FF2B5EF4-FFF2-40B4-BE49-F238E27FC236}">
                  <a16:creationId xmlns:a16="http://schemas.microsoft.com/office/drawing/2014/main" id="{9CBA81B9-A626-0012-511F-BB7CDA89B3B1}"/>
                </a:ext>
              </a:extLst>
            </p:cNvPr>
            <p:cNvSpPr>
              <a:spLocks/>
            </p:cNvSpPr>
            <p:nvPr/>
          </p:nvSpPr>
          <p:spPr bwMode="auto">
            <a:xfrm>
              <a:off x="9620262" y="2619826"/>
              <a:ext cx="74168" cy="365842"/>
            </a:xfrm>
            <a:custGeom>
              <a:avLst/>
              <a:gdLst>
                <a:gd name="T0" fmla="*/ 2147483647 w 48"/>
                <a:gd name="T1" fmla="*/ 2147483647 h 234"/>
                <a:gd name="T2" fmla="*/ 2147483647 w 48"/>
                <a:gd name="T3" fmla="*/ 2147483647 h 234"/>
                <a:gd name="T4" fmla="*/ 2147483647 w 48"/>
                <a:gd name="T5" fmla="*/ 2147483647 h 234"/>
                <a:gd name="T6" fmla="*/ 0 w 48"/>
                <a:gd name="T7" fmla="*/ 2147483647 h 234"/>
                <a:gd name="T8" fmla="*/ 2147483647 w 48"/>
                <a:gd name="T9" fmla="*/ 2147483647 h 234"/>
                <a:gd name="T10" fmla="*/ 2147483647 w 48"/>
                <a:gd name="T11" fmla="*/ 0 h 234"/>
                <a:gd name="T12" fmla="*/ 2147483647 w 48"/>
                <a:gd name="T13" fmla="*/ 2147483647 h 234"/>
                <a:gd name="T14" fmla="*/ 2147483647 w 48"/>
                <a:gd name="T15" fmla="*/ 2147483647 h 234"/>
                <a:gd name="T16" fmla="*/ 2147483647 w 48"/>
                <a:gd name="T17" fmla="*/ 2147483647 h 234"/>
                <a:gd name="T18" fmla="*/ 2147483647 w 48"/>
                <a:gd name="T19" fmla="*/ 2147483647 h 234"/>
                <a:gd name="T20" fmla="*/ 2147483647 w 48"/>
                <a:gd name="T21" fmla="*/ 2147483647 h 234"/>
                <a:gd name="T22" fmla="*/ 2147483647 w 48"/>
                <a:gd name="T23" fmla="*/ 2147483647 h 234"/>
                <a:gd name="T24" fmla="*/ 2147483647 w 48"/>
                <a:gd name="T25" fmla="*/ 2147483647 h 234"/>
                <a:gd name="T26" fmla="*/ 2147483647 w 48"/>
                <a:gd name="T27" fmla="*/ 2147483647 h 23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8" h="234">
                  <a:moveTo>
                    <a:pt x="12" y="222"/>
                  </a:moveTo>
                  <a:lnTo>
                    <a:pt x="12" y="180"/>
                  </a:lnTo>
                  <a:lnTo>
                    <a:pt x="6" y="90"/>
                  </a:lnTo>
                  <a:lnTo>
                    <a:pt x="0" y="66"/>
                  </a:lnTo>
                  <a:lnTo>
                    <a:pt x="6" y="30"/>
                  </a:lnTo>
                  <a:lnTo>
                    <a:pt x="12" y="0"/>
                  </a:lnTo>
                  <a:lnTo>
                    <a:pt x="24" y="36"/>
                  </a:lnTo>
                  <a:lnTo>
                    <a:pt x="24" y="60"/>
                  </a:lnTo>
                  <a:lnTo>
                    <a:pt x="48" y="156"/>
                  </a:lnTo>
                  <a:lnTo>
                    <a:pt x="30" y="144"/>
                  </a:lnTo>
                  <a:lnTo>
                    <a:pt x="24" y="168"/>
                  </a:lnTo>
                  <a:lnTo>
                    <a:pt x="24" y="198"/>
                  </a:lnTo>
                  <a:lnTo>
                    <a:pt x="42" y="234"/>
                  </a:lnTo>
                  <a:lnTo>
                    <a:pt x="12" y="222"/>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70" name="Freeform 167">
              <a:extLst>
                <a:ext uri="{FF2B5EF4-FFF2-40B4-BE49-F238E27FC236}">
                  <a16:creationId xmlns:a16="http://schemas.microsoft.com/office/drawing/2014/main" id="{1825CE1B-3C94-2BB9-D243-C19C0AEF0243}"/>
                </a:ext>
              </a:extLst>
            </p:cNvPr>
            <p:cNvSpPr>
              <a:spLocks/>
            </p:cNvSpPr>
            <p:nvPr/>
          </p:nvSpPr>
          <p:spPr bwMode="auto">
            <a:xfrm>
              <a:off x="8960365" y="3963772"/>
              <a:ext cx="169253" cy="233152"/>
            </a:xfrm>
            <a:custGeom>
              <a:avLst/>
              <a:gdLst>
                <a:gd name="T0" fmla="*/ 2147483647 w 108"/>
                <a:gd name="T1" fmla="*/ 2147483647 h 151"/>
                <a:gd name="T2" fmla="*/ 0 w 108"/>
                <a:gd name="T3" fmla="*/ 2147483647 h 151"/>
                <a:gd name="T4" fmla="*/ 2147483647 w 108"/>
                <a:gd name="T5" fmla="*/ 2147483647 h 151"/>
                <a:gd name="T6" fmla="*/ 2147483647 w 108"/>
                <a:gd name="T7" fmla="*/ 2147483647 h 151"/>
                <a:gd name="T8" fmla="*/ 2147483647 w 108"/>
                <a:gd name="T9" fmla="*/ 2147483647 h 151"/>
                <a:gd name="T10" fmla="*/ 2147483647 w 108"/>
                <a:gd name="T11" fmla="*/ 2147483647 h 151"/>
                <a:gd name="T12" fmla="*/ 2147483647 w 108"/>
                <a:gd name="T13" fmla="*/ 2147483647 h 151"/>
                <a:gd name="T14" fmla="*/ 2147483647 w 108"/>
                <a:gd name="T15" fmla="*/ 2147483647 h 151"/>
                <a:gd name="T16" fmla="*/ 2147483647 w 108"/>
                <a:gd name="T17" fmla="*/ 2147483647 h 151"/>
                <a:gd name="T18" fmla="*/ 2147483647 w 108"/>
                <a:gd name="T19" fmla="*/ 2147483647 h 151"/>
                <a:gd name="T20" fmla="*/ 2147483647 w 108"/>
                <a:gd name="T21" fmla="*/ 2147483647 h 151"/>
                <a:gd name="T22" fmla="*/ 2147483647 w 108"/>
                <a:gd name="T23" fmla="*/ 2147483647 h 151"/>
                <a:gd name="T24" fmla="*/ 2147483647 w 108"/>
                <a:gd name="T25" fmla="*/ 2147483647 h 151"/>
                <a:gd name="T26" fmla="*/ 2147483647 w 108"/>
                <a:gd name="T27" fmla="*/ 0 h 151"/>
                <a:gd name="T28" fmla="*/ 2147483647 w 108"/>
                <a:gd name="T29" fmla="*/ 2147483647 h 15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8" h="151">
                  <a:moveTo>
                    <a:pt x="12" y="18"/>
                  </a:moveTo>
                  <a:lnTo>
                    <a:pt x="0" y="42"/>
                  </a:lnTo>
                  <a:lnTo>
                    <a:pt x="6" y="72"/>
                  </a:lnTo>
                  <a:lnTo>
                    <a:pt x="18" y="85"/>
                  </a:lnTo>
                  <a:lnTo>
                    <a:pt x="36" y="91"/>
                  </a:lnTo>
                  <a:lnTo>
                    <a:pt x="72" y="109"/>
                  </a:lnTo>
                  <a:lnTo>
                    <a:pt x="78" y="139"/>
                  </a:lnTo>
                  <a:lnTo>
                    <a:pt x="108" y="151"/>
                  </a:lnTo>
                  <a:lnTo>
                    <a:pt x="102" y="127"/>
                  </a:lnTo>
                  <a:lnTo>
                    <a:pt x="78" y="91"/>
                  </a:lnTo>
                  <a:lnTo>
                    <a:pt x="42" y="66"/>
                  </a:lnTo>
                  <a:lnTo>
                    <a:pt x="48" y="48"/>
                  </a:lnTo>
                  <a:lnTo>
                    <a:pt x="54" y="12"/>
                  </a:lnTo>
                  <a:lnTo>
                    <a:pt x="30" y="0"/>
                  </a:lnTo>
                  <a:lnTo>
                    <a:pt x="12" y="18"/>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71" name="Freeform 168">
              <a:extLst>
                <a:ext uri="{FF2B5EF4-FFF2-40B4-BE49-F238E27FC236}">
                  <a16:creationId xmlns:a16="http://schemas.microsoft.com/office/drawing/2014/main" id="{B8825B98-4395-B4D4-B19B-9F8FB177BB78}"/>
                </a:ext>
              </a:extLst>
            </p:cNvPr>
            <p:cNvSpPr>
              <a:spLocks/>
            </p:cNvSpPr>
            <p:nvPr/>
          </p:nvSpPr>
          <p:spPr bwMode="auto">
            <a:xfrm>
              <a:off x="9028827" y="4234835"/>
              <a:ext cx="138825" cy="109942"/>
            </a:xfrm>
            <a:custGeom>
              <a:avLst/>
              <a:gdLst>
                <a:gd name="T0" fmla="*/ 0 w 90"/>
                <a:gd name="T1" fmla="*/ 2147483647 h 72"/>
                <a:gd name="T2" fmla="*/ 2147483647 w 90"/>
                <a:gd name="T3" fmla="*/ 2147483647 h 72"/>
                <a:gd name="T4" fmla="*/ 2147483647 w 90"/>
                <a:gd name="T5" fmla="*/ 2147483647 h 72"/>
                <a:gd name="T6" fmla="*/ 2147483647 w 90"/>
                <a:gd name="T7" fmla="*/ 0 h 72"/>
                <a:gd name="T8" fmla="*/ 2147483647 w 90"/>
                <a:gd name="T9" fmla="*/ 2147483647 h 72"/>
                <a:gd name="T10" fmla="*/ 2147483647 w 90"/>
                <a:gd name="T11" fmla="*/ 2147483647 h 72"/>
                <a:gd name="T12" fmla="*/ 2147483647 w 90"/>
                <a:gd name="T13" fmla="*/ 2147483647 h 72"/>
                <a:gd name="T14" fmla="*/ 2147483647 w 90"/>
                <a:gd name="T15" fmla="*/ 2147483647 h 72"/>
                <a:gd name="T16" fmla="*/ 2147483647 w 90"/>
                <a:gd name="T17" fmla="*/ 2147483647 h 72"/>
                <a:gd name="T18" fmla="*/ 0 w 90"/>
                <a:gd name="T19" fmla="*/ 2147483647 h 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0" h="72">
                  <a:moveTo>
                    <a:pt x="0" y="54"/>
                  </a:moveTo>
                  <a:lnTo>
                    <a:pt x="18" y="24"/>
                  </a:lnTo>
                  <a:lnTo>
                    <a:pt x="42" y="24"/>
                  </a:lnTo>
                  <a:lnTo>
                    <a:pt x="60" y="0"/>
                  </a:lnTo>
                  <a:lnTo>
                    <a:pt x="90" y="24"/>
                  </a:lnTo>
                  <a:lnTo>
                    <a:pt x="90" y="72"/>
                  </a:lnTo>
                  <a:lnTo>
                    <a:pt x="60" y="60"/>
                  </a:lnTo>
                  <a:lnTo>
                    <a:pt x="42" y="60"/>
                  </a:lnTo>
                  <a:lnTo>
                    <a:pt x="24" y="48"/>
                  </a:lnTo>
                  <a:lnTo>
                    <a:pt x="0" y="54"/>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72" name="Freeform 169">
              <a:extLst>
                <a:ext uri="{FF2B5EF4-FFF2-40B4-BE49-F238E27FC236}">
                  <a16:creationId xmlns:a16="http://schemas.microsoft.com/office/drawing/2014/main" id="{5364134C-016D-AE72-2D06-A772F0A2CFD4}"/>
                </a:ext>
              </a:extLst>
            </p:cNvPr>
            <p:cNvSpPr>
              <a:spLocks/>
            </p:cNvSpPr>
            <p:nvPr/>
          </p:nvSpPr>
          <p:spPr bwMode="auto">
            <a:xfrm>
              <a:off x="8019011" y="2714603"/>
              <a:ext cx="931845" cy="466305"/>
            </a:xfrm>
            <a:custGeom>
              <a:avLst/>
              <a:gdLst>
                <a:gd name="T0" fmla="*/ 2147483647 w 595"/>
                <a:gd name="T1" fmla="*/ 2147483647 h 301"/>
                <a:gd name="T2" fmla="*/ 2147483647 w 595"/>
                <a:gd name="T3" fmla="*/ 2147483647 h 301"/>
                <a:gd name="T4" fmla="*/ 2147483647 w 595"/>
                <a:gd name="T5" fmla="*/ 2147483647 h 301"/>
                <a:gd name="T6" fmla="*/ 2147483647 w 595"/>
                <a:gd name="T7" fmla="*/ 2147483647 h 301"/>
                <a:gd name="T8" fmla="*/ 2147483647 w 595"/>
                <a:gd name="T9" fmla="*/ 2147483647 h 301"/>
                <a:gd name="T10" fmla="*/ 2147483647 w 595"/>
                <a:gd name="T11" fmla="*/ 2147483647 h 301"/>
                <a:gd name="T12" fmla="*/ 2147483647 w 595"/>
                <a:gd name="T13" fmla="*/ 2147483647 h 301"/>
                <a:gd name="T14" fmla="*/ 2147483647 w 595"/>
                <a:gd name="T15" fmla="*/ 2147483647 h 301"/>
                <a:gd name="T16" fmla="*/ 2147483647 w 595"/>
                <a:gd name="T17" fmla="*/ 2147483647 h 301"/>
                <a:gd name="T18" fmla="*/ 2147483647 w 595"/>
                <a:gd name="T19" fmla="*/ 2147483647 h 301"/>
                <a:gd name="T20" fmla="*/ 2147483647 w 595"/>
                <a:gd name="T21" fmla="*/ 2147483647 h 301"/>
                <a:gd name="T22" fmla="*/ 2147483647 w 595"/>
                <a:gd name="T23" fmla="*/ 2147483647 h 301"/>
                <a:gd name="T24" fmla="*/ 2147483647 w 595"/>
                <a:gd name="T25" fmla="*/ 2147483647 h 301"/>
                <a:gd name="T26" fmla="*/ 2147483647 w 595"/>
                <a:gd name="T27" fmla="*/ 2147483647 h 301"/>
                <a:gd name="T28" fmla="*/ 2147483647 w 595"/>
                <a:gd name="T29" fmla="*/ 2147483647 h 301"/>
                <a:gd name="T30" fmla="*/ 2147483647 w 595"/>
                <a:gd name="T31" fmla="*/ 2147483647 h 301"/>
                <a:gd name="T32" fmla="*/ 2147483647 w 595"/>
                <a:gd name="T33" fmla="*/ 2147483647 h 301"/>
                <a:gd name="T34" fmla="*/ 2147483647 w 595"/>
                <a:gd name="T35" fmla="*/ 2147483647 h 301"/>
                <a:gd name="T36" fmla="*/ 2147483647 w 595"/>
                <a:gd name="T37" fmla="*/ 2147483647 h 301"/>
                <a:gd name="T38" fmla="*/ 2147483647 w 595"/>
                <a:gd name="T39" fmla="*/ 2147483647 h 301"/>
                <a:gd name="T40" fmla="*/ 2147483647 w 595"/>
                <a:gd name="T41" fmla="*/ 2147483647 h 301"/>
                <a:gd name="T42" fmla="*/ 2147483647 w 595"/>
                <a:gd name="T43" fmla="*/ 0 h 301"/>
                <a:gd name="T44" fmla="*/ 2147483647 w 595"/>
                <a:gd name="T45" fmla="*/ 2147483647 h 301"/>
                <a:gd name="T46" fmla="*/ 2147483647 w 595"/>
                <a:gd name="T47" fmla="*/ 2147483647 h 301"/>
                <a:gd name="T48" fmla="*/ 2147483647 w 595"/>
                <a:gd name="T49" fmla="*/ 2147483647 h 301"/>
                <a:gd name="T50" fmla="*/ 2147483647 w 595"/>
                <a:gd name="T51" fmla="*/ 2147483647 h 301"/>
                <a:gd name="T52" fmla="*/ 2147483647 w 595"/>
                <a:gd name="T53" fmla="*/ 2147483647 h 301"/>
                <a:gd name="T54" fmla="*/ 0 w 595"/>
                <a:gd name="T55" fmla="*/ 2147483647 h 301"/>
                <a:gd name="T56" fmla="*/ 2147483647 w 595"/>
                <a:gd name="T57" fmla="*/ 2147483647 h 301"/>
                <a:gd name="T58" fmla="*/ 2147483647 w 595"/>
                <a:gd name="T59" fmla="*/ 2147483647 h 30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595" h="301">
                  <a:moveTo>
                    <a:pt x="42" y="126"/>
                  </a:moveTo>
                  <a:lnTo>
                    <a:pt x="48" y="186"/>
                  </a:lnTo>
                  <a:lnTo>
                    <a:pt x="127" y="210"/>
                  </a:lnTo>
                  <a:lnTo>
                    <a:pt x="181" y="264"/>
                  </a:lnTo>
                  <a:lnTo>
                    <a:pt x="253" y="270"/>
                  </a:lnTo>
                  <a:lnTo>
                    <a:pt x="313" y="301"/>
                  </a:lnTo>
                  <a:lnTo>
                    <a:pt x="379" y="258"/>
                  </a:lnTo>
                  <a:lnTo>
                    <a:pt x="445" y="252"/>
                  </a:lnTo>
                  <a:lnTo>
                    <a:pt x="457" y="210"/>
                  </a:lnTo>
                  <a:lnTo>
                    <a:pt x="499" y="192"/>
                  </a:lnTo>
                  <a:lnTo>
                    <a:pt x="541" y="174"/>
                  </a:lnTo>
                  <a:lnTo>
                    <a:pt x="595" y="156"/>
                  </a:lnTo>
                  <a:lnTo>
                    <a:pt x="583" y="132"/>
                  </a:lnTo>
                  <a:lnTo>
                    <a:pt x="529" y="126"/>
                  </a:lnTo>
                  <a:lnTo>
                    <a:pt x="529" y="96"/>
                  </a:lnTo>
                  <a:lnTo>
                    <a:pt x="541" y="72"/>
                  </a:lnTo>
                  <a:lnTo>
                    <a:pt x="499" y="60"/>
                  </a:lnTo>
                  <a:lnTo>
                    <a:pt x="403" y="84"/>
                  </a:lnTo>
                  <a:lnTo>
                    <a:pt x="367" y="54"/>
                  </a:lnTo>
                  <a:lnTo>
                    <a:pt x="307" y="54"/>
                  </a:lnTo>
                  <a:lnTo>
                    <a:pt x="289" y="36"/>
                  </a:lnTo>
                  <a:lnTo>
                    <a:pt x="217" y="0"/>
                  </a:lnTo>
                  <a:lnTo>
                    <a:pt x="193" y="30"/>
                  </a:lnTo>
                  <a:lnTo>
                    <a:pt x="169" y="66"/>
                  </a:lnTo>
                  <a:lnTo>
                    <a:pt x="121" y="48"/>
                  </a:lnTo>
                  <a:lnTo>
                    <a:pt x="54" y="54"/>
                  </a:lnTo>
                  <a:lnTo>
                    <a:pt x="12" y="78"/>
                  </a:lnTo>
                  <a:lnTo>
                    <a:pt x="0" y="102"/>
                  </a:lnTo>
                  <a:lnTo>
                    <a:pt x="6" y="108"/>
                  </a:lnTo>
                  <a:lnTo>
                    <a:pt x="42" y="12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73" name="Line 449">
              <a:extLst>
                <a:ext uri="{FF2B5EF4-FFF2-40B4-BE49-F238E27FC236}">
                  <a16:creationId xmlns:a16="http://schemas.microsoft.com/office/drawing/2014/main" id="{59660DCA-9875-5A45-1DBE-080BD2EF3BC7}"/>
                </a:ext>
              </a:extLst>
            </p:cNvPr>
            <p:cNvSpPr>
              <a:spLocks noChangeShapeType="1"/>
            </p:cNvSpPr>
            <p:nvPr/>
          </p:nvSpPr>
          <p:spPr bwMode="auto">
            <a:xfrm>
              <a:off x="8914723" y="3984622"/>
              <a:ext cx="0" cy="0"/>
            </a:xfrm>
            <a:prstGeom prst="line">
              <a:avLst/>
            </a:pr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74" name="Freeform 171">
              <a:extLst>
                <a:ext uri="{FF2B5EF4-FFF2-40B4-BE49-F238E27FC236}">
                  <a16:creationId xmlns:a16="http://schemas.microsoft.com/office/drawing/2014/main" id="{E909E4E6-A62B-AE9A-4268-9ECCBEE7135E}"/>
                </a:ext>
              </a:extLst>
            </p:cNvPr>
            <p:cNvSpPr>
              <a:spLocks/>
            </p:cNvSpPr>
            <p:nvPr/>
          </p:nvSpPr>
          <p:spPr bwMode="auto">
            <a:xfrm>
              <a:off x="9093485" y="3131624"/>
              <a:ext cx="148334" cy="185764"/>
            </a:xfrm>
            <a:custGeom>
              <a:avLst/>
              <a:gdLst>
                <a:gd name="T0" fmla="*/ 2147483647 w 78"/>
                <a:gd name="T1" fmla="*/ 2147483647 h 98"/>
                <a:gd name="T2" fmla="*/ 2147483647 w 78"/>
                <a:gd name="T3" fmla="*/ 2147483647 h 98"/>
                <a:gd name="T4" fmla="*/ 2147483647 w 78"/>
                <a:gd name="T5" fmla="*/ 2147483647 h 98"/>
                <a:gd name="T6" fmla="*/ 2147483647 w 78"/>
                <a:gd name="T7" fmla="*/ 2147483647 h 98"/>
                <a:gd name="T8" fmla="*/ 0 w 78"/>
                <a:gd name="T9" fmla="*/ 2147483647 h 98"/>
                <a:gd name="T10" fmla="*/ 0 w 78"/>
                <a:gd name="T11" fmla="*/ 2147483647 h 98"/>
                <a:gd name="T12" fmla="*/ 2147483647 w 78"/>
                <a:gd name="T13" fmla="*/ 2147483647 h 98"/>
                <a:gd name="T14" fmla="*/ 2147483647 w 78"/>
                <a:gd name="T15" fmla="*/ 2147483647 h 98"/>
                <a:gd name="T16" fmla="*/ 2147483647 w 78"/>
                <a:gd name="T17" fmla="*/ 2147483647 h 98"/>
                <a:gd name="T18" fmla="*/ 2147483647 w 78"/>
                <a:gd name="T19" fmla="*/ 2147483647 h 98"/>
                <a:gd name="T20" fmla="*/ 2147483647 w 78"/>
                <a:gd name="T21" fmla="*/ 2147483647 h 98"/>
                <a:gd name="T22" fmla="*/ 2147483647 w 78"/>
                <a:gd name="T23" fmla="*/ 2147483647 h 98"/>
                <a:gd name="T24" fmla="*/ 2147483647 w 78"/>
                <a:gd name="T25" fmla="*/ 2147483647 h 98"/>
                <a:gd name="T26" fmla="*/ 2147483647 w 78"/>
                <a:gd name="T27" fmla="*/ 2147483647 h 98"/>
                <a:gd name="T28" fmla="*/ 2147483647 w 78"/>
                <a:gd name="T29" fmla="*/ 2147483647 h 98"/>
                <a:gd name="T30" fmla="*/ 2147483647 w 78"/>
                <a:gd name="T31" fmla="*/ 2147483647 h 98"/>
                <a:gd name="T32" fmla="*/ 2147483647 w 78"/>
                <a:gd name="T33" fmla="*/ 2147483647 h 98"/>
                <a:gd name="T34" fmla="*/ 2147483647 w 78"/>
                <a:gd name="T35" fmla="*/ 2147483647 h 98"/>
                <a:gd name="T36" fmla="*/ 2147483647 w 78"/>
                <a:gd name="T37" fmla="*/ 2147483647 h 98"/>
                <a:gd name="T38" fmla="*/ 2147483647 w 78"/>
                <a:gd name="T39" fmla="*/ 2147483647 h 98"/>
                <a:gd name="T40" fmla="*/ 2147483647 w 78"/>
                <a:gd name="T41" fmla="*/ 2147483647 h 98"/>
                <a:gd name="T42" fmla="*/ 2147483647 w 78"/>
                <a:gd name="T43" fmla="*/ 2147483647 h 98"/>
                <a:gd name="T44" fmla="*/ 2147483647 w 78"/>
                <a:gd name="T45" fmla="*/ 2147483647 h 98"/>
                <a:gd name="T46" fmla="*/ 2147483647 w 78"/>
                <a:gd name="T47" fmla="*/ 2147483647 h 98"/>
                <a:gd name="T48" fmla="*/ 2147483647 w 78"/>
                <a:gd name="T49" fmla="*/ 2147483647 h 98"/>
                <a:gd name="T50" fmla="*/ 2147483647 w 78"/>
                <a:gd name="T51" fmla="*/ 2147483647 h 98"/>
                <a:gd name="T52" fmla="*/ 2147483647 w 78"/>
                <a:gd name="T53" fmla="*/ 2147483647 h 98"/>
                <a:gd name="T54" fmla="*/ 2147483647 w 78"/>
                <a:gd name="T55" fmla="*/ 2147483647 h 98"/>
                <a:gd name="T56" fmla="*/ 2147483647 w 78"/>
                <a:gd name="T57" fmla="*/ 2147483647 h 98"/>
                <a:gd name="T58" fmla="*/ 2147483647 w 78"/>
                <a:gd name="T59" fmla="*/ 2147483647 h 98"/>
                <a:gd name="T60" fmla="*/ 2147483647 w 78"/>
                <a:gd name="T61" fmla="*/ 2147483647 h 98"/>
                <a:gd name="T62" fmla="*/ 2147483647 w 78"/>
                <a:gd name="T63" fmla="*/ 0 h 98"/>
                <a:gd name="T64" fmla="*/ 2147483647 w 78"/>
                <a:gd name="T65" fmla="*/ 2147483647 h 9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8" h="98">
                  <a:moveTo>
                    <a:pt x="32" y="12"/>
                  </a:moveTo>
                  <a:lnTo>
                    <a:pt x="34" y="32"/>
                  </a:lnTo>
                  <a:lnTo>
                    <a:pt x="20" y="22"/>
                  </a:lnTo>
                  <a:lnTo>
                    <a:pt x="6" y="34"/>
                  </a:lnTo>
                  <a:lnTo>
                    <a:pt x="0" y="56"/>
                  </a:lnTo>
                  <a:lnTo>
                    <a:pt x="6" y="56"/>
                  </a:lnTo>
                  <a:lnTo>
                    <a:pt x="10" y="56"/>
                  </a:lnTo>
                  <a:lnTo>
                    <a:pt x="30" y="70"/>
                  </a:lnTo>
                  <a:lnTo>
                    <a:pt x="34" y="84"/>
                  </a:lnTo>
                  <a:lnTo>
                    <a:pt x="36" y="92"/>
                  </a:lnTo>
                  <a:lnTo>
                    <a:pt x="40" y="98"/>
                  </a:lnTo>
                  <a:lnTo>
                    <a:pt x="70" y="88"/>
                  </a:lnTo>
                  <a:lnTo>
                    <a:pt x="70" y="84"/>
                  </a:lnTo>
                  <a:lnTo>
                    <a:pt x="68" y="82"/>
                  </a:lnTo>
                  <a:lnTo>
                    <a:pt x="66" y="78"/>
                  </a:lnTo>
                  <a:lnTo>
                    <a:pt x="64" y="76"/>
                  </a:lnTo>
                  <a:lnTo>
                    <a:pt x="64" y="60"/>
                  </a:lnTo>
                  <a:lnTo>
                    <a:pt x="64" y="46"/>
                  </a:lnTo>
                  <a:lnTo>
                    <a:pt x="54" y="26"/>
                  </a:lnTo>
                  <a:lnTo>
                    <a:pt x="64" y="16"/>
                  </a:lnTo>
                  <a:lnTo>
                    <a:pt x="78" y="4"/>
                  </a:lnTo>
                  <a:lnTo>
                    <a:pt x="52" y="0"/>
                  </a:lnTo>
                  <a:lnTo>
                    <a:pt x="32" y="12"/>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75" name="Freeform 172">
              <a:extLst>
                <a:ext uri="{FF2B5EF4-FFF2-40B4-BE49-F238E27FC236}">
                  <a16:creationId xmlns:a16="http://schemas.microsoft.com/office/drawing/2014/main" id="{2BE9F24E-F18D-28F0-46D2-9EFD5DCD66DF}"/>
                </a:ext>
              </a:extLst>
            </p:cNvPr>
            <p:cNvSpPr>
              <a:spLocks/>
            </p:cNvSpPr>
            <p:nvPr/>
          </p:nvSpPr>
          <p:spPr bwMode="auto">
            <a:xfrm>
              <a:off x="9150537" y="3298433"/>
              <a:ext cx="102693" cy="125106"/>
            </a:xfrm>
            <a:custGeom>
              <a:avLst/>
              <a:gdLst>
                <a:gd name="T0" fmla="*/ 2147483647 w 54"/>
                <a:gd name="T1" fmla="*/ 2147483647 h 66"/>
                <a:gd name="T2" fmla="*/ 2147483647 w 54"/>
                <a:gd name="T3" fmla="*/ 2147483647 h 66"/>
                <a:gd name="T4" fmla="*/ 2147483647 w 54"/>
                <a:gd name="T5" fmla="*/ 2147483647 h 66"/>
                <a:gd name="T6" fmla="*/ 2147483647 w 54"/>
                <a:gd name="T7" fmla="*/ 2147483647 h 66"/>
                <a:gd name="T8" fmla="*/ 0 w 54"/>
                <a:gd name="T9" fmla="*/ 2147483647 h 66"/>
                <a:gd name="T10" fmla="*/ 0 w 54"/>
                <a:gd name="T11" fmla="*/ 2147483647 h 66"/>
                <a:gd name="T12" fmla="*/ 2147483647 w 54"/>
                <a:gd name="T13" fmla="*/ 2147483647 h 66"/>
                <a:gd name="T14" fmla="*/ 2147483647 w 54"/>
                <a:gd name="T15" fmla="*/ 2147483647 h 66"/>
                <a:gd name="T16" fmla="*/ 2147483647 w 54"/>
                <a:gd name="T17" fmla="*/ 2147483647 h 66"/>
                <a:gd name="T18" fmla="*/ 2147483647 w 54"/>
                <a:gd name="T19" fmla="*/ 2147483647 h 66"/>
                <a:gd name="T20" fmla="*/ 2147483647 w 54"/>
                <a:gd name="T21" fmla="*/ 2147483647 h 66"/>
                <a:gd name="T22" fmla="*/ 2147483647 w 54"/>
                <a:gd name="T23" fmla="*/ 2147483647 h 66"/>
                <a:gd name="T24" fmla="*/ 2147483647 w 54"/>
                <a:gd name="T25" fmla="*/ 2147483647 h 66"/>
                <a:gd name="T26" fmla="*/ 2147483647 w 54"/>
                <a:gd name="T27" fmla="*/ 0 h 66"/>
                <a:gd name="T28" fmla="*/ 2147483647 w 54"/>
                <a:gd name="T29" fmla="*/ 2147483647 h 66"/>
                <a:gd name="T30" fmla="*/ 2147483647 w 54"/>
                <a:gd name="T31" fmla="*/ 2147483647 h 66"/>
                <a:gd name="T32" fmla="*/ 2147483647 w 54"/>
                <a:gd name="T33" fmla="*/ 2147483647 h 66"/>
                <a:gd name="T34" fmla="*/ 2147483647 w 54"/>
                <a:gd name="T35" fmla="*/ 2147483647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54" h="66">
                  <a:moveTo>
                    <a:pt x="10" y="12"/>
                  </a:moveTo>
                  <a:lnTo>
                    <a:pt x="10" y="12"/>
                  </a:lnTo>
                  <a:lnTo>
                    <a:pt x="10" y="36"/>
                  </a:lnTo>
                  <a:lnTo>
                    <a:pt x="0" y="66"/>
                  </a:lnTo>
                  <a:lnTo>
                    <a:pt x="20" y="66"/>
                  </a:lnTo>
                  <a:lnTo>
                    <a:pt x="40" y="60"/>
                  </a:lnTo>
                  <a:lnTo>
                    <a:pt x="50" y="52"/>
                  </a:lnTo>
                  <a:lnTo>
                    <a:pt x="54" y="36"/>
                  </a:lnTo>
                  <a:lnTo>
                    <a:pt x="40" y="0"/>
                  </a:lnTo>
                  <a:lnTo>
                    <a:pt x="10" y="10"/>
                  </a:lnTo>
                  <a:lnTo>
                    <a:pt x="10" y="12"/>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76" name="Freeform 173">
              <a:extLst>
                <a:ext uri="{FF2B5EF4-FFF2-40B4-BE49-F238E27FC236}">
                  <a16:creationId xmlns:a16="http://schemas.microsoft.com/office/drawing/2014/main" id="{25F39EE2-85F7-E46C-D51A-6310502519B0}"/>
                </a:ext>
              </a:extLst>
            </p:cNvPr>
            <p:cNvSpPr>
              <a:spLocks/>
            </p:cNvSpPr>
            <p:nvPr/>
          </p:nvSpPr>
          <p:spPr bwMode="auto">
            <a:xfrm>
              <a:off x="3498614" y="5368374"/>
              <a:ext cx="152138" cy="199033"/>
            </a:xfrm>
            <a:custGeom>
              <a:avLst/>
              <a:gdLst>
                <a:gd name="T0" fmla="*/ 2147483647 w 102"/>
                <a:gd name="T1" fmla="*/ 2147483647 h 114"/>
                <a:gd name="T2" fmla="*/ 2147483647 w 102"/>
                <a:gd name="T3" fmla="*/ 2147483647 h 114"/>
                <a:gd name="T4" fmla="*/ 2147483647 w 102"/>
                <a:gd name="T5" fmla="*/ 0 h 114"/>
                <a:gd name="T6" fmla="*/ 2147483647 w 102"/>
                <a:gd name="T7" fmla="*/ 2147483647 h 114"/>
                <a:gd name="T8" fmla="*/ 0 w 102"/>
                <a:gd name="T9" fmla="*/ 2147483647 h 114"/>
                <a:gd name="T10" fmla="*/ 0 w 102"/>
                <a:gd name="T11" fmla="*/ 2147483647 h 114"/>
                <a:gd name="T12" fmla="*/ 2147483647 w 102"/>
                <a:gd name="T13" fmla="*/ 2147483647 h 114"/>
                <a:gd name="T14" fmla="*/ 2147483647 w 102"/>
                <a:gd name="T15" fmla="*/ 2147483647 h 114"/>
                <a:gd name="T16" fmla="*/ 2147483647 w 102"/>
                <a:gd name="T17" fmla="*/ 2147483647 h 114"/>
                <a:gd name="T18" fmla="*/ 2147483647 w 102"/>
                <a:gd name="T19" fmla="*/ 2147483647 h 114"/>
                <a:gd name="T20" fmla="*/ 2147483647 w 102"/>
                <a:gd name="T21" fmla="*/ 2147483647 h 114"/>
                <a:gd name="T22" fmla="*/ 2147483647 w 102"/>
                <a:gd name="T23" fmla="*/ 2147483647 h 114"/>
                <a:gd name="T24" fmla="*/ 2147483647 w 102"/>
                <a:gd name="T25" fmla="*/ 2147483647 h 11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14">
                  <a:moveTo>
                    <a:pt x="66" y="24"/>
                  </a:moveTo>
                  <a:lnTo>
                    <a:pt x="36" y="6"/>
                  </a:lnTo>
                  <a:lnTo>
                    <a:pt x="18" y="0"/>
                  </a:lnTo>
                  <a:lnTo>
                    <a:pt x="6" y="18"/>
                  </a:lnTo>
                  <a:lnTo>
                    <a:pt x="0" y="48"/>
                  </a:lnTo>
                  <a:lnTo>
                    <a:pt x="0" y="78"/>
                  </a:lnTo>
                  <a:lnTo>
                    <a:pt x="24" y="96"/>
                  </a:lnTo>
                  <a:lnTo>
                    <a:pt x="36" y="108"/>
                  </a:lnTo>
                  <a:lnTo>
                    <a:pt x="66" y="114"/>
                  </a:lnTo>
                  <a:lnTo>
                    <a:pt x="96" y="90"/>
                  </a:lnTo>
                  <a:lnTo>
                    <a:pt x="102" y="78"/>
                  </a:lnTo>
                  <a:lnTo>
                    <a:pt x="84" y="42"/>
                  </a:lnTo>
                  <a:lnTo>
                    <a:pt x="66" y="24"/>
                  </a:ln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77" name="Freeform 174">
              <a:extLst>
                <a:ext uri="{FF2B5EF4-FFF2-40B4-BE49-F238E27FC236}">
                  <a16:creationId xmlns:a16="http://schemas.microsoft.com/office/drawing/2014/main" id="{08D2742C-4921-7B68-39C7-C6CC8311FE77}"/>
                </a:ext>
              </a:extLst>
            </p:cNvPr>
            <p:cNvSpPr>
              <a:spLocks/>
            </p:cNvSpPr>
            <p:nvPr/>
          </p:nvSpPr>
          <p:spPr bwMode="auto">
            <a:xfrm>
              <a:off x="2842518" y="4543810"/>
              <a:ext cx="384148" cy="468200"/>
            </a:xfrm>
            <a:custGeom>
              <a:avLst/>
              <a:gdLst>
                <a:gd name="T0" fmla="*/ 2147483647 w 240"/>
                <a:gd name="T1" fmla="*/ 2147483647 h 337"/>
                <a:gd name="T2" fmla="*/ 2147483647 w 240"/>
                <a:gd name="T3" fmla="*/ 2147483647 h 337"/>
                <a:gd name="T4" fmla="*/ 2147483647 w 240"/>
                <a:gd name="T5" fmla="*/ 2147483647 h 337"/>
                <a:gd name="T6" fmla="*/ 2147483647 w 240"/>
                <a:gd name="T7" fmla="*/ 2147483647 h 337"/>
                <a:gd name="T8" fmla="*/ 2147483647 w 240"/>
                <a:gd name="T9" fmla="*/ 2147483647 h 337"/>
                <a:gd name="T10" fmla="*/ 2147483647 w 240"/>
                <a:gd name="T11" fmla="*/ 2147483647 h 337"/>
                <a:gd name="T12" fmla="*/ 2147483647 w 240"/>
                <a:gd name="T13" fmla="*/ 2147483647 h 337"/>
                <a:gd name="T14" fmla="*/ 2147483647 w 240"/>
                <a:gd name="T15" fmla="*/ 2147483647 h 337"/>
                <a:gd name="T16" fmla="*/ 2147483647 w 240"/>
                <a:gd name="T17" fmla="*/ 2147483647 h 337"/>
                <a:gd name="T18" fmla="*/ 2147483647 w 240"/>
                <a:gd name="T19" fmla="*/ 2147483647 h 337"/>
                <a:gd name="T20" fmla="*/ 2147483647 w 240"/>
                <a:gd name="T21" fmla="*/ 2147483647 h 337"/>
                <a:gd name="T22" fmla="*/ 2147483647 w 240"/>
                <a:gd name="T23" fmla="*/ 2147483647 h 337"/>
                <a:gd name="T24" fmla="*/ 2147483647 w 240"/>
                <a:gd name="T25" fmla="*/ 2147483647 h 337"/>
                <a:gd name="T26" fmla="*/ 2147483647 w 240"/>
                <a:gd name="T27" fmla="*/ 0 h 337"/>
                <a:gd name="T28" fmla="*/ 2147483647 w 240"/>
                <a:gd name="T29" fmla="*/ 0 h 337"/>
                <a:gd name="T30" fmla="*/ 2147483647 w 240"/>
                <a:gd name="T31" fmla="*/ 2147483647 h 337"/>
                <a:gd name="T32" fmla="*/ 2147483647 w 240"/>
                <a:gd name="T33" fmla="*/ 2147483647 h 337"/>
                <a:gd name="T34" fmla="*/ 2147483647 w 240"/>
                <a:gd name="T35" fmla="*/ 2147483647 h 337"/>
                <a:gd name="T36" fmla="*/ 2147483647 w 240"/>
                <a:gd name="T37" fmla="*/ 2147483647 h 337"/>
                <a:gd name="T38" fmla="*/ 2147483647 w 240"/>
                <a:gd name="T39" fmla="*/ 2147483647 h 337"/>
                <a:gd name="T40" fmla="*/ 2147483647 w 240"/>
                <a:gd name="T41" fmla="*/ 2147483647 h 337"/>
                <a:gd name="T42" fmla="*/ 0 w 240"/>
                <a:gd name="T43" fmla="*/ 2147483647 h 337"/>
                <a:gd name="T44" fmla="*/ 2147483647 w 240"/>
                <a:gd name="T45" fmla="*/ 2147483647 h 337"/>
                <a:gd name="T46" fmla="*/ 2147483647 w 240"/>
                <a:gd name="T47" fmla="*/ 2147483647 h 337"/>
                <a:gd name="T48" fmla="*/ 2147483647 w 240"/>
                <a:gd name="T49" fmla="*/ 2147483647 h 337"/>
                <a:gd name="T50" fmla="*/ 2147483647 w 240"/>
                <a:gd name="T51" fmla="*/ 2147483647 h 337"/>
                <a:gd name="T52" fmla="*/ 2147483647 w 240"/>
                <a:gd name="T53" fmla="*/ 2147483647 h 337"/>
                <a:gd name="T54" fmla="*/ 2147483647 w 240"/>
                <a:gd name="T55" fmla="*/ 2147483647 h 337"/>
                <a:gd name="T56" fmla="*/ 2147483647 w 240"/>
                <a:gd name="T57" fmla="*/ 2147483647 h 337"/>
                <a:gd name="T58" fmla="*/ 2147483647 w 240"/>
                <a:gd name="T59" fmla="*/ 2147483647 h 337"/>
                <a:gd name="T60" fmla="*/ 2147483647 w 240"/>
                <a:gd name="T61" fmla="*/ 2147483647 h 337"/>
                <a:gd name="T62" fmla="*/ 2147483647 w 240"/>
                <a:gd name="T63" fmla="*/ 2147483647 h 33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40" h="337">
                  <a:moveTo>
                    <a:pt x="228" y="204"/>
                  </a:moveTo>
                  <a:lnTo>
                    <a:pt x="228" y="198"/>
                  </a:lnTo>
                  <a:lnTo>
                    <a:pt x="216" y="198"/>
                  </a:lnTo>
                  <a:lnTo>
                    <a:pt x="210" y="162"/>
                  </a:lnTo>
                  <a:lnTo>
                    <a:pt x="180" y="174"/>
                  </a:lnTo>
                  <a:lnTo>
                    <a:pt x="156" y="156"/>
                  </a:lnTo>
                  <a:lnTo>
                    <a:pt x="156" y="120"/>
                  </a:lnTo>
                  <a:lnTo>
                    <a:pt x="180" y="84"/>
                  </a:lnTo>
                  <a:lnTo>
                    <a:pt x="198" y="72"/>
                  </a:lnTo>
                  <a:lnTo>
                    <a:pt x="204" y="54"/>
                  </a:lnTo>
                  <a:lnTo>
                    <a:pt x="192" y="36"/>
                  </a:lnTo>
                  <a:lnTo>
                    <a:pt x="168" y="36"/>
                  </a:lnTo>
                  <a:lnTo>
                    <a:pt x="150" y="18"/>
                  </a:lnTo>
                  <a:lnTo>
                    <a:pt x="120" y="0"/>
                  </a:lnTo>
                  <a:lnTo>
                    <a:pt x="108" y="24"/>
                  </a:lnTo>
                  <a:lnTo>
                    <a:pt x="84" y="48"/>
                  </a:lnTo>
                  <a:lnTo>
                    <a:pt x="66" y="54"/>
                  </a:lnTo>
                  <a:lnTo>
                    <a:pt x="42" y="78"/>
                  </a:lnTo>
                  <a:lnTo>
                    <a:pt x="24" y="72"/>
                  </a:lnTo>
                  <a:lnTo>
                    <a:pt x="18" y="60"/>
                  </a:lnTo>
                  <a:lnTo>
                    <a:pt x="0" y="72"/>
                  </a:lnTo>
                  <a:lnTo>
                    <a:pt x="18" y="114"/>
                  </a:lnTo>
                  <a:lnTo>
                    <a:pt x="54" y="174"/>
                  </a:lnTo>
                  <a:lnTo>
                    <a:pt x="90" y="252"/>
                  </a:lnTo>
                  <a:lnTo>
                    <a:pt x="90" y="264"/>
                  </a:lnTo>
                  <a:lnTo>
                    <a:pt x="216" y="337"/>
                  </a:lnTo>
                  <a:lnTo>
                    <a:pt x="222" y="337"/>
                  </a:lnTo>
                  <a:lnTo>
                    <a:pt x="228" y="307"/>
                  </a:lnTo>
                  <a:lnTo>
                    <a:pt x="234" y="270"/>
                  </a:lnTo>
                  <a:lnTo>
                    <a:pt x="240" y="222"/>
                  </a:lnTo>
                  <a:lnTo>
                    <a:pt x="228" y="204"/>
                  </a:lnTo>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78" name="Freeform 175">
              <a:extLst>
                <a:ext uri="{FF2B5EF4-FFF2-40B4-BE49-F238E27FC236}">
                  <a16:creationId xmlns:a16="http://schemas.microsoft.com/office/drawing/2014/main" id="{62EE5118-EC43-4163-C243-F193819B8367}"/>
                </a:ext>
              </a:extLst>
            </p:cNvPr>
            <p:cNvSpPr>
              <a:spLocks/>
            </p:cNvSpPr>
            <p:nvPr/>
          </p:nvSpPr>
          <p:spPr bwMode="auto">
            <a:xfrm>
              <a:off x="3087841" y="4395957"/>
              <a:ext cx="1059260" cy="1088046"/>
            </a:xfrm>
            <a:custGeom>
              <a:avLst/>
              <a:gdLst>
                <a:gd name="T0" fmla="*/ 2147483647 w 10000"/>
                <a:gd name="T1" fmla="*/ 2147483647 h 10000"/>
                <a:gd name="T2" fmla="*/ 2147483647 w 10000"/>
                <a:gd name="T3" fmla="*/ 2147483647 h 10000"/>
                <a:gd name="T4" fmla="*/ 2147483647 w 10000"/>
                <a:gd name="T5" fmla="*/ 2147483647 h 10000"/>
                <a:gd name="T6" fmla="*/ 2147483647 w 10000"/>
                <a:gd name="T7" fmla="*/ 2147483647 h 10000"/>
                <a:gd name="T8" fmla="*/ 2147483647 w 10000"/>
                <a:gd name="T9" fmla="*/ 2147483647 h 10000"/>
                <a:gd name="T10" fmla="*/ 2147483647 w 10000"/>
                <a:gd name="T11" fmla="*/ 2147483647 h 10000"/>
                <a:gd name="T12" fmla="*/ 2147483647 w 10000"/>
                <a:gd name="T13" fmla="*/ 2147483647 h 10000"/>
                <a:gd name="T14" fmla="*/ 2147483647 w 10000"/>
                <a:gd name="T15" fmla="*/ 2147483647 h 10000"/>
                <a:gd name="T16" fmla="*/ 2147483647 w 10000"/>
                <a:gd name="T17" fmla="*/ 2147483647 h 10000"/>
                <a:gd name="T18" fmla="*/ 2147483647 w 10000"/>
                <a:gd name="T19" fmla="*/ 2147483647 h 10000"/>
                <a:gd name="T20" fmla="*/ 2147483647 w 10000"/>
                <a:gd name="T21" fmla="*/ 2147483647 h 10000"/>
                <a:gd name="T22" fmla="*/ 2147483647 w 10000"/>
                <a:gd name="T23" fmla="*/ 2147483647 h 10000"/>
                <a:gd name="T24" fmla="*/ 2147483647 w 10000"/>
                <a:gd name="T25" fmla="*/ 2147483647 h 10000"/>
                <a:gd name="T26" fmla="*/ 2147483647 w 10000"/>
                <a:gd name="T27" fmla="*/ 1978554233 h 10000"/>
                <a:gd name="T28" fmla="*/ 2147483647 w 10000"/>
                <a:gd name="T29" fmla="*/ 1571492712 h 10000"/>
                <a:gd name="T30" fmla="*/ 2147483647 w 10000"/>
                <a:gd name="T31" fmla="*/ 1454980750 h 10000"/>
                <a:gd name="T32" fmla="*/ 2147483647 w 10000"/>
                <a:gd name="T33" fmla="*/ 1106175301 h 10000"/>
                <a:gd name="T34" fmla="*/ 2147483647 w 10000"/>
                <a:gd name="T35" fmla="*/ 640102212 h 10000"/>
                <a:gd name="T36" fmla="*/ 2147483647 w 10000"/>
                <a:gd name="T37" fmla="*/ 174776418 h 10000"/>
                <a:gd name="T38" fmla="*/ 2147483647 w 10000"/>
                <a:gd name="T39" fmla="*/ 640102212 h 10000"/>
                <a:gd name="T40" fmla="*/ 2147483647 w 10000"/>
                <a:gd name="T41" fmla="*/ 581837847 h 10000"/>
                <a:gd name="T42" fmla="*/ 2147483647 w 10000"/>
                <a:gd name="T43" fmla="*/ 640102212 h 10000"/>
                <a:gd name="T44" fmla="*/ 2147483647 w 10000"/>
                <a:gd name="T45" fmla="*/ 756622557 h 10000"/>
                <a:gd name="T46" fmla="*/ 2147483647 w 10000"/>
                <a:gd name="T47" fmla="*/ 233040691 h 10000"/>
                <a:gd name="T48" fmla="*/ 2147483647 w 10000"/>
                <a:gd name="T49" fmla="*/ 0 h 10000"/>
                <a:gd name="T50" fmla="*/ 1983523268 w 10000"/>
                <a:gd name="T51" fmla="*/ 233040691 h 10000"/>
                <a:gd name="T52" fmla="*/ 1700062263 w 10000"/>
                <a:gd name="T53" fmla="*/ 523581775 h 10000"/>
                <a:gd name="T54" fmla="*/ 1246527822 w 10000"/>
                <a:gd name="T55" fmla="*/ 873134519 h 10000"/>
                <a:gd name="T56" fmla="*/ 623607879 w 10000"/>
                <a:gd name="T57" fmla="*/ 814878538 h 10000"/>
                <a:gd name="T58" fmla="*/ 566914139 w 10000"/>
                <a:gd name="T59" fmla="*/ 1746277422 h 10000"/>
                <a:gd name="T60" fmla="*/ 396840702 w 10000"/>
                <a:gd name="T61" fmla="*/ 1804533494 h 10000"/>
                <a:gd name="T62" fmla="*/ 0 w 10000"/>
                <a:gd name="T63" fmla="*/ 2147483647 h 10000"/>
                <a:gd name="T64" fmla="*/ 226767265 w 10000"/>
                <a:gd name="T65" fmla="*/ 2147483647 h 10000"/>
                <a:gd name="T66" fmla="*/ 566914139 w 10000"/>
                <a:gd name="T67" fmla="*/ 2147483647 h 10000"/>
                <a:gd name="T68" fmla="*/ 680301707 w 10000"/>
                <a:gd name="T69" fmla="*/ 2147483647 h 10000"/>
                <a:gd name="T70" fmla="*/ 975514221 w 10000"/>
                <a:gd name="T71" fmla="*/ 2147483647 h 10000"/>
                <a:gd name="T72" fmla="*/ 1292157988 w 10000"/>
                <a:gd name="T73" fmla="*/ 2147483647 h 10000"/>
                <a:gd name="T74" fmla="*/ 1529988738 w 10000"/>
                <a:gd name="T75" fmla="*/ 2147483647 h 10000"/>
                <a:gd name="T76" fmla="*/ 2147483647 w 10000"/>
                <a:gd name="T77" fmla="*/ 2147483647 h 10000"/>
                <a:gd name="T78" fmla="*/ 2147483647 w 10000"/>
                <a:gd name="T79" fmla="*/ 2147483647 h 10000"/>
                <a:gd name="T80" fmla="*/ 2147483647 w 10000"/>
                <a:gd name="T81" fmla="*/ 2147483647 h 1000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0000" h="10000">
                  <a:moveTo>
                    <a:pt x="5000" y="7769"/>
                  </a:moveTo>
                  <a:cubicBezTo>
                    <a:pt x="5027" y="7795"/>
                    <a:pt x="5055" y="7820"/>
                    <a:pt x="5082" y="7846"/>
                  </a:cubicBezTo>
                  <a:cubicBezTo>
                    <a:pt x="5027" y="8000"/>
                    <a:pt x="4973" y="8154"/>
                    <a:pt x="4918" y="8308"/>
                  </a:cubicBezTo>
                  <a:lnTo>
                    <a:pt x="4672" y="8462"/>
                  </a:lnTo>
                  <a:lnTo>
                    <a:pt x="4098" y="9000"/>
                  </a:lnTo>
                  <a:lnTo>
                    <a:pt x="4180" y="9000"/>
                  </a:lnTo>
                  <a:lnTo>
                    <a:pt x="4098" y="9000"/>
                  </a:lnTo>
                  <a:lnTo>
                    <a:pt x="4344" y="9077"/>
                  </a:lnTo>
                  <a:lnTo>
                    <a:pt x="4754" y="9308"/>
                  </a:lnTo>
                  <a:lnTo>
                    <a:pt x="5000" y="9538"/>
                  </a:lnTo>
                  <a:lnTo>
                    <a:pt x="5246" y="10000"/>
                  </a:lnTo>
                  <a:cubicBezTo>
                    <a:pt x="5273" y="9923"/>
                    <a:pt x="5301" y="9846"/>
                    <a:pt x="5328" y="9769"/>
                  </a:cubicBezTo>
                  <a:lnTo>
                    <a:pt x="5656" y="9462"/>
                  </a:lnTo>
                  <a:lnTo>
                    <a:pt x="6066" y="9077"/>
                  </a:lnTo>
                  <a:lnTo>
                    <a:pt x="6393" y="8077"/>
                  </a:lnTo>
                  <a:lnTo>
                    <a:pt x="6639" y="7615"/>
                  </a:lnTo>
                  <a:lnTo>
                    <a:pt x="7541" y="7077"/>
                  </a:lnTo>
                  <a:lnTo>
                    <a:pt x="8115" y="7000"/>
                  </a:lnTo>
                  <a:lnTo>
                    <a:pt x="8279" y="6923"/>
                  </a:lnTo>
                  <a:lnTo>
                    <a:pt x="8443" y="6615"/>
                  </a:lnTo>
                  <a:cubicBezTo>
                    <a:pt x="8470" y="6513"/>
                    <a:pt x="8498" y="6410"/>
                    <a:pt x="8525" y="6308"/>
                  </a:cubicBezTo>
                  <a:cubicBezTo>
                    <a:pt x="8607" y="6180"/>
                    <a:pt x="8688" y="6051"/>
                    <a:pt x="8770" y="5923"/>
                  </a:cubicBezTo>
                  <a:cubicBezTo>
                    <a:pt x="8797" y="5872"/>
                    <a:pt x="8825" y="5820"/>
                    <a:pt x="8852" y="5769"/>
                  </a:cubicBezTo>
                  <a:cubicBezTo>
                    <a:pt x="8879" y="5333"/>
                    <a:pt x="8907" y="4898"/>
                    <a:pt x="8934" y="4462"/>
                  </a:cubicBezTo>
                  <a:lnTo>
                    <a:pt x="9180" y="4385"/>
                  </a:lnTo>
                  <a:lnTo>
                    <a:pt x="10000" y="3385"/>
                  </a:lnTo>
                  <a:lnTo>
                    <a:pt x="10000" y="3154"/>
                  </a:lnTo>
                  <a:cubicBezTo>
                    <a:pt x="9945" y="2974"/>
                    <a:pt x="9891" y="2795"/>
                    <a:pt x="9836" y="2615"/>
                  </a:cubicBezTo>
                  <a:lnTo>
                    <a:pt x="9344" y="2462"/>
                  </a:lnTo>
                  <a:lnTo>
                    <a:pt x="8607" y="2077"/>
                  </a:lnTo>
                  <a:lnTo>
                    <a:pt x="7787" y="2000"/>
                  </a:lnTo>
                  <a:lnTo>
                    <a:pt x="7541" y="1923"/>
                  </a:lnTo>
                  <a:lnTo>
                    <a:pt x="7377" y="1692"/>
                  </a:lnTo>
                  <a:lnTo>
                    <a:pt x="6721" y="1462"/>
                  </a:lnTo>
                  <a:lnTo>
                    <a:pt x="6148" y="1154"/>
                  </a:lnTo>
                  <a:cubicBezTo>
                    <a:pt x="6121" y="1051"/>
                    <a:pt x="6093" y="949"/>
                    <a:pt x="6066" y="846"/>
                  </a:cubicBezTo>
                  <a:lnTo>
                    <a:pt x="5820" y="231"/>
                  </a:lnTo>
                  <a:lnTo>
                    <a:pt x="5738" y="231"/>
                  </a:lnTo>
                  <a:lnTo>
                    <a:pt x="5410" y="692"/>
                  </a:lnTo>
                  <a:lnTo>
                    <a:pt x="5082" y="846"/>
                  </a:lnTo>
                  <a:cubicBezTo>
                    <a:pt x="5055" y="820"/>
                    <a:pt x="5027" y="795"/>
                    <a:pt x="5000" y="769"/>
                  </a:cubicBezTo>
                  <a:lnTo>
                    <a:pt x="4590" y="769"/>
                  </a:lnTo>
                  <a:lnTo>
                    <a:pt x="4426" y="846"/>
                  </a:lnTo>
                  <a:lnTo>
                    <a:pt x="4344" y="846"/>
                  </a:lnTo>
                  <a:lnTo>
                    <a:pt x="3934" y="923"/>
                  </a:lnTo>
                  <a:lnTo>
                    <a:pt x="3689" y="1000"/>
                  </a:lnTo>
                  <a:lnTo>
                    <a:pt x="3443" y="769"/>
                  </a:lnTo>
                  <a:cubicBezTo>
                    <a:pt x="3470" y="615"/>
                    <a:pt x="3498" y="462"/>
                    <a:pt x="3525" y="308"/>
                  </a:cubicBezTo>
                  <a:lnTo>
                    <a:pt x="3361" y="77"/>
                  </a:lnTo>
                  <a:lnTo>
                    <a:pt x="3197" y="0"/>
                  </a:lnTo>
                  <a:cubicBezTo>
                    <a:pt x="3224" y="51"/>
                    <a:pt x="3252" y="103"/>
                    <a:pt x="3279" y="154"/>
                  </a:cubicBezTo>
                  <a:lnTo>
                    <a:pt x="2869" y="308"/>
                  </a:lnTo>
                  <a:lnTo>
                    <a:pt x="2213" y="308"/>
                  </a:lnTo>
                  <a:lnTo>
                    <a:pt x="2459" y="692"/>
                  </a:lnTo>
                  <a:cubicBezTo>
                    <a:pt x="2486" y="769"/>
                    <a:pt x="2514" y="846"/>
                    <a:pt x="2541" y="923"/>
                  </a:cubicBezTo>
                  <a:lnTo>
                    <a:pt x="1803" y="1154"/>
                  </a:lnTo>
                  <a:lnTo>
                    <a:pt x="1557" y="923"/>
                  </a:lnTo>
                  <a:lnTo>
                    <a:pt x="902" y="1077"/>
                  </a:lnTo>
                  <a:cubicBezTo>
                    <a:pt x="929" y="1205"/>
                    <a:pt x="957" y="1334"/>
                    <a:pt x="984" y="1462"/>
                  </a:cubicBezTo>
                  <a:cubicBezTo>
                    <a:pt x="929" y="1744"/>
                    <a:pt x="875" y="2026"/>
                    <a:pt x="820" y="2308"/>
                  </a:cubicBezTo>
                  <a:cubicBezTo>
                    <a:pt x="765" y="2257"/>
                    <a:pt x="711" y="2205"/>
                    <a:pt x="656" y="2154"/>
                  </a:cubicBezTo>
                  <a:cubicBezTo>
                    <a:pt x="629" y="2231"/>
                    <a:pt x="601" y="2308"/>
                    <a:pt x="574" y="2385"/>
                  </a:cubicBezTo>
                  <a:lnTo>
                    <a:pt x="328" y="2538"/>
                  </a:lnTo>
                  <a:lnTo>
                    <a:pt x="0" y="3000"/>
                  </a:lnTo>
                  <a:lnTo>
                    <a:pt x="0" y="3462"/>
                  </a:lnTo>
                  <a:lnTo>
                    <a:pt x="328" y="3692"/>
                  </a:lnTo>
                  <a:lnTo>
                    <a:pt x="738" y="3538"/>
                  </a:lnTo>
                  <a:cubicBezTo>
                    <a:pt x="765" y="3692"/>
                    <a:pt x="793" y="3846"/>
                    <a:pt x="820" y="4000"/>
                  </a:cubicBezTo>
                  <a:lnTo>
                    <a:pt x="984" y="4000"/>
                  </a:lnTo>
                  <a:lnTo>
                    <a:pt x="984" y="4077"/>
                  </a:lnTo>
                  <a:cubicBezTo>
                    <a:pt x="1311" y="4000"/>
                    <a:pt x="1240" y="3993"/>
                    <a:pt x="1311" y="4000"/>
                  </a:cubicBezTo>
                  <a:cubicBezTo>
                    <a:pt x="1382" y="4007"/>
                    <a:pt x="1378" y="4124"/>
                    <a:pt x="1411" y="4121"/>
                  </a:cubicBezTo>
                  <a:cubicBezTo>
                    <a:pt x="1487" y="4047"/>
                    <a:pt x="1644" y="3939"/>
                    <a:pt x="1720" y="3900"/>
                  </a:cubicBezTo>
                  <a:cubicBezTo>
                    <a:pt x="1796" y="3861"/>
                    <a:pt x="1787" y="3873"/>
                    <a:pt x="1869" y="3886"/>
                  </a:cubicBezTo>
                  <a:cubicBezTo>
                    <a:pt x="1951" y="3899"/>
                    <a:pt x="2074" y="3776"/>
                    <a:pt x="2131" y="3846"/>
                  </a:cubicBezTo>
                  <a:cubicBezTo>
                    <a:pt x="2188" y="3916"/>
                    <a:pt x="2186" y="4154"/>
                    <a:pt x="2213" y="4308"/>
                  </a:cubicBezTo>
                  <a:lnTo>
                    <a:pt x="2705" y="4538"/>
                  </a:lnTo>
                  <a:lnTo>
                    <a:pt x="3279" y="4769"/>
                  </a:lnTo>
                  <a:lnTo>
                    <a:pt x="3279" y="5077"/>
                  </a:lnTo>
                  <a:lnTo>
                    <a:pt x="3443" y="5308"/>
                  </a:lnTo>
                  <a:cubicBezTo>
                    <a:pt x="3525" y="5308"/>
                    <a:pt x="3934" y="5385"/>
                    <a:pt x="3934" y="5385"/>
                  </a:cubicBezTo>
                  <a:lnTo>
                    <a:pt x="3934" y="5692"/>
                  </a:lnTo>
                  <a:lnTo>
                    <a:pt x="3934" y="6231"/>
                  </a:lnTo>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dirty="0">
                <a:solidFill>
                  <a:srgbClr val="7F7F7F"/>
                </a:solidFill>
                <a:latin typeface="Calibri" panose="020F0502020204030204" pitchFamily="34" charset="0"/>
                <a:cs typeface="Calibri" panose="020F0502020204030204" pitchFamily="34" charset="0"/>
              </a:endParaRPr>
            </a:p>
          </p:txBody>
        </p:sp>
        <p:sp>
          <p:nvSpPr>
            <p:cNvPr id="179" name="Freeform 176">
              <a:extLst>
                <a:ext uri="{FF2B5EF4-FFF2-40B4-BE49-F238E27FC236}">
                  <a16:creationId xmlns:a16="http://schemas.microsoft.com/office/drawing/2014/main" id="{C16EAD6E-F6EC-E951-4809-635D7888A6A0}"/>
                </a:ext>
              </a:extLst>
            </p:cNvPr>
            <p:cNvSpPr>
              <a:spLocks/>
            </p:cNvSpPr>
            <p:nvPr/>
          </p:nvSpPr>
          <p:spPr bwMode="auto">
            <a:xfrm>
              <a:off x="3072627" y="5114370"/>
              <a:ext cx="566714" cy="1131644"/>
            </a:xfrm>
            <a:custGeom>
              <a:avLst/>
              <a:gdLst>
                <a:gd name="T0" fmla="*/ 2147483647 w 10000"/>
                <a:gd name="T1" fmla="*/ 2147483647 h 10001"/>
                <a:gd name="T2" fmla="*/ 2147483647 w 10000"/>
                <a:gd name="T3" fmla="*/ 2147483647 h 10001"/>
                <a:gd name="T4" fmla="*/ 2147483647 w 10000"/>
                <a:gd name="T5" fmla="*/ 2147483647 h 10001"/>
                <a:gd name="T6" fmla="*/ 2147483647 w 10000"/>
                <a:gd name="T7" fmla="*/ 2147483647 h 10001"/>
                <a:gd name="T8" fmla="*/ 2147483647 w 10000"/>
                <a:gd name="T9" fmla="*/ 2147483647 h 10001"/>
                <a:gd name="T10" fmla="*/ 2147483647 w 10000"/>
                <a:gd name="T11" fmla="*/ 2147483647 h 10001"/>
                <a:gd name="T12" fmla="*/ 2147483647 w 10000"/>
                <a:gd name="T13" fmla="*/ 2147483647 h 10001"/>
                <a:gd name="T14" fmla="*/ 2147483647 w 10000"/>
                <a:gd name="T15" fmla="*/ 2147483647 h 10001"/>
                <a:gd name="T16" fmla="*/ 2147483647 w 10000"/>
                <a:gd name="T17" fmla="*/ 2147483647 h 10001"/>
                <a:gd name="T18" fmla="*/ 2147483647 w 10000"/>
                <a:gd name="T19" fmla="*/ 2147483647 h 10001"/>
                <a:gd name="T20" fmla="*/ 2147483647 w 10000"/>
                <a:gd name="T21" fmla="*/ 2147483647 h 10001"/>
                <a:gd name="T22" fmla="*/ 2147483647 w 10000"/>
                <a:gd name="T23" fmla="*/ 2147483647 h 10001"/>
                <a:gd name="T24" fmla="*/ 2147483647 w 10000"/>
                <a:gd name="T25" fmla="*/ 2147483647 h 10001"/>
                <a:gd name="T26" fmla="*/ 2147483647 w 10000"/>
                <a:gd name="T27" fmla="*/ 2147483647 h 10001"/>
                <a:gd name="T28" fmla="*/ 2147483647 w 10000"/>
                <a:gd name="T29" fmla="*/ 0 h 10001"/>
                <a:gd name="T30" fmla="*/ 2147483647 w 10000"/>
                <a:gd name="T31" fmla="*/ 2147483647 h 10001"/>
                <a:gd name="T32" fmla="*/ 2147483647 w 10000"/>
                <a:gd name="T33" fmla="*/ 2147483647 h 10001"/>
                <a:gd name="T34" fmla="*/ 2147483647 w 10000"/>
                <a:gd name="T35" fmla="*/ 2147483647 h 10001"/>
                <a:gd name="T36" fmla="*/ 2147483647 w 10000"/>
                <a:gd name="T37" fmla="*/ 2147483647 h 10001"/>
                <a:gd name="T38" fmla="*/ 2147483647 w 10000"/>
                <a:gd name="T39" fmla="*/ 2147483647 h 10001"/>
                <a:gd name="T40" fmla="*/ 2147483647 w 10000"/>
                <a:gd name="T41" fmla="*/ 2147483647 h 10001"/>
                <a:gd name="T42" fmla="*/ 2147483647 w 10000"/>
                <a:gd name="T43" fmla="*/ 2147483647 h 10001"/>
                <a:gd name="T44" fmla="*/ 2147483647 w 10000"/>
                <a:gd name="T45" fmla="*/ 2147483647 h 10001"/>
                <a:gd name="T46" fmla="*/ 2147483647 w 10000"/>
                <a:gd name="T47" fmla="*/ 2147483647 h 10001"/>
                <a:gd name="T48" fmla="*/ 2147483647 w 10000"/>
                <a:gd name="T49" fmla="*/ 2147483647 h 10001"/>
                <a:gd name="T50" fmla="*/ 2147483647 w 10000"/>
                <a:gd name="T51" fmla="*/ 2147483647 h 10001"/>
                <a:gd name="T52" fmla="*/ 2147483647 w 10000"/>
                <a:gd name="T53" fmla="*/ 2147483647 h 10001"/>
                <a:gd name="T54" fmla="*/ 2147483647 w 10000"/>
                <a:gd name="T55" fmla="*/ 2147483647 h 10001"/>
                <a:gd name="T56" fmla="*/ 2147483647 w 10000"/>
                <a:gd name="T57" fmla="*/ 2147483647 h 10001"/>
                <a:gd name="T58" fmla="*/ 2147483647 w 10000"/>
                <a:gd name="T59" fmla="*/ 2147483647 h 10001"/>
                <a:gd name="T60" fmla="*/ 2147483647 w 10000"/>
                <a:gd name="T61" fmla="*/ 2147483647 h 10001"/>
                <a:gd name="T62" fmla="*/ 2147483647 w 10000"/>
                <a:gd name="T63" fmla="*/ 2147483647 h 10001"/>
                <a:gd name="T64" fmla="*/ 2147483647 w 10000"/>
                <a:gd name="T65" fmla="*/ 2147483647 h 10001"/>
                <a:gd name="T66" fmla="*/ 0 w 10000"/>
                <a:gd name="T67" fmla="*/ 2147483647 h 10001"/>
                <a:gd name="T68" fmla="*/ 806443005 w 10000"/>
                <a:gd name="T69" fmla="*/ 2147483647 h 10001"/>
                <a:gd name="T70" fmla="*/ 2147483647 w 10000"/>
                <a:gd name="T71" fmla="*/ 2147483647 h 10001"/>
                <a:gd name="T72" fmla="*/ 2147483647 w 10000"/>
                <a:gd name="T73" fmla="*/ 2147483647 h 10001"/>
                <a:gd name="T74" fmla="*/ 2147483647 w 10000"/>
                <a:gd name="T75" fmla="*/ 2147483647 h 10001"/>
                <a:gd name="T76" fmla="*/ 2147483647 w 10000"/>
                <a:gd name="T77" fmla="*/ 2147483647 h 10001"/>
                <a:gd name="T78" fmla="*/ 2147483647 w 10000"/>
                <a:gd name="T79" fmla="*/ 2147483647 h 10001"/>
                <a:gd name="T80" fmla="*/ 2147483647 w 10000"/>
                <a:gd name="T81" fmla="*/ 2147483647 h 10001"/>
                <a:gd name="T82" fmla="*/ 2147483647 w 10000"/>
                <a:gd name="T83" fmla="*/ 2147483647 h 10001"/>
                <a:gd name="T84" fmla="*/ 2147483647 w 10000"/>
                <a:gd name="T85" fmla="*/ 2147483647 h 10001"/>
                <a:gd name="T86" fmla="*/ 2147483647 w 10000"/>
                <a:gd name="T87" fmla="*/ 2147483647 h 10001"/>
                <a:gd name="T88" fmla="*/ 2147483647 w 10000"/>
                <a:gd name="T89" fmla="*/ 2147483647 h 10001"/>
                <a:gd name="T90" fmla="*/ 2147483647 w 10000"/>
                <a:gd name="T91" fmla="*/ 2147483647 h 10001"/>
                <a:gd name="T92" fmla="*/ 2147483647 w 10000"/>
                <a:gd name="T93" fmla="*/ 2147483647 h 10001"/>
                <a:gd name="T94" fmla="*/ 2147483647 w 10000"/>
                <a:gd name="T95" fmla="*/ 2147483647 h 10001"/>
                <a:gd name="T96" fmla="*/ 2147483647 w 10000"/>
                <a:gd name="T97" fmla="*/ 2147483647 h 10001"/>
                <a:gd name="T98" fmla="*/ 2147483647 w 10000"/>
                <a:gd name="T99" fmla="*/ 2147483647 h 10001"/>
                <a:gd name="T100" fmla="*/ 2147483647 w 10000"/>
                <a:gd name="T101" fmla="*/ 2147483647 h 10001"/>
                <a:gd name="T102" fmla="*/ 2147483647 w 10000"/>
                <a:gd name="T103" fmla="*/ 2147483647 h 10001"/>
                <a:gd name="T104" fmla="*/ 2147483647 w 10000"/>
                <a:gd name="T105" fmla="*/ 2147483647 h 10001"/>
                <a:gd name="T106" fmla="*/ 2147483647 w 10000"/>
                <a:gd name="T107" fmla="*/ 2147483647 h 10001"/>
                <a:gd name="T108" fmla="*/ 2147483647 w 10000"/>
                <a:gd name="T109" fmla="*/ 2147483647 h 10001"/>
                <a:gd name="T110" fmla="*/ 2147483647 w 10000"/>
                <a:gd name="T111" fmla="*/ 2147483647 h 10001"/>
                <a:gd name="T112" fmla="*/ 2147483647 w 10000"/>
                <a:gd name="T113" fmla="*/ 2147483647 h 10001"/>
                <a:gd name="T114" fmla="*/ 2147483647 w 10000"/>
                <a:gd name="T115" fmla="*/ 2147483647 h 10001"/>
                <a:gd name="T116" fmla="*/ 2147483647 w 10000"/>
                <a:gd name="T117" fmla="*/ 2147483647 h 10001"/>
                <a:gd name="T118" fmla="*/ 2147483647 w 10000"/>
                <a:gd name="T119" fmla="*/ 2147483647 h 10001"/>
                <a:gd name="T120" fmla="*/ 2147483647 w 10000"/>
                <a:gd name="T121" fmla="*/ 2147483647 h 10001"/>
                <a:gd name="T122" fmla="*/ 2147483647 w 10000"/>
                <a:gd name="T123" fmla="*/ 2147483647 h 10001"/>
                <a:gd name="T124" fmla="*/ 2147483647 w 10000"/>
                <a:gd name="T125" fmla="*/ 2147483647 h 1000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0000" h="10001">
                  <a:moveTo>
                    <a:pt x="7581" y="2950"/>
                  </a:moveTo>
                  <a:cubicBezTo>
                    <a:pt x="7635" y="2818"/>
                    <a:pt x="7688" y="2685"/>
                    <a:pt x="7742" y="2552"/>
                  </a:cubicBezTo>
                  <a:lnTo>
                    <a:pt x="8065" y="2312"/>
                  </a:lnTo>
                  <a:lnTo>
                    <a:pt x="9194" y="1754"/>
                  </a:lnTo>
                  <a:lnTo>
                    <a:pt x="9677" y="1595"/>
                  </a:lnTo>
                  <a:lnTo>
                    <a:pt x="10000" y="1116"/>
                  </a:lnTo>
                  <a:lnTo>
                    <a:pt x="9839" y="1037"/>
                  </a:lnTo>
                  <a:lnTo>
                    <a:pt x="9355" y="1197"/>
                  </a:lnTo>
                  <a:lnTo>
                    <a:pt x="8387" y="1435"/>
                  </a:lnTo>
                  <a:lnTo>
                    <a:pt x="7581" y="1356"/>
                  </a:lnTo>
                  <a:cubicBezTo>
                    <a:pt x="7635" y="1170"/>
                    <a:pt x="7688" y="983"/>
                    <a:pt x="7742" y="797"/>
                  </a:cubicBezTo>
                  <a:lnTo>
                    <a:pt x="7258" y="638"/>
                  </a:lnTo>
                  <a:lnTo>
                    <a:pt x="6290" y="479"/>
                  </a:lnTo>
                  <a:lnTo>
                    <a:pt x="5806" y="319"/>
                  </a:lnTo>
                  <a:lnTo>
                    <a:pt x="5323" y="0"/>
                  </a:lnTo>
                  <a:lnTo>
                    <a:pt x="4677" y="81"/>
                  </a:lnTo>
                  <a:lnTo>
                    <a:pt x="4516" y="159"/>
                  </a:lnTo>
                  <a:lnTo>
                    <a:pt x="3710" y="81"/>
                  </a:lnTo>
                  <a:cubicBezTo>
                    <a:pt x="3387" y="81"/>
                    <a:pt x="3476" y="72"/>
                    <a:pt x="3387" y="81"/>
                  </a:cubicBezTo>
                  <a:cubicBezTo>
                    <a:pt x="3298" y="89"/>
                    <a:pt x="3178" y="131"/>
                    <a:pt x="3178" y="131"/>
                  </a:cubicBezTo>
                  <a:cubicBezTo>
                    <a:pt x="3339" y="211"/>
                    <a:pt x="3245" y="168"/>
                    <a:pt x="3226" y="240"/>
                  </a:cubicBezTo>
                  <a:cubicBezTo>
                    <a:pt x="3207" y="310"/>
                    <a:pt x="3065" y="558"/>
                    <a:pt x="3065" y="558"/>
                  </a:cubicBezTo>
                  <a:lnTo>
                    <a:pt x="2581" y="797"/>
                  </a:lnTo>
                  <a:lnTo>
                    <a:pt x="2581" y="1275"/>
                  </a:lnTo>
                  <a:lnTo>
                    <a:pt x="2258" y="1595"/>
                  </a:lnTo>
                  <a:lnTo>
                    <a:pt x="1774" y="2631"/>
                  </a:lnTo>
                  <a:cubicBezTo>
                    <a:pt x="1828" y="2896"/>
                    <a:pt x="1881" y="3163"/>
                    <a:pt x="1935" y="3428"/>
                  </a:cubicBezTo>
                  <a:lnTo>
                    <a:pt x="968" y="4466"/>
                  </a:lnTo>
                  <a:lnTo>
                    <a:pt x="806" y="5582"/>
                  </a:lnTo>
                  <a:lnTo>
                    <a:pt x="806" y="6141"/>
                  </a:lnTo>
                  <a:cubicBezTo>
                    <a:pt x="752" y="6327"/>
                    <a:pt x="699" y="6514"/>
                    <a:pt x="645" y="6699"/>
                  </a:cubicBezTo>
                  <a:lnTo>
                    <a:pt x="968" y="7019"/>
                  </a:lnTo>
                  <a:lnTo>
                    <a:pt x="484" y="8294"/>
                  </a:lnTo>
                  <a:lnTo>
                    <a:pt x="0" y="8852"/>
                  </a:lnTo>
                  <a:cubicBezTo>
                    <a:pt x="54" y="8985"/>
                    <a:pt x="47" y="9085"/>
                    <a:pt x="161" y="9251"/>
                  </a:cubicBezTo>
                  <a:cubicBezTo>
                    <a:pt x="275" y="9417"/>
                    <a:pt x="316" y="9724"/>
                    <a:pt x="685" y="9848"/>
                  </a:cubicBezTo>
                  <a:cubicBezTo>
                    <a:pt x="1054" y="9973"/>
                    <a:pt x="2126" y="10011"/>
                    <a:pt x="2375" y="10000"/>
                  </a:cubicBezTo>
                  <a:cubicBezTo>
                    <a:pt x="2624" y="9989"/>
                    <a:pt x="2202" y="9881"/>
                    <a:pt x="2182" y="9783"/>
                  </a:cubicBezTo>
                  <a:cubicBezTo>
                    <a:pt x="2163" y="9685"/>
                    <a:pt x="2172" y="9527"/>
                    <a:pt x="2258" y="9410"/>
                  </a:cubicBezTo>
                  <a:cubicBezTo>
                    <a:pt x="2345" y="9293"/>
                    <a:pt x="2550" y="9220"/>
                    <a:pt x="2701" y="9082"/>
                  </a:cubicBezTo>
                  <a:cubicBezTo>
                    <a:pt x="2852" y="8944"/>
                    <a:pt x="3004" y="8707"/>
                    <a:pt x="3165" y="8584"/>
                  </a:cubicBezTo>
                  <a:cubicBezTo>
                    <a:pt x="3326" y="8461"/>
                    <a:pt x="3550" y="8459"/>
                    <a:pt x="3668" y="8344"/>
                  </a:cubicBezTo>
                  <a:cubicBezTo>
                    <a:pt x="3786" y="8229"/>
                    <a:pt x="3918" y="7996"/>
                    <a:pt x="3871" y="7895"/>
                  </a:cubicBezTo>
                  <a:cubicBezTo>
                    <a:pt x="3824" y="7794"/>
                    <a:pt x="3548" y="7789"/>
                    <a:pt x="3387" y="7736"/>
                  </a:cubicBezTo>
                  <a:cubicBezTo>
                    <a:pt x="3280" y="7629"/>
                    <a:pt x="3000" y="7495"/>
                    <a:pt x="3065" y="7416"/>
                  </a:cubicBezTo>
                  <a:cubicBezTo>
                    <a:pt x="3130" y="7337"/>
                    <a:pt x="3541" y="7312"/>
                    <a:pt x="3779" y="7260"/>
                  </a:cubicBezTo>
                  <a:cubicBezTo>
                    <a:pt x="3810" y="7153"/>
                    <a:pt x="3875" y="7075"/>
                    <a:pt x="3971" y="6968"/>
                  </a:cubicBezTo>
                  <a:cubicBezTo>
                    <a:pt x="4067" y="6861"/>
                    <a:pt x="4220" y="6700"/>
                    <a:pt x="4355" y="6620"/>
                  </a:cubicBezTo>
                  <a:cubicBezTo>
                    <a:pt x="4490" y="6540"/>
                    <a:pt x="4699" y="6570"/>
                    <a:pt x="4780" y="6490"/>
                  </a:cubicBezTo>
                  <a:cubicBezTo>
                    <a:pt x="4861" y="6410"/>
                    <a:pt x="4853" y="6226"/>
                    <a:pt x="4839" y="6141"/>
                  </a:cubicBezTo>
                  <a:cubicBezTo>
                    <a:pt x="5323" y="5822"/>
                    <a:pt x="5348" y="5984"/>
                    <a:pt x="5437" y="5921"/>
                  </a:cubicBezTo>
                  <a:cubicBezTo>
                    <a:pt x="5526" y="5858"/>
                    <a:pt x="5368" y="5818"/>
                    <a:pt x="5376" y="5762"/>
                  </a:cubicBezTo>
                  <a:cubicBezTo>
                    <a:pt x="5384" y="5706"/>
                    <a:pt x="5412" y="5665"/>
                    <a:pt x="5484" y="5582"/>
                  </a:cubicBezTo>
                  <a:cubicBezTo>
                    <a:pt x="5556" y="5499"/>
                    <a:pt x="5622" y="5319"/>
                    <a:pt x="5806" y="5264"/>
                  </a:cubicBezTo>
                  <a:cubicBezTo>
                    <a:pt x="5990" y="5209"/>
                    <a:pt x="6266" y="5289"/>
                    <a:pt x="6588" y="5253"/>
                  </a:cubicBezTo>
                  <a:cubicBezTo>
                    <a:pt x="6910" y="5217"/>
                    <a:pt x="7468" y="5176"/>
                    <a:pt x="7741" y="5045"/>
                  </a:cubicBezTo>
                  <a:cubicBezTo>
                    <a:pt x="8014" y="4914"/>
                    <a:pt x="8092" y="4629"/>
                    <a:pt x="8226" y="4466"/>
                  </a:cubicBezTo>
                  <a:cubicBezTo>
                    <a:pt x="8361" y="4303"/>
                    <a:pt x="8441" y="4199"/>
                    <a:pt x="8548" y="4066"/>
                  </a:cubicBezTo>
                  <a:lnTo>
                    <a:pt x="8226" y="3748"/>
                  </a:lnTo>
                  <a:cubicBezTo>
                    <a:pt x="8065" y="3668"/>
                    <a:pt x="7825" y="3557"/>
                    <a:pt x="7742" y="3509"/>
                  </a:cubicBezTo>
                  <a:cubicBezTo>
                    <a:pt x="7659" y="3461"/>
                    <a:pt x="7731" y="3475"/>
                    <a:pt x="7726" y="3458"/>
                  </a:cubicBezTo>
                  <a:lnTo>
                    <a:pt x="7581" y="3350"/>
                  </a:lnTo>
                  <a:lnTo>
                    <a:pt x="7581" y="2950"/>
                  </a:ln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80" name="Freeform 177">
              <a:extLst>
                <a:ext uri="{FF2B5EF4-FFF2-40B4-BE49-F238E27FC236}">
                  <a16:creationId xmlns:a16="http://schemas.microsoft.com/office/drawing/2014/main" id="{8E8C943D-A2D2-7143-FE6C-1A2F94E40683}"/>
                </a:ext>
              </a:extLst>
            </p:cNvPr>
            <p:cNvSpPr>
              <a:spLocks/>
            </p:cNvSpPr>
            <p:nvPr/>
          </p:nvSpPr>
          <p:spPr bwMode="auto">
            <a:xfrm>
              <a:off x="2996558" y="4994951"/>
              <a:ext cx="290963" cy="1408393"/>
            </a:xfrm>
            <a:custGeom>
              <a:avLst/>
              <a:gdLst>
                <a:gd name="T0" fmla="*/ 2147483647 w 14463"/>
                <a:gd name="T1" fmla="*/ 2147483647 h 11339"/>
                <a:gd name="T2" fmla="*/ 2147483647 w 14463"/>
                <a:gd name="T3" fmla="*/ 0 h 11339"/>
                <a:gd name="T4" fmla="*/ 2147483647 w 14463"/>
                <a:gd name="T5" fmla="*/ 2147483647 h 11339"/>
                <a:gd name="T6" fmla="*/ 2147483647 w 14463"/>
                <a:gd name="T7" fmla="*/ 2147483647 h 11339"/>
                <a:gd name="T8" fmla="*/ 2147483647 w 14463"/>
                <a:gd name="T9" fmla="*/ 2147483647 h 11339"/>
                <a:gd name="T10" fmla="*/ 2147483647 w 14463"/>
                <a:gd name="T11" fmla="*/ 2147483647 h 11339"/>
                <a:gd name="T12" fmla="*/ 2147483647 w 14463"/>
                <a:gd name="T13" fmla="*/ 2147483647 h 11339"/>
                <a:gd name="T14" fmla="*/ 2147483647 w 14463"/>
                <a:gd name="T15" fmla="*/ 2147483647 h 11339"/>
                <a:gd name="T16" fmla="*/ 2147483647 w 14463"/>
                <a:gd name="T17" fmla="*/ 2147483647 h 11339"/>
                <a:gd name="T18" fmla="*/ 2147483647 w 14463"/>
                <a:gd name="T19" fmla="*/ 2147483647 h 11339"/>
                <a:gd name="T20" fmla="*/ 2147483647 w 14463"/>
                <a:gd name="T21" fmla="*/ 2147483647 h 11339"/>
                <a:gd name="T22" fmla="*/ 2147483647 w 14463"/>
                <a:gd name="T23" fmla="*/ 2147483647 h 11339"/>
                <a:gd name="T24" fmla="*/ 2147483647 w 14463"/>
                <a:gd name="T25" fmla="*/ 2147483647 h 11339"/>
                <a:gd name="T26" fmla="*/ 2147483647 w 14463"/>
                <a:gd name="T27" fmla="*/ 2147483647 h 11339"/>
                <a:gd name="T28" fmla="*/ 2147483647 w 14463"/>
                <a:gd name="T29" fmla="*/ 2147483647 h 11339"/>
                <a:gd name="T30" fmla="*/ 2147483647 w 14463"/>
                <a:gd name="T31" fmla="*/ 2147483647 h 11339"/>
                <a:gd name="T32" fmla="*/ 2147483647 w 14463"/>
                <a:gd name="T33" fmla="*/ 2147483647 h 11339"/>
                <a:gd name="T34" fmla="*/ 2147483647 w 14463"/>
                <a:gd name="T35" fmla="*/ 2147483647 h 11339"/>
                <a:gd name="T36" fmla="*/ 2147483647 w 14463"/>
                <a:gd name="T37" fmla="*/ 2147483647 h 11339"/>
                <a:gd name="T38" fmla="*/ 2147483647 w 14463"/>
                <a:gd name="T39" fmla="*/ 2147483647 h 11339"/>
                <a:gd name="T40" fmla="*/ 2147483647 w 14463"/>
                <a:gd name="T41" fmla="*/ 2147483647 h 11339"/>
                <a:gd name="T42" fmla="*/ 2147483647 w 14463"/>
                <a:gd name="T43" fmla="*/ 2147483647 h 11339"/>
                <a:gd name="T44" fmla="*/ 2147483647 w 14463"/>
                <a:gd name="T45" fmla="*/ 2147483647 h 11339"/>
                <a:gd name="T46" fmla="*/ 2147483647 w 14463"/>
                <a:gd name="T47" fmla="*/ 2147483647 h 11339"/>
                <a:gd name="T48" fmla="*/ 2147483647 w 14463"/>
                <a:gd name="T49" fmla="*/ 2147483647 h 11339"/>
                <a:gd name="T50" fmla="*/ 2147483647 w 14463"/>
                <a:gd name="T51" fmla="*/ 2147483647 h 11339"/>
                <a:gd name="T52" fmla="*/ 2147483647 w 14463"/>
                <a:gd name="T53" fmla="*/ 2147483647 h 11339"/>
                <a:gd name="T54" fmla="*/ 2147483647 w 14463"/>
                <a:gd name="T55" fmla="*/ 2147483647 h 11339"/>
                <a:gd name="T56" fmla="*/ 2147483647 w 14463"/>
                <a:gd name="T57" fmla="*/ 2147483647 h 11339"/>
                <a:gd name="T58" fmla="*/ 2147483647 w 14463"/>
                <a:gd name="T59" fmla="*/ 2147483647 h 11339"/>
                <a:gd name="T60" fmla="*/ 2147483647 w 14463"/>
                <a:gd name="T61" fmla="*/ 2147483647 h 11339"/>
                <a:gd name="T62" fmla="*/ 2147483647 w 14463"/>
                <a:gd name="T63" fmla="*/ 2147483647 h 11339"/>
                <a:gd name="T64" fmla="*/ 0 w 14463"/>
                <a:gd name="T65" fmla="*/ 2147483647 h 11339"/>
                <a:gd name="T66" fmla="*/ 2147483647 w 14463"/>
                <a:gd name="T67" fmla="*/ 2147483647 h 11339"/>
                <a:gd name="T68" fmla="*/ 2147483647 w 14463"/>
                <a:gd name="T69" fmla="*/ 2147483647 h 11339"/>
                <a:gd name="T70" fmla="*/ 2147483647 w 14463"/>
                <a:gd name="T71" fmla="*/ 2147483647 h 11339"/>
                <a:gd name="T72" fmla="*/ 2147483647 w 14463"/>
                <a:gd name="T73" fmla="*/ 2147483647 h 11339"/>
                <a:gd name="T74" fmla="*/ 2147483647 w 14463"/>
                <a:gd name="T75" fmla="*/ 2147483647 h 11339"/>
                <a:gd name="T76" fmla="*/ 2147483647 w 14463"/>
                <a:gd name="T77" fmla="*/ 2147483647 h 11339"/>
                <a:gd name="T78" fmla="*/ 2147483647 w 14463"/>
                <a:gd name="T79" fmla="*/ 2147483647 h 11339"/>
                <a:gd name="T80" fmla="*/ 2147483647 w 14463"/>
                <a:gd name="T81" fmla="*/ 2147483647 h 11339"/>
                <a:gd name="T82" fmla="*/ 2147483647 w 14463"/>
                <a:gd name="T83" fmla="*/ 2147483647 h 11339"/>
                <a:gd name="T84" fmla="*/ 2147483647 w 14463"/>
                <a:gd name="T85" fmla="*/ 2147483647 h 1133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4463" h="11339">
                  <a:moveTo>
                    <a:pt x="8188" y="209"/>
                  </a:moveTo>
                  <a:lnTo>
                    <a:pt x="8780" y="0"/>
                  </a:lnTo>
                  <a:lnTo>
                    <a:pt x="10217" y="207"/>
                  </a:lnTo>
                  <a:cubicBezTo>
                    <a:pt x="10556" y="264"/>
                    <a:pt x="10640" y="126"/>
                    <a:pt x="10761" y="229"/>
                  </a:cubicBezTo>
                  <a:cubicBezTo>
                    <a:pt x="10936" y="271"/>
                    <a:pt x="11461" y="322"/>
                    <a:pt x="11696" y="417"/>
                  </a:cubicBezTo>
                  <a:cubicBezTo>
                    <a:pt x="11902" y="494"/>
                    <a:pt x="11642" y="593"/>
                    <a:pt x="11730" y="676"/>
                  </a:cubicBezTo>
                  <a:cubicBezTo>
                    <a:pt x="11818" y="759"/>
                    <a:pt x="12063" y="841"/>
                    <a:pt x="12227" y="913"/>
                  </a:cubicBezTo>
                  <a:lnTo>
                    <a:pt x="12983" y="1126"/>
                  </a:lnTo>
                  <a:lnTo>
                    <a:pt x="12748" y="1307"/>
                  </a:lnTo>
                  <a:cubicBezTo>
                    <a:pt x="12663" y="1515"/>
                    <a:pt x="11910" y="1697"/>
                    <a:pt x="11825" y="1905"/>
                  </a:cubicBezTo>
                  <a:lnTo>
                    <a:pt x="10725" y="2530"/>
                  </a:lnTo>
                  <a:lnTo>
                    <a:pt x="10429" y="2947"/>
                  </a:lnTo>
                  <a:cubicBezTo>
                    <a:pt x="10471" y="3165"/>
                    <a:pt x="10514" y="3383"/>
                    <a:pt x="10556" y="3601"/>
                  </a:cubicBezTo>
                  <a:lnTo>
                    <a:pt x="10852" y="3839"/>
                  </a:lnTo>
                  <a:lnTo>
                    <a:pt x="10345" y="3839"/>
                  </a:lnTo>
                  <a:lnTo>
                    <a:pt x="11191" y="4197"/>
                  </a:lnTo>
                  <a:cubicBezTo>
                    <a:pt x="11149" y="4405"/>
                    <a:pt x="11106" y="4613"/>
                    <a:pt x="11064" y="4821"/>
                  </a:cubicBezTo>
                  <a:lnTo>
                    <a:pt x="10599" y="5030"/>
                  </a:lnTo>
                  <a:lnTo>
                    <a:pt x="9456" y="5298"/>
                  </a:lnTo>
                  <a:lnTo>
                    <a:pt x="8822" y="6012"/>
                  </a:lnTo>
                  <a:lnTo>
                    <a:pt x="8272" y="6161"/>
                  </a:lnTo>
                  <a:lnTo>
                    <a:pt x="8526" y="6429"/>
                  </a:lnTo>
                  <a:lnTo>
                    <a:pt x="8145" y="7084"/>
                  </a:lnTo>
                  <a:lnTo>
                    <a:pt x="7299" y="7768"/>
                  </a:lnTo>
                  <a:lnTo>
                    <a:pt x="7383" y="8155"/>
                  </a:lnTo>
                  <a:lnTo>
                    <a:pt x="7680" y="8393"/>
                  </a:lnTo>
                  <a:cubicBezTo>
                    <a:pt x="7624" y="8571"/>
                    <a:pt x="7567" y="8750"/>
                    <a:pt x="7511" y="8928"/>
                  </a:cubicBezTo>
                  <a:lnTo>
                    <a:pt x="7003" y="9465"/>
                  </a:lnTo>
                  <a:lnTo>
                    <a:pt x="10190" y="10380"/>
                  </a:lnTo>
                  <a:cubicBezTo>
                    <a:pt x="10685" y="10621"/>
                    <a:pt x="15360" y="10855"/>
                    <a:pt x="14311" y="11050"/>
                  </a:cubicBezTo>
                  <a:cubicBezTo>
                    <a:pt x="11744" y="11422"/>
                    <a:pt x="9928" y="11345"/>
                    <a:pt x="8880" y="11304"/>
                  </a:cubicBezTo>
                  <a:lnTo>
                    <a:pt x="3686" y="10662"/>
                  </a:lnTo>
                  <a:lnTo>
                    <a:pt x="0" y="9499"/>
                  </a:lnTo>
                  <a:lnTo>
                    <a:pt x="1492" y="8492"/>
                  </a:lnTo>
                  <a:lnTo>
                    <a:pt x="2079" y="7943"/>
                  </a:lnTo>
                  <a:lnTo>
                    <a:pt x="4644" y="6748"/>
                  </a:lnTo>
                  <a:cubicBezTo>
                    <a:pt x="4630" y="6430"/>
                    <a:pt x="2665" y="7030"/>
                    <a:pt x="2651" y="6712"/>
                  </a:cubicBezTo>
                  <a:lnTo>
                    <a:pt x="4099" y="5323"/>
                  </a:lnTo>
                  <a:lnTo>
                    <a:pt x="5760" y="4554"/>
                  </a:lnTo>
                  <a:cubicBezTo>
                    <a:pt x="5651" y="3371"/>
                    <a:pt x="6192" y="4301"/>
                    <a:pt x="6082" y="3119"/>
                  </a:cubicBezTo>
                  <a:lnTo>
                    <a:pt x="7891" y="1548"/>
                  </a:lnTo>
                  <a:lnTo>
                    <a:pt x="8314" y="982"/>
                  </a:lnTo>
                  <a:lnTo>
                    <a:pt x="8188" y="209"/>
                  </a:ln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81" name="Freeform 178">
              <a:extLst>
                <a:ext uri="{FF2B5EF4-FFF2-40B4-BE49-F238E27FC236}">
                  <a16:creationId xmlns:a16="http://schemas.microsoft.com/office/drawing/2014/main" id="{C60F8133-E948-D195-3E44-D903BB727676}"/>
                </a:ext>
              </a:extLst>
            </p:cNvPr>
            <p:cNvSpPr>
              <a:spLocks/>
            </p:cNvSpPr>
            <p:nvPr/>
          </p:nvSpPr>
          <p:spPr bwMode="auto">
            <a:xfrm>
              <a:off x="3380707" y="5057503"/>
              <a:ext cx="239617" cy="223675"/>
            </a:xfrm>
            <a:custGeom>
              <a:avLst/>
              <a:gdLst>
                <a:gd name="T0" fmla="*/ 2147483647 w 168"/>
                <a:gd name="T1" fmla="*/ 0 h 156"/>
                <a:gd name="T2" fmla="*/ 0 w 168"/>
                <a:gd name="T3" fmla="*/ 2147483647 h 156"/>
                <a:gd name="T4" fmla="*/ 0 w 168"/>
                <a:gd name="T5" fmla="*/ 2147483647 h 156"/>
                <a:gd name="T6" fmla="*/ 2147483647 w 168"/>
                <a:gd name="T7" fmla="*/ 2147483647 h 156"/>
                <a:gd name="T8" fmla="*/ 2147483647 w 168"/>
                <a:gd name="T9" fmla="*/ 2147483647 h 156"/>
                <a:gd name="T10" fmla="*/ 2147483647 w 168"/>
                <a:gd name="T11" fmla="*/ 2147483647 h 156"/>
                <a:gd name="T12" fmla="*/ 2147483647 w 168"/>
                <a:gd name="T13" fmla="*/ 2147483647 h 156"/>
                <a:gd name="T14" fmla="*/ 2147483647 w 168"/>
                <a:gd name="T15" fmla="*/ 2147483647 h 156"/>
                <a:gd name="T16" fmla="*/ 2147483647 w 168"/>
                <a:gd name="T17" fmla="*/ 2147483647 h 156"/>
                <a:gd name="T18" fmla="*/ 2147483647 w 168"/>
                <a:gd name="T19" fmla="*/ 2147483647 h 156"/>
                <a:gd name="T20" fmla="*/ 2147483647 w 168"/>
                <a:gd name="T21" fmla="*/ 2147483647 h 156"/>
                <a:gd name="T22" fmla="*/ 2147483647 w 168"/>
                <a:gd name="T23" fmla="*/ 2147483647 h 156"/>
                <a:gd name="T24" fmla="*/ 2147483647 w 168"/>
                <a:gd name="T25" fmla="*/ 2147483647 h 156"/>
                <a:gd name="T26" fmla="*/ 2147483647 w 168"/>
                <a:gd name="T27" fmla="*/ 2147483647 h 156"/>
                <a:gd name="T28" fmla="*/ 2147483647 w 168"/>
                <a:gd name="T29" fmla="*/ 2147483647 h 156"/>
                <a:gd name="T30" fmla="*/ 2147483647 w 168"/>
                <a:gd name="T31" fmla="*/ 2147483647 h 156"/>
                <a:gd name="T32" fmla="*/ 2147483647 w 168"/>
                <a:gd name="T33" fmla="*/ 2147483647 h 156"/>
                <a:gd name="T34" fmla="*/ 2147483647 w 168"/>
                <a:gd name="T35" fmla="*/ 2147483647 h 156"/>
                <a:gd name="T36" fmla="*/ 2147483647 w 168"/>
                <a:gd name="T37" fmla="*/ 0 h 156"/>
                <a:gd name="T38" fmla="*/ 2147483647 w 168"/>
                <a:gd name="T39" fmla="*/ 0 h 1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68" h="156">
                  <a:moveTo>
                    <a:pt x="48" y="0"/>
                  </a:moveTo>
                  <a:lnTo>
                    <a:pt x="0" y="36"/>
                  </a:lnTo>
                  <a:lnTo>
                    <a:pt x="0" y="48"/>
                  </a:lnTo>
                  <a:lnTo>
                    <a:pt x="18" y="72"/>
                  </a:lnTo>
                  <a:lnTo>
                    <a:pt x="36" y="84"/>
                  </a:lnTo>
                  <a:lnTo>
                    <a:pt x="72" y="96"/>
                  </a:lnTo>
                  <a:lnTo>
                    <a:pt x="90" y="108"/>
                  </a:lnTo>
                  <a:lnTo>
                    <a:pt x="84" y="150"/>
                  </a:lnTo>
                  <a:lnTo>
                    <a:pt x="114" y="156"/>
                  </a:lnTo>
                  <a:lnTo>
                    <a:pt x="150" y="138"/>
                  </a:lnTo>
                  <a:lnTo>
                    <a:pt x="168" y="126"/>
                  </a:lnTo>
                  <a:lnTo>
                    <a:pt x="162" y="114"/>
                  </a:lnTo>
                  <a:lnTo>
                    <a:pt x="162" y="90"/>
                  </a:lnTo>
                  <a:lnTo>
                    <a:pt x="144" y="84"/>
                  </a:lnTo>
                  <a:lnTo>
                    <a:pt x="120" y="54"/>
                  </a:lnTo>
                  <a:lnTo>
                    <a:pt x="108" y="42"/>
                  </a:lnTo>
                  <a:lnTo>
                    <a:pt x="90" y="12"/>
                  </a:lnTo>
                  <a:lnTo>
                    <a:pt x="90" y="6"/>
                  </a:lnTo>
                  <a:lnTo>
                    <a:pt x="78" y="0"/>
                  </a:lnTo>
                  <a:lnTo>
                    <a:pt x="48" y="0"/>
                  </a:ln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82" name="Freeform 179">
              <a:extLst>
                <a:ext uri="{FF2B5EF4-FFF2-40B4-BE49-F238E27FC236}">
                  <a16:creationId xmlns:a16="http://schemas.microsoft.com/office/drawing/2014/main" id="{53C8B623-D6FA-4E54-041A-A0C47847BA93}"/>
                </a:ext>
              </a:extLst>
            </p:cNvPr>
            <p:cNvSpPr>
              <a:spLocks/>
            </p:cNvSpPr>
            <p:nvPr/>
          </p:nvSpPr>
          <p:spPr bwMode="auto">
            <a:xfrm>
              <a:off x="3196239" y="4809187"/>
              <a:ext cx="319490" cy="343094"/>
            </a:xfrm>
            <a:custGeom>
              <a:avLst/>
              <a:gdLst>
                <a:gd name="T0" fmla="*/ 2147483647 w 10141"/>
                <a:gd name="T1" fmla="*/ 2147483647 h 10000"/>
                <a:gd name="T2" fmla="*/ 2147483647 w 10141"/>
                <a:gd name="T3" fmla="*/ 2147483647 h 10000"/>
                <a:gd name="T4" fmla="*/ 2147483647 w 10141"/>
                <a:gd name="T5" fmla="*/ 2147483647 h 10000"/>
                <a:gd name="T6" fmla="*/ 2147483647 w 10141"/>
                <a:gd name="T7" fmla="*/ 2147483647 h 10000"/>
                <a:gd name="T8" fmla="*/ 2147483647 w 10141"/>
                <a:gd name="T9" fmla="*/ 2147483647 h 10000"/>
                <a:gd name="T10" fmla="*/ 2147483647 w 10141"/>
                <a:gd name="T11" fmla="*/ 2147483647 h 10000"/>
                <a:gd name="T12" fmla="*/ 2147483647 w 10141"/>
                <a:gd name="T13" fmla="*/ 2147483647 h 10000"/>
                <a:gd name="T14" fmla="*/ 2147483647 w 10141"/>
                <a:gd name="T15" fmla="*/ 2147483647 h 10000"/>
                <a:gd name="T16" fmla="*/ 2147483647 w 10141"/>
                <a:gd name="T17" fmla="*/ 2147483647 h 10000"/>
                <a:gd name="T18" fmla="*/ 2147483647 w 10141"/>
                <a:gd name="T19" fmla="*/ 2147483647 h 10000"/>
                <a:gd name="T20" fmla="*/ 2147483647 w 10141"/>
                <a:gd name="T21" fmla="*/ 2147483647 h 10000"/>
                <a:gd name="T22" fmla="*/ 2147483647 w 10141"/>
                <a:gd name="T23" fmla="*/ 2147483647 h 10000"/>
                <a:gd name="T24" fmla="*/ 2147483647 w 10141"/>
                <a:gd name="T25" fmla="*/ 2147483647 h 10000"/>
                <a:gd name="T26" fmla="*/ 2147483647 w 10141"/>
                <a:gd name="T27" fmla="*/ 0 h 10000"/>
                <a:gd name="T28" fmla="*/ 2147483647 w 10141"/>
                <a:gd name="T29" fmla="*/ 2147483647 h 10000"/>
                <a:gd name="T30" fmla="*/ 2147483647 w 10141"/>
                <a:gd name="T31" fmla="*/ 2147483647 h 10000"/>
                <a:gd name="T32" fmla="*/ 2147483647 w 10141"/>
                <a:gd name="T33" fmla="*/ 2147483647 h 10000"/>
                <a:gd name="T34" fmla="*/ 2147483647 w 10141"/>
                <a:gd name="T35" fmla="*/ 2147483647 h 10000"/>
                <a:gd name="T36" fmla="*/ 2147483647 w 10141"/>
                <a:gd name="T37" fmla="*/ 2147483647 h 10000"/>
                <a:gd name="T38" fmla="*/ 2147483647 w 10141"/>
                <a:gd name="T39" fmla="*/ 2147483647 h 10000"/>
                <a:gd name="T40" fmla="*/ 2147483647 w 10141"/>
                <a:gd name="T41" fmla="*/ 2147483647 h 10000"/>
                <a:gd name="T42" fmla="*/ 2147483647 w 10141"/>
                <a:gd name="T43" fmla="*/ 2147483647 h 10000"/>
                <a:gd name="T44" fmla="*/ 2147483647 w 10141"/>
                <a:gd name="T45" fmla="*/ 2147483647 h 10000"/>
                <a:gd name="T46" fmla="*/ 2147483647 w 10141"/>
                <a:gd name="T47" fmla="*/ 2147483647 h 10000"/>
                <a:gd name="T48" fmla="*/ 2147483647 w 10141"/>
                <a:gd name="T49" fmla="*/ 2147483647 h 10000"/>
                <a:gd name="T50" fmla="*/ 2147483647 w 10141"/>
                <a:gd name="T51" fmla="*/ 2147483647 h 10000"/>
                <a:gd name="T52" fmla="*/ 2147483647 w 10141"/>
                <a:gd name="T53" fmla="*/ 2147483647 h 10000"/>
                <a:gd name="T54" fmla="*/ 2147483647 w 10141"/>
                <a:gd name="T55" fmla="*/ 2147483647 h 10000"/>
                <a:gd name="T56" fmla="*/ 2147483647 w 10141"/>
                <a:gd name="T57" fmla="*/ 2147483647 h 10000"/>
                <a:gd name="T58" fmla="*/ 2147483647 w 10141"/>
                <a:gd name="T59" fmla="*/ 2147483647 h 10000"/>
                <a:gd name="T60" fmla="*/ 2147483647 w 10141"/>
                <a:gd name="T61" fmla="*/ 2147483647 h 1000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0141" h="10000">
                  <a:moveTo>
                    <a:pt x="6087" y="9512"/>
                  </a:moveTo>
                  <a:lnTo>
                    <a:pt x="6087" y="9024"/>
                  </a:lnTo>
                  <a:lnTo>
                    <a:pt x="8249" y="7561"/>
                  </a:lnTo>
                  <a:lnTo>
                    <a:pt x="9600" y="7561"/>
                  </a:lnTo>
                  <a:lnTo>
                    <a:pt x="10141" y="7805"/>
                  </a:lnTo>
                  <a:lnTo>
                    <a:pt x="10141" y="6098"/>
                  </a:lnTo>
                  <a:lnTo>
                    <a:pt x="10141" y="5122"/>
                  </a:lnTo>
                  <a:cubicBezTo>
                    <a:pt x="10141" y="5122"/>
                    <a:pt x="8790" y="4878"/>
                    <a:pt x="8519" y="4878"/>
                  </a:cubicBezTo>
                  <a:lnTo>
                    <a:pt x="7979" y="4146"/>
                  </a:lnTo>
                  <a:lnTo>
                    <a:pt x="7979" y="3171"/>
                  </a:lnTo>
                  <a:lnTo>
                    <a:pt x="6087" y="2439"/>
                  </a:lnTo>
                  <a:lnTo>
                    <a:pt x="4465" y="1707"/>
                  </a:lnTo>
                  <a:lnTo>
                    <a:pt x="4195" y="244"/>
                  </a:lnTo>
                  <a:lnTo>
                    <a:pt x="2573" y="0"/>
                  </a:lnTo>
                  <a:lnTo>
                    <a:pt x="1492" y="732"/>
                  </a:lnTo>
                  <a:lnTo>
                    <a:pt x="411" y="976"/>
                  </a:lnTo>
                  <a:cubicBezTo>
                    <a:pt x="591" y="1220"/>
                    <a:pt x="924" y="1260"/>
                    <a:pt x="952" y="1707"/>
                  </a:cubicBezTo>
                  <a:cubicBezTo>
                    <a:pt x="980" y="2154"/>
                    <a:pt x="691" y="3085"/>
                    <a:pt x="578" y="3659"/>
                  </a:cubicBezTo>
                  <a:cubicBezTo>
                    <a:pt x="465" y="4234"/>
                    <a:pt x="368" y="4765"/>
                    <a:pt x="272" y="5154"/>
                  </a:cubicBezTo>
                  <a:cubicBezTo>
                    <a:pt x="176" y="5543"/>
                    <a:pt x="-27" y="5787"/>
                    <a:pt x="2" y="5992"/>
                  </a:cubicBezTo>
                  <a:cubicBezTo>
                    <a:pt x="31" y="6197"/>
                    <a:pt x="243" y="6244"/>
                    <a:pt x="446" y="6383"/>
                  </a:cubicBezTo>
                  <a:cubicBezTo>
                    <a:pt x="649" y="6522"/>
                    <a:pt x="1138" y="6592"/>
                    <a:pt x="1222" y="6829"/>
                  </a:cubicBezTo>
                  <a:cubicBezTo>
                    <a:pt x="1306" y="7066"/>
                    <a:pt x="1042" y="7480"/>
                    <a:pt x="952" y="7805"/>
                  </a:cubicBezTo>
                  <a:lnTo>
                    <a:pt x="2033" y="9512"/>
                  </a:lnTo>
                  <a:lnTo>
                    <a:pt x="2303" y="10000"/>
                  </a:lnTo>
                  <a:lnTo>
                    <a:pt x="2844" y="9756"/>
                  </a:lnTo>
                  <a:lnTo>
                    <a:pt x="3384" y="9756"/>
                  </a:lnTo>
                  <a:lnTo>
                    <a:pt x="4736" y="10000"/>
                  </a:lnTo>
                  <a:lnTo>
                    <a:pt x="5006" y="9756"/>
                  </a:lnTo>
                  <a:lnTo>
                    <a:pt x="6087" y="9512"/>
                  </a:lnTo>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83" name="Freeform 180">
              <a:extLst>
                <a:ext uri="{FF2B5EF4-FFF2-40B4-BE49-F238E27FC236}">
                  <a16:creationId xmlns:a16="http://schemas.microsoft.com/office/drawing/2014/main" id="{D8FE7AEA-FDB6-5CF2-AD22-8D9C287B074D}"/>
                </a:ext>
              </a:extLst>
            </p:cNvPr>
            <p:cNvSpPr>
              <a:spLocks/>
            </p:cNvSpPr>
            <p:nvPr/>
          </p:nvSpPr>
          <p:spPr bwMode="auto">
            <a:xfrm>
              <a:off x="3420642" y="4289806"/>
              <a:ext cx="140728" cy="214197"/>
            </a:xfrm>
            <a:custGeom>
              <a:avLst/>
              <a:gdLst>
                <a:gd name="T0" fmla="*/ 2147483647 w 90"/>
                <a:gd name="T1" fmla="*/ 2147483647 h 138"/>
                <a:gd name="T2" fmla="*/ 2147483647 w 90"/>
                <a:gd name="T3" fmla="*/ 2147483647 h 138"/>
                <a:gd name="T4" fmla="*/ 2147483647 w 90"/>
                <a:gd name="T5" fmla="*/ 2147483647 h 138"/>
                <a:gd name="T6" fmla="*/ 2147483647 w 90"/>
                <a:gd name="T7" fmla="*/ 2147483647 h 138"/>
                <a:gd name="T8" fmla="*/ 2147483647 w 90"/>
                <a:gd name="T9" fmla="*/ 2147483647 h 138"/>
                <a:gd name="T10" fmla="*/ 2147483647 w 90"/>
                <a:gd name="T11" fmla="*/ 2147483647 h 138"/>
                <a:gd name="T12" fmla="*/ 2147483647 w 90"/>
                <a:gd name="T13" fmla="*/ 2147483647 h 138"/>
                <a:gd name="T14" fmla="*/ 2147483647 w 90"/>
                <a:gd name="T15" fmla="*/ 0 h 138"/>
                <a:gd name="T16" fmla="*/ 2147483647 w 90"/>
                <a:gd name="T17" fmla="*/ 2147483647 h 138"/>
                <a:gd name="T18" fmla="*/ 0 w 90"/>
                <a:gd name="T19" fmla="*/ 2147483647 h 138"/>
                <a:gd name="T20" fmla="*/ 2147483647 w 90"/>
                <a:gd name="T21" fmla="*/ 2147483647 h 138"/>
                <a:gd name="T22" fmla="*/ 2147483647 w 90"/>
                <a:gd name="T23" fmla="*/ 2147483647 h 138"/>
                <a:gd name="T24" fmla="*/ 2147483647 w 90"/>
                <a:gd name="T25" fmla="*/ 2147483647 h 138"/>
                <a:gd name="T26" fmla="*/ 2147483647 w 90"/>
                <a:gd name="T27" fmla="*/ 2147483647 h 138"/>
                <a:gd name="T28" fmla="*/ 2147483647 w 90"/>
                <a:gd name="T29" fmla="*/ 2147483647 h 138"/>
                <a:gd name="T30" fmla="*/ 2147483647 w 90"/>
                <a:gd name="T31" fmla="*/ 2147483647 h 138"/>
                <a:gd name="T32" fmla="*/ 2147483647 w 90"/>
                <a:gd name="T33" fmla="*/ 2147483647 h 138"/>
                <a:gd name="T34" fmla="*/ 2147483647 w 90"/>
                <a:gd name="T35" fmla="*/ 2147483647 h 1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90" h="138">
                  <a:moveTo>
                    <a:pt x="90" y="126"/>
                  </a:moveTo>
                  <a:lnTo>
                    <a:pt x="78" y="102"/>
                  </a:lnTo>
                  <a:lnTo>
                    <a:pt x="66" y="78"/>
                  </a:lnTo>
                  <a:lnTo>
                    <a:pt x="84" y="60"/>
                  </a:lnTo>
                  <a:lnTo>
                    <a:pt x="90" y="42"/>
                  </a:lnTo>
                  <a:lnTo>
                    <a:pt x="66" y="36"/>
                  </a:lnTo>
                  <a:lnTo>
                    <a:pt x="60" y="18"/>
                  </a:lnTo>
                  <a:lnTo>
                    <a:pt x="36" y="0"/>
                  </a:lnTo>
                  <a:lnTo>
                    <a:pt x="12" y="24"/>
                  </a:lnTo>
                  <a:lnTo>
                    <a:pt x="0" y="42"/>
                  </a:lnTo>
                  <a:lnTo>
                    <a:pt x="6" y="60"/>
                  </a:lnTo>
                  <a:lnTo>
                    <a:pt x="18" y="66"/>
                  </a:lnTo>
                  <a:lnTo>
                    <a:pt x="30" y="84"/>
                  </a:lnTo>
                  <a:lnTo>
                    <a:pt x="24" y="120"/>
                  </a:lnTo>
                  <a:lnTo>
                    <a:pt x="42" y="138"/>
                  </a:lnTo>
                  <a:lnTo>
                    <a:pt x="60" y="132"/>
                  </a:lnTo>
                  <a:lnTo>
                    <a:pt x="90" y="126"/>
                  </a:lnTo>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84" name="Freeform 181">
              <a:extLst>
                <a:ext uri="{FF2B5EF4-FFF2-40B4-BE49-F238E27FC236}">
                  <a16:creationId xmlns:a16="http://schemas.microsoft.com/office/drawing/2014/main" id="{C98CFAFA-FA58-A38A-6EE8-224AEE1FC0CF}"/>
                </a:ext>
              </a:extLst>
            </p:cNvPr>
            <p:cNvSpPr>
              <a:spLocks/>
            </p:cNvSpPr>
            <p:nvPr/>
          </p:nvSpPr>
          <p:spPr bwMode="auto">
            <a:xfrm>
              <a:off x="3639341" y="4365628"/>
              <a:ext cx="91283" cy="111837"/>
            </a:xfrm>
            <a:custGeom>
              <a:avLst/>
              <a:gdLst>
                <a:gd name="T0" fmla="*/ 2147483647 w 60"/>
                <a:gd name="T1" fmla="*/ 2147483647 h 72"/>
                <a:gd name="T2" fmla="*/ 2147483647 w 60"/>
                <a:gd name="T3" fmla="*/ 2147483647 h 72"/>
                <a:gd name="T4" fmla="*/ 2147483647 w 60"/>
                <a:gd name="T5" fmla="*/ 2147483647 h 72"/>
                <a:gd name="T6" fmla="*/ 2147483647 w 60"/>
                <a:gd name="T7" fmla="*/ 2147483647 h 72"/>
                <a:gd name="T8" fmla="*/ 2147483647 w 60"/>
                <a:gd name="T9" fmla="*/ 2147483647 h 72"/>
                <a:gd name="T10" fmla="*/ 2147483647 w 60"/>
                <a:gd name="T11" fmla="*/ 0 h 72"/>
                <a:gd name="T12" fmla="*/ 2147483647 w 60"/>
                <a:gd name="T13" fmla="*/ 0 h 72"/>
                <a:gd name="T14" fmla="*/ 0 w 60"/>
                <a:gd name="T15" fmla="*/ 2147483647 h 72"/>
                <a:gd name="T16" fmla="*/ 2147483647 w 60"/>
                <a:gd name="T17" fmla="*/ 2147483647 h 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72">
                  <a:moveTo>
                    <a:pt x="6" y="42"/>
                  </a:moveTo>
                  <a:lnTo>
                    <a:pt x="6" y="66"/>
                  </a:lnTo>
                  <a:lnTo>
                    <a:pt x="12" y="72"/>
                  </a:lnTo>
                  <a:lnTo>
                    <a:pt x="36" y="60"/>
                  </a:lnTo>
                  <a:lnTo>
                    <a:pt x="60" y="24"/>
                  </a:lnTo>
                  <a:lnTo>
                    <a:pt x="18" y="0"/>
                  </a:lnTo>
                  <a:lnTo>
                    <a:pt x="6" y="0"/>
                  </a:lnTo>
                  <a:lnTo>
                    <a:pt x="0" y="18"/>
                  </a:lnTo>
                  <a:lnTo>
                    <a:pt x="6" y="42"/>
                  </a:ln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85" name="Freeform 182">
              <a:extLst>
                <a:ext uri="{FF2B5EF4-FFF2-40B4-BE49-F238E27FC236}">
                  <a16:creationId xmlns:a16="http://schemas.microsoft.com/office/drawing/2014/main" id="{A7F8D530-B80A-8F9B-DC6E-7CD868772E66}"/>
                </a:ext>
              </a:extLst>
            </p:cNvPr>
            <p:cNvSpPr>
              <a:spLocks/>
            </p:cNvSpPr>
            <p:nvPr/>
          </p:nvSpPr>
          <p:spPr bwMode="auto">
            <a:xfrm>
              <a:off x="3527139" y="4361837"/>
              <a:ext cx="116006" cy="130792"/>
            </a:xfrm>
            <a:custGeom>
              <a:avLst/>
              <a:gdLst>
                <a:gd name="T0" fmla="*/ 2147483647 w 72"/>
                <a:gd name="T1" fmla="*/ 2147483647 h 84"/>
                <a:gd name="T2" fmla="*/ 2147483647 w 72"/>
                <a:gd name="T3" fmla="*/ 2147483647 h 84"/>
                <a:gd name="T4" fmla="*/ 2147483647 w 72"/>
                <a:gd name="T5" fmla="*/ 2147483647 h 84"/>
                <a:gd name="T6" fmla="*/ 2147483647 w 72"/>
                <a:gd name="T7" fmla="*/ 2147483647 h 84"/>
                <a:gd name="T8" fmla="*/ 2147483647 w 72"/>
                <a:gd name="T9" fmla="*/ 2147483647 h 84"/>
                <a:gd name="T10" fmla="*/ 2147483647 w 72"/>
                <a:gd name="T11" fmla="*/ 0 h 84"/>
                <a:gd name="T12" fmla="*/ 2147483647 w 72"/>
                <a:gd name="T13" fmla="*/ 2147483647 h 84"/>
                <a:gd name="T14" fmla="*/ 0 w 72"/>
                <a:gd name="T15" fmla="*/ 2147483647 h 84"/>
                <a:gd name="T16" fmla="*/ 2147483647 w 72"/>
                <a:gd name="T17" fmla="*/ 2147483647 h 84"/>
                <a:gd name="T18" fmla="*/ 2147483647 w 72"/>
                <a:gd name="T19" fmla="*/ 2147483647 h 84"/>
                <a:gd name="T20" fmla="*/ 2147483647 w 72"/>
                <a:gd name="T21" fmla="*/ 2147483647 h 84"/>
                <a:gd name="T22" fmla="*/ 2147483647 w 72"/>
                <a:gd name="T23" fmla="*/ 2147483647 h 84"/>
                <a:gd name="T24" fmla="*/ 2147483647 w 72"/>
                <a:gd name="T25" fmla="*/ 2147483647 h 84"/>
                <a:gd name="T26" fmla="*/ 2147483647 w 72"/>
                <a:gd name="T27" fmla="*/ 2147483647 h 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2" h="84">
                  <a:moveTo>
                    <a:pt x="72" y="78"/>
                  </a:moveTo>
                  <a:lnTo>
                    <a:pt x="72" y="54"/>
                  </a:lnTo>
                  <a:lnTo>
                    <a:pt x="66" y="30"/>
                  </a:lnTo>
                  <a:lnTo>
                    <a:pt x="72" y="12"/>
                  </a:lnTo>
                  <a:lnTo>
                    <a:pt x="24" y="6"/>
                  </a:lnTo>
                  <a:lnTo>
                    <a:pt x="24" y="0"/>
                  </a:lnTo>
                  <a:lnTo>
                    <a:pt x="18" y="18"/>
                  </a:lnTo>
                  <a:lnTo>
                    <a:pt x="0" y="36"/>
                  </a:lnTo>
                  <a:lnTo>
                    <a:pt x="12" y="60"/>
                  </a:lnTo>
                  <a:lnTo>
                    <a:pt x="24" y="84"/>
                  </a:lnTo>
                  <a:lnTo>
                    <a:pt x="30" y="84"/>
                  </a:lnTo>
                  <a:lnTo>
                    <a:pt x="42" y="78"/>
                  </a:lnTo>
                  <a:lnTo>
                    <a:pt x="72" y="78"/>
                  </a:lnTo>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86" name="Freeform 183">
              <a:extLst>
                <a:ext uri="{FF2B5EF4-FFF2-40B4-BE49-F238E27FC236}">
                  <a16:creationId xmlns:a16="http://schemas.microsoft.com/office/drawing/2014/main" id="{4E9E21DA-1B87-4085-171C-1C301AB28A12}"/>
                </a:ext>
              </a:extLst>
            </p:cNvPr>
            <p:cNvSpPr>
              <a:spLocks/>
            </p:cNvSpPr>
            <p:nvPr/>
          </p:nvSpPr>
          <p:spPr bwMode="auto">
            <a:xfrm>
              <a:off x="3091645" y="4189341"/>
              <a:ext cx="399362" cy="335513"/>
            </a:xfrm>
            <a:custGeom>
              <a:avLst/>
              <a:gdLst>
                <a:gd name="T0" fmla="*/ 2147483647 w 43"/>
                <a:gd name="T1" fmla="*/ 2147483647 h 36"/>
                <a:gd name="T2" fmla="*/ 2147483647 w 43"/>
                <a:gd name="T3" fmla="*/ 2147483647 h 36"/>
                <a:gd name="T4" fmla="*/ 2147483647 w 43"/>
                <a:gd name="T5" fmla="*/ 2147483647 h 36"/>
                <a:gd name="T6" fmla="*/ 2147483647 w 43"/>
                <a:gd name="T7" fmla="*/ 2147483647 h 36"/>
                <a:gd name="T8" fmla="*/ 2147483647 w 43"/>
                <a:gd name="T9" fmla="*/ 2147483647 h 36"/>
                <a:gd name="T10" fmla="*/ 2147483647 w 43"/>
                <a:gd name="T11" fmla="*/ 2147483647 h 36"/>
                <a:gd name="T12" fmla="*/ 2147483647 w 43"/>
                <a:gd name="T13" fmla="*/ 2147483647 h 36"/>
                <a:gd name="T14" fmla="*/ 2147483647 w 43"/>
                <a:gd name="T15" fmla="*/ 2147483647 h 36"/>
                <a:gd name="T16" fmla="*/ 2147483647 w 43"/>
                <a:gd name="T17" fmla="*/ 2147483647 h 36"/>
                <a:gd name="T18" fmla="*/ 2147483647 w 43"/>
                <a:gd name="T19" fmla="*/ 2147483647 h 36"/>
                <a:gd name="T20" fmla="*/ 2147483647 w 43"/>
                <a:gd name="T21" fmla="*/ 2147483647 h 36"/>
                <a:gd name="T22" fmla="*/ 2147483647 w 43"/>
                <a:gd name="T23" fmla="*/ 2147483647 h 36"/>
                <a:gd name="T24" fmla="*/ 2147483647 w 43"/>
                <a:gd name="T25" fmla="*/ 2147483647 h 36"/>
                <a:gd name="T26" fmla="*/ 2147483647 w 43"/>
                <a:gd name="T27" fmla="*/ 0 h 36"/>
                <a:gd name="T28" fmla="*/ 2147483647 w 43"/>
                <a:gd name="T29" fmla="*/ 2147483647 h 36"/>
                <a:gd name="T30" fmla="*/ 0 w 43"/>
                <a:gd name="T31" fmla="*/ 2147483647 h 36"/>
                <a:gd name="T32" fmla="*/ 2147483647 w 43"/>
                <a:gd name="T33" fmla="*/ 2147483647 h 36"/>
                <a:gd name="T34" fmla="*/ 2147483647 w 43"/>
                <a:gd name="T35" fmla="*/ 2147483647 h 36"/>
                <a:gd name="T36" fmla="*/ 2147483647 w 43"/>
                <a:gd name="T37" fmla="*/ 2147483647 h 36"/>
                <a:gd name="T38" fmla="*/ 2147483647 w 43"/>
                <a:gd name="T39" fmla="*/ 2147483647 h 36"/>
                <a:gd name="T40" fmla="*/ 2147483647 w 43"/>
                <a:gd name="T41" fmla="*/ 2147483647 h 36"/>
                <a:gd name="T42" fmla="*/ 2147483647 w 43"/>
                <a:gd name="T43" fmla="*/ 2147483647 h 36"/>
                <a:gd name="T44" fmla="*/ 2147483647 w 43"/>
                <a:gd name="T45" fmla="*/ 2147483647 h 36"/>
                <a:gd name="T46" fmla="*/ 2147483647 w 43"/>
                <a:gd name="T47" fmla="*/ 2147483647 h 36"/>
                <a:gd name="T48" fmla="*/ 2147483647 w 43"/>
                <a:gd name="T49" fmla="*/ 2147483647 h 36"/>
                <a:gd name="T50" fmla="*/ 2147483647 w 43"/>
                <a:gd name="T51" fmla="*/ 2147483647 h 36"/>
                <a:gd name="T52" fmla="*/ 2147483647 w 43"/>
                <a:gd name="T53" fmla="*/ 2147483647 h 36"/>
                <a:gd name="T54" fmla="*/ 2147483647 w 43"/>
                <a:gd name="T55" fmla="*/ 2147483647 h 36"/>
                <a:gd name="T56" fmla="*/ 2147483647 w 43"/>
                <a:gd name="T57" fmla="*/ 2147483647 h 36"/>
                <a:gd name="T58" fmla="*/ 2147483647 w 43"/>
                <a:gd name="T59" fmla="*/ 2147483647 h 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3" h="36">
                  <a:moveTo>
                    <a:pt x="38" y="21"/>
                  </a:moveTo>
                  <a:cubicBezTo>
                    <a:pt x="37" y="18"/>
                    <a:pt x="37" y="18"/>
                    <a:pt x="37" y="18"/>
                  </a:cubicBezTo>
                  <a:cubicBezTo>
                    <a:pt x="39" y="15"/>
                    <a:pt x="39" y="15"/>
                    <a:pt x="39" y="15"/>
                  </a:cubicBezTo>
                  <a:cubicBezTo>
                    <a:pt x="43" y="11"/>
                    <a:pt x="43" y="11"/>
                    <a:pt x="43" y="11"/>
                  </a:cubicBezTo>
                  <a:cubicBezTo>
                    <a:pt x="42" y="11"/>
                    <a:pt x="42" y="11"/>
                    <a:pt x="42" y="11"/>
                  </a:cubicBezTo>
                  <a:cubicBezTo>
                    <a:pt x="39" y="10"/>
                    <a:pt x="39" y="10"/>
                    <a:pt x="39" y="10"/>
                  </a:cubicBezTo>
                  <a:cubicBezTo>
                    <a:pt x="38" y="8"/>
                    <a:pt x="38" y="8"/>
                    <a:pt x="38" y="8"/>
                  </a:cubicBezTo>
                  <a:cubicBezTo>
                    <a:pt x="32" y="5"/>
                    <a:pt x="32" y="5"/>
                    <a:pt x="32" y="5"/>
                  </a:cubicBezTo>
                  <a:cubicBezTo>
                    <a:pt x="22" y="6"/>
                    <a:pt x="22" y="6"/>
                    <a:pt x="22" y="6"/>
                  </a:cubicBezTo>
                  <a:cubicBezTo>
                    <a:pt x="17" y="5"/>
                    <a:pt x="17" y="5"/>
                    <a:pt x="17" y="5"/>
                  </a:cubicBezTo>
                  <a:cubicBezTo>
                    <a:pt x="16" y="3"/>
                    <a:pt x="16" y="3"/>
                    <a:pt x="16" y="3"/>
                  </a:cubicBezTo>
                  <a:cubicBezTo>
                    <a:pt x="11" y="2"/>
                    <a:pt x="11" y="2"/>
                    <a:pt x="11" y="2"/>
                  </a:cubicBezTo>
                  <a:cubicBezTo>
                    <a:pt x="11" y="2"/>
                    <a:pt x="7" y="3"/>
                    <a:pt x="6" y="3"/>
                  </a:cubicBezTo>
                  <a:cubicBezTo>
                    <a:pt x="5" y="3"/>
                    <a:pt x="5" y="1"/>
                    <a:pt x="5" y="0"/>
                  </a:cubicBezTo>
                  <a:cubicBezTo>
                    <a:pt x="1" y="2"/>
                    <a:pt x="1" y="2"/>
                    <a:pt x="1" y="2"/>
                  </a:cubicBezTo>
                  <a:cubicBezTo>
                    <a:pt x="0" y="10"/>
                    <a:pt x="0" y="10"/>
                    <a:pt x="0" y="10"/>
                  </a:cubicBezTo>
                  <a:cubicBezTo>
                    <a:pt x="2" y="15"/>
                    <a:pt x="2" y="15"/>
                    <a:pt x="2" y="15"/>
                  </a:cubicBezTo>
                  <a:cubicBezTo>
                    <a:pt x="12" y="19"/>
                    <a:pt x="12" y="19"/>
                    <a:pt x="12" y="19"/>
                  </a:cubicBezTo>
                  <a:cubicBezTo>
                    <a:pt x="17" y="20"/>
                    <a:pt x="17" y="20"/>
                    <a:pt x="17" y="20"/>
                  </a:cubicBezTo>
                  <a:cubicBezTo>
                    <a:pt x="16" y="22"/>
                    <a:pt x="16" y="22"/>
                    <a:pt x="16" y="22"/>
                  </a:cubicBezTo>
                  <a:cubicBezTo>
                    <a:pt x="18" y="26"/>
                    <a:pt x="18" y="26"/>
                    <a:pt x="18" y="26"/>
                  </a:cubicBezTo>
                  <a:cubicBezTo>
                    <a:pt x="18" y="33"/>
                    <a:pt x="18" y="33"/>
                    <a:pt x="18" y="33"/>
                  </a:cubicBezTo>
                  <a:cubicBezTo>
                    <a:pt x="18" y="33"/>
                    <a:pt x="18" y="33"/>
                    <a:pt x="18" y="33"/>
                  </a:cubicBezTo>
                  <a:cubicBezTo>
                    <a:pt x="21" y="36"/>
                    <a:pt x="21" y="36"/>
                    <a:pt x="21" y="36"/>
                  </a:cubicBezTo>
                  <a:cubicBezTo>
                    <a:pt x="30" y="33"/>
                    <a:pt x="30" y="33"/>
                    <a:pt x="30" y="33"/>
                  </a:cubicBezTo>
                  <a:cubicBezTo>
                    <a:pt x="29" y="30"/>
                    <a:pt x="29" y="30"/>
                    <a:pt x="29" y="30"/>
                  </a:cubicBezTo>
                  <a:cubicBezTo>
                    <a:pt x="26" y="25"/>
                    <a:pt x="26" y="25"/>
                    <a:pt x="26" y="25"/>
                  </a:cubicBezTo>
                  <a:cubicBezTo>
                    <a:pt x="34" y="25"/>
                    <a:pt x="34" y="25"/>
                    <a:pt x="34" y="25"/>
                  </a:cubicBezTo>
                  <a:cubicBezTo>
                    <a:pt x="39" y="23"/>
                    <a:pt x="39" y="23"/>
                    <a:pt x="39" y="23"/>
                  </a:cubicBezTo>
                  <a:cubicBezTo>
                    <a:pt x="38" y="21"/>
                    <a:pt x="38" y="21"/>
                    <a:pt x="38" y="21"/>
                  </a:cubicBezTo>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87" name="Freeform 184">
              <a:extLst>
                <a:ext uri="{FF2B5EF4-FFF2-40B4-BE49-F238E27FC236}">
                  <a16:creationId xmlns:a16="http://schemas.microsoft.com/office/drawing/2014/main" id="{1CB72B24-FC61-89C4-0C23-36DB1A4EDBFD}"/>
                </a:ext>
              </a:extLst>
            </p:cNvPr>
            <p:cNvSpPr>
              <a:spLocks/>
            </p:cNvSpPr>
            <p:nvPr/>
          </p:nvSpPr>
          <p:spPr bwMode="auto">
            <a:xfrm>
              <a:off x="2865339" y="4486943"/>
              <a:ext cx="161647" cy="178182"/>
            </a:xfrm>
            <a:custGeom>
              <a:avLst/>
              <a:gdLst>
                <a:gd name="T0" fmla="*/ 2147483647 w 102"/>
                <a:gd name="T1" fmla="*/ 2147483647 h 114"/>
                <a:gd name="T2" fmla="*/ 2147483647 w 102"/>
                <a:gd name="T3" fmla="*/ 2147483647 h 114"/>
                <a:gd name="T4" fmla="*/ 2147483647 w 102"/>
                <a:gd name="T5" fmla="*/ 2147483647 h 114"/>
                <a:gd name="T6" fmla="*/ 2147483647 w 102"/>
                <a:gd name="T7" fmla="*/ 2147483647 h 114"/>
                <a:gd name="T8" fmla="*/ 2147483647 w 102"/>
                <a:gd name="T9" fmla="*/ 2147483647 h 114"/>
                <a:gd name="T10" fmla="*/ 2147483647 w 102"/>
                <a:gd name="T11" fmla="*/ 2147483647 h 114"/>
                <a:gd name="T12" fmla="*/ 2147483647 w 102"/>
                <a:gd name="T13" fmla="*/ 0 h 114"/>
                <a:gd name="T14" fmla="*/ 2147483647 w 102"/>
                <a:gd name="T15" fmla="*/ 2147483647 h 114"/>
                <a:gd name="T16" fmla="*/ 0 w 102"/>
                <a:gd name="T17" fmla="*/ 2147483647 h 114"/>
                <a:gd name="T18" fmla="*/ 2147483647 w 102"/>
                <a:gd name="T19" fmla="*/ 2147483647 h 114"/>
                <a:gd name="T20" fmla="*/ 0 w 102"/>
                <a:gd name="T21" fmla="*/ 2147483647 h 114"/>
                <a:gd name="T22" fmla="*/ 2147483647 w 102"/>
                <a:gd name="T23" fmla="*/ 2147483647 h 114"/>
                <a:gd name="T24" fmla="*/ 2147483647 w 102"/>
                <a:gd name="T25" fmla="*/ 2147483647 h 11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14">
                  <a:moveTo>
                    <a:pt x="24" y="114"/>
                  </a:moveTo>
                  <a:lnTo>
                    <a:pt x="48" y="90"/>
                  </a:lnTo>
                  <a:lnTo>
                    <a:pt x="66" y="84"/>
                  </a:lnTo>
                  <a:lnTo>
                    <a:pt x="90" y="60"/>
                  </a:lnTo>
                  <a:lnTo>
                    <a:pt x="102" y="36"/>
                  </a:lnTo>
                  <a:lnTo>
                    <a:pt x="78" y="18"/>
                  </a:lnTo>
                  <a:lnTo>
                    <a:pt x="30" y="0"/>
                  </a:lnTo>
                  <a:lnTo>
                    <a:pt x="24" y="12"/>
                  </a:lnTo>
                  <a:lnTo>
                    <a:pt x="0" y="66"/>
                  </a:lnTo>
                  <a:lnTo>
                    <a:pt x="12" y="90"/>
                  </a:lnTo>
                  <a:lnTo>
                    <a:pt x="0" y="96"/>
                  </a:lnTo>
                  <a:lnTo>
                    <a:pt x="6" y="108"/>
                  </a:lnTo>
                  <a:lnTo>
                    <a:pt x="24" y="114"/>
                  </a:ln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88" name="Freeform 185">
              <a:extLst>
                <a:ext uri="{FF2B5EF4-FFF2-40B4-BE49-F238E27FC236}">
                  <a16:creationId xmlns:a16="http://schemas.microsoft.com/office/drawing/2014/main" id="{31E293F4-8C2D-3688-5A78-89A1EA92EC3D}"/>
                </a:ext>
              </a:extLst>
            </p:cNvPr>
            <p:cNvSpPr>
              <a:spLocks/>
            </p:cNvSpPr>
            <p:nvPr/>
          </p:nvSpPr>
          <p:spPr bwMode="auto">
            <a:xfrm>
              <a:off x="5700810" y="2504198"/>
              <a:ext cx="58953" cy="115628"/>
            </a:xfrm>
            <a:custGeom>
              <a:avLst/>
              <a:gdLst>
                <a:gd name="T0" fmla="*/ 1 w 429209"/>
                <a:gd name="T1" fmla="*/ 16 h 839755"/>
                <a:gd name="T2" fmla="*/ 1 w 429209"/>
                <a:gd name="T3" fmla="*/ 11 h 839755"/>
                <a:gd name="T4" fmla="*/ 0 w 429209"/>
                <a:gd name="T5" fmla="*/ 11 h 839755"/>
                <a:gd name="T6" fmla="*/ 2 w 429209"/>
                <a:gd name="T7" fmla="*/ 3 h 839755"/>
                <a:gd name="T8" fmla="*/ 5 w 429209"/>
                <a:gd name="T9" fmla="*/ 3 h 839755"/>
                <a:gd name="T10" fmla="*/ 8 w 429209"/>
                <a:gd name="T11" fmla="*/ 0 h 839755"/>
                <a:gd name="T12" fmla="*/ 8 w 429209"/>
                <a:gd name="T13" fmla="*/ 5 h 839755"/>
                <a:gd name="T14" fmla="*/ 8 w 429209"/>
                <a:gd name="T15" fmla="*/ 8 h 839755"/>
                <a:gd name="T16" fmla="*/ 4 w 429209"/>
                <a:gd name="T17" fmla="*/ 13 h 839755"/>
                <a:gd name="T18" fmla="*/ 4 w 429209"/>
                <a:gd name="T19" fmla="*/ 17 h 839755"/>
                <a:gd name="T20" fmla="*/ 2 w 429209"/>
                <a:gd name="T21" fmla="*/ 16 h 839755"/>
                <a:gd name="T22" fmla="*/ 1 w 429209"/>
                <a:gd name="T23" fmla="*/ 16 h 8397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29209" h="839755">
                  <a:moveTo>
                    <a:pt x="53214" y="797282"/>
                  </a:moveTo>
                  <a:cubicBezTo>
                    <a:pt x="54137" y="718133"/>
                    <a:pt x="55061" y="638985"/>
                    <a:pt x="55984" y="559836"/>
                  </a:cubicBezTo>
                  <a:lnTo>
                    <a:pt x="0" y="522514"/>
                  </a:lnTo>
                  <a:lnTo>
                    <a:pt x="111968" y="130628"/>
                  </a:lnTo>
                  <a:lnTo>
                    <a:pt x="261258" y="130628"/>
                  </a:lnTo>
                  <a:lnTo>
                    <a:pt x="391886" y="0"/>
                  </a:lnTo>
                  <a:lnTo>
                    <a:pt x="410547" y="261257"/>
                  </a:lnTo>
                  <a:lnTo>
                    <a:pt x="429209" y="410547"/>
                  </a:lnTo>
                  <a:lnTo>
                    <a:pt x="223935" y="634481"/>
                  </a:lnTo>
                  <a:lnTo>
                    <a:pt x="223935" y="839755"/>
                  </a:lnTo>
                  <a:lnTo>
                    <a:pt x="111968" y="783771"/>
                  </a:lnTo>
                  <a:lnTo>
                    <a:pt x="53214" y="797282"/>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89" name="Freeform 186">
              <a:extLst>
                <a:ext uri="{FF2B5EF4-FFF2-40B4-BE49-F238E27FC236}">
                  <a16:creationId xmlns:a16="http://schemas.microsoft.com/office/drawing/2014/main" id="{235D5235-0ABC-3233-A39B-A5B824D12DFA}"/>
                </a:ext>
              </a:extLst>
            </p:cNvPr>
            <p:cNvSpPr>
              <a:spLocks/>
            </p:cNvSpPr>
            <p:nvPr/>
          </p:nvSpPr>
          <p:spPr bwMode="auto">
            <a:xfrm>
              <a:off x="7212680" y="3323076"/>
              <a:ext cx="524876" cy="498529"/>
            </a:xfrm>
            <a:custGeom>
              <a:avLst/>
              <a:gdLst>
                <a:gd name="T0" fmla="*/ 466397904 w 10944"/>
                <a:gd name="T1" fmla="*/ 611944579 h 10652"/>
                <a:gd name="T2" fmla="*/ 517357383 w 10944"/>
                <a:gd name="T3" fmla="*/ 582817865 h 10652"/>
                <a:gd name="T4" fmla="*/ 462547877 w 10944"/>
                <a:gd name="T5" fmla="*/ 488039035 h 10652"/>
                <a:gd name="T6" fmla="*/ 473072204 w 10944"/>
                <a:gd name="T7" fmla="*/ 451330707 h 10652"/>
                <a:gd name="T8" fmla="*/ 492840160 w 10944"/>
                <a:gd name="T9" fmla="*/ 428221700 h 10652"/>
                <a:gd name="T10" fmla="*/ 543863776 w 10944"/>
                <a:gd name="T11" fmla="*/ 423588226 h 10652"/>
                <a:gd name="T12" fmla="*/ 607658881 w 10944"/>
                <a:gd name="T13" fmla="*/ 305580529 h 10652"/>
                <a:gd name="T14" fmla="*/ 642894364 w 10944"/>
                <a:gd name="T15" fmla="*/ 229636695 h 10652"/>
                <a:gd name="T16" fmla="*/ 664587393 w 10944"/>
                <a:gd name="T17" fmla="*/ 152068986 h 10652"/>
                <a:gd name="T18" fmla="*/ 623382877 w 10944"/>
                <a:gd name="T19" fmla="*/ 124868816 h 10652"/>
                <a:gd name="T20" fmla="*/ 628260338 w 10944"/>
                <a:gd name="T21" fmla="*/ 67939730 h 10652"/>
                <a:gd name="T22" fmla="*/ 699372476 w 10944"/>
                <a:gd name="T23" fmla="*/ 50969780 h 10652"/>
                <a:gd name="T24" fmla="*/ 686216285 w 10944"/>
                <a:gd name="T25" fmla="*/ 28103512 h 10652"/>
                <a:gd name="T26" fmla="*/ 656821561 w 10944"/>
                <a:gd name="T27" fmla="*/ 10771002 h 10652"/>
                <a:gd name="T28" fmla="*/ 619082409 w 10944"/>
                <a:gd name="T29" fmla="*/ 59930 h 10652"/>
                <a:gd name="T30" fmla="*/ 538858041 w 10944"/>
                <a:gd name="T31" fmla="*/ 14261453 h 10652"/>
                <a:gd name="T32" fmla="*/ 499836628 w 10944"/>
                <a:gd name="T33" fmla="*/ 15826966 h 10652"/>
                <a:gd name="T34" fmla="*/ 454782044 w 10944"/>
                <a:gd name="T35" fmla="*/ 34482211 h 10652"/>
                <a:gd name="T36" fmla="*/ 444961383 w 10944"/>
                <a:gd name="T37" fmla="*/ 97668646 h 10652"/>
                <a:gd name="T38" fmla="*/ 444961383 w 10944"/>
                <a:gd name="T39" fmla="*/ 124868816 h 10652"/>
                <a:gd name="T40" fmla="*/ 431162420 w 10944"/>
                <a:gd name="T41" fmla="*/ 138468137 h 10652"/>
                <a:gd name="T42" fmla="*/ 415566658 w 10944"/>
                <a:gd name="T43" fmla="*/ 185586397 h 10652"/>
                <a:gd name="T44" fmla="*/ 335085862 w 10944"/>
                <a:gd name="T45" fmla="*/ 220309818 h 10652"/>
                <a:gd name="T46" fmla="*/ 293945443 w 10944"/>
                <a:gd name="T47" fmla="*/ 247509987 h 10652"/>
                <a:gd name="T48" fmla="*/ 252678431 w 10944"/>
                <a:gd name="T49" fmla="*/ 301609187 h 10652"/>
                <a:gd name="T50" fmla="*/ 170399193 w 10944"/>
                <a:gd name="T51" fmla="*/ 315630998 h 10652"/>
                <a:gd name="T52" fmla="*/ 91072464 w 10944"/>
                <a:gd name="T53" fmla="*/ 376711138 h 10652"/>
                <a:gd name="T54" fmla="*/ 10846495 w 10944"/>
                <a:gd name="T55" fmla="*/ 372979477 h 10652"/>
                <a:gd name="T56" fmla="*/ 44990446 w 10944"/>
                <a:gd name="T57" fmla="*/ 421723141 h 10652"/>
                <a:gd name="T58" fmla="*/ 85423996 w 10944"/>
                <a:gd name="T59" fmla="*/ 440739456 h 10652"/>
                <a:gd name="T60" fmla="*/ 86515528 w 10944"/>
                <a:gd name="T61" fmla="*/ 460296554 h 10652"/>
                <a:gd name="T62" fmla="*/ 88055899 w 10944"/>
                <a:gd name="T63" fmla="*/ 479133079 h 10652"/>
                <a:gd name="T64" fmla="*/ 65014870 w 10944"/>
                <a:gd name="T65" fmla="*/ 489483159 h 10652"/>
                <a:gd name="T66" fmla="*/ 20665555 w 10944"/>
                <a:gd name="T67" fmla="*/ 524205012 h 10652"/>
                <a:gd name="T68" fmla="*/ 30035855 w 10944"/>
                <a:gd name="T69" fmla="*/ 552488275 h 10652"/>
                <a:gd name="T70" fmla="*/ 392783739 w 10944"/>
                <a:gd name="T71" fmla="*/ 641009795 h 10652"/>
                <a:gd name="T72" fmla="*/ 409535130 w 10944"/>
                <a:gd name="T73" fmla="*/ 632103879 h 10652"/>
                <a:gd name="T74" fmla="*/ 466397904 w 10944"/>
                <a:gd name="T75" fmla="*/ 611944579 h 1065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944" h="10652">
                  <a:moveTo>
                    <a:pt x="7267" y="10169"/>
                  </a:moveTo>
                  <a:cubicBezTo>
                    <a:pt x="7552" y="10018"/>
                    <a:pt x="8071" y="10028"/>
                    <a:pt x="8061" y="9685"/>
                  </a:cubicBezTo>
                  <a:cubicBezTo>
                    <a:pt x="8051" y="9342"/>
                    <a:pt x="7322" y="8474"/>
                    <a:pt x="7207" y="8110"/>
                  </a:cubicBezTo>
                  <a:cubicBezTo>
                    <a:pt x="7092" y="7746"/>
                    <a:pt x="7292" y="7666"/>
                    <a:pt x="7371" y="7500"/>
                  </a:cubicBezTo>
                  <a:cubicBezTo>
                    <a:pt x="7450" y="7334"/>
                    <a:pt x="7495" y="7193"/>
                    <a:pt x="7679" y="7116"/>
                  </a:cubicBezTo>
                  <a:cubicBezTo>
                    <a:pt x="7863" y="7039"/>
                    <a:pt x="8176" y="7379"/>
                    <a:pt x="8474" y="7039"/>
                  </a:cubicBezTo>
                  <a:cubicBezTo>
                    <a:pt x="8772" y="6699"/>
                    <a:pt x="9211" y="5615"/>
                    <a:pt x="9468" y="5078"/>
                  </a:cubicBezTo>
                  <a:cubicBezTo>
                    <a:pt x="9725" y="4541"/>
                    <a:pt x="9869" y="4241"/>
                    <a:pt x="10017" y="3816"/>
                  </a:cubicBezTo>
                  <a:cubicBezTo>
                    <a:pt x="10165" y="3391"/>
                    <a:pt x="10406" y="2817"/>
                    <a:pt x="10355" y="2527"/>
                  </a:cubicBezTo>
                  <a:cubicBezTo>
                    <a:pt x="10304" y="2237"/>
                    <a:pt x="9687" y="2325"/>
                    <a:pt x="9713" y="2075"/>
                  </a:cubicBezTo>
                  <a:cubicBezTo>
                    <a:pt x="9740" y="1811"/>
                    <a:pt x="9649" y="1164"/>
                    <a:pt x="9789" y="1129"/>
                  </a:cubicBezTo>
                  <a:cubicBezTo>
                    <a:pt x="10290" y="1004"/>
                    <a:pt x="10747" y="957"/>
                    <a:pt x="10897" y="847"/>
                  </a:cubicBezTo>
                  <a:cubicBezTo>
                    <a:pt x="11047" y="737"/>
                    <a:pt x="10802" y="578"/>
                    <a:pt x="10692" y="467"/>
                  </a:cubicBezTo>
                  <a:cubicBezTo>
                    <a:pt x="10582" y="356"/>
                    <a:pt x="10409" y="257"/>
                    <a:pt x="10234" y="179"/>
                  </a:cubicBezTo>
                  <a:cubicBezTo>
                    <a:pt x="10060" y="102"/>
                    <a:pt x="9954" y="-9"/>
                    <a:pt x="9646" y="1"/>
                  </a:cubicBezTo>
                  <a:cubicBezTo>
                    <a:pt x="9341" y="11"/>
                    <a:pt x="8705" y="193"/>
                    <a:pt x="8396" y="237"/>
                  </a:cubicBezTo>
                  <a:cubicBezTo>
                    <a:pt x="8087" y="279"/>
                    <a:pt x="8007" y="208"/>
                    <a:pt x="7788" y="263"/>
                  </a:cubicBezTo>
                  <a:cubicBezTo>
                    <a:pt x="7570" y="320"/>
                    <a:pt x="7301" y="573"/>
                    <a:pt x="7086" y="573"/>
                  </a:cubicBezTo>
                  <a:cubicBezTo>
                    <a:pt x="7035" y="922"/>
                    <a:pt x="6959" y="1372"/>
                    <a:pt x="6933" y="1623"/>
                  </a:cubicBezTo>
                  <a:cubicBezTo>
                    <a:pt x="6907" y="1873"/>
                    <a:pt x="6933" y="1924"/>
                    <a:pt x="6933" y="2075"/>
                  </a:cubicBezTo>
                  <a:cubicBezTo>
                    <a:pt x="6861" y="2150"/>
                    <a:pt x="6794" y="2133"/>
                    <a:pt x="6718" y="2301"/>
                  </a:cubicBezTo>
                  <a:cubicBezTo>
                    <a:pt x="6642" y="2469"/>
                    <a:pt x="6556" y="2823"/>
                    <a:pt x="6475" y="3084"/>
                  </a:cubicBezTo>
                  <a:cubicBezTo>
                    <a:pt x="6475" y="3084"/>
                    <a:pt x="5537" y="3490"/>
                    <a:pt x="5221" y="3661"/>
                  </a:cubicBezTo>
                  <a:cubicBezTo>
                    <a:pt x="4905" y="3832"/>
                    <a:pt x="4793" y="3888"/>
                    <a:pt x="4580" y="4113"/>
                  </a:cubicBezTo>
                  <a:cubicBezTo>
                    <a:pt x="4366" y="4338"/>
                    <a:pt x="3937" y="5012"/>
                    <a:pt x="3937" y="5012"/>
                  </a:cubicBezTo>
                  <a:cubicBezTo>
                    <a:pt x="3937" y="5012"/>
                    <a:pt x="3074" y="5037"/>
                    <a:pt x="2655" y="5245"/>
                  </a:cubicBezTo>
                  <a:cubicBezTo>
                    <a:pt x="2236" y="5453"/>
                    <a:pt x="1833" y="6101"/>
                    <a:pt x="1419" y="6260"/>
                  </a:cubicBezTo>
                  <a:cubicBezTo>
                    <a:pt x="1005" y="6419"/>
                    <a:pt x="289" y="6073"/>
                    <a:pt x="169" y="6198"/>
                  </a:cubicBezTo>
                  <a:cubicBezTo>
                    <a:pt x="49" y="6323"/>
                    <a:pt x="507" y="6820"/>
                    <a:pt x="701" y="7008"/>
                  </a:cubicBezTo>
                  <a:cubicBezTo>
                    <a:pt x="895" y="7196"/>
                    <a:pt x="1223" y="7217"/>
                    <a:pt x="1331" y="7324"/>
                  </a:cubicBezTo>
                  <a:cubicBezTo>
                    <a:pt x="1439" y="7431"/>
                    <a:pt x="1341" y="7543"/>
                    <a:pt x="1348" y="7649"/>
                  </a:cubicBezTo>
                  <a:cubicBezTo>
                    <a:pt x="1355" y="7755"/>
                    <a:pt x="1428" y="7881"/>
                    <a:pt x="1372" y="7962"/>
                  </a:cubicBezTo>
                  <a:cubicBezTo>
                    <a:pt x="1316" y="8043"/>
                    <a:pt x="1188" y="8009"/>
                    <a:pt x="1013" y="8134"/>
                  </a:cubicBezTo>
                  <a:cubicBezTo>
                    <a:pt x="838" y="8259"/>
                    <a:pt x="295" y="8195"/>
                    <a:pt x="322" y="8711"/>
                  </a:cubicBezTo>
                  <a:cubicBezTo>
                    <a:pt x="331" y="8882"/>
                    <a:pt x="-498" y="8858"/>
                    <a:pt x="468" y="9181"/>
                  </a:cubicBezTo>
                  <a:cubicBezTo>
                    <a:pt x="1434" y="9504"/>
                    <a:pt x="5678" y="9982"/>
                    <a:pt x="6120" y="10652"/>
                  </a:cubicBezTo>
                  <a:lnTo>
                    <a:pt x="6381" y="10504"/>
                  </a:lnTo>
                  <a:lnTo>
                    <a:pt x="7267" y="10169"/>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90" name="Freeform 187">
              <a:extLst>
                <a:ext uri="{FF2B5EF4-FFF2-40B4-BE49-F238E27FC236}">
                  <a16:creationId xmlns:a16="http://schemas.microsoft.com/office/drawing/2014/main" id="{8F5BA118-0A13-6BA0-A8F0-3B036266A1E8}"/>
                </a:ext>
              </a:extLst>
            </p:cNvPr>
            <p:cNvSpPr>
              <a:spLocks/>
            </p:cNvSpPr>
            <p:nvPr/>
          </p:nvSpPr>
          <p:spPr bwMode="auto">
            <a:xfrm>
              <a:off x="7505545" y="3328762"/>
              <a:ext cx="874793" cy="1063404"/>
            </a:xfrm>
            <a:custGeom>
              <a:avLst/>
              <a:gdLst>
                <a:gd name="T0" fmla="*/ 639173 w 10736"/>
                <a:gd name="T1" fmla="*/ 413856 h 10000"/>
                <a:gd name="T2" fmla="*/ 649104 w 10736"/>
                <a:gd name="T3" fmla="*/ 463284 h 10000"/>
                <a:gd name="T4" fmla="*/ 730250 w 10736"/>
                <a:gd name="T5" fmla="*/ 360688 h 10000"/>
                <a:gd name="T6" fmla="*/ 720523 w 10736"/>
                <a:gd name="T7" fmla="*/ 301019 h 10000"/>
                <a:gd name="T8" fmla="*/ 683929 w 10736"/>
                <a:gd name="T9" fmla="*/ 248474 h 10000"/>
                <a:gd name="T10" fmla="*/ 617271 w 10736"/>
                <a:gd name="T11" fmla="*/ 226209 h 10000"/>
                <a:gd name="T12" fmla="*/ 598089 w 10736"/>
                <a:gd name="T13" fmla="*/ 287927 h 10000"/>
                <a:gd name="T14" fmla="*/ 573875 w 10736"/>
                <a:gd name="T15" fmla="*/ 308054 h 10000"/>
                <a:gd name="T16" fmla="*/ 561971 w 10736"/>
                <a:gd name="T17" fmla="*/ 280446 h 10000"/>
                <a:gd name="T18" fmla="*/ 493408 w 10736"/>
                <a:gd name="T19" fmla="*/ 280713 h 10000"/>
                <a:gd name="T20" fmla="*/ 463072 w 10736"/>
                <a:gd name="T21" fmla="*/ 308856 h 10000"/>
                <a:gd name="T22" fmla="*/ 417499 w 10736"/>
                <a:gd name="T23" fmla="*/ 299505 h 10000"/>
                <a:gd name="T24" fmla="*/ 288400 w 10736"/>
                <a:gd name="T25" fmla="*/ 243309 h 10000"/>
                <a:gd name="T26" fmla="*/ 273232 w 10736"/>
                <a:gd name="T27" fmla="*/ 168410 h 10000"/>
                <a:gd name="T28" fmla="*/ 273232 w 10736"/>
                <a:gd name="T29" fmla="*/ 102952 h 10000"/>
                <a:gd name="T30" fmla="*/ 287924 w 10736"/>
                <a:gd name="T31" fmla="*/ 53524 h 10000"/>
                <a:gd name="T32" fmla="*/ 242895 w 10736"/>
                <a:gd name="T33" fmla="*/ 0 h 10000"/>
                <a:gd name="T34" fmla="*/ 220109 w 10736"/>
                <a:gd name="T35" fmla="*/ 9351 h 10000"/>
                <a:gd name="T36" fmla="*/ 144200 w 10736"/>
                <a:gd name="T37" fmla="*/ 37405 h 10000"/>
                <a:gd name="T38" fmla="*/ 166986 w 10736"/>
                <a:gd name="T39" fmla="*/ 102952 h 10000"/>
                <a:gd name="T40" fmla="*/ 136650 w 10736"/>
                <a:gd name="T41" fmla="*/ 187202 h 10000"/>
                <a:gd name="T42" fmla="*/ 60741 w 10736"/>
                <a:gd name="T43" fmla="*/ 271362 h 10000"/>
                <a:gd name="T44" fmla="*/ 53123 w 10736"/>
                <a:gd name="T45" fmla="*/ 336909 h 10000"/>
                <a:gd name="T46" fmla="*/ 45573 w 10736"/>
                <a:gd name="T47" fmla="*/ 393016 h 10000"/>
                <a:gd name="T48" fmla="*/ 0 w 10736"/>
                <a:gd name="T49" fmla="*/ 411719 h 10000"/>
                <a:gd name="T50" fmla="*/ 53123 w 10736"/>
                <a:gd name="T51" fmla="*/ 495968 h 10000"/>
                <a:gd name="T52" fmla="*/ 113795 w 10736"/>
                <a:gd name="T53" fmla="*/ 636325 h 10000"/>
                <a:gd name="T54" fmla="*/ 174536 w 10736"/>
                <a:gd name="T55" fmla="*/ 796987 h 10000"/>
                <a:gd name="T56" fmla="*/ 220109 w 10736"/>
                <a:gd name="T57" fmla="*/ 890588 h 10000"/>
                <a:gd name="T58" fmla="*/ 273232 w 10736"/>
                <a:gd name="T59" fmla="*/ 815690 h 10000"/>
                <a:gd name="T60" fmla="*/ 288400 w 10736"/>
                <a:gd name="T61" fmla="*/ 712827 h 10000"/>
                <a:gd name="T62" fmla="*/ 349141 w 10736"/>
                <a:gd name="T63" fmla="*/ 598920 h 10000"/>
                <a:gd name="T64" fmla="*/ 451577 w 10736"/>
                <a:gd name="T65" fmla="*/ 523220 h 10000"/>
                <a:gd name="T66" fmla="*/ 548368 w 10736"/>
                <a:gd name="T67" fmla="*/ 472546 h 10000"/>
                <a:gd name="T68" fmla="*/ 541022 w 10736"/>
                <a:gd name="T69" fmla="*/ 391235 h 10000"/>
                <a:gd name="T70" fmla="*/ 572106 w 10736"/>
                <a:gd name="T71" fmla="*/ 376541 h 1000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0736" h="10000">
                  <a:moveTo>
                    <a:pt x="8784" y="4472"/>
                  </a:moveTo>
                  <a:cubicBezTo>
                    <a:pt x="8948" y="4542"/>
                    <a:pt x="9262" y="4499"/>
                    <a:pt x="9397" y="4647"/>
                  </a:cubicBezTo>
                  <a:cubicBezTo>
                    <a:pt x="9282" y="4891"/>
                    <a:pt x="9246" y="4846"/>
                    <a:pt x="9150" y="5059"/>
                  </a:cubicBezTo>
                  <a:cubicBezTo>
                    <a:pt x="9278" y="5100"/>
                    <a:pt x="9553" y="5244"/>
                    <a:pt x="9543" y="5202"/>
                  </a:cubicBezTo>
                  <a:cubicBezTo>
                    <a:pt x="9555" y="5140"/>
                    <a:pt x="9941" y="4675"/>
                    <a:pt x="9949" y="4570"/>
                  </a:cubicBezTo>
                  <a:cubicBezTo>
                    <a:pt x="10062" y="4506"/>
                    <a:pt x="10576" y="4087"/>
                    <a:pt x="10736" y="4050"/>
                  </a:cubicBezTo>
                  <a:lnTo>
                    <a:pt x="10429" y="3991"/>
                  </a:lnTo>
                  <a:cubicBezTo>
                    <a:pt x="10556" y="3858"/>
                    <a:pt x="10557" y="3689"/>
                    <a:pt x="10593" y="3380"/>
                  </a:cubicBezTo>
                  <a:cubicBezTo>
                    <a:pt x="10678" y="3109"/>
                    <a:pt x="10563" y="3146"/>
                    <a:pt x="10508" y="3001"/>
                  </a:cubicBezTo>
                  <a:cubicBezTo>
                    <a:pt x="10453" y="2856"/>
                    <a:pt x="10430" y="2809"/>
                    <a:pt x="10055" y="2790"/>
                  </a:cubicBezTo>
                  <a:cubicBezTo>
                    <a:pt x="9757" y="2713"/>
                    <a:pt x="9789" y="2667"/>
                    <a:pt x="9600" y="2544"/>
                  </a:cubicBezTo>
                  <a:lnTo>
                    <a:pt x="9075" y="2540"/>
                  </a:lnTo>
                  <a:cubicBezTo>
                    <a:pt x="8904" y="2631"/>
                    <a:pt x="8281" y="3056"/>
                    <a:pt x="8247" y="3163"/>
                  </a:cubicBezTo>
                  <a:cubicBezTo>
                    <a:pt x="8213" y="3270"/>
                    <a:pt x="8677" y="3148"/>
                    <a:pt x="8793" y="3233"/>
                  </a:cubicBezTo>
                  <a:cubicBezTo>
                    <a:pt x="8909" y="3318"/>
                    <a:pt x="8879" y="3366"/>
                    <a:pt x="8859" y="3438"/>
                  </a:cubicBezTo>
                  <a:lnTo>
                    <a:pt x="8437" y="3459"/>
                  </a:lnTo>
                  <a:cubicBezTo>
                    <a:pt x="8303" y="3436"/>
                    <a:pt x="8184" y="3409"/>
                    <a:pt x="8149" y="3340"/>
                  </a:cubicBezTo>
                  <a:lnTo>
                    <a:pt x="8262" y="3149"/>
                  </a:lnTo>
                  <a:lnTo>
                    <a:pt x="7715" y="3110"/>
                  </a:lnTo>
                  <a:lnTo>
                    <a:pt x="7254" y="3152"/>
                  </a:lnTo>
                  <a:lnTo>
                    <a:pt x="7031" y="3152"/>
                  </a:lnTo>
                  <a:lnTo>
                    <a:pt x="6808" y="3468"/>
                  </a:lnTo>
                  <a:lnTo>
                    <a:pt x="6584" y="3468"/>
                  </a:lnTo>
                  <a:lnTo>
                    <a:pt x="6138" y="3363"/>
                  </a:lnTo>
                  <a:lnTo>
                    <a:pt x="5357" y="3257"/>
                  </a:lnTo>
                  <a:lnTo>
                    <a:pt x="4240" y="2732"/>
                  </a:lnTo>
                  <a:lnTo>
                    <a:pt x="4575" y="2102"/>
                  </a:lnTo>
                  <a:lnTo>
                    <a:pt x="4017" y="1891"/>
                  </a:lnTo>
                  <a:lnTo>
                    <a:pt x="3794" y="1471"/>
                  </a:lnTo>
                  <a:lnTo>
                    <a:pt x="4017" y="1156"/>
                  </a:lnTo>
                  <a:cubicBezTo>
                    <a:pt x="3980" y="1051"/>
                    <a:pt x="4011" y="999"/>
                    <a:pt x="3974" y="894"/>
                  </a:cubicBezTo>
                  <a:lnTo>
                    <a:pt x="4233" y="601"/>
                  </a:lnTo>
                  <a:cubicBezTo>
                    <a:pt x="4235" y="401"/>
                    <a:pt x="4238" y="200"/>
                    <a:pt x="4240" y="0"/>
                  </a:cubicBezTo>
                  <a:lnTo>
                    <a:pt x="3571" y="0"/>
                  </a:lnTo>
                  <a:lnTo>
                    <a:pt x="3125" y="0"/>
                  </a:lnTo>
                  <a:lnTo>
                    <a:pt x="3236" y="105"/>
                  </a:lnTo>
                  <a:lnTo>
                    <a:pt x="3348" y="210"/>
                  </a:lnTo>
                  <a:lnTo>
                    <a:pt x="2120" y="420"/>
                  </a:lnTo>
                  <a:lnTo>
                    <a:pt x="2120" y="946"/>
                  </a:lnTo>
                  <a:lnTo>
                    <a:pt x="2455" y="1156"/>
                  </a:lnTo>
                  <a:cubicBezTo>
                    <a:pt x="2381" y="1331"/>
                    <a:pt x="2306" y="1506"/>
                    <a:pt x="2232" y="1681"/>
                  </a:cubicBezTo>
                  <a:lnTo>
                    <a:pt x="2009" y="2102"/>
                  </a:lnTo>
                  <a:lnTo>
                    <a:pt x="1339" y="3047"/>
                  </a:lnTo>
                  <a:lnTo>
                    <a:pt x="893" y="3047"/>
                  </a:lnTo>
                  <a:lnTo>
                    <a:pt x="557" y="3363"/>
                  </a:lnTo>
                  <a:lnTo>
                    <a:pt x="781" y="3783"/>
                  </a:lnTo>
                  <a:lnTo>
                    <a:pt x="1116" y="4203"/>
                  </a:lnTo>
                  <a:lnTo>
                    <a:pt x="670" y="4413"/>
                  </a:lnTo>
                  <a:lnTo>
                    <a:pt x="223" y="4518"/>
                  </a:lnTo>
                  <a:lnTo>
                    <a:pt x="0" y="4623"/>
                  </a:lnTo>
                  <a:lnTo>
                    <a:pt x="446" y="5149"/>
                  </a:lnTo>
                  <a:lnTo>
                    <a:pt x="781" y="5569"/>
                  </a:lnTo>
                  <a:lnTo>
                    <a:pt x="1450" y="5149"/>
                  </a:lnTo>
                  <a:cubicBezTo>
                    <a:pt x="1524" y="5814"/>
                    <a:pt x="1599" y="6480"/>
                    <a:pt x="1673" y="7145"/>
                  </a:cubicBezTo>
                  <a:lnTo>
                    <a:pt x="2009" y="8004"/>
                  </a:lnTo>
                  <a:lnTo>
                    <a:pt x="2566" y="8949"/>
                  </a:lnTo>
                  <a:lnTo>
                    <a:pt x="2901" y="9475"/>
                  </a:lnTo>
                  <a:lnTo>
                    <a:pt x="3236" y="10000"/>
                  </a:lnTo>
                  <a:lnTo>
                    <a:pt x="3571" y="9685"/>
                  </a:lnTo>
                  <a:lnTo>
                    <a:pt x="4017" y="9159"/>
                  </a:lnTo>
                  <a:lnTo>
                    <a:pt x="4128" y="8739"/>
                  </a:lnTo>
                  <a:cubicBezTo>
                    <a:pt x="4165" y="8494"/>
                    <a:pt x="4203" y="8249"/>
                    <a:pt x="4240" y="8004"/>
                  </a:cubicBezTo>
                  <a:cubicBezTo>
                    <a:pt x="4277" y="7788"/>
                    <a:pt x="4315" y="7572"/>
                    <a:pt x="4352" y="7356"/>
                  </a:cubicBezTo>
                  <a:lnTo>
                    <a:pt x="5133" y="6725"/>
                  </a:lnTo>
                  <a:lnTo>
                    <a:pt x="5915" y="6200"/>
                  </a:lnTo>
                  <a:lnTo>
                    <a:pt x="6639" y="5875"/>
                  </a:lnTo>
                  <a:cubicBezTo>
                    <a:pt x="6658" y="5668"/>
                    <a:pt x="7156" y="5557"/>
                    <a:pt x="7176" y="5350"/>
                  </a:cubicBezTo>
                  <a:cubicBezTo>
                    <a:pt x="7217" y="5258"/>
                    <a:pt x="8021" y="5398"/>
                    <a:pt x="8062" y="5306"/>
                  </a:cubicBezTo>
                  <a:cubicBezTo>
                    <a:pt x="7988" y="5026"/>
                    <a:pt x="7935" y="4864"/>
                    <a:pt x="7861" y="4584"/>
                  </a:cubicBezTo>
                  <a:cubicBezTo>
                    <a:pt x="7833" y="4487"/>
                    <a:pt x="7982" y="4490"/>
                    <a:pt x="7954" y="4393"/>
                  </a:cubicBezTo>
                  <a:cubicBezTo>
                    <a:pt x="7982" y="4385"/>
                    <a:pt x="8059" y="4243"/>
                    <a:pt x="8087" y="4235"/>
                  </a:cubicBezTo>
                  <a:cubicBezTo>
                    <a:pt x="8120" y="4206"/>
                    <a:pt x="8344" y="4234"/>
                    <a:pt x="8411" y="4228"/>
                  </a:cubicBezTo>
                  <a:cubicBezTo>
                    <a:pt x="8478" y="4222"/>
                    <a:pt x="8620" y="4402"/>
                    <a:pt x="8784" y="4472"/>
                  </a:cubicBezTo>
                  <a:close/>
                </a:path>
              </a:pathLst>
            </a:custGeom>
            <a:solidFill>
              <a:srgbClr val="1F88C9"/>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91" name="Freeform 188">
              <a:extLst>
                <a:ext uri="{FF2B5EF4-FFF2-40B4-BE49-F238E27FC236}">
                  <a16:creationId xmlns:a16="http://schemas.microsoft.com/office/drawing/2014/main" id="{6D194F54-7E7E-B562-F2A0-9EEB07425654}"/>
                </a:ext>
              </a:extLst>
            </p:cNvPr>
            <p:cNvSpPr>
              <a:spLocks/>
            </p:cNvSpPr>
            <p:nvPr/>
          </p:nvSpPr>
          <p:spPr bwMode="auto">
            <a:xfrm>
              <a:off x="7191761" y="3290851"/>
              <a:ext cx="424084" cy="327931"/>
            </a:xfrm>
            <a:custGeom>
              <a:avLst/>
              <a:gdLst>
                <a:gd name="T0" fmla="*/ 383016421 w 10348"/>
                <a:gd name="T1" fmla="*/ 5109433 h 11017"/>
                <a:gd name="T2" fmla="*/ 344410605 w 10348"/>
                <a:gd name="T3" fmla="*/ 18263315 h 11017"/>
                <a:gd name="T4" fmla="*/ 318326544 w 10348"/>
                <a:gd name="T5" fmla="*/ 18263315 h 11017"/>
                <a:gd name="T6" fmla="*/ 309604944 w 10348"/>
                <a:gd name="T7" fmla="*/ 4565667 h 11017"/>
                <a:gd name="T8" fmla="*/ 300924329 w 10348"/>
                <a:gd name="T9" fmla="*/ 0 h 11017"/>
                <a:gd name="T10" fmla="*/ 274840302 w 10348"/>
                <a:gd name="T11" fmla="*/ 13697623 h 11017"/>
                <a:gd name="T12" fmla="*/ 257438053 w 10348"/>
                <a:gd name="T13" fmla="*/ 22844512 h 11017"/>
                <a:gd name="T14" fmla="*/ 224192536 w 10348"/>
                <a:gd name="T15" fmla="*/ 18014727 h 11017"/>
                <a:gd name="T16" fmla="*/ 205269999 w 10348"/>
                <a:gd name="T17" fmla="*/ 18263315 h 11017"/>
                <a:gd name="T18" fmla="*/ 179146185 w 10348"/>
                <a:gd name="T19" fmla="*/ 18263315 h 11017"/>
                <a:gd name="T20" fmla="*/ 144381509 w 10348"/>
                <a:gd name="T21" fmla="*/ 13697623 h 11017"/>
                <a:gd name="T22" fmla="*/ 135659909 w 10348"/>
                <a:gd name="T23" fmla="*/ 36542135 h 11017"/>
                <a:gd name="T24" fmla="*/ 92213455 w 10348"/>
                <a:gd name="T25" fmla="*/ 45674117 h 11017"/>
                <a:gd name="T26" fmla="*/ 74811206 w 10348"/>
                <a:gd name="T27" fmla="*/ 54805450 h 11017"/>
                <a:gd name="T28" fmla="*/ 48727179 w 10348"/>
                <a:gd name="T29" fmla="*/ 50239783 h 11017"/>
                <a:gd name="T30" fmla="*/ 22963843 w 10348"/>
                <a:gd name="T31" fmla="*/ 44198819 h 11017"/>
                <a:gd name="T32" fmla="*/ 14242243 w 10348"/>
                <a:gd name="T33" fmla="*/ 73084295 h 11017"/>
                <a:gd name="T34" fmla="*/ 13921553 w 10348"/>
                <a:gd name="T35" fmla="*/ 91348208 h 11017"/>
                <a:gd name="T36" fmla="*/ 0 w 10348"/>
                <a:gd name="T37" fmla="*/ 120109391 h 11017"/>
                <a:gd name="T38" fmla="*/ 32004936 w 10348"/>
                <a:gd name="T39" fmla="*/ 130716645 h 11017"/>
                <a:gd name="T40" fmla="*/ 31324965 w 10348"/>
                <a:gd name="T41" fmla="*/ 150734881 h 11017"/>
                <a:gd name="T42" fmla="*/ 18882750 w 10348"/>
                <a:gd name="T43" fmla="*/ 164945185 h 11017"/>
                <a:gd name="T44" fmla="*/ 54608301 w 10348"/>
                <a:gd name="T45" fmla="*/ 168998170 h 11017"/>
                <a:gd name="T46" fmla="*/ 72331206 w 10348"/>
                <a:gd name="T47" fmla="*/ 169169081 h 11017"/>
                <a:gd name="T48" fmla="*/ 120977614 w 10348"/>
                <a:gd name="T49" fmla="*/ 170520059 h 11017"/>
                <a:gd name="T50" fmla="*/ 191308660 w 10348"/>
                <a:gd name="T51" fmla="*/ 159354156 h 11017"/>
                <a:gd name="T52" fmla="*/ 202070207 w 10348"/>
                <a:gd name="T53" fmla="*/ 138543591 h 11017"/>
                <a:gd name="T54" fmla="*/ 235875171 w 10348"/>
                <a:gd name="T55" fmla="*/ 133480774 h 11017"/>
                <a:gd name="T56" fmla="*/ 289922862 w 10348"/>
                <a:gd name="T57" fmla="*/ 120792982 h 11017"/>
                <a:gd name="T58" fmla="*/ 291923023 w 10348"/>
                <a:gd name="T59" fmla="*/ 105045233 h 11017"/>
                <a:gd name="T60" fmla="*/ 303524887 w 10348"/>
                <a:gd name="T61" fmla="*/ 100992248 h 11017"/>
                <a:gd name="T62" fmla="*/ 318806417 w 10348"/>
                <a:gd name="T63" fmla="*/ 94391986 h 11017"/>
                <a:gd name="T64" fmla="*/ 344810870 w 10348"/>
                <a:gd name="T65" fmla="*/ 76640754 h 11017"/>
                <a:gd name="T66" fmla="*/ 349770869 w 10348"/>
                <a:gd name="T67" fmla="*/ 65971976 h 11017"/>
                <a:gd name="T68" fmla="*/ 366974149 w 10348"/>
                <a:gd name="T69" fmla="*/ 49742633 h 11017"/>
                <a:gd name="T70" fmla="*/ 353092383 w 10348"/>
                <a:gd name="T71" fmla="*/ 31976469 h 11017"/>
                <a:gd name="T72" fmla="*/ 413980873 w 10348"/>
                <a:gd name="T73" fmla="*/ 27410802 h 11017"/>
                <a:gd name="T74" fmla="*/ 396578659 w 10348"/>
                <a:gd name="T75" fmla="*/ 13697623 h 11017"/>
                <a:gd name="T76" fmla="*/ 383016421 w 10348"/>
                <a:gd name="T77" fmla="*/ 5109433 h 11017"/>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348" h="11017">
                  <a:moveTo>
                    <a:pt x="9574" y="329"/>
                  </a:moveTo>
                  <a:cubicBezTo>
                    <a:pt x="9252" y="611"/>
                    <a:pt x="8879" y="1035"/>
                    <a:pt x="8609" y="1176"/>
                  </a:cubicBezTo>
                  <a:cubicBezTo>
                    <a:pt x="8340" y="1317"/>
                    <a:pt x="8174" y="1176"/>
                    <a:pt x="7957" y="1176"/>
                  </a:cubicBezTo>
                  <a:cubicBezTo>
                    <a:pt x="7884" y="882"/>
                    <a:pt x="7812" y="588"/>
                    <a:pt x="7739" y="294"/>
                  </a:cubicBezTo>
                  <a:lnTo>
                    <a:pt x="7522" y="0"/>
                  </a:lnTo>
                  <a:lnTo>
                    <a:pt x="6870" y="882"/>
                  </a:lnTo>
                  <a:cubicBezTo>
                    <a:pt x="6725" y="1078"/>
                    <a:pt x="6646" y="1425"/>
                    <a:pt x="6435" y="1471"/>
                  </a:cubicBezTo>
                  <a:cubicBezTo>
                    <a:pt x="6224" y="1517"/>
                    <a:pt x="5881" y="1264"/>
                    <a:pt x="5604" y="1160"/>
                  </a:cubicBezTo>
                  <a:cubicBezTo>
                    <a:pt x="5446" y="1165"/>
                    <a:pt x="5319" y="1173"/>
                    <a:pt x="5131" y="1176"/>
                  </a:cubicBezTo>
                  <a:cubicBezTo>
                    <a:pt x="4943" y="1179"/>
                    <a:pt x="4696" y="1176"/>
                    <a:pt x="4478" y="1176"/>
                  </a:cubicBezTo>
                  <a:lnTo>
                    <a:pt x="3609" y="882"/>
                  </a:lnTo>
                  <a:cubicBezTo>
                    <a:pt x="3536" y="1372"/>
                    <a:pt x="3464" y="1863"/>
                    <a:pt x="3391" y="2353"/>
                  </a:cubicBezTo>
                  <a:lnTo>
                    <a:pt x="2305" y="2941"/>
                  </a:lnTo>
                  <a:lnTo>
                    <a:pt x="1870" y="3529"/>
                  </a:lnTo>
                  <a:lnTo>
                    <a:pt x="1218" y="3235"/>
                  </a:lnTo>
                  <a:lnTo>
                    <a:pt x="574" y="2846"/>
                  </a:lnTo>
                  <a:cubicBezTo>
                    <a:pt x="501" y="3434"/>
                    <a:pt x="429" y="4118"/>
                    <a:pt x="356" y="4706"/>
                  </a:cubicBezTo>
                  <a:cubicBezTo>
                    <a:pt x="284" y="5098"/>
                    <a:pt x="420" y="5490"/>
                    <a:pt x="348" y="5882"/>
                  </a:cubicBezTo>
                  <a:cubicBezTo>
                    <a:pt x="278" y="6404"/>
                    <a:pt x="70" y="7212"/>
                    <a:pt x="0" y="7734"/>
                  </a:cubicBezTo>
                  <a:cubicBezTo>
                    <a:pt x="290" y="7930"/>
                    <a:pt x="510" y="8221"/>
                    <a:pt x="800" y="8417"/>
                  </a:cubicBezTo>
                  <a:cubicBezTo>
                    <a:pt x="365" y="10182"/>
                    <a:pt x="838" y="9339"/>
                    <a:pt x="783" y="9706"/>
                  </a:cubicBezTo>
                  <a:cubicBezTo>
                    <a:pt x="728" y="10073"/>
                    <a:pt x="375" y="10425"/>
                    <a:pt x="472" y="10621"/>
                  </a:cubicBezTo>
                  <a:cubicBezTo>
                    <a:pt x="569" y="10817"/>
                    <a:pt x="1142" y="10837"/>
                    <a:pt x="1365" y="10882"/>
                  </a:cubicBezTo>
                  <a:cubicBezTo>
                    <a:pt x="1588" y="10927"/>
                    <a:pt x="1663" y="10844"/>
                    <a:pt x="1808" y="10893"/>
                  </a:cubicBezTo>
                  <a:cubicBezTo>
                    <a:pt x="1953" y="10942"/>
                    <a:pt x="2528" y="11085"/>
                    <a:pt x="3024" y="10980"/>
                  </a:cubicBezTo>
                  <a:cubicBezTo>
                    <a:pt x="3520" y="10875"/>
                    <a:pt x="4444" y="10604"/>
                    <a:pt x="4782" y="10261"/>
                  </a:cubicBezTo>
                  <a:cubicBezTo>
                    <a:pt x="5120" y="9918"/>
                    <a:pt x="4865" y="9199"/>
                    <a:pt x="5051" y="8921"/>
                  </a:cubicBezTo>
                  <a:cubicBezTo>
                    <a:pt x="5237" y="8643"/>
                    <a:pt x="5530" y="8785"/>
                    <a:pt x="5896" y="8595"/>
                  </a:cubicBezTo>
                  <a:cubicBezTo>
                    <a:pt x="6262" y="8405"/>
                    <a:pt x="7014" y="8083"/>
                    <a:pt x="7247" y="7778"/>
                  </a:cubicBezTo>
                  <a:cubicBezTo>
                    <a:pt x="7481" y="7473"/>
                    <a:pt x="7240" y="6977"/>
                    <a:pt x="7297" y="6764"/>
                  </a:cubicBezTo>
                  <a:cubicBezTo>
                    <a:pt x="7354" y="6552"/>
                    <a:pt x="7475" y="6617"/>
                    <a:pt x="7587" y="6503"/>
                  </a:cubicBezTo>
                  <a:cubicBezTo>
                    <a:pt x="7699" y="6389"/>
                    <a:pt x="7797" y="6339"/>
                    <a:pt x="7969" y="6078"/>
                  </a:cubicBezTo>
                  <a:cubicBezTo>
                    <a:pt x="8141" y="5817"/>
                    <a:pt x="8490" y="5240"/>
                    <a:pt x="8619" y="4935"/>
                  </a:cubicBezTo>
                  <a:cubicBezTo>
                    <a:pt x="8748" y="4630"/>
                    <a:pt x="8651" y="4537"/>
                    <a:pt x="8743" y="4248"/>
                  </a:cubicBezTo>
                  <a:cubicBezTo>
                    <a:pt x="8835" y="3959"/>
                    <a:pt x="9159" y="3568"/>
                    <a:pt x="9173" y="3203"/>
                  </a:cubicBezTo>
                  <a:cubicBezTo>
                    <a:pt x="9187" y="2838"/>
                    <a:pt x="8630" y="2299"/>
                    <a:pt x="8826" y="2059"/>
                  </a:cubicBezTo>
                  <a:cubicBezTo>
                    <a:pt x="9022" y="1819"/>
                    <a:pt x="9841" y="1863"/>
                    <a:pt x="10348" y="1765"/>
                  </a:cubicBezTo>
                  <a:lnTo>
                    <a:pt x="9913" y="882"/>
                  </a:lnTo>
                  <a:lnTo>
                    <a:pt x="9574" y="329"/>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92" name="Freeform 189">
              <a:extLst>
                <a:ext uri="{FF2B5EF4-FFF2-40B4-BE49-F238E27FC236}">
                  <a16:creationId xmlns:a16="http://schemas.microsoft.com/office/drawing/2014/main" id="{6535B142-2913-4965-DBB2-F484DEA1FE7E}"/>
                </a:ext>
              </a:extLst>
            </p:cNvPr>
            <p:cNvSpPr>
              <a:spLocks/>
            </p:cNvSpPr>
            <p:nvPr/>
          </p:nvSpPr>
          <p:spPr bwMode="auto">
            <a:xfrm>
              <a:off x="8144524" y="3779903"/>
              <a:ext cx="135023" cy="164913"/>
            </a:xfrm>
            <a:custGeom>
              <a:avLst/>
              <a:gdLst>
                <a:gd name="T0" fmla="*/ 2147483647 w 90"/>
                <a:gd name="T1" fmla="*/ 2147483647 h 78"/>
                <a:gd name="T2" fmla="*/ 2147483647 w 90"/>
                <a:gd name="T3" fmla="*/ 2147483647 h 78"/>
                <a:gd name="T4" fmla="*/ 2147483647 w 90"/>
                <a:gd name="T5" fmla="*/ 2147483647 h 78"/>
                <a:gd name="T6" fmla="*/ 2147483647 w 90"/>
                <a:gd name="T7" fmla="*/ 2147483647 h 78"/>
                <a:gd name="T8" fmla="*/ 2147483647 w 90"/>
                <a:gd name="T9" fmla="*/ 0 h 78"/>
                <a:gd name="T10" fmla="*/ 2147483647 w 90"/>
                <a:gd name="T11" fmla="*/ 0 h 78"/>
                <a:gd name="T12" fmla="*/ 2147483647 w 90"/>
                <a:gd name="T13" fmla="*/ 2147483647 h 78"/>
                <a:gd name="T14" fmla="*/ 0 w 90"/>
                <a:gd name="T15" fmla="*/ 2147483647 h 78"/>
                <a:gd name="T16" fmla="*/ 2147483647 w 90"/>
                <a:gd name="T17" fmla="*/ 2147483647 h 78"/>
                <a:gd name="T18" fmla="*/ 2147483647 w 90"/>
                <a:gd name="T19" fmla="*/ 2147483647 h 78"/>
                <a:gd name="T20" fmla="*/ 2147483647 w 90"/>
                <a:gd name="T21" fmla="*/ 2147483647 h 78"/>
                <a:gd name="T22" fmla="*/ 2147483647 w 90"/>
                <a:gd name="T23" fmla="*/ 2147483647 h 78"/>
                <a:gd name="T24" fmla="*/ 2147483647 w 90"/>
                <a:gd name="T25" fmla="*/ 2147483647 h 78"/>
                <a:gd name="T26" fmla="*/ 2147483647 w 90"/>
                <a:gd name="T27" fmla="*/ 2147483647 h 78"/>
                <a:gd name="T28" fmla="*/ 2147483647 w 90"/>
                <a:gd name="T29" fmla="*/ 2147483647 h 7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0" h="78">
                  <a:moveTo>
                    <a:pt x="72" y="42"/>
                  </a:moveTo>
                  <a:lnTo>
                    <a:pt x="78" y="30"/>
                  </a:lnTo>
                  <a:lnTo>
                    <a:pt x="84" y="18"/>
                  </a:lnTo>
                  <a:lnTo>
                    <a:pt x="48" y="12"/>
                  </a:lnTo>
                  <a:lnTo>
                    <a:pt x="30" y="0"/>
                  </a:lnTo>
                  <a:lnTo>
                    <a:pt x="12" y="0"/>
                  </a:lnTo>
                  <a:lnTo>
                    <a:pt x="6" y="12"/>
                  </a:lnTo>
                  <a:lnTo>
                    <a:pt x="0" y="18"/>
                  </a:lnTo>
                  <a:lnTo>
                    <a:pt x="6" y="30"/>
                  </a:lnTo>
                  <a:lnTo>
                    <a:pt x="18" y="78"/>
                  </a:lnTo>
                  <a:lnTo>
                    <a:pt x="54" y="72"/>
                  </a:lnTo>
                  <a:lnTo>
                    <a:pt x="78" y="66"/>
                  </a:lnTo>
                  <a:lnTo>
                    <a:pt x="84" y="72"/>
                  </a:lnTo>
                  <a:lnTo>
                    <a:pt x="90" y="48"/>
                  </a:lnTo>
                  <a:lnTo>
                    <a:pt x="72" y="42"/>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93" name="Freeform 190">
              <a:extLst>
                <a:ext uri="{FF2B5EF4-FFF2-40B4-BE49-F238E27FC236}">
                  <a16:creationId xmlns:a16="http://schemas.microsoft.com/office/drawing/2014/main" id="{7F58E698-5B62-ECFD-F31E-4F6EB00940FE}"/>
                </a:ext>
              </a:extLst>
            </p:cNvPr>
            <p:cNvSpPr>
              <a:spLocks/>
            </p:cNvSpPr>
            <p:nvPr/>
          </p:nvSpPr>
          <p:spPr bwMode="auto">
            <a:xfrm>
              <a:off x="7853561" y="3561915"/>
              <a:ext cx="256732" cy="144062"/>
            </a:xfrm>
            <a:custGeom>
              <a:avLst/>
              <a:gdLst>
                <a:gd name="T0" fmla="*/ 2147483647 w 10000"/>
                <a:gd name="T1" fmla="*/ 243402179 h 11631"/>
                <a:gd name="T2" fmla="*/ 2147483647 w 10000"/>
                <a:gd name="T3" fmla="*/ 201909865 h 11631"/>
                <a:gd name="T4" fmla="*/ 1716206681 w 10000"/>
                <a:gd name="T5" fmla="*/ 52554460 h 11631"/>
                <a:gd name="T6" fmla="*/ 729640913 w 10000"/>
                <a:gd name="T7" fmla="*/ 0 h 11631"/>
                <a:gd name="T8" fmla="*/ 0 w 10000"/>
                <a:gd name="T9" fmla="*/ 216853640 h 11631"/>
                <a:gd name="T10" fmla="*/ 2147483647 w 10000"/>
                <a:gd name="T11" fmla="*/ 419168950 h 11631"/>
                <a:gd name="T12" fmla="*/ 2147483647 w 10000"/>
                <a:gd name="T13" fmla="*/ 463190339 h 11631"/>
                <a:gd name="T14" fmla="*/ 2147483647 w 10000"/>
                <a:gd name="T15" fmla="*/ 525135769 h 11631"/>
                <a:gd name="T16" fmla="*/ 2147483647 w 10000"/>
                <a:gd name="T17" fmla="*/ 393253317 h 11631"/>
                <a:gd name="T18" fmla="*/ 2147483647 w 10000"/>
                <a:gd name="T19" fmla="*/ 366976575 h 11631"/>
                <a:gd name="T20" fmla="*/ 2147483647 w 10000"/>
                <a:gd name="T21" fmla="*/ 305167054 h 11631"/>
                <a:gd name="T22" fmla="*/ 2147483647 w 10000"/>
                <a:gd name="T23" fmla="*/ 298981436 h 11631"/>
                <a:gd name="T24" fmla="*/ 2147483647 w 10000"/>
                <a:gd name="T25" fmla="*/ 243402179 h 116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00" h="11631">
                  <a:moveTo>
                    <a:pt x="7686" y="5391"/>
                  </a:moveTo>
                  <a:lnTo>
                    <a:pt x="5498" y="4472"/>
                  </a:lnTo>
                  <a:lnTo>
                    <a:pt x="2084" y="1164"/>
                  </a:lnTo>
                  <a:lnTo>
                    <a:pt x="886" y="0"/>
                  </a:lnTo>
                  <a:lnTo>
                    <a:pt x="0" y="4803"/>
                  </a:lnTo>
                  <a:lnTo>
                    <a:pt x="3459" y="9284"/>
                  </a:lnTo>
                  <a:lnTo>
                    <a:pt x="5903" y="10259"/>
                  </a:lnTo>
                  <a:lnTo>
                    <a:pt x="8016" y="11631"/>
                  </a:lnTo>
                  <a:lnTo>
                    <a:pt x="8676" y="8710"/>
                  </a:lnTo>
                  <a:lnTo>
                    <a:pt x="10000" y="8128"/>
                  </a:lnTo>
                  <a:lnTo>
                    <a:pt x="8915" y="6759"/>
                  </a:lnTo>
                  <a:lnTo>
                    <a:pt x="8310" y="6622"/>
                  </a:lnTo>
                  <a:cubicBezTo>
                    <a:pt x="8207" y="6039"/>
                    <a:pt x="7790" y="5973"/>
                    <a:pt x="7686" y="5391"/>
                  </a:cubicBez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94" name="Freeform 191">
              <a:extLst>
                <a:ext uri="{FF2B5EF4-FFF2-40B4-BE49-F238E27FC236}">
                  <a16:creationId xmlns:a16="http://schemas.microsoft.com/office/drawing/2014/main" id="{421504B1-821A-9A36-3A2C-8B3AE83C2F65}"/>
                </a:ext>
              </a:extLst>
            </p:cNvPr>
            <p:cNvSpPr>
              <a:spLocks/>
            </p:cNvSpPr>
            <p:nvPr/>
          </p:nvSpPr>
          <p:spPr bwMode="auto">
            <a:xfrm>
              <a:off x="8270038" y="3724932"/>
              <a:ext cx="323293" cy="583829"/>
            </a:xfrm>
            <a:custGeom>
              <a:avLst/>
              <a:gdLst>
                <a:gd name="T0" fmla="*/ 61661990 w 12864"/>
                <a:gd name="T1" fmla="*/ 0 h 10000"/>
                <a:gd name="T2" fmla="*/ 48236946 w 12864"/>
                <a:gd name="T3" fmla="*/ 73483611 h 10000"/>
                <a:gd name="T4" fmla="*/ 41690569 w 12864"/>
                <a:gd name="T5" fmla="*/ 93173579 h 10000"/>
                <a:gd name="T6" fmla="*/ 39619366 w 12864"/>
                <a:gd name="T7" fmla="*/ 70552551 h 10000"/>
                <a:gd name="T8" fmla="*/ 17105342 w 12864"/>
                <a:gd name="T9" fmla="*/ 177087862 h 10000"/>
                <a:gd name="T10" fmla="*/ 3337878 w 12864"/>
                <a:gd name="T11" fmla="*/ 316435825 h 10000"/>
                <a:gd name="T12" fmla="*/ 0 w 12864"/>
                <a:gd name="T13" fmla="*/ 413360432 h 10000"/>
                <a:gd name="T14" fmla="*/ 22800976 w 12864"/>
                <a:gd name="T15" fmla="*/ 632988803 h 10000"/>
                <a:gd name="T16" fmla="*/ 17678386 w 12864"/>
                <a:gd name="T17" fmla="*/ 751946328 h 10000"/>
                <a:gd name="T18" fmla="*/ 43928156 w 12864"/>
                <a:gd name="T19" fmla="*/ 774916368 h 10000"/>
                <a:gd name="T20" fmla="*/ 58990009 w 12864"/>
                <a:gd name="T21" fmla="*/ 770933430 h 10000"/>
                <a:gd name="T22" fmla="*/ 50603933 w 12864"/>
                <a:gd name="T23" fmla="*/ 678697022 h 10000"/>
                <a:gd name="T24" fmla="*/ 56142434 w 12864"/>
                <a:gd name="T25" fmla="*/ 703778055 h 10000"/>
                <a:gd name="T26" fmla="*/ 61791830 w 12864"/>
                <a:gd name="T27" fmla="*/ 838323062 h 10000"/>
                <a:gd name="T28" fmla="*/ 68310032 w 12864"/>
                <a:gd name="T29" fmla="*/ 939347759 h 10000"/>
                <a:gd name="T30" fmla="*/ 69863240 w 12864"/>
                <a:gd name="T31" fmla="*/ 1171986453 h 10000"/>
                <a:gd name="T32" fmla="*/ 83279473 w 12864"/>
                <a:gd name="T33" fmla="*/ 1041192475 h 10000"/>
                <a:gd name="T34" fmla="*/ 77463712 w 12864"/>
                <a:gd name="T35" fmla="*/ 812773420 h 10000"/>
                <a:gd name="T36" fmla="*/ 67986556 w 12864"/>
                <a:gd name="T37" fmla="*/ 747843842 h 10000"/>
                <a:gd name="T38" fmla="*/ 72720508 w 12864"/>
                <a:gd name="T39" fmla="*/ 695924540 h 10000"/>
                <a:gd name="T40" fmla="*/ 71925212 w 12864"/>
                <a:gd name="T41" fmla="*/ 652795923 h 10000"/>
                <a:gd name="T42" fmla="*/ 59295024 w 12864"/>
                <a:gd name="T43" fmla="*/ 561967642 h 10000"/>
                <a:gd name="T44" fmla="*/ 65610338 w 12864"/>
                <a:gd name="T45" fmla="*/ 492820822 h 10000"/>
                <a:gd name="T46" fmla="*/ 73191887 w 12864"/>
                <a:gd name="T47" fmla="*/ 491766548 h 10000"/>
                <a:gd name="T48" fmla="*/ 89548570 w 12864"/>
                <a:gd name="T49" fmla="*/ 447815517 h 10000"/>
                <a:gd name="T50" fmla="*/ 95484498 w 12864"/>
                <a:gd name="T51" fmla="*/ 410195117 h 10000"/>
                <a:gd name="T52" fmla="*/ 102770284 w 12864"/>
                <a:gd name="T53" fmla="*/ 351830476 h 10000"/>
                <a:gd name="T54" fmla="*/ 118941700 w 12864"/>
                <a:gd name="T55" fmla="*/ 341165449 h 10000"/>
                <a:gd name="T56" fmla="*/ 113393948 w 12864"/>
                <a:gd name="T57" fmla="*/ 240492209 h 10000"/>
                <a:gd name="T58" fmla="*/ 102187569 w 12864"/>
                <a:gd name="T59" fmla="*/ 202403199 h 10000"/>
                <a:gd name="T60" fmla="*/ 87921012 w 12864"/>
                <a:gd name="T61" fmla="*/ 190447247 h 10000"/>
                <a:gd name="T62" fmla="*/ 71915960 w 12864"/>
                <a:gd name="T63" fmla="*/ 200526512 h 10000"/>
                <a:gd name="T64" fmla="*/ 68698230 w 12864"/>
                <a:gd name="T65" fmla="*/ 206620442 h 10000"/>
                <a:gd name="T66" fmla="*/ 65610338 w 12864"/>
                <a:gd name="T67" fmla="*/ 181658958 h 10000"/>
                <a:gd name="T68" fmla="*/ 72720508 w 12864"/>
                <a:gd name="T69" fmla="*/ 146967173 h 10000"/>
                <a:gd name="T70" fmla="*/ 72720508 w 12864"/>
                <a:gd name="T71" fmla="*/ 56256044 h 10000"/>
                <a:gd name="T72" fmla="*/ 61661990 w 12864"/>
                <a:gd name="T73" fmla="*/ 0 h 1000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2864" h="10000">
                  <a:moveTo>
                    <a:pt x="6669" y="0"/>
                  </a:moveTo>
                  <a:lnTo>
                    <a:pt x="5217" y="627"/>
                  </a:lnTo>
                  <a:lnTo>
                    <a:pt x="4509" y="795"/>
                  </a:lnTo>
                  <a:lnTo>
                    <a:pt x="4285" y="602"/>
                  </a:lnTo>
                  <a:lnTo>
                    <a:pt x="1850" y="1511"/>
                  </a:lnTo>
                  <a:lnTo>
                    <a:pt x="361" y="2700"/>
                  </a:lnTo>
                  <a:lnTo>
                    <a:pt x="0" y="3527"/>
                  </a:lnTo>
                  <a:lnTo>
                    <a:pt x="2466" y="5401"/>
                  </a:lnTo>
                  <a:lnTo>
                    <a:pt x="1912" y="6416"/>
                  </a:lnTo>
                  <a:cubicBezTo>
                    <a:pt x="2658" y="6304"/>
                    <a:pt x="4006" y="6725"/>
                    <a:pt x="4751" y="6612"/>
                  </a:cubicBezTo>
                  <a:lnTo>
                    <a:pt x="6380" y="6578"/>
                  </a:lnTo>
                  <a:lnTo>
                    <a:pt x="5473" y="5791"/>
                  </a:lnTo>
                  <a:lnTo>
                    <a:pt x="6072" y="6005"/>
                  </a:lnTo>
                  <a:lnTo>
                    <a:pt x="6683" y="7153"/>
                  </a:lnTo>
                  <a:lnTo>
                    <a:pt x="7388" y="8015"/>
                  </a:lnTo>
                  <a:cubicBezTo>
                    <a:pt x="7359" y="8285"/>
                    <a:pt x="7584" y="9729"/>
                    <a:pt x="7556" y="10000"/>
                  </a:cubicBezTo>
                  <a:lnTo>
                    <a:pt x="9007" y="8884"/>
                  </a:lnTo>
                  <a:lnTo>
                    <a:pt x="8378" y="6935"/>
                  </a:lnTo>
                  <a:lnTo>
                    <a:pt x="7353" y="6381"/>
                  </a:lnTo>
                  <a:lnTo>
                    <a:pt x="7865" y="5938"/>
                  </a:lnTo>
                  <a:cubicBezTo>
                    <a:pt x="7836" y="5815"/>
                    <a:pt x="7808" y="5693"/>
                    <a:pt x="7779" y="5570"/>
                  </a:cubicBezTo>
                  <a:lnTo>
                    <a:pt x="6413" y="4795"/>
                  </a:lnTo>
                  <a:lnTo>
                    <a:pt x="7096" y="4205"/>
                  </a:lnTo>
                  <a:lnTo>
                    <a:pt x="7916" y="4196"/>
                  </a:lnTo>
                  <a:lnTo>
                    <a:pt x="9685" y="3821"/>
                  </a:lnTo>
                  <a:cubicBezTo>
                    <a:pt x="9793" y="3687"/>
                    <a:pt x="10219" y="3634"/>
                    <a:pt x="10327" y="3500"/>
                  </a:cubicBezTo>
                  <a:lnTo>
                    <a:pt x="11115" y="3002"/>
                  </a:lnTo>
                  <a:cubicBezTo>
                    <a:pt x="11093" y="2923"/>
                    <a:pt x="12886" y="2990"/>
                    <a:pt x="12864" y="2911"/>
                  </a:cubicBezTo>
                  <a:lnTo>
                    <a:pt x="12264" y="2052"/>
                  </a:lnTo>
                  <a:cubicBezTo>
                    <a:pt x="12238" y="1992"/>
                    <a:pt x="11078" y="1787"/>
                    <a:pt x="11052" y="1727"/>
                  </a:cubicBezTo>
                  <a:cubicBezTo>
                    <a:pt x="11067" y="1385"/>
                    <a:pt x="9494" y="1967"/>
                    <a:pt x="9509" y="1625"/>
                  </a:cubicBezTo>
                  <a:lnTo>
                    <a:pt x="7778" y="1711"/>
                  </a:lnTo>
                  <a:lnTo>
                    <a:pt x="7430" y="1763"/>
                  </a:lnTo>
                  <a:lnTo>
                    <a:pt x="7096" y="1550"/>
                  </a:lnTo>
                  <a:lnTo>
                    <a:pt x="7865" y="1254"/>
                  </a:lnTo>
                  <a:lnTo>
                    <a:pt x="7865" y="480"/>
                  </a:lnTo>
                  <a:lnTo>
                    <a:pt x="6669"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95" name="Freeform 192">
              <a:extLst>
                <a:ext uri="{FF2B5EF4-FFF2-40B4-BE49-F238E27FC236}">
                  <a16:creationId xmlns:a16="http://schemas.microsoft.com/office/drawing/2014/main" id="{1E446EBB-7744-6232-2CE9-A90800B72706}"/>
                </a:ext>
              </a:extLst>
            </p:cNvPr>
            <p:cNvSpPr>
              <a:spLocks/>
            </p:cNvSpPr>
            <p:nvPr/>
          </p:nvSpPr>
          <p:spPr bwMode="auto">
            <a:xfrm>
              <a:off x="8135016" y="3645319"/>
              <a:ext cx="106497" cy="58761"/>
            </a:xfrm>
            <a:custGeom>
              <a:avLst/>
              <a:gdLst>
                <a:gd name="T0" fmla="*/ 0 w 348468"/>
                <a:gd name="T1" fmla="*/ 2314 h 191264"/>
                <a:gd name="T2" fmla="*/ 1695 w 348468"/>
                <a:gd name="T3" fmla="*/ 3248 h 191264"/>
                <a:gd name="T4" fmla="*/ 2694 w 348468"/>
                <a:gd name="T5" fmla="*/ 2759 h 191264"/>
                <a:gd name="T6" fmla="*/ 3607 w 348468"/>
                <a:gd name="T7" fmla="*/ 3204 h 191264"/>
                <a:gd name="T8" fmla="*/ 5389 w 348468"/>
                <a:gd name="T9" fmla="*/ 2848 h 191264"/>
                <a:gd name="T10" fmla="*/ 5780 w 348468"/>
                <a:gd name="T11" fmla="*/ 1780 h 191264"/>
                <a:gd name="T12" fmla="*/ 4215 w 348468"/>
                <a:gd name="T13" fmla="*/ 89 h 191264"/>
                <a:gd name="T14" fmla="*/ 2781 w 348468"/>
                <a:gd name="T15" fmla="*/ 356 h 191264"/>
                <a:gd name="T16" fmla="*/ 1912 w 348468"/>
                <a:gd name="T17" fmla="*/ 0 h 191264"/>
                <a:gd name="T18" fmla="*/ 478 w 348468"/>
                <a:gd name="T19" fmla="*/ 1246 h 191264"/>
                <a:gd name="T20" fmla="*/ 0 w 348468"/>
                <a:gd name="T21" fmla="*/ 2314 h 19126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48468" h="191264">
                  <a:moveTo>
                    <a:pt x="0" y="136243"/>
                  </a:moveTo>
                  <a:lnTo>
                    <a:pt x="102182" y="191264"/>
                  </a:lnTo>
                  <a:lnTo>
                    <a:pt x="162443" y="162443"/>
                  </a:lnTo>
                  <a:lnTo>
                    <a:pt x="217465" y="188644"/>
                  </a:lnTo>
                  <a:lnTo>
                    <a:pt x="324887" y="167683"/>
                  </a:lnTo>
                  <a:lnTo>
                    <a:pt x="348468" y="104802"/>
                  </a:lnTo>
                  <a:lnTo>
                    <a:pt x="254145" y="5240"/>
                  </a:lnTo>
                  <a:lnTo>
                    <a:pt x="167684" y="20960"/>
                  </a:lnTo>
                  <a:lnTo>
                    <a:pt x="115282" y="0"/>
                  </a:lnTo>
                  <a:lnTo>
                    <a:pt x="28821" y="73361"/>
                  </a:lnTo>
                  <a:lnTo>
                    <a:pt x="0" y="136243"/>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96" name="Freeform 193">
              <a:extLst>
                <a:ext uri="{FF2B5EF4-FFF2-40B4-BE49-F238E27FC236}">
                  <a16:creationId xmlns:a16="http://schemas.microsoft.com/office/drawing/2014/main" id="{47598E2C-5132-2C5A-2C2F-89AFB885A7E2}"/>
                </a:ext>
              </a:extLst>
            </p:cNvPr>
            <p:cNvSpPr>
              <a:spLocks/>
            </p:cNvSpPr>
            <p:nvPr/>
          </p:nvSpPr>
          <p:spPr bwMode="auto">
            <a:xfrm>
              <a:off x="8541985" y="4413016"/>
              <a:ext cx="154039" cy="176287"/>
            </a:xfrm>
            <a:custGeom>
              <a:avLst/>
              <a:gdLst>
                <a:gd name="T0" fmla="*/ 0 w 675"/>
                <a:gd name="T1" fmla="*/ 2147483647 h 773"/>
                <a:gd name="T2" fmla="*/ 2147483647 w 675"/>
                <a:gd name="T3" fmla="*/ 2147483647 h 773"/>
                <a:gd name="T4" fmla="*/ 2147483647 w 675"/>
                <a:gd name="T5" fmla="*/ 2147483647 h 773"/>
                <a:gd name="T6" fmla="*/ 2147483647 w 675"/>
                <a:gd name="T7" fmla="*/ 2147483647 h 773"/>
                <a:gd name="T8" fmla="*/ 2147483647 w 675"/>
                <a:gd name="T9" fmla="*/ 2147483647 h 773"/>
                <a:gd name="T10" fmla="*/ 2147483647 w 675"/>
                <a:gd name="T11" fmla="*/ 2147483647 h 773"/>
                <a:gd name="T12" fmla="*/ 2147483647 w 675"/>
                <a:gd name="T13" fmla="*/ 2147483647 h 773"/>
                <a:gd name="T14" fmla="*/ 2147483647 w 675"/>
                <a:gd name="T15" fmla="*/ 2147483647 h 773"/>
                <a:gd name="T16" fmla="*/ 2147483647 w 675"/>
                <a:gd name="T17" fmla="*/ 2147483647 h 773"/>
                <a:gd name="T18" fmla="*/ 2147483647 w 675"/>
                <a:gd name="T19" fmla="*/ 2147483647 h 773"/>
                <a:gd name="T20" fmla="*/ 2147483647 w 675"/>
                <a:gd name="T21" fmla="*/ 2147483647 h 773"/>
                <a:gd name="T22" fmla="*/ 2147483647 w 675"/>
                <a:gd name="T23" fmla="*/ 2147483647 h 773"/>
                <a:gd name="T24" fmla="*/ 2147483647 w 675"/>
                <a:gd name="T25" fmla="*/ 2147483647 h 773"/>
                <a:gd name="T26" fmla="*/ 2147483647 w 675"/>
                <a:gd name="T27" fmla="*/ 0 h 773"/>
                <a:gd name="T28" fmla="*/ 0 w 675"/>
                <a:gd name="T29" fmla="*/ 2147483647 h 77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75" h="773">
                  <a:moveTo>
                    <a:pt x="0" y="41"/>
                  </a:moveTo>
                  <a:lnTo>
                    <a:pt x="75" y="339"/>
                  </a:lnTo>
                  <a:lnTo>
                    <a:pt x="273" y="579"/>
                  </a:lnTo>
                  <a:lnTo>
                    <a:pt x="605" y="769"/>
                  </a:lnTo>
                  <a:lnTo>
                    <a:pt x="675" y="773"/>
                  </a:lnTo>
                  <a:lnTo>
                    <a:pt x="563" y="583"/>
                  </a:lnTo>
                  <a:lnTo>
                    <a:pt x="493" y="521"/>
                  </a:lnTo>
                  <a:lnTo>
                    <a:pt x="493" y="269"/>
                  </a:lnTo>
                  <a:lnTo>
                    <a:pt x="323" y="78"/>
                  </a:lnTo>
                  <a:lnTo>
                    <a:pt x="286" y="58"/>
                  </a:lnTo>
                  <a:lnTo>
                    <a:pt x="253" y="111"/>
                  </a:lnTo>
                  <a:lnTo>
                    <a:pt x="141" y="128"/>
                  </a:lnTo>
                  <a:lnTo>
                    <a:pt x="145" y="70"/>
                  </a:lnTo>
                  <a:lnTo>
                    <a:pt x="17" y="0"/>
                  </a:lnTo>
                  <a:lnTo>
                    <a:pt x="0" y="41"/>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97" name="Freeform 194">
              <a:extLst>
                <a:ext uri="{FF2B5EF4-FFF2-40B4-BE49-F238E27FC236}">
                  <a16:creationId xmlns:a16="http://schemas.microsoft.com/office/drawing/2014/main" id="{D47A093D-B02F-967C-AF7A-8F85862451DD}"/>
                </a:ext>
              </a:extLst>
            </p:cNvPr>
            <p:cNvSpPr>
              <a:spLocks/>
            </p:cNvSpPr>
            <p:nvPr/>
          </p:nvSpPr>
          <p:spPr bwMode="auto">
            <a:xfrm>
              <a:off x="8583823" y="3867098"/>
              <a:ext cx="239617" cy="468201"/>
            </a:xfrm>
            <a:custGeom>
              <a:avLst/>
              <a:gdLst>
                <a:gd name="T0" fmla="*/ 2147483647 w 138"/>
                <a:gd name="T1" fmla="*/ 0 h 271"/>
                <a:gd name="T2" fmla="*/ 2147483647 w 138"/>
                <a:gd name="T3" fmla="*/ 0 h 271"/>
                <a:gd name="T4" fmla="*/ 0 w 138"/>
                <a:gd name="T5" fmla="*/ 2147483647 h 271"/>
                <a:gd name="T6" fmla="*/ 2147483647 w 138"/>
                <a:gd name="T7" fmla="*/ 2147483647 h 271"/>
                <a:gd name="T8" fmla="*/ 2147483647 w 138"/>
                <a:gd name="T9" fmla="*/ 2147483647 h 271"/>
                <a:gd name="T10" fmla="*/ 2147483647 w 138"/>
                <a:gd name="T11" fmla="*/ 2147483647 h 271"/>
                <a:gd name="T12" fmla="*/ 2147483647 w 138"/>
                <a:gd name="T13" fmla="*/ 2147483647 h 271"/>
                <a:gd name="T14" fmla="*/ 2147483647 w 138"/>
                <a:gd name="T15" fmla="*/ 2147483647 h 271"/>
                <a:gd name="T16" fmla="*/ 2147483647 w 138"/>
                <a:gd name="T17" fmla="*/ 2147483647 h 271"/>
                <a:gd name="T18" fmla="*/ 2147483647 w 138"/>
                <a:gd name="T19" fmla="*/ 2147483647 h 271"/>
                <a:gd name="T20" fmla="*/ 2147483647 w 138"/>
                <a:gd name="T21" fmla="*/ 2147483647 h 271"/>
                <a:gd name="T22" fmla="*/ 2147483647 w 138"/>
                <a:gd name="T23" fmla="*/ 2147483647 h 271"/>
                <a:gd name="T24" fmla="*/ 2147483647 w 138"/>
                <a:gd name="T25" fmla="*/ 2147483647 h 271"/>
                <a:gd name="T26" fmla="*/ 2147483647 w 138"/>
                <a:gd name="T27" fmla="*/ 2147483647 h 271"/>
                <a:gd name="T28" fmla="*/ 2147483647 w 138"/>
                <a:gd name="T29" fmla="*/ 2147483647 h 271"/>
                <a:gd name="T30" fmla="*/ 2147483647 w 138"/>
                <a:gd name="T31" fmla="*/ 2147483647 h 271"/>
                <a:gd name="T32" fmla="*/ 2147483647 w 138"/>
                <a:gd name="T33" fmla="*/ 2147483647 h 271"/>
                <a:gd name="T34" fmla="*/ 2147483647 w 138"/>
                <a:gd name="T35" fmla="*/ 2147483647 h 271"/>
                <a:gd name="T36" fmla="*/ 2147483647 w 138"/>
                <a:gd name="T37" fmla="*/ 2147483647 h 271"/>
                <a:gd name="T38" fmla="*/ 2147483647 w 138"/>
                <a:gd name="T39" fmla="*/ 2147483647 h 271"/>
                <a:gd name="T40" fmla="*/ 2147483647 w 138"/>
                <a:gd name="T41" fmla="*/ 2147483647 h 271"/>
                <a:gd name="T42" fmla="*/ 2147483647 w 138"/>
                <a:gd name="T43" fmla="*/ 2147483647 h 271"/>
                <a:gd name="T44" fmla="*/ 2147483647 w 138"/>
                <a:gd name="T45" fmla="*/ 2147483647 h 271"/>
                <a:gd name="T46" fmla="*/ 2147483647 w 138"/>
                <a:gd name="T47" fmla="*/ 2147483647 h 271"/>
                <a:gd name="T48" fmla="*/ 2147483647 w 138"/>
                <a:gd name="T49" fmla="*/ 2147483647 h 271"/>
                <a:gd name="T50" fmla="*/ 2147483647 w 138"/>
                <a:gd name="T51" fmla="*/ 2147483647 h 271"/>
                <a:gd name="T52" fmla="*/ 2147483647 w 138"/>
                <a:gd name="T53" fmla="*/ 2147483647 h 271"/>
                <a:gd name="T54" fmla="*/ 2147483647 w 138"/>
                <a:gd name="T55" fmla="*/ 2147483647 h 271"/>
                <a:gd name="T56" fmla="*/ 2147483647 w 138"/>
                <a:gd name="T57" fmla="*/ 0 h 27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38" h="271">
                  <a:moveTo>
                    <a:pt x="66" y="0"/>
                  </a:moveTo>
                  <a:lnTo>
                    <a:pt x="6" y="0"/>
                  </a:lnTo>
                  <a:lnTo>
                    <a:pt x="0" y="24"/>
                  </a:lnTo>
                  <a:lnTo>
                    <a:pt x="6" y="24"/>
                  </a:lnTo>
                  <a:lnTo>
                    <a:pt x="18" y="42"/>
                  </a:lnTo>
                  <a:lnTo>
                    <a:pt x="36" y="48"/>
                  </a:lnTo>
                  <a:lnTo>
                    <a:pt x="42" y="60"/>
                  </a:lnTo>
                  <a:lnTo>
                    <a:pt x="36" y="72"/>
                  </a:lnTo>
                  <a:lnTo>
                    <a:pt x="54" y="96"/>
                  </a:lnTo>
                  <a:lnTo>
                    <a:pt x="78" y="126"/>
                  </a:lnTo>
                  <a:lnTo>
                    <a:pt x="96" y="144"/>
                  </a:lnTo>
                  <a:lnTo>
                    <a:pt x="96" y="175"/>
                  </a:lnTo>
                  <a:lnTo>
                    <a:pt x="96" y="211"/>
                  </a:lnTo>
                  <a:lnTo>
                    <a:pt x="78" y="223"/>
                  </a:lnTo>
                  <a:lnTo>
                    <a:pt x="60" y="229"/>
                  </a:lnTo>
                  <a:lnTo>
                    <a:pt x="54" y="241"/>
                  </a:lnTo>
                  <a:lnTo>
                    <a:pt x="42" y="247"/>
                  </a:lnTo>
                  <a:lnTo>
                    <a:pt x="48" y="253"/>
                  </a:lnTo>
                  <a:lnTo>
                    <a:pt x="66" y="271"/>
                  </a:lnTo>
                  <a:lnTo>
                    <a:pt x="108" y="241"/>
                  </a:lnTo>
                  <a:lnTo>
                    <a:pt x="138" y="211"/>
                  </a:lnTo>
                  <a:lnTo>
                    <a:pt x="114" y="132"/>
                  </a:lnTo>
                  <a:lnTo>
                    <a:pt x="102" y="114"/>
                  </a:lnTo>
                  <a:lnTo>
                    <a:pt x="78" y="84"/>
                  </a:lnTo>
                  <a:lnTo>
                    <a:pt x="66" y="60"/>
                  </a:lnTo>
                  <a:lnTo>
                    <a:pt x="78" y="48"/>
                  </a:lnTo>
                  <a:lnTo>
                    <a:pt x="96" y="36"/>
                  </a:lnTo>
                  <a:lnTo>
                    <a:pt x="90" y="18"/>
                  </a:lnTo>
                  <a:lnTo>
                    <a:pt x="66"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98" name="Freeform 195">
              <a:extLst>
                <a:ext uri="{FF2B5EF4-FFF2-40B4-BE49-F238E27FC236}">
                  <a16:creationId xmlns:a16="http://schemas.microsoft.com/office/drawing/2014/main" id="{ED225C9A-80BA-1C64-F8E0-542100F5DE7F}"/>
                </a:ext>
              </a:extLst>
            </p:cNvPr>
            <p:cNvSpPr>
              <a:spLocks/>
            </p:cNvSpPr>
            <p:nvPr/>
          </p:nvSpPr>
          <p:spPr bwMode="auto">
            <a:xfrm>
              <a:off x="8429783" y="3944816"/>
              <a:ext cx="266241" cy="477679"/>
            </a:xfrm>
            <a:custGeom>
              <a:avLst/>
              <a:gdLst>
                <a:gd name="T0" fmla="*/ 2147483647 w 107"/>
                <a:gd name="T1" fmla="*/ 2147483647 h 190"/>
                <a:gd name="T2" fmla="*/ 0 w 107"/>
                <a:gd name="T3" fmla="*/ 2147483647 h 190"/>
                <a:gd name="T4" fmla="*/ 2147483647 w 107"/>
                <a:gd name="T5" fmla="*/ 2147483647 h 190"/>
                <a:gd name="T6" fmla="*/ 2147483647 w 107"/>
                <a:gd name="T7" fmla="*/ 2147483647 h 190"/>
                <a:gd name="T8" fmla="*/ 2147483647 w 107"/>
                <a:gd name="T9" fmla="*/ 2147483647 h 190"/>
                <a:gd name="T10" fmla="*/ 2147483647 w 107"/>
                <a:gd name="T11" fmla="*/ 2147483647 h 190"/>
                <a:gd name="T12" fmla="*/ 2147483647 w 107"/>
                <a:gd name="T13" fmla="*/ 2147483647 h 190"/>
                <a:gd name="T14" fmla="*/ 2147483647 w 107"/>
                <a:gd name="T15" fmla="*/ 2147483647 h 190"/>
                <a:gd name="T16" fmla="*/ 2147483647 w 107"/>
                <a:gd name="T17" fmla="*/ 2147483647 h 190"/>
                <a:gd name="T18" fmla="*/ 2147483647 w 107"/>
                <a:gd name="T19" fmla="*/ 2147483647 h 190"/>
                <a:gd name="T20" fmla="*/ 2147483647 w 107"/>
                <a:gd name="T21" fmla="*/ 2147483647 h 190"/>
                <a:gd name="T22" fmla="*/ 2147483647 w 107"/>
                <a:gd name="T23" fmla="*/ 2147483647 h 190"/>
                <a:gd name="T24" fmla="*/ 2147483647 w 107"/>
                <a:gd name="T25" fmla="*/ 2147483647 h 190"/>
                <a:gd name="T26" fmla="*/ 2147483647 w 107"/>
                <a:gd name="T27" fmla="*/ 2147483647 h 190"/>
                <a:gd name="T28" fmla="*/ 2147483647 w 107"/>
                <a:gd name="T29" fmla="*/ 2147483647 h 190"/>
                <a:gd name="T30" fmla="*/ 2147483647 w 107"/>
                <a:gd name="T31" fmla="*/ 2147483647 h 190"/>
                <a:gd name="T32" fmla="*/ 2147483647 w 107"/>
                <a:gd name="T33" fmla="*/ 2147483647 h 190"/>
                <a:gd name="T34" fmla="*/ 2147483647 w 107"/>
                <a:gd name="T35" fmla="*/ 2147483647 h 190"/>
                <a:gd name="T36" fmla="*/ 2147483647 w 107"/>
                <a:gd name="T37" fmla="*/ 2147483647 h 190"/>
                <a:gd name="T38" fmla="*/ 2147483647 w 107"/>
                <a:gd name="T39" fmla="*/ 2147483647 h 190"/>
                <a:gd name="T40" fmla="*/ 2147483647 w 107"/>
                <a:gd name="T41" fmla="*/ 2147483647 h 190"/>
                <a:gd name="T42" fmla="*/ 2147483647 w 107"/>
                <a:gd name="T43" fmla="*/ 2147483647 h 190"/>
                <a:gd name="T44" fmla="*/ 2147483647 w 107"/>
                <a:gd name="T45" fmla="*/ 2147483647 h 190"/>
                <a:gd name="T46" fmla="*/ 2147483647 w 107"/>
                <a:gd name="T47" fmla="*/ 2147483647 h 190"/>
                <a:gd name="T48" fmla="*/ 2147483647 w 107"/>
                <a:gd name="T49" fmla="*/ 2147483647 h 190"/>
                <a:gd name="T50" fmla="*/ 2147483647 w 107"/>
                <a:gd name="T51" fmla="*/ 2147483647 h 190"/>
                <a:gd name="T52" fmla="*/ 2147483647 w 107"/>
                <a:gd name="T53" fmla="*/ 2147483647 h 190"/>
                <a:gd name="T54" fmla="*/ 2147483647 w 107"/>
                <a:gd name="T55" fmla="*/ 2147483647 h 190"/>
                <a:gd name="T56" fmla="*/ 2147483647 w 107"/>
                <a:gd name="T57" fmla="*/ 2147483647 h 190"/>
                <a:gd name="T58" fmla="*/ 2147483647 w 107"/>
                <a:gd name="T59" fmla="*/ 0 h 190"/>
                <a:gd name="T60" fmla="*/ 2147483647 w 107"/>
                <a:gd name="T61" fmla="*/ 2147483647 h 19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07" h="190">
                  <a:moveTo>
                    <a:pt x="7" y="9"/>
                  </a:moveTo>
                  <a:lnTo>
                    <a:pt x="0" y="23"/>
                  </a:lnTo>
                  <a:lnTo>
                    <a:pt x="15" y="47"/>
                  </a:lnTo>
                  <a:lnTo>
                    <a:pt x="15" y="60"/>
                  </a:lnTo>
                  <a:lnTo>
                    <a:pt x="22" y="78"/>
                  </a:lnTo>
                  <a:lnTo>
                    <a:pt x="19" y="93"/>
                  </a:lnTo>
                  <a:lnTo>
                    <a:pt x="23" y="110"/>
                  </a:lnTo>
                  <a:lnTo>
                    <a:pt x="26" y="118"/>
                  </a:lnTo>
                  <a:lnTo>
                    <a:pt x="19" y="126"/>
                  </a:lnTo>
                  <a:lnTo>
                    <a:pt x="13" y="159"/>
                  </a:lnTo>
                  <a:lnTo>
                    <a:pt x="33" y="182"/>
                  </a:lnTo>
                  <a:lnTo>
                    <a:pt x="34" y="178"/>
                  </a:lnTo>
                  <a:lnTo>
                    <a:pt x="46" y="185"/>
                  </a:lnTo>
                  <a:lnTo>
                    <a:pt x="46" y="190"/>
                  </a:lnTo>
                  <a:lnTo>
                    <a:pt x="56" y="188"/>
                  </a:lnTo>
                  <a:lnTo>
                    <a:pt x="59" y="184"/>
                  </a:lnTo>
                  <a:lnTo>
                    <a:pt x="43" y="174"/>
                  </a:lnTo>
                  <a:lnTo>
                    <a:pt x="27" y="149"/>
                  </a:lnTo>
                  <a:lnTo>
                    <a:pt x="19" y="138"/>
                  </a:lnTo>
                  <a:lnTo>
                    <a:pt x="32" y="113"/>
                  </a:lnTo>
                  <a:lnTo>
                    <a:pt x="57" y="108"/>
                  </a:lnTo>
                  <a:lnTo>
                    <a:pt x="70" y="119"/>
                  </a:lnTo>
                  <a:lnTo>
                    <a:pt x="63" y="97"/>
                  </a:lnTo>
                  <a:lnTo>
                    <a:pt x="72" y="87"/>
                  </a:lnTo>
                  <a:lnTo>
                    <a:pt x="101" y="87"/>
                  </a:lnTo>
                  <a:lnTo>
                    <a:pt x="107" y="73"/>
                  </a:lnTo>
                  <a:lnTo>
                    <a:pt x="95" y="50"/>
                  </a:lnTo>
                  <a:lnTo>
                    <a:pt x="85" y="37"/>
                  </a:lnTo>
                  <a:lnTo>
                    <a:pt x="48" y="27"/>
                  </a:lnTo>
                  <a:lnTo>
                    <a:pt x="36" y="0"/>
                  </a:lnTo>
                  <a:lnTo>
                    <a:pt x="7" y="9"/>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199" name="Freeform 196">
              <a:extLst>
                <a:ext uri="{FF2B5EF4-FFF2-40B4-BE49-F238E27FC236}">
                  <a16:creationId xmlns:a16="http://schemas.microsoft.com/office/drawing/2014/main" id="{35B3C374-E826-B94D-E0DE-6BE4AE9825FA}"/>
                </a:ext>
              </a:extLst>
            </p:cNvPr>
            <p:cNvSpPr>
              <a:spLocks/>
            </p:cNvSpPr>
            <p:nvPr/>
          </p:nvSpPr>
          <p:spPr bwMode="auto">
            <a:xfrm>
              <a:off x="8509655" y="3897427"/>
              <a:ext cx="252930" cy="274855"/>
            </a:xfrm>
            <a:custGeom>
              <a:avLst/>
              <a:gdLst>
                <a:gd name="T0" fmla="*/ 1557099446 w 10000"/>
                <a:gd name="T1" fmla="*/ 2147483647 h 10000"/>
                <a:gd name="T2" fmla="*/ 1795553424 w 10000"/>
                <a:gd name="T3" fmla="*/ 2147483647 h 10000"/>
                <a:gd name="T4" fmla="*/ 1795553424 w 10000"/>
                <a:gd name="T5" fmla="*/ 2019481425 h 10000"/>
                <a:gd name="T6" fmla="*/ 1561415592 w 10000"/>
                <a:gd name="T7" fmla="*/ 1716105542 h 10000"/>
                <a:gd name="T8" fmla="*/ 1249166454 w 10000"/>
                <a:gd name="T9" fmla="*/ 1211740132 h 10000"/>
                <a:gd name="T10" fmla="*/ 1014850316 w 10000"/>
                <a:gd name="T11" fmla="*/ 806974560 h 10000"/>
                <a:gd name="T12" fmla="*/ 1092952268 w 10000"/>
                <a:gd name="T13" fmla="*/ 605742369 h 10000"/>
                <a:gd name="T14" fmla="*/ 1014850316 w 10000"/>
                <a:gd name="T15" fmla="*/ 403998332 h 10000"/>
                <a:gd name="T16" fmla="*/ 780703130 w 10000"/>
                <a:gd name="T17" fmla="*/ 302621350 h 10000"/>
                <a:gd name="T18" fmla="*/ 624489387 w 10000"/>
                <a:gd name="T19" fmla="*/ 0 h 10000"/>
                <a:gd name="T20" fmla="*/ 546386970 w 10000"/>
                <a:gd name="T21" fmla="*/ 0 h 10000"/>
                <a:gd name="T22" fmla="*/ 156213743 w 10000"/>
                <a:gd name="T23" fmla="*/ 100622449 h 10000"/>
                <a:gd name="T24" fmla="*/ 0 w 10000"/>
                <a:gd name="T25" fmla="*/ 403998332 h 10000"/>
                <a:gd name="T26" fmla="*/ 78102417 w 10000"/>
                <a:gd name="T27" fmla="*/ 605742369 h 10000"/>
                <a:gd name="T28" fmla="*/ 156213743 w 10000"/>
                <a:gd name="T29" fmla="*/ 1211740132 h 10000"/>
                <a:gd name="T30" fmla="*/ 702600713 w 10000"/>
                <a:gd name="T31" fmla="*/ 1211740132 h 10000"/>
                <a:gd name="T32" fmla="*/ 936738546 w 10000"/>
                <a:gd name="T33" fmla="*/ 1312362604 h 10000"/>
                <a:gd name="T34" fmla="*/ 1327090100 w 10000"/>
                <a:gd name="T35" fmla="*/ 2120103874 h 10000"/>
                <a:gd name="T36" fmla="*/ 1249166454 w 10000"/>
                <a:gd name="T37" fmla="*/ 2147483647 h 10000"/>
                <a:gd name="T38" fmla="*/ 1557099446 w 10000"/>
                <a:gd name="T39" fmla="*/ 2147483647 h 1000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0000" h="10000">
                  <a:moveTo>
                    <a:pt x="8672" y="9830"/>
                  </a:moveTo>
                  <a:lnTo>
                    <a:pt x="10000" y="10000"/>
                  </a:lnTo>
                  <a:lnTo>
                    <a:pt x="10000" y="7948"/>
                  </a:lnTo>
                  <a:lnTo>
                    <a:pt x="8696" y="6754"/>
                  </a:lnTo>
                  <a:lnTo>
                    <a:pt x="6957" y="4769"/>
                  </a:lnTo>
                  <a:lnTo>
                    <a:pt x="5652" y="3176"/>
                  </a:lnTo>
                  <a:lnTo>
                    <a:pt x="6087" y="2384"/>
                  </a:lnTo>
                  <a:lnTo>
                    <a:pt x="5652" y="1590"/>
                  </a:lnTo>
                  <a:lnTo>
                    <a:pt x="4348" y="1191"/>
                  </a:lnTo>
                  <a:lnTo>
                    <a:pt x="3478" y="0"/>
                  </a:lnTo>
                  <a:lnTo>
                    <a:pt x="3043" y="0"/>
                  </a:lnTo>
                  <a:lnTo>
                    <a:pt x="870" y="396"/>
                  </a:lnTo>
                  <a:lnTo>
                    <a:pt x="0" y="1590"/>
                  </a:lnTo>
                  <a:lnTo>
                    <a:pt x="435" y="2384"/>
                  </a:lnTo>
                  <a:lnTo>
                    <a:pt x="870" y="4769"/>
                  </a:lnTo>
                  <a:lnTo>
                    <a:pt x="3913" y="4769"/>
                  </a:lnTo>
                  <a:lnTo>
                    <a:pt x="5217" y="5165"/>
                  </a:lnTo>
                  <a:lnTo>
                    <a:pt x="7391" y="8344"/>
                  </a:lnTo>
                  <a:lnTo>
                    <a:pt x="6957" y="9602"/>
                  </a:lnTo>
                  <a:lnTo>
                    <a:pt x="8672" y="983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sp>
          <p:nvSpPr>
            <p:cNvPr id="200" name="Freeform 197">
              <a:extLst>
                <a:ext uri="{FF2B5EF4-FFF2-40B4-BE49-F238E27FC236}">
                  <a16:creationId xmlns:a16="http://schemas.microsoft.com/office/drawing/2014/main" id="{4A2DF5B2-22E3-B9B2-32E3-3ED42613E6EA}"/>
                </a:ext>
              </a:extLst>
            </p:cNvPr>
            <p:cNvSpPr>
              <a:spLocks/>
            </p:cNvSpPr>
            <p:nvPr/>
          </p:nvSpPr>
          <p:spPr bwMode="auto">
            <a:xfrm>
              <a:off x="8585724" y="4153327"/>
              <a:ext cx="176861" cy="140271"/>
            </a:xfrm>
            <a:custGeom>
              <a:avLst/>
              <a:gdLst>
                <a:gd name="T0" fmla="*/ 348872861 w 10000"/>
                <a:gd name="T1" fmla="*/ 27209600 h 6448"/>
                <a:gd name="T2" fmla="*/ 315095383 w 10000"/>
                <a:gd name="T3" fmla="*/ 15074732 h 6448"/>
                <a:gd name="T4" fmla="*/ 240533365 w 10000"/>
                <a:gd name="T5" fmla="*/ 0 h 6448"/>
                <a:gd name="T6" fmla="*/ 80162754 w 10000"/>
                <a:gd name="T7" fmla="*/ 50172884 h 6448"/>
                <a:gd name="T8" fmla="*/ 0 w 10000"/>
                <a:gd name="T9" fmla="*/ 150615594 h 6448"/>
                <a:gd name="T10" fmla="*/ 0 w 10000"/>
                <a:gd name="T11" fmla="*/ 351307147 h 6448"/>
                <a:gd name="T12" fmla="*/ 133606765 w 10000"/>
                <a:gd name="T13" fmla="*/ 601966131 h 6448"/>
                <a:gd name="T14" fmla="*/ 187047513 w 10000"/>
                <a:gd name="T15" fmla="*/ 652241915 h 6448"/>
                <a:gd name="T16" fmla="*/ 240533365 w 10000"/>
                <a:gd name="T17" fmla="*/ 601966131 h 6448"/>
                <a:gd name="T18" fmla="*/ 267168619 w 10000"/>
                <a:gd name="T19" fmla="*/ 501626339 h 6448"/>
                <a:gd name="T20" fmla="*/ 347418124 w 10000"/>
                <a:gd name="T21" fmla="*/ 451756161 h 6448"/>
                <a:gd name="T22" fmla="*/ 427539023 w 10000"/>
                <a:gd name="T23" fmla="*/ 351307147 h 6448"/>
                <a:gd name="T24" fmla="*/ 427539023 w 10000"/>
                <a:gd name="T25" fmla="*/ 50172884 h 6448"/>
                <a:gd name="T26" fmla="*/ 348872861 w 10000"/>
                <a:gd name="T27" fmla="*/ 27209600 h 644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0000" h="6448">
                  <a:moveTo>
                    <a:pt x="8160" y="269"/>
                  </a:moveTo>
                  <a:cubicBezTo>
                    <a:pt x="7722" y="211"/>
                    <a:pt x="7792" y="194"/>
                    <a:pt x="7370" y="149"/>
                  </a:cubicBezTo>
                  <a:lnTo>
                    <a:pt x="5626" y="0"/>
                  </a:lnTo>
                  <a:lnTo>
                    <a:pt x="1875" y="496"/>
                  </a:lnTo>
                  <a:lnTo>
                    <a:pt x="0" y="1489"/>
                  </a:lnTo>
                  <a:lnTo>
                    <a:pt x="0" y="3473"/>
                  </a:lnTo>
                  <a:lnTo>
                    <a:pt x="3125" y="5951"/>
                  </a:lnTo>
                  <a:lnTo>
                    <a:pt x="4375" y="6448"/>
                  </a:lnTo>
                  <a:lnTo>
                    <a:pt x="5626" y="5951"/>
                  </a:lnTo>
                  <a:lnTo>
                    <a:pt x="6249" y="4959"/>
                  </a:lnTo>
                  <a:lnTo>
                    <a:pt x="8126" y="4466"/>
                  </a:lnTo>
                  <a:lnTo>
                    <a:pt x="10000" y="3473"/>
                  </a:lnTo>
                  <a:lnTo>
                    <a:pt x="10000" y="496"/>
                  </a:lnTo>
                  <a:lnTo>
                    <a:pt x="8160" y="269"/>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defPPr>
                <a:defRPr lang="en-GB"/>
              </a:defPPr>
              <a:lvl1pPr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1pPr>
              <a:lvl2pPr marL="4572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2pPr>
              <a:lvl3pPr marL="9144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3pPr>
              <a:lvl4pPr marL="13716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4pPr>
              <a:lvl5pPr marL="1828800" algn="l" rtl="0" eaLnBrk="0" fontAlgn="base" hangingPunct="0">
                <a:spcBef>
                  <a:spcPct val="0"/>
                </a:spcBef>
                <a:spcAft>
                  <a:spcPct val="0"/>
                </a:spcAft>
                <a:defRPr sz="1400" b="1" kern="1200">
                  <a:solidFill>
                    <a:schemeClr val="bg1"/>
                  </a:solidFill>
                  <a:latin typeface="Arial" charset="0"/>
                  <a:ea typeface="ＭＳ Ｐゴシック" pitchFamily="34" charset="-128"/>
                  <a:cs typeface="+mn-cs"/>
                </a:defRPr>
              </a:lvl5pPr>
              <a:lvl6pPr marL="2286000" algn="l" defTabSz="914400" rtl="0" eaLnBrk="1" latinLnBrk="0" hangingPunct="1">
                <a:defRPr sz="1400" b="1" kern="1200">
                  <a:solidFill>
                    <a:schemeClr val="bg1"/>
                  </a:solidFill>
                  <a:latin typeface="Arial" charset="0"/>
                  <a:ea typeface="ＭＳ Ｐゴシック" pitchFamily="34" charset="-128"/>
                  <a:cs typeface="+mn-cs"/>
                </a:defRPr>
              </a:lvl6pPr>
              <a:lvl7pPr marL="2743200" algn="l" defTabSz="914400" rtl="0" eaLnBrk="1" latinLnBrk="0" hangingPunct="1">
                <a:defRPr sz="1400" b="1" kern="1200">
                  <a:solidFill>
                    <a:schemeClr val="bg1"/>
                  </a:solidFill>
                  <a:latin typeface="Arial" charset="0"/>
                  <a:ea typeface="ＭＳ Ｐゴシック" pitchFamily="34" charset="-128"/>
                  <a:cs typeface="+mn-cs"/>
                </a:defRPr>
              </a:lvl7pPr>
              <a:lvl8pPr marL="3200400" algn="l" defTabSz="914400" rtl="0" eaLnBrk="1" latinLnBrk="0" hangingPunct="1">
                <a:defRPr sz="1400" b="1" kern="1200">
                  <a:solidFill>
                    <a:schemeClr val="bg1"/>
                  </a:solidFill>
                  <a:latin typeface="Arial" charset="0"/>
                  <a:ea typeface="ＭＳ Ｐゴシック" pitchFamily="34" charset="-128"/>
                  <a:cs typeface="+mn-cs"/>
                </a:defRPr>
              </a:lvl8pPr>
              <a:lvl9pPr marL="3657600" algn="l" defTabSz="914400" rtl="0" eaLnBrk="1" latinLnBrk="0" hangingPunct="1">
                <a:defRPr sz="1400" b="1" kern="1200">
                  <a:solidFill>
                    <a:schemeClr val="bg1"/>
                  </a:solidFill>
                  <a:latin typeface="Arial" charset="0"/>
                  <a:ea typeface="ＭＳ Ｐゴシック" pitchFamily="34" charset="-128"/>
                  <a:cs typeface="+mn-cs"/>
                </a:defRPr>
              </a:lvl9pPr>
            </a:lstStyle>
            <a:p>
              <a:pPr defTabSz="342900"/>
              <a:endParaRPr lang="en-US" sz="1350" kern="0">
                <a:solidFill>
                  <a:srgbClr val="7F7F7F"/>
                </a:solidFill>
                <a:latin typeface="Calibri" panose="020F0502020204030204" pitchFamily="34" charset="0"/>
                <a:cs typeface="Calibri" panose="020F0502020204030204" pitchFamily="34" charset="0"/>
              </a:endParaRPr>
            </a:p>
          </p:txBody>
        </p:sp>
      </p:grpSp>
      <p:sp>
        <p:nvSpPr>
          <p:cNvPr id="203" name="Oval 202">
            <a:extLst>
              <a:ext uri="{FF2B5EF4-FFF2-40B4-BE49-F238E27FC236}">
                <a16:creationId xmlns:a16="http://schemas.microsoft.com/office/drawing/2014/main" id="{14359338-4F54-5395-3455-4AC24CBB85A2}"/>
              </a:ext>
            </a:extLst>
          </p:cNvPr>
          <p:cNvSpPr/>
          <p:nvPr/>
        </p:nvSpPr>
        <p:spPr>
          <a:xfrm>
            <a:off x="1454428" y="1875689"/>
            <a:ext cx="1260000" cy="1080000"/>
          </a:xfrm>
          <a:prstGeom prst="ellipse">
            <a:avLst/>
          </a:prstGeom>
          <a:solidFill>
            <a:srgbClr val="FFFFFF">
              <a:alpha val="74902"/>
            </a:srgbClr>
          </a:solid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IN" sz="1400" b="1" dirty="0">
                <a:latin typeface="Abadi" panose="020B0604020104020204" pitchFamily="34" charset="0"/>
              </a:rPr>
              <a:t>North America</a:t>
            </a:r>
          </a:p>
          <a:p>
            <a:pPr algn="ctr"/>
            <a:r>
              <a:rPr lang="en-IN" b="1" dirty="0">
                <a:solidFill>
                  <a:schemeClr val="accent2"/>
                </a:solidFill>
                <a:latin typeface="Abadi" panose="020B0604020104020204" pitchFamily="34" charset="0"/>
              </a:rPr>
              <a:t>58%</a:t>
            </a:r>
            <a:endParaRPr lang="en-IN" sz="1400" b="1" dirty="0">
              <a:solidFill>
                <a:schemeClr val="accent2"/>
              </a:solidFill>
              <a:latin typeface="Abadi" panose="020B0604020104020204" pitchFamily="34" charset="0"/>
            </a:endParaRPr>
          </a:p>
        </p:txBody>
      </p:sp>
      <p:sp>
        <p:nvSpPr>
          <p:cNvPr id="204" name="Oval 203">
            <a:extLst>
              <a:ext uri="{FF2B5EF4-FFF2-40B4-BE49-F238E27FC236}">
                <a16:creationId xmlns:a16="http://schemas.microsoft.com/office/drawing/2014/main" id="{AF82B4D5-946F-1ECA-BA8C-13726AC2CFAC}"/>
              </a:ext>
            </a:extLst>
          </p:cNvPr>
          <p:cNvSpPr/>
          <p:nvPr/>
        </p:nvSpPr>
        <p:spPr>
          <a:xfrm>
            <a:off x="2990626" y="4314134"/>
            <a:ext cx="1260000" cy="1080000"/>
          </a:xfrm>
          <a:prstGeom prst="ellipse">
            <a:avLst/>
          </a:prstGeom>
          <a:solidFill>
            <a:srgbClr val="FFFFFF">
              <a:alpha val="74902"/>
            </a:srgbClr>
          </a:solid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IN" sz="1400" b="1" kern="0" spc="50" dirty="0">
                <a:solidFill>
                  <a:schemeClr val="tx1"/>
                </a:solidFill>
                <a:latin typeface="Abadi" panose="020B0604020104020204" pitchFamily="34" charset="0"/>
                <a:cs typeface="Arial" panose="020B0604020202020204" pitchFamily="34" charset="0"/>
              </a:rPr>
              <a:t>Latin America</a:t>
            </a:r>
          </a:p>
          <a:p>
            <a:pPr algn="ctr"/>
            <a:r>
              <a:rPr lang="en-IN" b="1" dirty="0">
                <a:solidFill>
                  <a:schemeClr val="accent2"/>
                </a:solidFill>
                <a:latin typeface="Abadi" panose="020B0604020104020204" pitchFamily="34" charset="0"/>
              </a:rPr>
              <a:t>8%</a:t>
            </a:r>
          </a:p>
        </p:txBody>
      </p:sp>
      <p:sp>
        <p:nvSpPr>
          <p:cNvPr id="205" name="Oval 204">
            <a:extLst>
              <a:ext uri="{FF2B5EF4-FFF2-40B4-BE49-F238E27FC236}">
                <a16:creationId xmlns:a16="http://schemas.microsoft.com/office/drawing/2014/main" id="{E9F00568-EC68-0288-890D-4732C1B87D3D}"/>
              </a:ext>
            </a:extLst>
          </p:cNvPr>
          <p:cNvSpPr/>
          <p:nvPr/>
        </p:nvSpPr>
        <p:spPr>
          <a:xfrm>
            <a:off x="4286898" y="5555278"/>
            <a:ext cx="1260000" cy="1080000"/>
          </a:xfrm>
          <a:prstGeom prst="ellipse">
            <a:avLst/>
          </a:prstGeom>
          <a:solidFill>
            <a:srgbClr val="FFFFFF">
              <a:alpha val="74902"/>
            </a:srgbClr>
          </a:solid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IN" sz="1400" b="1" dirty="0">
                <a:latin typeface="Abadi" panose="020B0604020104020204" pitchFamily="34" charset="0"/>
              </a:rPr>
              <a:t>RoW</a:t>
            </a:r>
          </a:p>
          <a:p>
            <a:pPr algn="ctr"/>
            <a:r>
              <a:rPr lang="en-IN" b="1" dirty="0">
                <a:solidFill>
                  <a:schemeClr val="accent2"/>
                </a:solidFill>
                <a:latin typeface="Abadi" panose="020B0604020104020204" pitchFamily="34" charset="0"/>
              </a:rPr>
              <a:t>6%</a:t>
            </a:r>
            <a:endParaRPr lang="en-IN" sz="1400" b="1" dirty="0">
              <a:solidFill>
                <a:schemeClr val="accent2"/>
              </a:solidFill>
              <a:latin typeface="Abadi" panose="020B0604020104020204" pitchFamily="34" charset="0"/>
            </a:endParaRPr>
          </a:p>
        </p:txBody>
      </p:sp>
      <p:sp>
        <p:nvSpPr>
          <p:cNvPr id="206" name="Oval 205">
            <a:extLst>
              <a:ext uri="{FF2B5EF4-FFF2-40B4-BE49-F238E27FC236}">
                <a16:creationId xmlns:a16="http://schemas.microsoft.com/office/drawing/2014/main" id="{69AB3C01-447B-BCC3-9E94-367C678BD08F}"/>
              </a:ext>
            </a:extLst>
          </p:cNvPr>
          <p:cNvSpPr/>
          <p:nvPr/>
        </p:nvSpPr>
        <p:spPr>
          <a:xfrm>
            <a:off x="5513263" y="2155822"/>
            <a:ext cx="1260000" cy="1080000"/>
          </a:xfrm>
          <a:prstGeom prst="ellipse">
            <a:avLst/>
          </a:prstGeom>
          <a:solidFill>
            <a:srgbClr val="FFFFFF">
              <a:alpha val="74902"/>
            </a:srgbClr>
          </a:solid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IN" sz="1400" b="1" dirty="0">
                <a:latin typeface="Abadi" panose="020B0604020104020204" pitchFamily="34" charset="0"/>
              </a:rPr>
              <a:t>Europe</a:t>
            </a:r>
          </a:p>
          <a:p>
            <a:pPr algn="ctr"/>
            <a:r>
              <a:rPr lang="en-IN" b="1" dirty="0">
                <a:solidFill>
                  <a:schemeClr val="accent2"/>
                </a:solidFill>
                <a:latin typeface="Abadi" panose="020B0604020104020204" pitchFamily="34" charset="0"/>
              </a:rPr>
              <a:t>23%</a:t>
            </a:r>
            <a:endParaRPr lang="en-IN" sz="1400" b="1" dirty="0">
              <a:solidFill>
                <a:schemeClr val="accent2"/>
              </a:solidFill>
              <a:latin typeface="Abadi" panose="020B0604020104020204" pitchFamily="34" charset="0"/>
            </a:endParaRPr>
          </a:p>
        </p:txBody>
      </p:sp>
      <p:sp>
        <p:nvSpPr>
          <p:cNvPr id="209" name="Oval 208">
            <a:extLst>
              <a:ext uri="{FF2B5EF4-FFF2-40B4-BE49-F238E27FC236}">
                <a16:creationId xmlns:a16="http://schemas.microsoft.com/office/drawing/2014/main" id="{29291261-6B56-EF62-680A-3ADB3E34E5B6}"/>
              </a:ext>
            </a:extLst>
          </p:cNvPr>
          <p:cNvSpPr/>
          <p:nvPr/>
        </p:nvSpPr>
        <p:spPr>
          <a:xfrm>
            <a:off x="7264215" y="3393654"/>
            <a:ext cx="1260000" cy="1080000"/>
          </a:xfrm>
          <a:prstGeom prst="ellipse">
            <a:avLst/>
          </a:prstGeom>
          <a:solidFill>
            <a:srgbClr val="FFFFFF">
              <a:alpha val="74902"/>
            </a:srgbClr>
          </a:solid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IN" sz="1400" b="1" dirty="0">
                <a:latin typeface="Abadi" panose="020B0604020104020204" pitchFamily="34" charset="0"/>
              </a:rPr>
              <a:t>India</a:t>
            </a:r>
          </a:p>
          <a:p>
            <a:pPr algn="ctr"/>
            <a:r>
              <a:rPr lang="en-IN" b="1" dirty="0">
                <a:solidFill>
                  <a:schemeClr val="accent2"/>
                </a:solidFill>
                <a:latin typeface="Abadi" panose="020B0604020104020204" pitchFamily="34" charset="0"/>
              </a:rPr>
              <a:t>6%</a:t>
            </a:r>
            <a:endParaRPr lang="en-IN" sz="1400" b="1" dirty="0">
              <a:solidFill>
                <a:schemeClr val="accent2"/>
              </a:solidFill>
              <a:latin typeface="Abadi" panose="020B0604020104020204" pitchFamily="34" charset="0"/>
            </a:endParaRPr>
          </a:p>
        </p:txBody>
      </p:sp>
      <p:sp>
        <p:nvSpPr>
          <p:cNvPr id="2" name="TextBox 1">
            <a:extLst>
              <a:ext uri="{FF2B5EF4-FFF2-40B4-BE49-F238E27FC236}">
                <a16:creationId xmlns:a16="http://schemas.microsoft.com/office/drawing/2014/main" id="{0CB5902C-C004-69C2-8BEC-D7B1086D1A79}"/>
              </a:ext>
            </a:extLst>
          </p:cNvPr>
          <p:cNvSpPr txBox="1"/>
          <p:nvPr/>
        </p:nvSpPr>
        <p:spPr>
          <a:xfrm>
            <a:off x="117248" y="197891"/>
            <a:ext cx="11129499" cy="646331"/>
          </a:xfrm>
          <a:prstGeom prst="rect">
            <a:avLst/>
          </a:prstGeom>
          <a:noFill/>
        </p:spPr>
        <p:txBody>
          <a:bodyPr wrap="square" rtlCol="0">
            <a:spAutoFit/>
          </a:bodyPr>
          <a:lstStyle/>
          <a:p>
            <a:r>
              <a:rPr lang="en-US" sz="3600" b="1" dirty="0">
                <a:solidFill>
                  <a:srgbClr val="00B0F0"/>
                </a:solidFill>
                <a:latin typeface="Aptos" panose="020B0004020202020204" pitchFamily="34" charset="0"/>
                <a:cs typeface="Arial" panose="020B0604020202020204" pitchFamily="34" charset="0"/>
              </a:rPr>
              <a:t>Our Geographic footprint</a:t>
            </a:r>
            <a:r>
              <a:rPr lang="en-US" sz="3600" b="1">
                <a:solidFill>
                  <a:srgbClr val="00B0F0"/>
                </a:solidFill>
                <a:latin typeface="Aptos" panose="020B0004020202020204" pitchFamily="34" charset="0"/>
                <a:cs typeface="Arial" panose="020B0604020202020204" pitchFamily="34" charset="0"/>
              </a:rPr>
              <a:t>: Revenue share (FY23)</a:t>
            </a:r>
            <a:endParaRPr lang="en-US" sz="3600" b="1" dirty="0">
              <a:solidFill>
                <a:srgbClr val="00B0F0"/>
              </a:solidFill>
              <a:latin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3182129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2B47A7A-786A-4EA4-9558-93E2E0C2E25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1" imgH="423" progId="TCLayout.ActiveDocument.1">
                  <p:embed/>
                </p:oleObj>
              </mc:Choice>
              <mc:Fallback>
                <p:oleObj name="think-cell Slide" r:id="rId3" imgW="421" imgH="423" progId="TCLayout.ActiveDocument.1">
                  <p:embed/>
                  <p:pic>
                    <p:nvPicPr>
                      <p:cNvPr id="6" name="Object 5" hidden="1">
                        <a:extLst>
                          <a:ext uri="{FF2B5EF4-FFF2-40B4-BE49-F238E27FC236}">
                            <a16:creationId xmlns:a16="http://schemas.microsoft.com/office/drawing/2014/main" id="{12B47A7A-786A-4EA4-9558-93E2E0C2E25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882CD0CB-1968-49C4-83A6-FBBFDBF396B0}"/>
              </a:ext>
            </a:extLst>
          </p:cNvPr>
          <p:cNvSpPr>
            <a:spLocks noGrp="1"/>
          </p:cNvSpPr>
          <p:nvPr>
            <p:ph type="sldNum" sz="quarter" idx="4294967295"/>
          </p:nvPr>
        </p:nvSpPr>
        <p:spPr>
          <a:xfrm>
            <a:off x="9448800" y="6410325"/>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C3031A-744E-4491-9064-FD6EC4156FCE}" type="slidenum">
              <a:rPr kumimoji="0" lang="en-IN" sz="1100" b="0" i="0" u="none" strike="noStrike" kern="1200" cap="none" spc="0" normalizeH="0" baseline="0" noProof="0" smtClean="0">
                <a:ln>
                  <a:noFill/>
                </a:ln>
                <a:solidFill>
                  <a:prstClr val="white"/>
                </a:solidFill>
                <a:effectLst/>
                <a:uLnTx/>
                <a:uFillTx/>
                <a:latin typeface="Abadi" panose="020B06040201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100" b="0" i="0" u="none" strike="noStrike" kern="1200" cap="none" spc="0" normalizeH="0" baseline="0" noProof="0" dirty="0">
              <a:ln>
                <a:noFill/>
              </a:ln>
              <a:solidFill>
                <a:prstClr val="white"/>
              </a:solidFill>
              <a:effectLst/>
              <a:uLnTx/>
              <a:uFillTx/>
              <a:latin typeface="Abadi" panose="020B0604020104020204" pitchFamily="34" charset="0"/>
            </a:endParaRPr>
          </a:p>
        </p:txBody>
      </p:sp>
      <p:pic>
        <p:nvPicPr>
          <p:cNvPr id="2050" name="Picture 2">
            <a:extLst>
              <a:ext uri="{FF2B5EF4-FFF2-40B4-BE49-F238E27FC236}">
                <a16:creationId xmlns:a16="http://schemas.microsoft.com/office/drawing/2014/main" id="{923FA4A1-1FAF-33DD-A1CE-E73EE01E77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9151" y="1427042"/>
            <a:ext cx="1333500" cy="13335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2356721C-41E9-A808-2671-BC687058964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59257" y="1427042"/>
            <a:ext cx="1333500" cy="13335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A7222BC6-45D6-A2E7-D436-52991C2E418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99363" y="1427042"/>
            <a:ext cx="1333500" cy="13335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31AEC9E7-FC34-F478-A96B-C226A3ECAA3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39469" y="1427042"/>
            <a:ext cx="1333500" cy="133350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a:extLst>
              <a:ext uri="{FF2B5EF4-FFF2-40B4-BE49-F238E27FC236}">
                <a16:creationId xmlns:a16="http://schemas.microsoft.com/office/drawing/2014/main" id="{520C779A-6E21-55FB-78FA-08CBCB99512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779577" y="1427042"/>
            <a:ext cx="1333500" cy="1333500"/>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a:extLst>
              <a:ext uri="{FF2B5EF4-FFF2-40B4-BE49-F238E27FC236}">
                <a16:creationId xmlns:a16="http://schemas.microsoft.com/office/drawing/2014/main" id="{4707D1FC-40C0-EEBA-774C-F18248C2491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59257" y="3895368"/>
            <a:ext cx="1333500" cy="1333500"/>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a:extLst>
              <a:ext uri="{FF2B5EF4-FFF2-40B4-BE49-F238E27FC236}">
                <a16:creationId xmlns:a16="http://schemas.microsoft.com/office/drawing/2014/main" id="{016AA420-B9D7-AF42-2F8D-B50DA54E095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779577" y="3895368"/>
            <a:ext cx="1333500" cy="13335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296612C-00DA-26DD-4C7F-0C3B57026B82}"/>
              </a:ext>
            </a:extLst>
          </p:cNvPr>
          <p:cNvSpPr/>
          <p:nvPr/>
        </p:nvSpPr>
        <p:spPr>
          <a:xfrm>
            <a:off x="359715" y="2883206"/>
            <a:ext cx="2252372" cy="5457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360"/>
              </a:spcAft>
              <a:buClrTx/>
              <a:buSzTx/>
              <a:buFontTx/>
              <a:buNone/>
              <a:tabLst/>
              <a:defRPr/>
            </a:pPr>
            <a:r>
              <a:rPr kumimoji="0" lang="en-IN" sz="1200" b="1" i="0" u="none" strike="noStrike" kern="1200" cap="none" spc="0" normalizeH="0" baseline="0" noProof="0" dirty="0">
                <a:ln>
                  <a:noFill/>
                </a:ln>
                <a:solidFill>
                  <a:prstClr val="black"/>
                </a:solidFill>
                <a:effectLst/>
                <a:uLnTx/>
                <a:uFillTx/>
                <a:latin typeface="Abadi" panose="020B0604020104020204" pitchFamily="34" charset="0"/>
                <a:cs typeface="Arial" panose="020B0604020202020204" pitchFamily="34" charset="0"/>
              </a:rPr>
              <a:t>C Krishna</a:t>
            </a:r>
            <a:r>
              <a:rPr kumimoji="0" lang="en-IN" sz="1200" b="0" i="0" u="none" strike="noStrike" kern="1200" cap="none" spc="0" normalizeH="0" baseline="0" noProof="0" dirty="0">
                <a:ln>
                  <a:noFill/>
                </a:ln>
                <a:solidFill>
                  <a:prstClr val="black"/>
                </a:solidFill>
                <a:effectLst/>
                <a:uLnTx/>
                <a:uFillTx/>
                <a:latin typeface="Abadi" panose="020B0604020104020204" pitchFamily="34" charset="0"/>
                <a:cs typeface="Arial" panose="020B0604020202020204" pitchFamily="34" charset="0"/>
              </a:rPr>
              <a:t> </a:t>
            </a:r>
            <a:r>
              <a:rPr kumimoji="0" lang="en-IN" sz="1200" b="1" i="0" u="none" strike="noStrike" kern="1200" cap="none" spc="0" normalizeH="0" baseline="0" noProof="0" dirty="0">
                <a:ln>
                  <a:noFill/>
                </a:ln>
                <a:solidFill>
                  <a:prstClr val="black"/>
                </a:solidFill>
                <a:effectLst/>
                <a:uLnTx/>
                <a:uFillTx/>
                <a:latin typeface="Abadi" panose="020B0604020104020204" pitchFamily="34" charset="0"/>
                <a:cs typeface="Arial" panose="020B0604020202020204" pitchFamily="34" charset="0"/>
              </a:rPr>
              <a:t>Prasad</a:t>
            </a:r>
          </a:p>
          <a:p>
            <a:pPr marL="0" marR="0" lvl="0" indent="0" algn="ctr" defTabSz="914400" rtl="0" eaLnBrk="1" fontAlgn="auto" latinLnBrk="0" hangingPunct="1">
              <a:lnSpc>
                <a:spcPct val="100000"/>
              </a:lnSpc>
              <a:spcBef>
                <a:spcPts val="0"/>
              </a:spcBef>
              <a:spcAft>
                <a:spcPts val="360"/>
              </a:spcAft>
              <a:buClrTx/>
              <a:buSzTx/>
              <a:buFontTx/>
              <a:buNone/>
              <a:tabLst/>
              <a:defRPr/>
            </a:pPr>
            <a:r>
              <a:rPr kumimoji="0" lang="en-IN" sz="1000" b="0" i="1" u="none" strike="noStrike" kern="1200" cap="none" spc="0" normalizeH="0" baseline="0" noProof="0" dirty="0">
                <a:ln>
                  <a:noFill/>
                </a:ln>
                <a:solidFill>
                  <a:prstClr val="black"/>
                </a:solidFill>
                <a:effectLst/>
                <a:uLnTx/>
                <a:uFillTx/>
                <a:latin typeface="Abadi" panose="020B0604020104020204" pitchFamily="34" charset="0"/>
                <a:cs typeface="Arial" panose="020B0604020202020204" pitchFamily="34" charset="0"/>
              </a:rPr>
              <a:t>Chairman and Managing Director</a:t>
            </a:r>
          </a:p>
        </p:txBody>
      </p:sp>
      <p:sp>
        <p:nvSpPr>
          <p:cNvPr id="8" name="Rectangle 7">
            <a:extLst>
              <a:ext uri="{FF2B5EF4-FFF2-40B4-BE49-F238E27FC236}">
                <a16:creationId xmlns:a16="http://schemas.microsoft.com/office/drawing/2014/main" id="{FDA4CEC2-0897-440A-25D9-A78A2B04475B}"/>
              </a:ext>
            </a:extLst>
          </p:cNvPr>
          <p:cNvSpPr/>
          <p:nvPr/>
        </p:nvSpPr>
        <p:spPr>
          <a:xfrm>
            <a:off x="2612087" y="2883206"/>
            <a:ext cx="2252372" cy="5457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360"/>
              </a:spcAft>
              <a:buClrTx/>
              <a:buSzTx/>
              <a:buFontTx/>
              <a:buNone/>
              <a:tabLst/>
              <a:defRPr/>
            </a:pPr>
            <a:r>
              <a:rPr kumimoji="0" lang="pt-BR" sz="1200" b="1" i="0" u="none" strike="noStrike" kern="1200" cap="none" spc="0" normalizeH="0" baseline="0" noProof="0" dirty="0">
                <a:ln>
                  <a:noFill/>
                </a:ln>
                <a:solidFill>
                  <a:prstClr val="black"/>
                </a:solidFill>
                <a:effectLst/>
                <a:uLnTx/>
                <a:uFillTx/>
                <a:latin typeface="Abadi" panose="020B0604020104020204" pitchFamily="34" charset="0"/>
                <a:cs typeface="Arial" panose="020B0604020202020204" pitchFamily="34" charset="0"/>
              </a:rPr>
              <a:t>Dr. K.V.S. Ram Rao</a:t>
            </a:r>
            <a:endParaRPr kumimoji="0" lang="en-IN" sz="1200" b="1" i="0" u="none" strike="noStrike" kern="1200" cap="none" spc="0" normalizeH="0" baseline="0" noProof="0" dirty="0">
              <a:ln>
                <a:noFill/>
              </a:ln>
              <a:solidFill>
                <a:prstClr val="black"/>
              </a:solidFill>
              <a:effectLst/>
              <a:uLnTx/>
              <a:uFillTx/>
              <a:latin typeface="Abadi" panose="020B0604020104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360"/>
              </a:spcAft>
              <a:buClrTx/>
              <a:buSzTx/>
              <a:buFontTx/>
              <a:buNone/>
              <a:tabLst/>
              <a:defRPr/>
            </a:pPr>
            <a:r>
              <a:rPr kumimoji="0" lang="en-US" sz="1000" b="0" i="1" u="none" strike="noStrike" kern="1200" cap="none" spc="0" normalizeH="0" baseline="0" noProof="0" dirty="0">
                <a:ln>
                  <a:noFill/>
                </a:ln>
                <a:solidFill>
                  <a:prstClr val="black"/>
                </a:solidFill>
                <a:effectLst/>
                <a:uLnTx/>
                <a:uFillTx/>
                <a:latin typeface="Abadi" panose="020B0604020104020204" pitchFamily="34" charset="0"/>
                <a:cs typeface="Arial" panose="020B0604020202020204" pitchFamily="34" charset="0"/>
              </a:rPr>
              <a:t>Joint Managing Director &amp; Chief Executive Officer</a:t>
            </a:r>
            <a:endParaRPr kumimoji="0" lang="en-IN" sz="1000" b="0" i="1" u="none" strike="noStrike" kern="1200" cap="none" spc="0" normalizeH="0" baseline="0" noProof="0" dirty="0">
              <a:ln>
                <a:noFill/>
              </a:ln>
              <a:solidFill>
                <a:prstClr val="black"/>
              </a:solidFill>
              <a:effectLst/>
              <a:uLnTx/>
              <a:uFillTx/>
              <a:latin typeface="Abadi" panose="020B0604020104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579A92E4-5EAB-1B75-0CBE-41238BA3AF4B}"/>
              </a:ext>
            </a:extLst>
          </p:cNvPr>
          <p:cNvSpPr/>
          <p:nvPr/>
        </p:nvSpPr>
        <p:spPr>
          <a:xfrm>
            <a:off x="4839927" y="2883206"/>
            <a:ext cx="2252372" cy="5457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360"/>
              </a:spcAft>
              <a:buClrTx/>
              <a:buSzTx/>
              <a:buFontTx/>
              <a:buNone/>
              <a:tabLst/>
              <a:defRPr/>
            </a:pPr>
            <a:r>
              <a:rPr kumimoji="0" lang="en-IN" sz="1200" b="1" i="0" u="none" strike="noStrike" kern="1200" cap="none" spc="0" normalizeH="0" baseline="0" noProof="0" dirty="0">
                <a:ln>
                  <a:noFill/>
                </a:ln>
                <a:solidFill>
                  <a:prstClr val="black"/>
                </a:solidFill>
                <a:effectLst/>
                <a:uLnTx/>
                <a:uFillTx/>
                <a:latin typeface="Abadi" panose="020B0604020104020204" pitchFamily="34" charset="0"/>
                <a:cs typeface="Arial" panose="020B0604020202020204" pitchFamily="34" charset="0"/>
              </a:rPr>
              <a:t>Uma Devi Chigurupati</a:t>
            </a:r>
          </a:p>
          <a:p>
            <a:pPr marL="0" marR="0" lvl="0" indent="0" algn="ctr" defTabSz="914400" rtl="0" eaLnBrk="1" fontAlgn="auto" latinLnBrk="0" hangingPunct="1">
              <a:lnSpc>
                <a:spcPct val="100000"/>
              </a:lnSpc>
              <a:spcBef>
                <a:spcPts val="0"/>
              </a:spcBef>
              <a:spcAft>
                <a:spcPts val="360"/>
              </a:spcAft>
              <a:buClrTx/>
              <a:buSzTx/>
              <a:buFontTx/>
              <a:buNone/>
              <a:tabLst/>
              <a:defRPr/>
            </a:pPr>
            <a:r>
              <a:rPr kumimoji="0" lang="en-IN" sz="1000" b="0" i="1" u="none" strike="noStrike" kern="1200" cap="none" spc="0" normalizeH="0" baseline="0" noProof="0" dirty="0">
                <a:ln>
                  <a:noFill/>
                </a:ln>
                <a:solidFill>
                  <a:prstClr val="black"/>
                </a:solidFill>
                <a:effectLst/>
                <a:uLnTx/>
                <a:uFillTx/>
                <a:latin typeface="Abadi" panose="020B0604020104020204" pitchFamily="34" charset="0"/>
                <a:cs typeface="Arial" panose="020B0604020202020204" pitchFamily="34" charset="0"/>
              </a:rPr>
              <a:t>Executive Director</a:t>
            </a:r>
          </a:p>
        </p:txBody>
      </p:sp>
      <p:sp>
        <p:nvSpPr>
          <p:cNvPr id="13" name="Rectangle 12">
            <a:extLst>
              <a:ext uri="{FF2B5EF4-FFF2-40B4-BE49-F238E27FC236}">
                <a16:creationId xmlns:a16="http://schemas.microsoft.com/office/drawing/2014/main" id="{3709AA0B-A6E5-4C6A-FDFD-4A55EF714F6A}"/>
              </a:ext>
            </a:extLst>
          </p:cNvPr>
          <p:cNvSpPr/>
          <p:nvPr/>
        </p:nvSpPr>
        <p:spPr>
          <a:xfrm>
            <a:off x="7080033" y="2883206"/>
            <a:ext cx="2252372" cy="5457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360"/>
              </a:spcAft>
              <a:buClrTx/>
              <a:buSzTx/>
              <a:buFontTx/>
              <a:buNone/>
              <a:tabLst/>
              <a:defRPr/>
            </a:pPr>
            <a:r>
              <a:rPr kumimoji="0" lang="en-IN" sz="1200" b="1" i="0" u="none" strike="noStrike" kern="1200" cap="none" spc="0" normalizeH="0" baseline="0" noProof="0" dirty="0">
                <a:ln>
                  <a:noFill/>
                </a:ln>
                <a:solidFill>
                  <a:prstClr val="black"/>
                </a:solidFill>
                <a:effectLst/>
                <a:uLnTx/>
                <a:uFillTx/>
                <a:latin typeface="Abadi" panose="020B0604020104020204" pitchFamily="34" charset="0"/>
                <a:cs typeface="Arial" panose="020B0604020202020204" pitchFamily="34" charset="0"/>
              </a:rPr>
              <a:t>Priyanka Chigurupati</a:t>
            </a:r>
          </a:p>
          <a:p>
            <a:pPr marL="0" marR="0" lvl="0" indent="0" algn="ctr" defTabSz="914400" rtl="0" eaLnBrk="1" fontAlgn="auto" latinLnBrk="0" hangingPunct="1">
              <a:lnSpc>
                <a:spcPct val="100000"/>
              </a:lnSpc>
              <a:spcBef>
                <a:spcPts val="0"/>
              </a:spcBef>
              <a:spcAft>
                <a:spcPts val="360"/>
              </a:spcAft>
              <a:buClrTx/>
              <a:buSzTx/>
              <a:buFontTx/>
              <a:buNone/>
              <a:tabLst/>
              <a:defRPr/>
            </a:pPr>
            <a:r>
              <a:rPr kumimoji="0" lang="en-IN" sz="1000" b="0" i="1" u="none" strike="noStrike" kern="1200" cap="none" spc="0" normalizeH="0" baseline="0" noProof="0" dirty="0">
                <a:ln>
                  <a:noFill/>
                </a:ln>
                <a:solidFill>
                  <a:prstClr val="black"/>
                </a:solidFill>
                <a:effectLst/>
                <a:uLnTx/>
                <a:uFillTx/>
                <a:latin typeface="Abadi" panose="020B0604020104020204" pitchFamily="34" charset="0"/>
                <a:cs typeface="Arial" panose="020B0604020202020204" pitchFamily="34" charset="0"/>
              </a:rPr>
              <a:t>Executive Director of GPI and GUSA</a:t>
            </a:r>
          </a:p>
        </p:txBody>
      </p:sp>
      <p:sp>
        <p:nvSpPr>
          <p:cNvPr id="14" name="Rectangle 13">
            <a:extLst>
              <a:ext uri="{FF2B5EF4-FFF2-40B4-BE49-F238E27FC236}">
                <a16:creationId xmlns:a16="http://schemas.microsoft.com/office/drawing/2014/main" id="{A032D362-67C5-97D2-B847-F87E7D822B78}"/>
              </a:ext>
            </a:extLst>
          </p:cNvPr>
          <p:cNvSpPr/>
          <p:nvPr/>
        </p:nvSpPr>
        <p:spPr>
          <a:xfrm>
            <a:off x="9465097" y="2883206"/>
            <a:ext cx="2252372" cy="5457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360"/>
              </a:spcAft>
              <a:buClrTx/>
              <a:buSzTx/>
              <a:buFontTx/>
              <a:buNone/>
              <a:tabLst/>
              <a:defRPr/>
            </a:pPr>
            <a:r>
              <a:rPr kumimoji="0" lang="en-IN" sz="1200" b="1" i="0" u="none" strike="noStrike" kern="1200" cap="none" spc="0" normalizeH="0" baseline="0" noProof="0" dirty="0">
                <a:ln>
                  <a:noFill/>
                </a:ln>
                <a:solidFill>
                  <a:prstClr val="black"/>
                </a:solidFill>
                <a:effectLst/>
                <a:uLnTx/>
                <a:uFillTx/>
                <a:latin typeface="Abadi" panose="020B0604020104020204" pitchFamily="34" charset="0"/>
                <a:cs typeface="Arial" panose="020B0604020202020204" pitchFamily="34" charset="0"/>
              </a:rPr>
              <a:t>Harsha Chigurupati</a:t>
            </a:r>
          </a:p>
          <a:p>
            <a:pPr marL="0" marR="0" lvl="0" indent="0" algn="ctr" defTabSz="914400" rtl="0" eaLnBrk="1" fontAlgn="auto" latinLnBrk="0" hangingPunct="1">
              <a:lnSpc>
                <a:spcPct val="100000"/>
              </a:lnSpc>
              <a:spcBef>
                <a:spcPts val="0"/>
              </a:spcBef>
              <a:spcAft>
                <a:spcPts val="360"/>
              </a:spcAft>
              <a:buClrTx/>
              <a:buSzTx/>
              <a:buFontTx/>
              <a:buNone/>
              <a:tabLst/>
              <a:defRPr/>
            </a:pPr>
            <a:r>
              <a:rPr kumimoji="0" lang="en-IN" sz="1000" b="0" i="1" u="none" strike="noStrike" kern="1200" cap="none" spc="0" normalizeH="0" baseline="0" noProof="0" dirty="0">
                <a:ln>
                  <a:noFill/>
                </a:ln>
                <a:solidFill>
                  <a:prstClr val="black"/>
                </a:solidFill>
                <a:effectLst/>
                <a:uLnTx/>
                <a:uFillTx/>
                <a:latin typeface="Abadi" panose="020B0604020104020204" pitchFamily="34" charset="0"/>
                <a:cs typeface="Arial" panose="020B0604020202020204" pitchFamily="34" charset="0"/>
              </a:rPr>
              <a:t>Executive Director</a:t>
            </a:r>
          </a:p>
        </p:txBody>
      </p:sp>
      <p:sp>
        <p:nvSpPr>
          <p:cNvPr id="15" name="Rectangle 14">
            <a:extLst>
              <a:ext uri="{FF2B5EF4-FFF2-40B4-BE49-F238E27FC236}">
                <a16:creationId xmlns:a16="http://schemas.microsoft.com/office/drawing/2014/main" id="{23873E9D-FBF2-1F90-D98A-4F7993D4D988}"/>
              </a:ext>
            </a:extLst>
          </p:cNvPr>
          <p:cNvSpPr/>
          <p:nvPr/>
        </p:nvSpPr>
        <p:spPr>
          <a:xfrm>
            <a:off x="359715" y="5422339"/>
            <a:ext cx="2252372" cy="5457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360"/>
              </a:spcAft>
              <a:buClrTx/>
              <a:buSzTx/>
              <a:buFontTx/>
              <a:buNone/>
              <a:tabLst/>
              <a:defRPr/>
            </a:pPr>
            <a:r>
              <a:rPr kumimoji="0" lang="en-IN" sz="1200" b="1" i="0" u="none" strike="noStrike" kern="1200" cap="none" spc="0" normalizeH="0" baseline="0" noProof="0">
                <a:ln>
                  <a:noFill/>
                </a:ln>
                <a:solidFill>
                  <a:prstClr val="black"/>
                </a:solidFill>
                <a:effectLst/>
                <a:uLnTx/>
                <a:uFillTx/>
                <a:latin typeface="Abadi" panose="020B0604020104020204" pitchFamily="34" charset="0"/>
                <a:cs typeface="Arial" panose="020B0604020202020204" pitchFamily="34" charset="0"/>
              </a:rPr>
              <a:t>Mukesh </a:t>
            </a:r>
            <a:r>
              <a:rPr kumimoji="0" lang="en-IN" sz="1200" b="1" i="0" u="none" strike="noStrike" kern="1200" cap="none" spc="0" normalizeH="0" baseline="0" noProof="0" dirty="0">
                <a:ln>
                  <a:noFill/>
                </a:ln>
                <a:solidFill>
                  <a:prstClr val="black"/>
                </a:solidFill>
                <a:effectLst/>
                <a:uLnTx/>
                <a:uFillTx/>
                <a:latin typeface="Abadi" panose="020B0604020104020204" pitchFamily="34" charset="0"/>
                <a:cs typeface="Arial" panose="020B0604020202020204" pitchFamily="34" charset="0"/>
              </a:rPr>
              <a:t>Surana</a:t>
            </a:r>
          </a:p>
          <a:p>
            <a:pPr marL="0" marR="0" lvl="0" indent="0" algn="ctr" defTabSz="914400" rtl="0" eaLnBrk="1" fontAlgn="auto" latinLnBrk="0" hangingPunct="1">
              <a:lnSpc>
                <a:spcPct val="100000"/>
              </a:lnSpc>
              <a:spcBef>
                <a:spcPts val="0"/>
              </a:spcBef>
              <a:spcAft>
                <a:spcPts val="360"/>
              </a:spcAft>
              <a:buClrTx/>
              <a:buSzTx/>
              <a:buFontTx/>
              <a:buNone/>
              <a:tabLst/>
              <a:defRPr/>
            </a:pPr>
            <a:r>
              <a:rPr kumimoji="0" lang="en-IN" sz="1000" b="0" i="1" u="none" strike="noStrike" kern="1200" cap="none" spc="0" normalizeH="0" baseline="0" noProof="0" dirty="0">
                <a:ln>
                  <a:noFill/>
                </a:ln>
                <a:solidFill>
                  <a:prstClr val="black"/>
                </a:solidFill>
                <a:effectLst/>
                <a:uLnTx/>
                <a:uFillTx/>
                <a:latin typeface="Abadi" panose="020B0604020104020204" pitchFamily="34" charset="0"/>
                <a:cs typeface="Arial" panose="020B0604020202020204" pitchFamily="34" charset="0"/>
              </a:rPr>
              <a:t>Chief Financial Officer</a:t>
            </a:r>
          </a:p>
        </p:txBody>
      </p:sp>
      <p:sp>
        <p:nvSpPr>
          <p:cNvPr id="16" name="Rectangle 15">
            <a:extLst>
              <a:ext uri="{FF2B5EF4-FFF2-40B4-BE49-F238E27FC236}">
                <a16:creationId xmlns:a16="http://schemas.microsoft.com/office/drawing/2014/main" id="{A6C05271-8ABD-5F10-BDF6-33720763DD8F}"/>
              </a:ext>
            </a:extLst>
          </p:cNvPr>
          <p:cNvSpPr/>
          <p:nvPr/>
        </p:nvSpPr>
        <p:spPr>
          <a:xfrm>
            <a:off x="2612087" y="5422339"/>
            <a:ext cx="2252372" cy="5457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360"/>
              </a:spcAft>
              <a:buClrTx/>
              <a:buSzTx/>
              <a:buFontTx/>
              <a:buNone/>
              <a:tabLst/>
              <a:defRPr/>
            </a:pPr>
            <a:r>
              <a:rPr kumimoji="0" lang="en-IN" sz="1200" b="1" i="0" u="none" strike="noStrike" kern="1200" cap="none" spc="0" normalizeH="0" baseline="0" noProof="0" dirty="0">
                <a:ln>
                  <a:noFill/>
                </a:ln>
                <a:solidFill>
                  <a:prstClr val="black"/>
                </a:solidFill>
                <a:effectLst/>
                <a:uLnTx/>
                <a:uFillTx/>
                <a:latin typeface="Abadi" panose="020B0604020104020204" pitchFamily="34" charset="0"/>
                <a:cs typeface="Arial" panose="020B0604020202020204" pitchFamily="34" charset="0"/>
              </a:rPr>
              <a:t>Uma Rao G</a:t>
            </a:r>
          </a:p>
          <a:p>
            <a:pPr marL="0" marR="0" lvl="0" indent="0" algn="ctr" defTabSz="914400" rtl="0" eaLnBrk="1" fontAlgn="auto" latinLnBrk="0" hangingPunct="1">
              <a:lnSpc>
                <a:spcPct val="100000"/>
              </a:lnSpc>
              <a:spcBef>
                <a:spcPts val="0"/>
              </a:spcBef>
              <a:spcAft>
                <a:spcPts val="360"/>
              </a:spcAft>
              <a:buClrTx/>
              <a:buSzTx/>
              <a:buFontTx/>
              <a:buNone/>
              <a:tabLst/>
              <a:defRPr/>
            </a:pPr>
            <a:r>
              <a:rPr kumimoji="0" lang="en-IN" sz="1000" b="0" i="1" u="none" strike="noStrike" kern="1200" cap="none" spc="0" normalizeH="0" baseline="0" noProof="0" dirty="0">
                <a:ln>
                  <a:noFill/>
                </a:ln>
                <a:solidFill>
                  <a:prstClr val="black"/>
                </a:solidFill>
                <a:effectLst/>
                <a:uLnTx/>
                <a:uFillTx/>
                <a:latin typeface="Abadi" panose="020B0604020104020204" pitchFamily="34" charset="0"/>
                <a:cs typeface="Arial" panose="020B0604020202020204" pitchFamily="34" charset="0"/>
              </a:rPr>
              <a:t>Chief Human Resources Officer</a:t>
            </a:r>
          </a:p>
        </p:txBody>
      </p:sp>
      <p:sp>
        <p:nvSpPr>
          <p:cNvPr id="19" name="Rectangle 18">
            <a:extLst>
              <a:ext uri="{FF2B5EF4-FFF2-40B4-BE49-F238E27FC236}">
                <a16:creationId xmlns:a16="http://schemas.microsoft.com/office/drawing/2014/main" id="{A9B421D9-A8CE-12E1-E2B8-4E35CAF40855}"/>
              </a:ext>
            </a:extLst>
          </p:cNvPr>
          <p:cNvSpPr/>
          <p:nvPr/>
        </p:nvSpPr>
        <p:spPr>
          <a:xfrm>
            <a:off x="4839927" y="5422339"/>
            <a:ext cx="2252372" cy="5457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360"/>
              </a:spcAft>
              <a:buClrTx/>
              <a:buSzTx/>
              <a:buFontTx/>
              <a:buNone/>
              <a:tabLst/>
              <a:defRPr/>
            </a:pPr>
            <a:r>
              <a:rPr kumimoji="0" lang="en-IN" sz="1200" b="1" i="0" u="none" strike="noStrike" kern="1200" cap="none" spc="0" normalizeH="0" baseline="0" noProof="0" dirty="0">
                <a:ln>
                  <a:noFill/>
                </a:ln>
                <a:solidFill>
                  <a:prstClr val="black"/>
                </a:solidFill>
                <a:effectLst/>
                <a:uLnTx/>
                <a:uFillTx/>
                <a:latin typeface="Abadi" panose="020B0604020104020204" pitchFamily="34" charset="0"/>
                <a:cs typeface="Arial" panose="020B0604020202020204" pitchFamily="34" charset="0"/>
              </a:rPr>
              <a:t>PV Srinivas</a:t>
            </a:r>
          </a:p>
          <a:p>
            <a:pPr marL="0" marR="0" lvl="0" indent="0" algn="ctr" defTabSz="914400" rtl="0" eaLnBrk="1" fontAlgn="auto" latinLnBrk="0" hangingPunct="1">
              <a:lnSpc>
                <a:spcPct val="100000"/>
              </a:lnSpc>
              <a:spcBef>
                <a:spcPts val="0"/>
              </a:spcBef>
              <a:spcAft>
                <a:spcPts val="360"/>
              </a:spcAft>
              <a:buClrTx/>
              <a:buSzTx/>
              <a:buFontTx/>
              <a:buNone/>
              <a:tabLst/>
              <a:defRPr/>
            </a:pPr>
            <a:r>
              <a:rPr kumimoji="0" lang="en-US" sz="1000" b="0" i="1" u="none" strike="noStrike" kern="1200" cap="none" spc="0" normalizeH="0" baseline="0" noProof="0" dirty="0">
                <a:ln>
                  <a:noFill/>
                </a:ln>
                <a:solidFill>
                  <a:prstClr val="black"/>
                </a:solidFill>
                <a:effectLst/>
                <a:uLnTx/>
                <a:uFillTx/>
                <a:latin typeface="Abadi" panose="020B0604020104020204" pitchFamily="34" charset="0"/>
                <a:cs typeface="Arial" panose="020B0604020202020204" pitchFamily="34" charset="0"/>
              </a:rPr>
              <a:t>Chief Technology Officer</a:t>
            </a:r>
            <a:endParaRPr kumimoji="0" lang="en-IN" sz="1000" b="0" i="1" u="none" strike="noStrike" kern="1200" cap="none" spc="0" normalizeH="0" baseline="0" noProof="0" dirty="0">
              <a:ln>
                <a:noFill/>
              </a:ln>
              <a:solidFill>
                <a:prstClr val="black"/>
              </a:solidFill>
              <a:effectLst/>
              <a:uLnTx/>
              <a:uFillTx/>
              <a:latin typeface="Abadi" panose="020B0604020104020204" pitchFamily="34" charset="0"/>
              <a:cs typeface="Arial" panose="020B0604020202020204" pitchFamily="34" charset="0"/>
            </a:endParaRPr>
          </a:p>
        </p:txBody>
      </p:sp>
      <p:sp>
        <p:nvSpPr>
          <p:cNvPr id="21" name="Rectangle 20">
            <a:extLst>
              <a:ext uri="{FF2B5EF4-FFF2-40B4-BE49-F238E27FC236}">
                <a16:creationId xmlns:a16="http://schemas.microsoft.com/office/drawing/2014/main" id="{532F4C04-C258-00E7-EF69-D385BED87D46}"/>
              </a:ext>
            </a:extLst>
          </p:cNvPr>
          <p:cNvSpPr/>
          <p:nvPr/>
        </p:nvSpPr>
        <p:spPr>
          <a:xfrm>
            <a:off x="7080033" y="5422339"/>
            <a:ext cx="2252372" cy="5457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360"/>
              </a:spcAft>
              <a:buClrTx/>
              <a:buSzTx/>
              <a:buFontTx/>
              <a:buNone/>
              <a:tabLst/>
              <a:defRPr/>
            </a:pPr>
            <a:r>
              <a:rPr kumimoji="0" lang="en-IN" sz="1200" b="1" i="0" u="none" strike="noStrike" kern="1200" cap="none" spc="0" normalizeH="0" baseline="0" noProof="0" dirty="0">
                <a:ln>
                  <a:noFill/>
                </a:ln>
                <a:solidFill>
                  <a:prstClr val="black"/>
                </a:solidFill>
                <a:effectLst/>
                <a:uLnTx/>
                <a:uFillTx/>
                <a:latin typeface="Abadi" panose="020B0604020104020204" pitchFamily="34" charset="0"/>
                <a:cs typeface="Arial" panose="020B0604020202020204" pitchFamily="34" charset="0"/>
              </a:rPr>
              <a:t>Anil Arora</a:t>
            </a:r>
          </a:p>
          <a:p>
            <a:pPr marL="0" marR="0" lvl="0" indent="0" algn="ctr" defTabSz="914400" rtl="0" eaLnBrk="1" fontAlgn="auto" latinLnBrk="0" hangingPunct="1">
              <a:lnSpc>
                <a:spcPct val="100000"/>
              </a:lnSpc>
              <a:spcBef>
                <a:spcPts val="0"/>
              </a:spcBef>
              <a:spcAft>
                <a:spcPts val="360"/>
              </a:spcAft>
              <a:buClrTx/>
              <a:buSzTx/>
              <a:buFontTx/>
              <a:buNone/>
              <a:tabLst/>
              <a:defRPr/>
            </a:pPr>
            <a:r>
              <a:rPr kumimoji="0" lang="en-US" sz="1000" b="0" i="1" u="none" strike="noStrike" kern="1200" cap="none" spc="0" normalizeH="0" baseline="0" noProof="0" dirty="0">
                <a:ln>
                  <a:noFill/>
                </a:ln>
                <a:solidFill>
                  <a:prstClr val="black"/>
                </a:solidFill>
                <a:effectLst/>
                <a:uLnTx/>
                <a:uFillTx/>
                <a:latin typeface="Abadi" panose="020B0604020104020204" pitchFamily="34" charset="0"/>
                <a:cs typeface="Arial" panose="020B0604020202020204" pitchFamily="34" charset="0"/>
              </a:rPr>
              <a:t>President - Formulation Operations</a:t>
            </a:r>
            <a:endParaRPr kumimoji="0" lang="en-IN" sz="1000" b="0" i="1" u="none" strike="noStrike" kern="1200" cap="none" spc="0" normalizeH="0" baseline="0" noProof="0" dirty="0">
              <a:ln>
                <a:noFill/>
              </a:ln>
              <a:solidFill>
                <a:prstClr val="black"/>
              </a:solidFill>
              <a:effectLst/>
              <a:uLnTx/>
              <a:uFillTx/>
              <a:latin typeface="Abadi" panose="020B0604020104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4CD434D9-FB6B-0CEC-ACBA-E6F9BD190425}"/>
              </a:ext>
            </a:extLst>
          </p:cNvPr>
          <p:cNvSpPr/>
          <p:nvPr/>
        </p:nvSpPr>
        <p:spPr>
          <a:xfrm>
            <a:off x="9465097" y="5422339"/>
            <a:ext cx="2252372" cy="5457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360"/>
              </a:spcAft>
              <a:buClrTx/>
              <a:buSzTx/>
              <a:buFontTx/>
              <a:buNone/>
              <a:tabLst/>
              <a:defRPr/>
            </a:pPr>
            <a:r>
              <a:rPr kumimoji="0" lang="en-IN" sz="1200" b="1" i="0" u="none" strike="noStrike" kern="1200" cap="none" spc="0" normalizeH="0" baseline="0" noProof="0" dirty="0">
                <a:ln>
                  <a:noFill/>
                </a:ln>
                <a:solidFill>
                  <a:prstClr val="black"/>
                </a:solidFill>
                <a:effectLst/>
                <a:uLnTx/>
                <a:uFillTx/>
                <a:latin typeface="Abadi" panose="020B0604020104020204" pitchFamily="34" charset="0"/>
                <a:cs typeface="Arial" panose="020B0604020202020204" pitchFamily="34" charset="0"/>
              </a:rPr>
              <a:t>Sanjay Kumar</a:t>
            </a:r>
          </a:p>
          <a:p>
            <a:pPr marL="0" marR="0" lvl="0" indent="0" algn="ctr" defTabSz="914400" rtl="0" eaLnBrk="1" fontAlgn="auto" latinLnBrk="0" hangingPunct="1">
              <a:lnSpc>
                <a:spcPct val="100000"/>
              </a:lnSpc>
              <a:spcBef>
                <a:spcPts val="0"/>
              </a:spcBef>
              <a:spcAft>
                <a:spcPts val="360"/>
              </a:spcAft>
              <a:buClrTx/>
              <a:buSzTx/>
              <a:buFontTx/>
              <a:buNone/>
              <a:tabLst/>
              <a:defRPr/>
            </a:pPr>
            <a:r>
              <a:rPr kumimoji="0" lang="en-US" sz="1000" b="0" i="1" u="none" strike="noStrike" kern="1200" cap="none" spc="0" normalizeH="0" baseline="0" noProof="0" dirty="0">
                <a:ln>
                  <a:noFill/>
                </a:ln>
                <a:solidFill>
                  <a:prstClr val="black"/>
                </a:solidFill>
                <a:effectLst/>
                <a:uLnTx/>
                <a:uFillTx/>
                <a:latin typeface="Abadi" panose="020B0604020104020204" pitchFamily="34" charset="0"/>
                <a:cs typeface="Arial" panose="020B0604020202020204" pitchFamily="34" charset="0"/>
              </a:rPr>
              <a:t>Senior Vice President – Corporate Strategy &amp; Planning</a:t>
            </a:r>
            <a:endParaRPr kumimoji="0" lang="en-IN" sz="1000" b="0" i="1" u="none" strike="noStrike" kern="1200" cap="none" spc="0" normalizeH="0" baseline="0" noProof="0" dirty="0">
              <a:ln>
                <a:noFill/>
              </a:ln>
              <a:solidFill>
                <a:prstClr val="black"/>
              </a:solidFill>
              <a:effectLst/>
              <a:uLnTx/>
              <a:uFillTx/>
              <a:latin typeface="Abadi" panose="020B0604020104020204" pitchFamily="34" charset="0"/>
              <a:cs typeface="Arial" panose="020B0604020202020204" pitchFamily="34" charset="0"/>
            </a:endParaRPr>
          </a:p>
        </p:txBody>
      </p:sp>
      <p:pic>
        <p:nvPicPr>
          <p:cNvPr id="9" name="Picture 8" descr="A person wearing glasses&#10;&#10;Description automatically generated with medium confidence">
            <a:extLst>
              <a:ext uri="{FF2B5EF4-FFF2-40B4-BE49-F238E27FC236}">
                <a16:creationId xmlns:a16="http://schemas.microsoft.com/office/drawing/2014/main" id="{7A88F6CA-C371-9441-76B1-1741E974F71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307487" y="3815705"/>
            <a:ext cx="1433876" cy="1433876"/>
          </a:xfrm>
          <a:prstGeom prst="rect">
            <a:avLst/>
          </a:prstGeom>
        </p:spPr>
      </p:pic>
      <p:pic>
        <p:nvPicPr>
          <p:cNvPr id="11" name="Picture 10" descr="A picture containing person, person, male&#10;&#10;Description automatically generated">
            <a:extLst>
              <a:ext uri="{FF2B5EF4-FFF2-40B4-BE49-F238E27FC236}">
                <a16:creationId xmlns:a16="http://schemas.microsoft.com/office/drawing/2014/main" id="{423D1E17-D8D6-51FF-6ACD-6AC92A0841F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27651" y="3918939"/>
            <a:ext cx="1333500" cy="1333500"/>
          </a:xfrm>
          <a:prstGeom prst="rect">
            <a:avLst/>
          </a:prstGeom>
        </p:spPr>
      </p:pic>
      <p:pic>
        <p:nvPicPr>
          <p:cNvPr id="18" name="Picture 17" descr="A person with a beard&#10;&#10;Description automatically generated with low confidence">
            <a:extLst>
              <a:ext uri="{FF2B5EF4-FFF2-40B4-BE49-F238E27FC236}">
                <a16:creationId xmlns:a16="http://schemas.microsoft.com/office/drawing/2014/main" id="{901F0674-17E0-A380-2DB1-6E8A693A5007}"/>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539469" y="3815705"/>
            <a:ext cx="1433876" cy="1433876"/>
          </a:xfrm>
          <a:prstGeom prst="rect">
            <a:avLst/>
          </a:prstGeom>
        </p:spPr>
      </p:pic>
      <p:sp>
        <p:nvSpPr>
          <p:cNvPr id="3" name="TextBox 2">
            <a:extLst>
              <a:ext uri="{FF2B5EF4-FFF2-40B4-BE49-F238E27FC236}">
                <a16:creationId xmlns:a16="http://schemas.microsoft.com/office/drawing/2014/main" id="{3EBB7D1D-7300-21BE-4AC0-891F1518F941}"/>
              </a:ext>
            </a:extLst>
          </p:cNvPr>
          <p:cNvSpPr txBox="1"/>
          <p:nvPr/>
        </p:nvSpPr>
        <p:spPr>
          <a:xfrm>
            <a:off x="117248" y="197891"/>
            <a:ext cx="11129499" cy="646331"/>
          </a:xfrm>
          <a:prstGeom prst="rect">
            <a:avLst/>
          </a:prstGeom>
          <a:noFill/>
        </p:spPr>
        <p:txBody>
          <a:bodyPr wrap="square" rtlCol="0">
            <a:spAutoFit/>
          </a:bodyPr>
          <a:lstStyle/>
          <a:p>
            <a:r>
              <a:rPr lang="en-US" sz="3600" b="1" dirty="0">
                <a:solidFill>
                  <a:srgbClr val="00B0F0"/>
                </a:solidFill>
                <a:latin typeface="Aptos" panose="020B0004020202020204" pitchFamily="34" charset="0"/>
                <a:cs typeface="Arial" panose="020B0604020202020204" pitchFamily="34" charset="0"/>
              </a:rPr>
              <a:t>Our Leadership team: Management Committee</a:t>
            </a:r>
          </a:p>
        </p:txBody>
      </p:sp>
    </p:spTree>
    <p:extLst>
      <p:ext uri="{BB962C8B-B14F-4D97-AF65-F5344CB8AC3E}">
        <p14:creationId xmlns:p14="http://schemas.microsoft.com/office/powerpoint/2010/main" val="424610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2B47A7A-786A-4EA4-9558-93E2E0C2E25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1" imgH="423" progId="TCLayout.ActiveDocument.1">
                  <p:embed/>
                </p:oleObj>
              </mc:Choice>
              <mc:Fallback>
                <p:oleObj name="think-cell Slide" r:id="rId3" imgW="421" imgH="423" progId="TCLayout.ActiveDocument.1">
                  <p:embed/>
                  <p:pic>
                    <p:nvPicPr>
                      <p:cNvPr id="6" name="Object 5" hidden="1">
                        <a:extLst>
                          <a:ext uri="{FF2B5EF4-FFF2-40B4-BE49-F238E27FC236}">
                            <a16:creationId xmlns:a16="http://schemas.microsoft.com/office/drawing/2014/main" id="{12B47A7A-786A-4EA4-9558-93E2E0C2E25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882CD0CB-1968-49C4-83A6-FBBFDBF396B0}"/>
              </a:ext>
            </a:extLst>
          </p:cNvPr>
          <p:cNvSpPr>
            <a:spLocks noGrp="1"/>
          </p:cNvSpPr>
          <p:nvPr>
            <p:ph type="sldNum" sz="quarter" idx="4294967295"/>
          </p:nvPr>
        </p:nvSpPr>
        <p:spPr>
          <a:xfrm>
            <a:off x="9448800" y="6410325"/>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C3031A-744E-4491-9064-FD6EC4156FCE}" type="slidenum">
              <a:rPr kumimoji="0" lang="en-IN" sz="1100" b="0" i="0" u="none" strike="noStrike" kern="1200" cap="none" spc="0" normalizeH="0" baseline="0" noProof="0" smtClean="0">
                <a:ln>
                  <a:noFill/>
                </a:ln>
                <a:solidFill>
                  <a:prstClr val="white"/>
                </a:solidFill>
                <a:effectLst/>
                <a:uLnTx/>
                <a:uFillTx/>
                <a:latin typeface="Aptos" panose="020B00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IN" sz="1100" b="0" i="0" u="none" strike="noStrike" kern="1200" cap="none" spc="0" normalizeH="0" baseline="0" noProof="0" dirty="0">
              <a:ln>
                <a:noFill/>
              </a:ln>
              <a:solidFill>
                <a:prstClr val="white"/>
              </a:solidFill>
              <a:effectLst/>
              <a:uLnTx/>
              <a:uFillTx/>
              <a:latin typeface="Aptos" panose="020B0004020202020204" pitchFamily="34" charset="0"/>
            </a:endParaRPr>
          </a:p>
        </p:txBody>
      </p:sp>
      <p:sp>
        <p:nvSpPr>
          <p:cNvPr id="7" name="Rectangle 6">
            <a:extLst>
              <a:ext uri="{FF2B5EF4-FFF2-40B4-BE49-F238E27FC236}">
                <a16:creationId xmlns:a16="http://schemas.microsoft.com/office/drawing/2014/main" id="{D862E2B9-1B47-9EFB-149A-275C7A9F8016}"/>
              </a:ext>
            </a:extLst>
          </p:cNvPr>
          <p:cNvSpPr/>
          <p:nvPr/>
        </p:nvSpPr>
        <p:spPr>
          <a:xfrm>
            <a:off x="4324334" y="942812"/>
            <a:ext cx="1970843" cy="777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prstClr val="white"/>
                </a:solidFill>
                <a:effectLst/>
                <a:uLnTx/>
                <a:uFillTx/>
                <a:latin typeface="Aptos" panose="020B0004020202020204" pitchFamily="34" charset="0"/>
                <a:cs typeface="Arial" panose="020B0604020202020204" pitchFamily="34" charset="0"/>
              </a:rPr>
              <a:t>Granules India Ltd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white"/>
                </a:solidFill>
                <a:effectLst/>
                <a:uLnTx/>
                <a:uFillTx/>
                <a:latin typeface="Aptos" panose="020B0004020202020204" pitchFamily="34" charset="0"/>
                <a:cs typeface="Arial" panose="020B0604020202020204" pitchFamily="34" charset="0"/>
              </a:rPr>
              <a:t>(GIL) </a:t>
            </a:r>
          </a:p>
        </p:txBody>
      </p:sp>
      <p:cxnSp>
        <p:nvCxnSpPr>
          <p:cNvPr id="8" name="Straight Connector 7">
            <a:extLst>
              <a:ext uri="{FF2B5EF4-FFF2-40B4-BE49-F238E27FC236}">
                <a16:creationId xmlns:a16="http://schemas.microsoft.com/office/drawing/2014/main" id="{6254ACFF-4185-F04A-B055-31FB435BE741}"/>
              </a:ext>
            </a:extLst>
          </p:cNvPr>
          <p:cNvCxnSpPr/>
          <p:nvPr/>
        </p:nvCxnSpPr>
        <p:spPr>
          <a:xfrm>
            <a:off x="5300879" y="1724044"/>
            <a:ext cx="0" cy="275208"/>
          </a:xfrm>
          <a:prstGeom prst="line">
            <a:avLst/>
          </a:prstGeom>
          <a:ln>
            <a:solidFill>
              <a:srgbClr val="000046"/>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D6BA949F-EAF2-B557-33CD-2ECEEAC413BB}"/>
              </a:ext>
            </a:extLst>
          </p:cNvPr>
          <p:cNvSpPr/>
          <p:nvPr/>
        </p:nvSpPr>
        <p:spPr>
          <a:xfrm>
            <a:off x="2747354" y="2190125"/>
            <a:ext cx="1970843" cy="7776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sysClr val="windowText" lastClr="000000"/>
                </a:solidFill>
                <a:effectLst/>
                <a:uLnTx/>
                <a:uFillTx/>
                <a:latin typeface="Aptos" panose="020B0004020202020204" pitchFamily="34" charset="0"/>
                <a:cs typeface="Arial" panose="020B0604020202020204" pitchFamily="34" charset="0"/>
              </a:rPr>
              <a:t>Granules Pharmaceuticals</a:t>
            </a:r>
            <a:r>
              <a:rPr kumimoji="0" lang="en-IN" sz="1600" i="0" u="none" strike="noStrike" kern="1200" cap="none" spc="0" normalizeH="0" baseline="0" noProof="0" dirty="0">
                <a:ln>
                  <a:noFill/>
                </a:ln>
                <a:solidFill>
                  <a:sysClr val="windowText" lastClr="000000"/>
                </a:solidFill>
                <a:effectLst/>
                <a:uLnTx/>
                <a:uFillTx/>
                <a:latin typeface="Aptos" panose="020B0004020202020204" pitchFamily="34" charset="0"/>
                <a:cs typeface="Arial" panose="020B0604020202020204" pitchFamily="34" charset="0"/>
              </a:rPr>
              <a:t> Inc </a:t>
            </a:r>
            <a:r>
              <a:rPr kumimoji="0" lang="en-IN" sz="1600" b="0" i="0" u="none" strike="noStrike" kern="1200" cap="none" spc="0" normalizeH="0" baseline="0" noProof="0" dirty="0">
                <a:ln>
                  <a:noFill/>
                </a:ln>
                <a:solidFill>
                  <a:sysClr val="windowText" lastClr="000000"/>
                </a:solidFill>
                <a:effectLst/>
                <a:uLnTx/>
                <a:uFillTx/>
                <a:latin typeface="Aptos" panose="020B0004020202020204" pitchFamily="34" charset="0"/>
                <a:cs typeface="Arial" panose="020B0604020202020204" pitchFamily="34" charset="0"/>
              </a:rPr>
              <a:t>(GPI) </a:t>
            </a:r>
          </a:p>
        </p:txBody>
      </p:sp>
      <p:sp>
        <p:nvSpPr>
          <p:cNvPr id="13" name="Rectangle 12">
            <a:extLst>
              <a:ext uri="{FF2B5EF4-FFF2-40B4-BE49-F238E27FC236}">
                <a16:creationId xmlns:a16="http://schemas.microsoft.com/office/drawing/2014/main" id="{DAF0218C-4567-4507-2C7A-BBD92DBE3AF4}"/>
              </a:ext>
            </a:extLst>
          </p:cNvPr>
          <p:cNvSpPr/>
          <p:nvPr/>
        </p:nvSpPr>
        <p:spPr>
          <a:xfrm>
            <a:off x="7473802" y="2190125"/>
            <a:ext cx="1970843" cy="7776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ysClr val="windowText" lastClr="000000"/>
                </a:solidFill>
                <a:effectLst/>
                <a:uLnTx/>
                <a:uFillTx/>
                <a:latin typeface="Aptos" panose="020B0004020202020204" pitchFamily="34" charset="0"/>
                <a:cs typeface="Arial" panose="020B0604020202020204" pitchFamily="34" charset="0"/>
              </a:rPr>
              <a:t> </a:t>
            </a:r>
            <a:r>
              <a:rPr kumimoji="0" lang="en-IN" sz="1600" b="1" i="0" u="none" strike="noStrike" kern="1200" cap="none" spc="0" normalizeH="0" baseline="0" noProof="0" dirty="0">
                <a:ln>
                  <a:noFill/>
                </a:ln>
                <a:solidFill>
                  <a:sysClr val="windowText" lastClr="000000"/>
                </a:solidFill>
                <a:effectLst/>
                <a:uLnTx/>
                <a:uFillTx/>
                <a:latin typeface="Aptos" panose="020B0004020202020204" pitchFamily="34" charset="0"/>
                <a:cs typeface="Arial" panose="020B0604020202020204" pitchFamily="34" charset="0"/>
              </a:rPr>
              <a:t>Granules Lifescience Pvt. </a:t>
            </a:r>
            <a:r>
              <a:rPr kumimoji="0" lang="en-IN" sz="1600" b="0" i="0" u="none" strike="noStrike" kern="1200" cap="none" spc="0" normalizeH="0" baseline="0" noProof="0" dirty="0">
                <a:ln>
                  <a:noFill/>
                </a:ln>
                <a:solidFill>
                  <a:sysClr val="windowText" lastClr="000000"/>
                </a:solidFill>
                <a:effectLst/>
                <a:uLnTx/>
                <a:uFillTx/>
                <a:latin typeface="Aptos" panose="020B0004020202020204" pitchFamily="34" charset="0"/>
                <a:cs typeface="Arial" panose="020B0604020202020204" pitchFamily="34" charset="0"/>
              </a:rPr>
              <a:t>Ltd </a:t>
            </a:r>
          </a:p>
        </p:txBody>
      </p:sp>
      <p:sp>
        <p:nvSpPr>
          <p:cNvPr id="14" name="Rectangle 13">
            <a:extLst>
              <a:ext uri="{FF2B5EF4-FFF2-40B4-BE49-F238E27FC236}">
                <a16:creationId xmlns:a16="http://schemas.microsoft.com/office/drawing/2014/main" id="{A3E13B1D-BA88-BA2E-C558-47BB93F1080D}"/>
              </a:ext>
            </a:extLst>
          </p:cNvPr>
          <p:cNvSpPr/>
          <p:nvPr/>
        </p:nvSpPr>
        <p:spPr>
          <a:xfrm>
            <a:off x="384130" y="2190125"/>
            <a:ext cx="1970843" cy="7776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sysClr val="windowText" lastClr="000000"/>
                </a:solidFill>
                <a:effectLst/>
                <a:uLnTx/>
                <a:uFillTx/>
                <a:latin typeface="Aptos" panose="020B0004020202020204" pitchFamily="34" charset="0"/>
                <a:cs typeface="Arial" panose="020B0604020202020204" pitchFamily="34" charset="0"/>
              </a:rPr>
              <a:t>Granules USA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ysClr val="windowText" lastClr="000000"/>
                </a:solidFill>
                <a:effectLst/>
                <a:uLnTx/>
                <a:uFillTx/>
                <a:latin typeface="Aptos" panose="020B0004020202020204" pitchFamily="34" charset="0"/>
                <a:cs typeface="Arial" panose="020B0604020202020204" pitchFamily="34" charset="0"/>
              </a:rPr>
              <a:t>(GUSA) </a:t>
            </a:r>
          </a:p>
        </p:txBody>
      </p:sp>
      <p:sp>
        <p:nvSpPr>
          <p:cNvPr id="15" name="Rectangle 14">
            <a:extLst>
              <a:ext uri="{FF2B5EF4-FFF2-40B4-BE49-F238E27FC236}">
                <a16:creationId xmlns:a16="http://schemas.microsoft.com/office/drawing/2014/main" id="{E40250FE-CC0B-A4FD-4D73-0CAB3F4B1072}"/>
              </a:ext>
            </a:extLst>
          </p:cNvPr>
          <p:cNvSpPr/>
          <p:nvPr/>
        </p:nvSpPr>
        <p:spPr>
          <a:xfrm>
            <a:off x="384129" y="3210305"/>
            <a:ext cx="1970843" cy="7776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sysClr val="windowText" lastClr="000000"/>
                </a:solidFill>
                <a:effectLst/>
                <a:uLnTx/>
                <a:uFillTx/>
                <a:latin typeface="Aptos" panose="020B0004020202020204" pitchFamily="34" charset="0"/>
                <a:cs typeface="Arial" panose="020B0604020202020204" pitchFamily="34" charset="0"/>
              </a:rPr>
              <a:t>Granules Consumer Health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ysClr val="windowText" lastClr="000000"/>
                </a:solidFill>
                <a:effectLst/>
                <a:uLnTx/>
                <a:uFillTx/>
                <a:latin typeface="Aptos" panose="020B0004020202020204" pitchFamily="34" charset="0"/>
                <a:cs typeface="Arial" panose="020B0604020202020204" pitchFamily="34" charset="0"/>
              </a:rPr>
              <a:t>(GCH) </a:t>
            </a:r>
          </a:p>
        </p:txBody>
      </p:sp>
      <p:cxnSp>
        <p:nvCxnSpPr>
          <p:cNvPr id="16" name="Straight Connector 15">
            <a:extLst>
              <a:ext uri="{FF2B5EF4-FFF2-40B4-BE49-F238E27FC236}">
                <a16:creationId xmlns:a16="http://schemas.microsoft.com/office/drawing/2014/main" id="{E4194791-E55B-E435-B759-1038F58AFB3A}"/>
              </a:ext>
            </a:extLst>
          </p:cNvPr>
          <p:cNvCxnSpPr>
            <a:cxnSpLocks/>
          </p:cNvCxnSpPr>
          <p:nvPr/>
        </p:nvCxnSpPr>
        <p:spPr>
          <a:xfrm flipV="1">
            <a:off x="1268940" y="1999252"/>
            <a:ext cx="6473298" cy="10223"/>
          </a:xfrm>
          <a:prstGeom prst="line">
            <a:avLst/>
          </a:prstGeom>
          <a:ln w="12700">
            <a:solidFill>
              <a:srgbClr val="000046"/>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083BBDE-0A8C-08AC-9D7B-07D6B957C3D6}"/>
              </a:ext>
            </a:extLst>
          </p:cNvPr>
          <p:cNvCxnSpPr/>
          <p:nvPr/>
        </p:nvCxnSpPr>
        <p:spPr>
          <a:xfrm>
            <a:off x="1275681" y="1999252"/>
            <a:ext cx="0" cy="190873"/>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F1D98A0-EA2C-6BFF-D84A-D725C8D7AD2B}"/>
              </a:ext>
            </a:extLst>
          </p:cNvPr>
          <p:cNvCxnSpPr>
            <a:cxnSpLocks/>
          </p:cNvCxnSpPr>
          <p:nvPr/>
        </p:nvCxnSpPr>
        <p:spPr>
          <a:xfrm>
            <a:off x="6048355" y="1999252"/>
            <a:ext cx="0" cy="23304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421B16E-E16D-3BEF-9438-79446E629CBA}"/>
              </a:ext>
            </a:extLst>
          </p:cNvPr>
          <p:cNvCxnSpPr>
            <a:cxnSpLocks/>
          </p:cNvCxnSpPr>
          <p:nvPr/>
        </p:nvCxnSpPr>
        <p:spPr>
          <a:xfrm>
            <a:off x="1268940" y="2972495"/>
            <a:ext cx="0" cy="23304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528FBB2-1B81-462C-27F8-A5E3C65D3A91}"/>
              </a:ext>
            </a:extLst>
          </p:cNvPr>
          <p:cNvCxnSpPr>
            <a:cxnSpLocks/>
          </p:cNvCxnSpPr>
          <p:nvPr/>
        </p:nvCxnSpPr>
        <p:spPr>
          <a:xfrm>
            <a:off x="3651966" y="1999252"/>
            <a:ext cx="0" cy="180000"/>
          </a:xfrm>
          <a:prstGeom prst="line">
            <a:avLst/>
          </a:prstGeom>
          <a:ln>
            <a:solidFill>
              <a:srgbClr val="000046"/>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D374881-13C1-B02F-545E-1C106AA956D1}"/>
              </a:ext>
            </a:extLst>
          </p:cNvPr>
          <p:cNvSpPr txBox="1"/>
          <p:nvPr/>
        </p:nvSpPr>
        <p:spPr>
          <a:xfrm>
            <a:off x="608246" y="4013641"/>
            <a:ext cx="10650067" cy="2694807"/>
          </a:xfrm>
          <a:prstGeom prst="roundRect">
            <a:avLst>
              <a:gd name="adj" fmla="val 4255"/>
            </a:avLst>
          </a:prstGeom>
          <a:noFill/>
          <a:ln>
            <a:solidFill>
              <a:schemeClr val="accent1"/>
            </a:solidFill>
            <a:prstDash val="dash"/>
          </a:ln>
        </p:spPr>
        <p:txBody>
          <a:bodyPr wrap="square" rtlCol="0">
            <a:spAutoFit/>
          </a:bodyPr>
          <a:lstStyle/>
          <a:p>
            <a:pPr marL="285750" marR="0" lvl="0" indent="-285750" algn="just" defTabSz="914400" rtl="0" eaLnBrk="1" fontAlgn="auto" latinLnBrk="0" hangingPunct="1">
              <a:lnSpc>
                <a:spcPct val="150000"/>
              </a:lnSpc>
              <a:spcBef>
                <a:spcPts val="0"/>
              </a:spcBef>
              <a:spcAft>
                <a:spcPts val="0"/>
              </a:spcAft>
              <a:buClr>
                <a:srgbClr val="4472C4">
                  <a:lumMod val="50000"/>
                </a:srgbClr>
              </a:buClr>
              <a:buSzPct val="150000"/>
              <a:buFont typeface="Wingdings" panose="05000000000000000000" pitchFamily="2" charset="2"/>
              <a:buChar char="ü"/>
              <a:tabLst/>
              <a:defRPr/>
            </a:pPr>
            <a:r>
              <a:rPr kumimoji="0" lang="en-IN" sz="1400" b="0"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rPr>
              <a:t>GIL: Parent company with presence across the entire pharmaceutical manufacturing value chain from API to finished dosages</a:t>
            </a:r>
          </a:p>
          <a:p>
            <a:pPr marL="285750" marR="0" lvl="0" indent="-285750" algn="just" defTabSz="914400" rtl="0" eaLnBrk="1" fontAlgn="auto" latinLnBrk="0" hangingPunct="1">
              <a:lnSpc>
                <a:spcPct val="150000"/>
              </a:lnSpc>
              <a:spcBef>
                <a:spcPts val="0"/>
              </a:spcBef>
              <a:spcAft>
                <a:spcPts val="0"/>
              </a:spcAft>
              <a:buClr>
                <a:srgbClr val="4472C4">
                  <a:lumMod val="50000"/>
                </a:srgbClr>
              </a:buClr>
              <a:buSzPct val="150000"/>
              <a:buFont typeface="Wingdings" panose="05000000000000000000" pitchFamily="2" charset="2"/>
              <a:buChar char="ü"/>
              <a:tabLst/>
              <a:defRPr/>
            </a:pPr>
            <a:r>
              <a:rPr kumimoji="0" lang="en-IN" sz="1400" b="0"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rPr>
              <a:t>GUSA: B2B Marketing &amp; Distribution arm for APIs, PFIs and OTC FDs from GIL in the US</a:t>
            </a:r>
          </a:p>
          <a:p>
            <a:pPr marL="285750" marR="0" lvl="0" indent="-285750" algn="just" defTabSz="914400" rtl="0" eaLnBrk="1" fontAlgn="auto" latinLnBrk="0" hangingPunct="1">
              <a:lnSpc>
                <a:spcPct val="150000"/>
              </a:lnSpc>
              <a:spcBef>
                <a:spcPts val="0"/>
              </a:spcBef>
              <a:spcAft>
                <a:spcPts val="0"/>
              </a:spcAft>
              <a:buClr>
                <a:srgbClr val="4472C4">
                  <a:lumMod val="50000"/>
                </a:srgbClr>
              </a:buClr>
              <a:buSzPct val="150000"/>
              <a:buFont typeface="Wingdings" panose="05000000000000000000" pitchFamily="2" charset="2"/>
              <a:buChar char="ü"/>
              <a:tabLst/>
              <a:defRPr/>
            </a:pPr>
            <a:r>
              <a:rPr kumimoji="0" lang="en-IN" sz="1400" b="0"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rPr>
              <a:t>GCH: </a:t>
            </a:r>
            <a:r>
              <a:rPr kumimoji="0" lang="en-US" sz="1400" b="0"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rPr>
              <a:t>Focused on marketing private-label OTC drugs to retailers in the US. Also, built a </a:t>
            </a:r>
            <a:r>
              <a:rPr lang="en-US" sz="1400" dirty="0">
                <a:solidFill>
                  <a:prstClr val="black"/>
                </a:solidFill>
                <a:latin typeface="Aptos" panose="020B0004020202020204" pitchFamily="34" charset="0"/>
                <a:cs typeface="Arial" panose="020B0604020202020204" pitchFamily="34" charset="0"/>
              </a:rPr>
              <a:t>packing facility (GPAK) for Rx, OTC and Controlled substances for internal use as well as contract packing services</a:t>
            </a:r>
            <a:endParaRPr kumimoji="0" lang="en-IN" sz="1400" b="0"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endParaRPr>
          </a:p>
          <a:p>
            <a:pPr marL="285750" marR="0" lvl="0" indent="-285750" algn="just" defTabSz="914400" rtl="0" eaLnBrk="1" fontAlgn="auto" latinLnBrk="0" hangingPunct="1">
              <a:lnSpc>
                <a:spcPct val="150000"/>
              </a:lnSpc>
              <a:spcBef>
                <a:spcPts val="0"/>
              </a:spcBef>
              <a:spcAft>
                <a:spcPts val="0"/>
              </a:spcAft>
              <a:buClr>
                <a:srgbClr val="4472C4">
                  <a:lumMod val="50000"/>
                </a:srgbClr>
              </a:buClr>
              <a:buSzPct val="150000"/>
              <a:buFont typeface="Wingdings" panose="05000000000000000000" pitchFamily="2" charset="2"/>
              <a:buChar char="ü"/>
              <a:tabLst/>
              <a:defRPr/>
            </a:pPr>
            <a:r>
              <a:rPr kumimoji="0" lang="en-IN" sz="1400" b="0"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rPr>
              <a:t>GPI: R&amp;D, manufacturing and front-end division for marketing of Rx products including controlled substances in the US</a:t>
            </a:r>
          </a:p>
          <a:p>
            <a:pPr marL="285750" marR="0" lvl="0" indent="-285750" algn="just" defTabSz="914400" rtl="0" eaLnBrk="1" fontAlgn="auto" latinLnBrk="0" hangingPunct="1">
              <a:lnSpc>
                <a:spcPct val="150000"/>
              </a:lnSpc>
              <a:spcBef>
                <a:spcPts val="0"/>
              </a:spcBef>
              <a:spcAft>
                <a:spcPts val="0"/>
              </a:spcAft>
              <a:buClr>
                <a:srgbClr val="4472C4">
                  <a:lumMod val="50000"/>
                </a:srgbClr>
              </a:buClr>
              <a:buSzPct val="150000"/>
              <a:buFont typeface="Wingdings" panose="05000000000000000000" pitchFamily="2" charset="2"/>
              <a:buChar char="ü"/>
              <a:tabLst/>
              <a:defRPr/>
            </a:pPr>
            <a:r>
              <a:rPr kumimoji="0" lang="en-IN" sz="1400" b="0"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rPr>
              <a:t>GEL: B2B Marketing &amp; Distribution arm for APIs, PFIs and FDs from GIL in Europe</a:t>
            </a:r>
          </a:p>
          <a:p>
            <a:pPr marL="285750" marR="0" lvl="0" indent="-285750" algn="just" defTabSz="914400" rtl="0" eaLnBrk="1" fontAlgn="auto" latinLnBrk="0" hangingPunct="1">
              <a:lnSpc>
                <a:spcPct val="150000"/>
              </a:lnSpc>
              <a:spcBef>
                <a:spcPts val="0"/>
              </a:spcBef>
              <a:spcAft>
                <a:spcPts val="0"/>
              </a:spcAft>
              <a:buClr>
                <a:srgbClr val="4472C4">
                  <a:lumMod val="50000"/>
                </a:srgbClr>
              </a:buClr>
              <a:buSzPct val="150000"/>
              <a:buFont typeface="Wingdings" panose="05000000000000000000" pitchFamily="2" charset="2"/>
              <a:buChar char="ü"/>
              <a:tabLst/>
              <a:defRPr/>
            </a:pPr>
            <a:r>
              <a:rPr kumimoji="0" lang="en-IN" sz="1400" b="0"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rPr>
              <a:t>GLPL: </a:t>
            </a:r>
            <a:r>
              <a:rPr lang="en-IN" sz="1400" dirty="0">
                <a:solidFill>
                  <a:prstClr val="black"/>
                </a:solidFill>
                <a:latin typeface="Aptos" panose="020B0004020202020204" pitchFamily="34" charset="0"/>
                <a:cs typeface="Arial" panose="020B0604020202020204" pitchFamily="34" charset="0"/>
              </a:rPr>
              <a:t>Created for commissioning new plants in India (applicable for favourable tax regime with lower income tax rate)</a:t>
            </a:r>
          </a:p>
          <a:p>
            <a:pPr marL="285750" marR="0" lvl="0" indent="-285750" algn="just" defTabSz="914400" rtl="0" eaLnBrk="1" fontAlgn="auto" latinLnBrk="0" hangingPunct="1">
              <a:lnSpc>
                <a:spcPct val="150000"/>
              </a:lnSpc>
              <a:spcBef>
                <a:spcPts val="0"/>
              </a:spcBef>
              <a:spcAft>
                <a:spcPts val="0"/>
              </a:spcAft>
              <a:buClr>
                <a:srgbClr val="4472C4">
                  <a:lumMod val="50000"/>
                </a:srgbClr>
              </a:buClr>
              <a:buSzPct val="150000"/>
              <a:buFont typeface="Wingdings" panose="05000000000000000000" pitchFamily="2" charset="2"/>
              <a:buChar char="ü"/>
              <a:tabLst/>
              <a:defRPr/>
            </a:pPr>
            <a:r>
              <a:rPr lang="en-IN" sz="1400" dirty="0">
                <a:solidFill>
                  <a:prstClr val="black"/>
                </a:solidFill>
                <a:latin typeface="Aptos" panose="020B0004020202020204" pitchFamily="34" charset="0"/>
                <a:cs typeface="Arial" panose="020B0604020202020204" pitchFamily="34" charset="0"/>
              </a:rPr>
              <a:t>GCZRO: Created to establish Integrated Green Pharmaceutical Zone in Kakinada to manufacture products with zero carbon footprint</a:t>
            </a:r>
            <a:endParaRPr kumimoji="0" lang="en-IN" sz="1400" b="0"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endParaRPr>
          </a:p>
        </p:txBody>
      </p:sp>
      <p:sp>
        <p:nvSpPr>
          <p:cNvPr id="29" name="Rectangle 28">
            <a:extLst>
              <a:ext uri="{FF2B5EF4-FFF2-40B4-BE49-F238E27FC236}">
                <a16:creationId xmlns:a16="http://schemas.microsoft.com/office/drawing/2014/main" id="{7433F8F0-6471-9074-DDC6-181A730ECE55}"/>
              </a:ext>
            </a:extLst>
          </p:cNvPr>
          <p:cNvSpPr/>
          <p:nvPr/>
        </p:nvSpPr>
        <p:spPr>
          <a:xfrm>
            <a:off x="5247580" y="1701698"/>
            <a:ext cx="835830"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i="0" u="none" strike="noStrike" kern="1200" cap="none" spc="0" normalizeH="0" baseline="0" noProof="0" dirty="0">
                <a:ln>
                  <a:noFill/>
                </a:ln>
                <a:solidFill>
                  <a:prstClr val="black"/>
                </a:solidFill>
                <a:effectLst/>
                <a:uLnTx/>
                <a:uFillTx/>
                <a:latin typeface="Aptos" panose="020B0004020202020204" pitchFamily="34" charset="0"/>
              </a:rPr>
              <a:t>(100%)</a:t>
            </a:r>
          </a:p>
        </p:txBody>
      </p:sp>
      <p:sp>
        <p:nvSpPr>
          <p:cNvPr id="31" name="Rectangle 30">
            <a:extLst>
              <a:ext uri="{FF2B5EF4-FFF2-40B4-BE49-F238E27FC236}">
                <a16:creationId xmlns:a16="http://schemas.microsoft.com/office/drawing/2014/main" id="{CEADFE4D-AE8D-0A63-1774-04A6C4C6C400}"/>
              </a:ext>
            </a:extLst>
          </p:cNvPr>
          <p:cNvSpPr/>
          <p:nvPr/>
        </p:nvSpPr>
        <p:spPr>
          <a:xfrm>
            <a:off x="5110578" y="2190125"/>
            <a:ext cx="1970843" cy="7776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ysClr val="windowText" lastClr="000000"/>
                </a:solidFill>
                <a:effectLst/>
                <a:uLnTx/>
                <a:uFillTx/>
                <a:latin typeface="Aptos" panose="020B0004020202020204" pitchFamily="34" charset="0"/>
                <a:cs typeface="Arial" panose="020B0604020202020204" pitchFamily="34" charset="0"/>
              </a:rPr>
              <a:t> </a:t>
            </a:r>
            <a:r>
              <a:rPr kumimoji="0" lang="en-IN" sz="1600" b="1" i="0" u="none" strike="noStrike" kern="1200" cap="none" spc="0" normalizeH="0" baseline="0" noProof="0" dirty="0">
                <a:ln>
                  <a:noFill/>
                </a:ln>
                <a:solidFill>
                  <a:sysClr val="windowText" lastClr="000000"/>
                </a:solidFill>
                <a:effectLst/>
                <a:uLnTx/>
                <a:uFillTx/>
                <a:latin typeface="Aptos" panose="020B0004020202020204" pitchFamily="34" charset="0"/>
                <a:cs typeface="Arial" panose="020B0604020202020204" pitchFamily="34" charset="0"/>
              </a:rPr>
              <a:t>Granules Europe </a:t>
            </a:r>
            <a:r>
              <a:rPr kumimoji="0" lang="en-IN" sz="1600" b="0" i="0" u="none" strike="noStrike" kern="1200" cap="none" spc="0" normalizeH="0" baseline="0" noProof="0" dirty="0">
                <a:ln>
                  <a:noFill/>
                </a:ln>
                <a:solidFill>
                  <a:sysClr val="windowText" lastClr="000000"/>
                </a:solidFill>
                <a:effectLst/>
                <a:uLnTx/>
                <a:uFillTx/>
                <a:latin typeface="Aptos" panose="020B0004020202020204" pitchFamily="34" charset="0"/>
                <a:cs typeface="Arial" panose="020B0604020202020204" pitchFamily="34" charset="0"/>
              </a:rPr>
              <a:t>Ltd (GEL)</a:t>
            </a:r>
          </a:p>
        </p:txBody>
      </p:sp>
      <p:cxnSp>
        <p:nvCxnSpPr>
          <p:cNvPr id="37" name="Straight Connector 36">
            <a:extLst>
              <a:ext uri="{FF2B5EF4-FFF2-40B4-BE49-F238E27FC236}">
                <a16:creationId xmlns:a16="http://schemas.microsoft.com/office/drawing/2014/main" id="{CDC72971-7285-1B87-FEC3-AA76BF31D821}"/>
              </a:ext>
            </a:extLst>
          </p:cNvPr>
          <p:cNvCxnSpPr>
            <a:cxnSpLocks/>
          </p:cNvCxnSpPr>
          <p:nvPr/>
        </p:nvCxnSpPr>
        <p:spPr>
          <a:xfrm>
            <a:off x="7742238" y="1999252"/>
            <a:ext cx="2970986"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B9B88C7-EB7F-1FDD-CBC8-21952F317D9C}"/>
              </a:ext>
            </a:extLst>
          </p:cNvPr>
          <p:cNvCxnSpPr/>
          <p:nvPr/>
        </p:nvCxnSpPr>
        <p:spPr>
          <a:xfrm>
            <a:off x="8372226" y="1999252"/>
            <a:ext cx="0" cy="18000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821B682B-E8F7-202F-CC13-932AE0879E42}"/>
              </a:ext>
            </a:extLst>
          </p:cNvPr>
          <p:cNvSpPr/>
          <p:nvPr/>
        </p:nvSpPr>
        <p:spPr>
          <a:xfrm>
            <a:off x="1185810" y="2919435"/>
            <a:ext cx="835830"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i="0" u="none" strike="noStrike" kern="1200" cap="none" spc="0" normalizeH="0" baseline="0" noProof="0" dirty="0">
                <a:ln>
                  <a:noFill/>
                </a:ln>
                <a:solidFill>
                  <a:prstClr val="black"/>
                </a:solidFill>
                <a:effectLst/>
                <a:uLnTx/>
                <a:uFillTx/>
                <a:latin typeface="Aptos" panose="020B0004020202020204" pitchFamily="34" charset="0"/>
              </a:rPr>
              <a:t>(100%)</a:t>
            </a:r>
          </a:p>
        </p:txBody>
      </p:sp>
      <p:sp>
        <p:nvSpPr>
          <p:cNvPr id="9" name="Rectangle 8">
            <a:extLst>
              <a:ext uri="{FF2B5EF4-FFF2-40B4-BE49-F238E27FC236}">
                <a16:creationId xmlns:a16="http://schemas.microsoft.com/office/drawing/2014/main" id="{565F7AC6-E3B0-29E4-5372-8E4D870435FE}"/>
              </a:ext>
            </a:extLst>
          </p:cNvPr>
          <p:cNvSpPr/>
          <p:nvPr/>
        </p:nvSpPr>
        <p:spPr>
          <a:xfrm>
            <a:off x="9837027" y="2190125"/>
            <a:ext cx="1970843" cy="7776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ysClr val="windowText" lastClr="000000"/>
                </a:solidFill>
                <a:effectLst/>
                <a:uLnTx/>
                <a:uFillTx/>
                <a:latin typeface="Aptos" panose="020B0004020202020204" pitchFamily="34" charset="0"/>
                <a:cs typeface="Arial" panose="020B0604020202020204" pitchFamily="34" charset="0"/>
              </a:rPr>
              <a:t> </a:t>
            </a:r>
            <a:r>
              <a:rPr kumimoji="0" lang="en-IN" sz="1600" b="1" i="0" u="none" strike="noStrike" kern="1200" cap="none" spc="0" normalizeH="0" baseline="0" noProof="0" dirty="0">
                <a:ln>
                  <a:noFill/>
                </a:ln>
                <a:solidFill>
                  <a:sysClr val="windowText" lastClr="000000"/>
                </a:solidFill>
                <a:effectLst/>
                <a:uLnTx/>
                <a:uFillTx/>
                <a:latin typeface="Aptos" panose="020B0004020202020204" pitchFamily="34" charset="0"/>
                <a:cs typeface="Arial" panose="020B0604020202020204" pitchFamily="34" charset="0"/>
              </a:rPr>
              <a:t>Granules CZRO</a:t>
            </a:r>
            <a:endParaRPr kumimoji="0" lang="en-IN" sz="1600" b="0" i="0" u="none" strike="noStrike" kern="1200" cap="none" spc="0" normalizeH="0" baseline="0" noProof="0" dirty="0">
              <a:ln>
                <a:noFill/>
              </a:ln>
              <a:solidFill>
                <a:sysClr val="windowText" lastClr="000000"/>
              </a:solidFill>
              <a:effectLst/>
              <a:uLnTx/>
              <a:uFillTx/>
              <a:latin typeface="Aptos" panose="020B0004020202020204" pitchFamily="34" charset="0"/>
              <a:cs typeface="Arial" panose="020B0604020202020204" pitchFamily="34" charset="0"/>
            </a:endParaRPr>
          </a:p>
        </p:txBody>
      </p:sp>
      <p:cxnSp>
        <p:nvCxnSpPr>
          <p:cNvPr id="10" name="Straight Connector 9">
            <a:extLst>
              <a:ext uri="{FF2B5EF4-FFF2-40B4-BE49-F238E27FC236}">
                <a16:creationId xmlns:a16="http://schemas.microsoft.com/office/drawing/2014/main" id="{6F1507F0-EA0C-AD14-94C5-27FD4048A7F5}"/>
              </a:ext>
            </a:extLst>
          </p:cNvPr>
          <p:cNvCxnSpPr/>
          <p:nvPr/>
        </p:nvCxnSpPr>
        <p:spPr>
          <a:xfrm>
            <a:off x="10713224" y="1999252"/>
            <a:ext cx="0" cy="18000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3E4A972-9E54-ED3C-65A9-9456AC26D16A}"/>
              </a:ext>
            </a:extLst>
          </p:cNvPr>
          <p:cNvSpPr txBox="1"/>
          <p:nvPr/>
        </p:nvSpPr>
        <p:spPr>
          <a:xfrm>
            <a:off x="117248" y="197891"/>
            <a:ext cx="11129499" cy="646331"/>
          </a:xfrm>
          <a:prstGeom prst="rect">
            <a:avLst/>
          </a:prstGeom>
          <a:noFill/>
        </p:spPr>
        <p:txBody>
          <a:bodyPr wrap="square" rtlCol="0">
            <a:spAutoFit/>
          </a:bodyPr>
          <a:lstStyle/>
          <a:p>
            <a:r>
              <a:rPr lang="en-US" sz="3600" b="1" dirty="0">
                <a:solidFill>
                  <a:srgbClr val="00B0F0"/>
                </a:solidFill>
                <a:latin typeface="Aptos" panose="020B0004020202020204" pitchFamily="34" charset="0"/>
                <a:cs typeface="Arial" panose="020B0604020202020204" pitchFamily="34" charset="0"/>
              </a:rPr>
              <a:t>Our Business structure</a:t>
            </a:r>
          </a:p>
        </p:txBody>
      </p:sp>
    </p:spTree>
    <p:extLst>
      <p:ext uri="{BB962C8B-B14F-4D97-AF65-F5344CB8AC3E}">
        <p14:creationId xmlns:p14="http://schemas.microsoft.com/office/powerpoint/2010/main" val="2706038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7E8757-ACDD-1D97-BD29-A5AB98A6823C}"/>
              </a:ext>
            </a:extLst>
          </p:cNvPr>
          <p:cNvSpPr txBox="1"/>
          <p:nvPr/>
        </p:nvSpPr>
        <p:spPr>
          <a:xfrm>
            <a:off x="1034040" y="2372872"/>
            <a:ext cx="6549015" cy="1200329"/>
          </a:xfrm>
          <a:prstGeom prst="rect">
            <a:avLst/>
          </a:prstGeom>
          <a:solidFill>
            <a:srgbClr val="00B0F0"/>
          </a:solidFill>
        </p:spPr>
        <p:txBody>
          <a:bodyPr wrap="square" rtlCol="0">
            <a:spAutoFit/>
          </a:bodyPr>
          <a:lstStyle/>
          <a:p>
            <a:r>
              <a:rPr lang="en-US" sz="3600" b="1" dirty="0">
                <a:solidFill>
                  <a:schemeClr val="bg1"/>
                </a:solidFill>
                <a:latin typeface="Aptos" panose="020B0004020202020204" pitchFamily="34" charset="0"/>
                <a:cs typeface="Arial" panose="020B0604020202020204" pitchFamily="34" charset="0"/>
              </a:rPr>
              <a:t>Strategic Priorities and Organizational Transformation</a:t>
            </a:r>
          </a:p>
        </p:txBody>
      </p:sp>
    </p:spTree>
    <p:extLst>
      <p:ext uri="{BB962C8B-B14F-4D97-AF65-F5344CB8AC3E}">
        <p14:creationId xmlns:p14="http://schemas.microsoft.com/office/powerpoint/2010/main" val="3324433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20A61BB-40E9-9FCB-9C10-C85D7B86F83B}"/>
              </a:ext>
            </a:extLst>
          </p:cNvPr>
          <p:cNvPicPr>
            <a:picLocks noChangeAspect="1"/>
          </p:cNvPicPr>
          <p:nvPr/>
        </p:nvPicPr>
        <p:blipFill>
          <a:blip r:embed="rId2"/>
          <a:stretch>
            <a:fillRect/>
          </a:stretch>
        </p:blipFill>
        <p:spPr>
          <a:xfrm>
            <a:off x="0" y="15240"/>
            <a:ext cx="12192000" cy="6827520"/>
          </a:xfrm>
          <a:prstGeom prst="rect">
            <a:avLst/>
          </a:prstGeom>
        </p:spPr>
      </p:pic>
    </p:spTree>
    <p:extLst>
      <p:ext uri="{BB962C8B-B14F-4D97-AF65-F5344CB8AC3E}">
        <p14:creationId xmlns:p14="http://schemas.microsoft.com/office/powerpoint/2010/main" val="3469303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F479E80-09C7-7760-50D8-46D15110A1AB}"/>
              </a:ext>
            </a:extLst>
          </p:cNvPr>
          <p:cNvPicPr>
            <a:picLocks noChangeAspect="1"/>
          </p:cNvPicPr>
          <p:nvPr/>
        </p:nvPicPr>
        <p:blipFill>
          <a:blip r:embed="rId2"/>
          <a:stretch>
            <a:fillRect/>
          </a:stretch>
        </p:blipFill>
        <p:spPr>
          <a:xfrm>
            <a:off x="660945" y="94199"/>
            <a:ext cx="10870110" cy="6669602"/>
          </a:xfrm>
          <a:prstGeom prst="rect">
            <a:avLst/>
          </a:prstGeom>
        </p:spPr>
      </p:pic>
    </p:spTree>
    <p:extLst>
      <p:ext uri="{BB962C8B-B14F-4D97-AF65-F5344CB8AC3E}">
        <p14:creationId xmlns:p14="http://schemas.microsoft.com/office/powerpoint/2010/main" val="948667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E8A329-2C7F-BC90-B302-6DD8CC824A71}"/>
              </a:ext>
            </a:extLst>
          </p:cNvPr>
          <p:cNvPicPr>
            <a:picLocks noChangeAspect="1"/>
          </p:cNvPicPr>
          <p:nvPr/>
        </p:nvPicPr>
        <p:blipFill>
          <a:blip r:embed="rId2"/>
          <a:stretch>
            <a:fillRect/>
          </a:stretch>
        </p:blipFill>
        <p:spPr>
          <a:xfrm>
            <a:off x="767634" y="1209863"/>
            <a:ext cx="10656732" cy="4438273"/>
          </a:xfrm>
          <a:prstGeom prst="rect">
            <a:avLst/>
          </a:prstGeom>
        </p:spPr>
      </p:pic>
    </p:spTree>
    <p:extLst>
      <p:ext uri="{BB962C8B-B14F-4D97-AF65-F5344CB8AC3E}">
        <p14:creationId xmlns:p14="http://schemas.microsoft.com/office/powerpoint/2010/main" val="593038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D238118-6C5E-7913-9B52-F0B9D01EFAFC}"/>
              </a:ext>
            </a:extLst>
          </p:cNvPr>
          <p:cNvPicPr>
            <a:picLocks noChangeAspect="1"/>
          </p:cNvPicPr>
          <p:nvPr/>
        </p:nvPicPr>
        <p:blipFill>
          <a:blip r:embed="rId2"/>
          <a:stretch>
            <a:fillRect/>
          </a:stretch>
        </p:blipFill>
        <p:spPr>
          <a:xfrm>
            <a:off x="639777" y="1299841"/>
            <a:ext cx="10674405" cy="5270812"/>
          </a:xfrm>
          <a:prstGeom prst="rect">
            <a:avLst/>
          </a:prstGeom>
        </p:spPr>
      </p:pic>
      <p:sp>
        <p:nvSpPr>
          <p:cNvPr id="3" name="TextBox 2">
            <a:extLst>
              <a:ext uri="{FF2B5EF4-FFF2-40B4-BE49-F238E27FC236}">
                <a16:creationId xmlns:a16="http://schemas.microsoft.com/office/drawing/2014/main" id="{89DC49BF-0285-A7B6-69A0-A0DC17B35CA9}"/>
              </a:ext>
            </a:extLst>
          </p:cNvPr>
          <p:cNvSpPr txBox="1"/>
          <p:nvPr/>
        </p:nvSpPr>
        <p:spPr>
          <a:xfrm>
            <a:off x="522512" y="158480"/>
            <a:ext cx="10791670" cy="995785"/>
          </a:xfrm>
          <a:prstGeom prst="rect">
            <a:avLst/>
          </a:prstGeom>
          <a:noFill/>
        </p:spPr>
        <p:txBody>
          <a:bodyPr wrap="square" rtlCol="0">
            <a:sp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lang="en-US" sz="3600" b="1" dirty="0">
                <a:solidFill>
                  <a:srgbClr val="00B0F0"/>
                </a:solidFill>
                <a:latin typeface="Aptos" panose="020B0004020202020204" pitchFamily="34" charset="0"/>
                <a:cs typeface="Arial" panose="020B0604020202020204" pitchFamily="34" charset="0"/>
              </a:rPr>
              <a:t>Strengthening the core: </a:t>
            </a:r>
            <a:r>
              <a:rPr lang="en-US" sz="3600" b="1" dirty="0">
                <a:solidFill>
                  <a:srgbClr val="002060"/>
                </a:solidFill>
                <a:latin typeface="Aptos" panose="020B0004020202020204" pitchFamily="34" charset="0"/>
                <a:cs typeface="Arial" panose="020B0604020202020204" pitchFamily="34" charset="0"/>
              </a:rPr>
              <a:t>Building &amp; sustaining our competitive advantage</a:t>
            </a:r>
            <a:endParaRPr kumimoji="0" lang="en-US" sz="3600" b="1" i="0" u="none" strike="noStrike" kern="1200" cap="none" spc="0" normalizeH="0" baseline="0" noProof="0" dirty="0">
              <a:ln>
                <a:noFill/>
              </a:ln>
              <a:solidFill>
                <a:srgbClr val="002060"/>
              </a:solidFill>
              <a:effectLst/>
              <a:uLnTx/>
              <a:uFillTx/>
              <a:latin typeface="Aptos" panose="020B00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6822550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424BFF-2EF2-CBFF-A338-1B47518DC833}"/>
              </a:ext>
            </a:extLst>
          </p:cNvPr>
          <p:cNvSpPr txBox="1"/>
          <p:nvPr/>
        </p:nvSpPr>
        <p:spPr>
          <a:xfrm>
            <a:off x="585476" y="1666995"/>
            <a:ext cx="3311943" cy="652932"/>
          </a:xfrm>
          <a:prstGeom prst="roundRect">
            <a:avLst>
              <a:gd name="adj" fmla="val 0"/>
            </a:avLst>
          </a:prstGeom>
          <a:solidFill>
            <a:schemeClr val="accent6">
              <a:lumMod val="75000"/>
            </a:schemeClr>
          </a:solidFill>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ptos" panose="020B0004020202020204" pitchFamily="34" charset="0"/>
              </a:rPr>
              <a:t>Enzyme &amp; </a:t>
            </a:r>
            <a:r>
              <a:rPr kumimoji="0" lang="en-US" altLang="ko-KR" sz="1800" b="1" i="0" u="none" strike="noStrike" kern="0" cap="none" spc="0" normalizeH="0" baseline="0" noProof="0" dirty="0">
                <a:ln>
                  <a:noFill/>
                </a:ln>
                <a:solidFill>
                  <a:srgbClr val="FFFFFF"/>
                </a:solidFill>
                <a:effectLst/>
                <a:uLnTx/>
                <a:uFillTx/>
                <a:latin typeface="Aptos" panose="020B0004020202020204" pitchFamily="34" charset="0"/>
                <a:cs typeface="Arial" pitchFamily="34" charset="0"/>
              </a:rPr>
              <a:t>Bio Transformation</a:t>
            </a:r>
            <a:endParaRPr kumimoji="0" lang="ko-KR" altLang="en-US" sz="1800" b="1" i="0" u="none" strike="noStrike" kern="0" cap="none" spc="0" normalizeH="0" baseline="0" noProof="0" dirty="0">
              <a:ln>
                <a:noFill/>
              </a:ln>
              <a:solidFill>
                <a:srgbClr val="FFFFFF"/>
              </a:solidFill>
              <a:effectLst/>
              <a:uLnTx/>
              <a:uFillTx/>
              <a:latin typeface="Aptos" panose="020B0004020202020204" pitchFamily="34" charset="0"/>
              <a:cs typeface="Arial" pitchFamily="34" charset="0"/>
            </a:endParaRPr>
          </a:p>
        </p:txBody>
      </p:sp>
      <p:sp>
        <p:nvSpPr>
          <p:cNvPr id="3" name="TextBox 2">
            <a:extLst>
              <a:ext uri="{FF2B5EF4-FFF2-40B4-BE49-F238E27FC236}">
                <a16:creationId xmlns:a16="http://schemas.microsoft.com/office/drawing/2014/main" id="{C753E411-23BE-BAC4-14B6-44903D8E6DEB}"/>
              </a:ext>
            </a:extLst>
          </p:cNvPr>
          <p:cNvSpPr txBox="1"/>
          <p:nvPr/>
        </p:nvSpPr>
        <p:spPr>
          <a:xfrm>
            <a:off x="4382554" y="1666995"/>
            <a:ext cx="3311943" cy="674292"/>
          </a:xfrm>
          <a:prstGeom prst="roundRect">
            <a:avLst>
              <a:gd name="adj" fmla="val 0"/>
            </a:avLst>
          </a:prstGeom>
          <a:solidFill>
            <a:schemeClr val="accent6">
              <a:lumMod val="75000"/>
            </a:schemeClr>
          </a:solidFill>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800" b="1" i="0" u="none" strike="noStrike" kern="0" cap="none" spc="0" normalizeH="0" baseline="0" noProof="0" dirty="0">
                <a:ln>
                  <a:noFill/>
                </a:ln>
                <a:solidFill>
                  <a:schemeClr val="bg1"/>
                </a:solidFill>
                <a:effectLst/>
                <a:uLnTx/>
                <a:uFillTx/>
                <a:latin typeface="Aptos" panose="020B0004020202020204" pitchFamily="34" charset="0"/>
                <a:cs typeface="Arial" pitchFamily="34" charset="0"/>
              </a:rPr>
              <a:t>Flow Technology Platform</a:t>
            </a:r>
            <a:endParaRPr kumimoji="0" lang="ko-KR" altLang="en-US" sz="1800" b="1" i="0" u="none" strike="noStrike" kern="0" cap="none" spc="0" normalizeH="0" baseline="0" noProof="0" dirty="0">
              <a:ln>
                <a:noFill/>
              </a:ln>
              <a:solidFill>
                <a:schemeClr val="bg1"/>
              </a:solidFill>
              <a:effectLst/>
              <a:uLnTx/>
              <a:uFillTx/>
              <a:latin typeface="Aptos" panose="020B0004020202020204" pitchFamily="34" charset="0"/>
              <a:cs typeface="Arial" pitchFamily="34" charset="0"/>
            </a:endParaRPr>
          </a:p>
        </p:txBody>
      </p:sp>
      <p:grpSp>
        <p:nvGrpSpPr>
          <p:cNvPr id="4" name="Group 3">
            <a:extLst>
              <a:ext uri="{FF2B5EF4-FFF2-40B4-BE49-F238E27FC236}">
                <a16:creationId xmlns:a16="http://schemas.microsoft.com/office/drawing/2014/main" id="{A273C246-9708-1781-A2E5-A22EFDDB24CD}"/>
              </a:ext>
            </a:extLst>
          </p:cNvPr>
          <p:cNvGrpSpPr/>
          <p:nvPr/>
        </p:nvGrpSpPr>
        <p:grpSpPr>
          <a:xfrm>
            <a:off x="585476" y="3186132"/>
            <a:ext cx="3311944" cy="1964507"/>
            <a:chOff x="8005104" y="3443670"/>
            <a:chExt cx="4121017" cy="2302825"/>
          </a:xfrm>
        </p:grpSpPr>
        <p:sp>
          <p:nvSpPr>
            <p:cNvPr id="5" name="Rectangle 4">
              <a:extLst>
                <a:ext uri="{FF2B5EF4-FFF2-40B4-BE49-F238E27FC236}">
                  <a16:creationId xmlns:a16="http://schemas.microsoft.com/office/drawing/2014/main" id="{0AD9F636-4A33-31CC-06DE-7ABBF56B401F}"/>
                </a:ext>
              </a:extLst>
            </p:cNvPr>
            <p:cNvSpPr/>
            <p:nvPr/>
          </p:nvSpPr>
          <p:spPr>
            <a:xfrm>
              <a:off x="8005104" y="3443670"/>
              <a:ext cx="4121017" cy="295291"/>
            </a:xfrm>
            <a:prstGeom prst="rect">
              <a:avLst/>
            </a:prstGeom>
            <a:solidFill>
              <a:srgbClr val="002060"/>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defRPr/>
              </a:pPr>
              <a:r>
                <a:rPr lang="en-US" sz="1200" kern="0" dirty="0">
                  <a:solidFill>
                    <a:srgbClr val="FFFFFF"/>
                  </a:solidFill>
                  <a:latin typeface="Aptos" panose="020B0004020202020204" pitchFamily="34" charset="0"/>
                </a:rPr>
                <a:t>Mild Reaction Conditions</a:t>
              </a:r>
            </a:p>
          </p:txBody>
        </p:sp>
        <p:sp>
          <p:nvSpPr>
            <p:cNvPr id="6" name="Rectangle 5">
              <a:extLst>
                <a:ext uri="{FF2B5EF4-FFF2-40B4-BE49-F238E27FC236}">
                  <a16:creationId xmlns:a16="http://schemas.microsoft.com/office/drawing/2014/main" id="{057D9EE0-7DB5-D678-1B9B-17FD47EFB4E1}"/>
                </a:ext>
              </a:extLst>
            </p:cNvPr>
            <p:cNvSpPr/>
            <p:nvPr/>
          </p:nvSpPr>
          <p:spPr>
            <a:xfrm>
              <a:off x="8005104" y="3845177"/>
              <a:ext cx="4121017" cy="295291"/>
            </a:xfrm>
            <a:prstGeom prst="rect">
              <a:avLst/>
            </a:prstGeom>
            <a:solidFill>
              <a:srgbClr val="0070C0"/>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defRPr/>
              </a:pPr>
              <a:r>
                <a:rPr lang="en-US" sz="1200" kern="0" dirty="0">
                  <a:solidFill>
                    <a:srgbClr val="FFFFFF"/>
                  </a:solidFill>
                  <a:latin typeface="Aptos" panose="020B0004020202020204" pitchFamily="34" charset="0"/>
                </a:rPr>
                <a:t>Greater Selectivity</a:t>
              </a:r>
            </a:p>
          </p:txBody>
        </p:sp>
        <p:sp>
          <p:nvSpPr>
            <p:cNvPr id="7" name="Rectangle 6">
              <a:extLst>
                <a:ext uri="{FF2B5EF4-FFF2-40B4-BE49-F238E27FC236}">
                  <a16:creationId xmlns:a16="http://schemas.microsoft.com/office/drawing/2014/main" id="{27AC5206-05F1-7934-0753-6BE5400B6BF5}"/>
                </a:ext>
              </a:extLst>
            </p:cNvPr>
            <p:cNvSpPr/>
            <p:nvPr/>
          </p:nvSpPr>
          <p:spPr>
            <a:xfrm>
              <a:off x="8005104" y="5451204"/>
              <a:ext cx="4121017" cy="295291"/>
            </a:xfrm>
            <a:prstGeom prst="rect">
              <a:avLst/>
            </a:prstGeom>
            <a:solidFill>
              <a:srgbClr val="002060"/>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defRPr/>
              </a:pPr>
              <a:r>
                <a:rPr lang="en-US" sz="1200" kern="0" dirty="0">
                  <a:solidFill>
                    <a:srgbClr val="FFFFFF"/>
                  </a:solidFill>
                  <a:latin typeface="Aptos" panose="020B0004020202020204" pitchFamily="34" charset="0"/>
                </a:rPr>
                <a:t>Improved Productivity</a:t>
              </a:r>
            </a:p>
          </p:txBody>
        </p:sp>
        <p:sp>
          <p:nvSpPr>
            <p:cNvPr id="8" name="Rectangle 7">
              <a:extLst>
                <a:ext uri="{FF2B5EF4-FFF2-40B4-BE49-F238E27FC236}">
                  <a16:creationId xmlns:a16="http://schemas.microsoft.com/office/drawing/2014/main" id="{CCB0FF07-6A20-7455-87C1-874C10EEF6D7}"/>
                </a:ext>
              </a:extLst>
            </p:cNvPr>
            <p:cNvSpPr/>
            <p:nvPr/>
          </p:nvSpPr>
          <p:spPr>
            <a:xfrm>
              <a:off x="8005104" y="5049698"/>
              <a:ext cx="4121017" cy="295291"/>
            </a:xfrm>
            <a:prstGeom prst="rect">
              <a:avLst/>
            </a:prstGeom>
            <a:solidFill>
              <a:srgbClr val="0070C0"/>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defRPr/>
              </a:pPr>
              <a:r>
                <a:rPr lang="en-US" sz="1200" kern="0" dirty="0">
                  <a:solidFill>
                    <a:srgbClr val="FFFFFF"/>
                  </a:solidFill>
                  <a:latin typeface="Aptos" panose="020B0004020202020204" pitchFamily="34" charset="0"/>
                </a:rPr>
                <a:t>Fewer byproducts</a:t>
              </a:r>
            </a:p>
          </p:txBody>
        </p:sp>
        <p:sp>
          <p:nvSpPr>
            <p:cNvPr id="9" name="Rectangle 8">
              <a:extLst>
                <a:ext uri="{FF2B5EF4-FFF2-40B4-BE49-F238E27FC236}">
                  <a16:creationId xmlns:a16="http://schemas.microsoft.com/office/drawing/2014/main" id="{D43EEA2C-88AA-D696-C068-C48AABF7F8E8}"/>
                </a:ext>
              </a:extLst>
            </p:cNvPr>
            <p:cNvSpPr/>
            <p:nvPr/>
          </p:nvSpPr>
          <p:spPr>
            <a:xfrm>
              <a:off x="8005104" y="4246684"/>
              <a:ext cx="4121017" cy="295291"/>
            </a:xfrm>
            <a:prstGeom prst="rect">
              <a:avLst/>
            </a:prstGeom>
            <a:solidFill>
              <a:srgbClr val="00B0F0"/>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defRPr/>
              </a:pPr>
              <a:r>
                <a:rPr lang="en-US" sz="1200" kern="0" dirty="0">
                  <a:solidFill>
                    <a:srgbClr val="FFFFFF"/>
                  </a:solidFill>
                  <a:latin typeface="Aptos" panose="020B0004020202020204" pitchFamily="34" charset="0"/>
                </a:rPr>
                <a:t>Simplified Work Streams</a:t>
              </a:r>
            </a:p>
          </p:txBody>
        </p:sp>
        <p:sp>
          <p:nvSpPr>
            <p:cNvPr id="10" name="Rectangle 9">
              <a:extLst>
                <a:ext uri="{FF2B5EF4-FFF2-40B4-BE49-F238E27FC236}">
                  <a16:creationId xmlns:a16="http://schemas.microsoft.com/office/drawing/2014/main" id="{FAE85542-CDA4-7F80-0D5D-CF6A519CCD00}"/>
                </a:ext>
              </a:extLst>
            </p:cNvPr>
            <p:cNvSpPr/>
            <p:nvPr/>
          </p:nvSpPr>
          <p:spPr>
            <a:xfrm>
              <a:off x="8005104" y="4648191"/>
              <a:ext cx="4121017" cy="295291"/>
            </a:xfrm>
            <a:prstGeom prst="rect">
              <a:avLst/>
            </a:prstGeom>
            <a:solidFill>
              <a:srgbClr val="00B0F0"/>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defRPr/>
              </a:pPr>
              <a:r>
                <a:rPr lang="en-US" sz="1200" kern="0" dirty="0">
                  <a:solidFill>
                    <a:srgbClr val="FFFFFF"/>
                  </a:solidFill>
                  <a:latin typeface="Aptos" panose="020B0004020202020204" pitchFamily="34" charset="0"/>
                </a:rPr>
                <a:t>Simplified Processing &amp; Purification</a:t>
              </a:r>
            </a:p>
          </p:txBody>
        </p:sp>
      </p:grpSp>
      <p:sp>
        <p:nvSpPr>
          <p:cNvPr id="11" name="Rectangle 10">
            <a:extLst>
              <a:ext uri="{FF2B5EF4-FFF2-40B4-BE49-F238E27FC236}">
                <a16:creationId xmlns:a16="http://schemas.microsoft.com/office/drawing/2014/main" id="{13DF1F30-9563-FA00-F0A4-AF9BA0FF553D}"/>
              </a:ext>
            </a:extLst>
          </p:cNvPr>
          <p:cNvSpPr/>
          <p:nvPr/>
        </p:nvSpPr>
        <p:spPr>
          <a:xfrm>
            <a:off x="572301" y="2341287"/>
            <a:ext cx="3311943" cy="584775"/>
          </a:xfrm>
          <a:prstGeom prst="rect">
            <a:avLst/>
          </a:prstGeom>
        </p:spPr>
        <p:txBody>
          <a:bodyPr wrap="square">
            <a:spAutoFit/>
          </a:bodyPr>
          <a:lstStyle/>
          <a:p>
            <a:r>
              <a:rPr lang="en-US" sz="1600" dirty="0">
                <a:solidFill>
                  <a:srgbClr val="000000"/>
                </a:solidFill>
                <a:latin typeface="Aptos" panose="020B0004020202020204" pitchFamily="34" charset="0"/>
              </a:rPr>
              <a:t>Eco friendly substitute to </a:t>
            </a:r>
            <a:r>
              <a:rPr lang="en-US" sz="1600" dirty="0" err="1">
                <a:solidFill>
                  <a:srgbClr val="000000"/>
                </a:solidFill>
                <a:latin typeface="Aptos" panose="020B0004020202020204" pitchFamily="34" charset="0"/>
              </a:rPr>
              <a:t>metallo</a:t>
            </a:r>
            <a:r>
              <a:rPr lang="en-US" sz="1600" dirty="0">
                <a:solidFill>
                  <a:srgbClr val="000000"/>
                </a:solidFill>
                <a:latin typeface="Aptos" panose="020B0004020202020204" pitchFamily="34" charset="0"/>
              </a:rPr>
              <a:t>-catalysis</a:t>
            </a:r>
            <a:endParaRPr lang="en-IN" sz="1600" dirty="0">
              <a:solidFill>
                <a:srgbClr val="000000"/>
              </a:solidFill>
              <a:latin typeface="Aptos" panose="020B0004020202020204" pitchFamily="34" charset="0"/>
            </a:endParaRPr>
          </a:p>
        </p:txBody>
      </p:sp>
      <p:sp>
        <p:nvSpPr>
          <p:cNvPr id="12" name="Rectangle 11">
            <a:extLst>
              <a:ext uri="{FF2B5EF4-FFF2-40B4-BE49-F238E27FC236}">
                <a16:creationId xmlns:a16="http://schemas.microsoft.com/office/drawing/2014/main" id="{31C32A1A-B0FE-08E9-FB73-BB1BBC1BDD7C}"/>
              </a:ext>
            </a:extLst>
          </p:cNvPr>
          <p:cNvSpPr/>
          <p:nvPr/>
        </p:nvSpPr>
        <p:spPr>
          <a:xfrm>
            <a:off x="4334636" y="2370107"/>
            <a:ext cx="3407777" cy="338554"/>
          </a:xfrm>
          <a:prstGeom prst="rect">
            <a:avLst/>
          </a:prstGeom>
        </p:spPr>
        <p:txBody>
          <a:bodyPr wrap="square">
            <a:spAutoFit/>
          </a:bodyPr>
          <a:lstStyle/>
          <a:p>
            <a:r>
              <a:rPr lang="en-IN" sz="1600" dirty="0">
                <a:solidFill>
                  <a:srgbClr val="000000"/>
                </a:solidFill>
                <a:latin typeface="Aptos" panose="020B0004020202020204" pitchFamily="34" charset="0"/>
              </a:rPr>
              <a:t>Excellence in identified chemistries </a:t>
            </a:r>
          </a:p>
        </p:txBody>
      </p:sp>
      <p:sp>
        <p:nvSpPr>
          <p:cNvPr id="13" name="TextBox 12">
            <a:extLst>
              <a:ext uri="{FF2B5EF4-FFF2-40B4-BE49-F238E27FC236}">
                <a16:creationId xmlns:a16="http://schemas.microsoft.com/office/drawing/2014/main" id="{E061FB70-DC30-B4A1-0280-0DFE54B490CA}"/>
              </a:ext>
            </a:extLst>
          </p:cNvPr>
          <p:cNvSpPr txBox="1"/>
          <p:nvPr/>
        </p:nvSpPr>
        <p:spPr>
          <a:xfrm>
            <a:off x="8179632" y="1666995"/>
            <a:ext cx="3311943" cy="674292"/>
          </a:xfrm>
          <a:prstGeom prst="roundRect">
            <a:avLst>
              <a:gd name="adj" fmla="val 0"/>
            </a:avLst>
          </a:prstGeom>
          <a:solidFill>
            <a:schemeClr val="accent6">
              <a:lumMod val="75000"/>
            </a:schemeClr>
          </a:solidFill>
        </p:spPr>
        <p:txBody>
          <a:bodyPr wrap="square" rtlCol="0" anchor="ctr">
            <a:noAutofit/>
          </a:bodyPr>
          <a:lstStyle>
            <a:defPPr>
              <a:defRPr lang="en-US"/>
            </a:defPPr>
            <a:lvl1pPr marR="0" lvl="0" indent="0" algn="ctr" fontAlgn="auto">
              <a:lnSpc>
                <a:spcPct val="100000"/>
              </a:lnSpc>
              <a:spcBef>
                <a:spcPts val="0"/>
              </a:spcBef>
              <a:spcAft>
                <a:spcPts val="0"/>
              </a:spcAft>
              <a:buClrTx/>
              <a:buSzTx/>
              <a:buFontTx/>
              <a:buNone/>
              <a:tabLst/>
              <a:defRPr kumimoji="0" b="1" i="0" u="none" strike="noStrike" kern="0" cap="none" spc="0" normalizeH="0" baseline="0">
                <a:ln>
                  <a:noFill/>
                </a:ln>
                <a:solidFill>
                  <a:srgbClr val="FFFFFF"/>
                </a:solidFill>
                <a:effectLst/>
                <a:uLnTx/>
                <a:uFillTx/>
                <a:latin typeface="Aptos" panose="020B0004020202020204" pitchFamily="34" charset="0"/>
              </a:defRPr>
            </a:lvl1pPr>
          </a:lstStyle>
          <a:p>
            <a:r>
              <a:rPr lang="en-US" altLang="ko-KR" dirty="0"/>
              <a:t>Green Score in R&amp;</a:t>
            </a:r>
            <a:r>
              <a:rPr lang="en-US" altLang="ko-KR"/>
              <a:t>D Development</a:t>
            </a:r>
            <a:endParaRPr lang="ko-KR" altLang="en-US" dirty="0"/>
          </a:p>
        </p:txBody>
      </p:sp>
      <p:sp>
        <p:nvSpPr>
          <p:cNvPr id="14" name="Rectangle 13">
            <a:extLst>
              <a:ext uri="{FF2B5EF4-FFF2-40B4-BE49-F238E27FC236}">
                <a16:creationId xmlns:a16="http://schemas.microsoft.com/office/drawing/2014/main" id="{50068EEF-1BE9-9001-8ED4-6ED38F25C3A4}"/>
              </a:ext>
            </a:extLst>
          </p:cNvPr>
          <p:cNvSpPr/>
          <p:nvPr/>
        </p:nvSpPr>
        <p:spPr>
          <a:xfrm>
            <a:off x="8179632" y="2314086"/>
            <a:ext cx="3323232" cy="738664"/>
          </a:xfrm>
          <a:prstGeom prst="rect">
            <a:avLst/>
          </a:prstGeom>
        </p:spPr>
        <p:txBody>
          <a:bodyPr wrap="square">
            <a:spAutoFit/>
          </a:bodyPr>
          <a:lstStyle/>
          <a:p>
            <a:r>
              <a:rPr lang="en-US" sz="1400" dirty="0">
                <a:solidFill>
                  <a:srgbClr val="000000"/>
                </a:solidFill>
                <a:latin typeface="Aptos" panose="020B0004020202020204" pitchFamily="34" charset="0"/>
              </a:rPr>
              <a:t>Implementation of Green card and Eco scale initiatives. From the early stages of development</a:t>
            </a:r>
          </a:p>
        </p:txBody>
      </p:sp>
      <p:grpSp>
        <p:nvGrpSpPr>
          <p:cNvPr id="15" name="Group 14">
            <a:extLst>
              <a:ext uri="{FF2B5EF4-FFF2-40B4-BE49-F238E27FC236}">
                <a16:creationId xmlns:a16="http://schemas.microsoft.com/office/drawing/2014/main" id="{0ECD372D-6086-C9A4-9A78-C53A6FFFB75A}"/>
              </a:ext>
            </a:extLst>
          </p:cNvPr>
          <p:cNvGrpSpPr/>
          <p:nvPr/>
        </p:nvGrpSpPr>
        <p:grpSpPr>
          <a:xfrm>
            <a:off x="4474734" y="2833404"/>
            <a:ext cx="3047268" cy="2881416"/>
            <a:chOff x="4021370" y="1982572"/>
            <a:chExt cx="4045286" cy="3834662"/>
          </a:xfrm>
        </p:grpSpPr>
        <p:sp>
          <p:nvSpPr>
            <p:cNvPr id="16" name="Graphic 4">
              <a:extLst>
                <a:ext uri="{FF2B5EF4-FFF2-40B4-BE49-F238E27FC236}">
                  <a16:creationId xmlns:a16="http://schemas.microsoft.com/office/drawing/2014/main" id="{7FC85186-B7CE-5003-A784-D1003FFF35C2}"/>
                </a:ext>
              </a:extLst>
            </p:cNvPr>
            <p:cNvSpPr/>
            <p:nvPr/>
          </p:nvSpPr>
          <p:spPr>
            <a:xfrm>
              <a:off x="5131123" y="4072205"/>
              <a:ext cx="1947414" cy="1710635"/>
            </a:xfrm>
            <a:custGeom>
              <a:avLst/>
              <a:gdLst>
                <a:gd name="connsiteX0" fmla="*/ 1556303 w 3390735"/>
                <a:gd name="connsiteY0" fmla="*/ 80010 h 2978467"/>
                <a:gd name="connsiteX1" fmla="*/ 21825 w 3390735"/>
                <a:gd name="connsiteY1" fmla="*/ 2737485 h 2978467"/>
                <a:gd name="connsiteX2" fmla="*/ 160890 w 3390735"/>
                <a:gd name="connsiteY2" fmla="*/ 2978468 h 2978467"/>
                <a:gd name="connsiteX3" fmla="*/ 3229845 w 3390735"/>
                <a:gd name="connsiteY3" fmla="*/ 2978468 h 2978467"/>
                <a:gd name="connsiteX4" fmla="*/ 3368911 w 3390735"/>
                <a:gd name="connsiteY4" fmla="*/ 2737485 h 2978467"/>
                <a:gd name="connsiteX5" fmla="*/ 1834433 w 3390735"/>
                <a:gd name="connsiteY5" fmla="*/ 80010 h 2978467"/>
                <a:gd name="connsiteX6" fmla="*/ 1556303 w 3390735"/>
                <a:gd name="connsiteY6" fmla="*/ 80010 h 297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0735" h="2978467">
                  <a:moveTo>
                    <a:pt x="1556303" y="80010"/>
                  </a:moveTo>
                  <a:lnTo>
                    <a:pt x="21825" y="2737485"/>
                  </a:lnTo>
                  <a:cubicBezTo>
                    <a:pt x="-40087" y="2845118"/>
                    <a:pt x="37065" y="2978468"/>
                    <a:pt x="160890" y="2978468"/>
                  </a:cubicBezTo>
                  <a:lnTo>
                    <a:pt x="3229845" y="2978468"/>
                  </a:lnTo>
                  <a:cubicBezTo>
                    <a:pt x="3353670" y="2978468"/>
                    <a:pt x="3430823" y="2844165"/>
                    <a:pt x="3368911" y="2737485"/>
                  </a:cubicBezTo>
                  <a:lnTo>
                    <a:pt x="1834433" y="80010"/>
                  </a:lnTo>
                  <a:cubicBezTo>
                    <a:pt x="1772520" y="-26670"/>
                    <a:pt x="1618215" y="-26670"/>
                    <a:pt x="1556303" y="80010"/>
                  </a:cubicBezTo>
                  <a:close/>
                </a:path>
              </a:pathLst>
            </a:custGeom>
            <a:solidFill>
              <a:srgbClr val="0070C0"/>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ptos" panose="020B0004020202020204" pitchFamily="34" charset="0"/>
              </a:endParaRPr>
            </a:p>
          </p:txBody>
        </p:sp>
        <p:sp>
          <p:nvSpPr>
            <p:cNvPr id="17" name="Graphic 4">
              <a:extLst>
                <a:ext uri="{FF2B5EF4-FFF2-40B4-BE49-F238E27FC236}">
                  <a16:creationId xmlns:a16="http://schemas.microsoft.com/office/drawing/2014/main" id="{BA6622BD-C49A-8D47-A9E5-0C8CB20D88D0}"/>
                </a:ext>
              </a:extLst>
            </p:cNvPr>
            <p:cNvSpPr/>
            <p:nvPr/>
          </p:nvSpPr>
          <p:spPr>
            <a:xfrm rot="10800000">
              <a:off x="5131124" y="1982572"/>
              <a:ext cx="1947414" cy="1710635"/>
            </a:xfrm>
            <a:custGeom>
              <a:avLst/>
              <a:gdLst>
                <a:gd name="connsiteX0" fmla="*/ 1556303 w 3390735"/>
                <a:gd name="connsiteY0" fmla="*/ 80010 h 2978467"/>
                <a:gd name="connsiteX1" fmla="*/ 21825 w 3390735"/>
                <a:gd name="connsiteY1" fmla="*/ 2737485 h 2978467"/>
                <a:gd name="connsiteX2" fmla="*/ 160890 w 3390735"/>
                <a:gd name="connsiteY2" fmla="*/ 2978468 h 2978467"/>
                <a:gd name="connsiteX3" fmla="*/ 3229845 w 3390735"/>
                <a:gd name="connsiteY3" fmla="*/ 2978468 h 2978467"/>
                <a:gd name="connsiteX4" fmla="*/ 3368911 w 3390735"/>
                <a:gd name="connsiteY4" fmla="*/ 2737485 h 2978467"/>
                <a:gd name="connsiteX5" fmla="*/ 1834433 w 3390735"/>
                <a:gd name="connsiteY5" fmla="*/ 80010 h 2978467"/>
                <a:gd name="connsiteX6" fmla="*/ 1556303 w 3390735"/>
                <a:gd name="connsiteY6" fmla="*/ 80010 h 297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0735" h="2978467">
                  <a:moveTo>
                    <a:pt x="1556303" y="80010"/>
                  </a:moveTo>
                  <a:lnTo>
                    <a:pt x="21825" y="2737485"/>
                  </a:lnTo>
                  <a:cubicBezTo>
                    <a:pt x="-40087" y="2845118"/>
                    <a:pt x="37065" y="2978468"/>
                    <a:pt x="160890" y="2978468"/>
                  </a:cubicBezTo>
                  <a:lnTo>
                    <a:pt x="3229845" y="2978468"/>
                  </a:lnTo>
                  <a:cubicBezTo>
                    <a:pt x="3353670" y="2978468"/>
                    <a:pt x="3430823" y="2844165"/>
                    <a:pt x="3368911" y="2737485"/>
                  </a:cubicBezTo>
                  <a:lnTo>
                    <a:pt x="1834433" y="80010"/>
                  </a:lnTo>
                  <a:cubicBezTo>
                    <a:pt x="1772520" y="-26670"/>
                    <a:pt x="1618215" y="-26670"/>
                    <a:pt x="1556303" y="80010"/>
                  </a:cubicBezTo>
                  <a:close/>
                </a:path>
              </a:pathLst>
            </a:custGeom>
            <a:solidFill>
              <a:srgbClr val="0070C0"/>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ptos" panose="020B0004020202020204" pitchFamily="34" charset="0"/>
              </a:endParaRPr>
            </a:p>
          </p:txBody>
        </p:sp>
        <p:sp>
          <p:nvSpPr>
            <p:cNvPr id="18" name="Graphic 4">
              <a:extLst>
                <a:ext uri="{FF2B5EF4-FFF2-40B4-BE49-F238E27FC236}">
                  <a16:creationId xmlns:a16="http://schemas.microsoft.com/office/drawing/2014/main" id="{C0AEB418-8FC5-C3A8-A0EF-3A305D8105BF}"/>
                </a:ext>
              </a:extLst>
            </p:cNvPr>
            <p:cNvSpPr/>
            <p:nvPr/>
          </p:nvSpPr>
          <p:spPr>
            <a:xfrm rot="3600000">
              <a:off x="4226286" y="3549796"/>
              <a:ext cx="1947414" cy="1710635"/>
            </a:xfrm>
            <a:custGeom>
              <a:avLst/>
              <a:gdLst>
                <a:gd name="connsiteX0" fmla="*/ 1556303 w 3390735"/>
                <a:gd name="connsiteY0" fmla="*/ 80010 h 2978467"/>
                <a:gd name="connsiteX1" fmla="*/ 21825 w 3390735"/>
                <a:gd name="connsiteY1" fmla="*/ 2737485 h 2978467"/>
                <a:gd name="connsiteX2" fmla="*/ 160890 w 3390735"/>
                <a:gd name="connsiteY2" fmla="*/ 2978468 h 2978467"/>
                <a:gd name="connsiteX3" fmla="*/ 3229845 w 3390735"/>
                <a:gd name="connsiteY3" fmla="*/ 2978468 h 2978467"/>
                <a:gd name="connsiteX4" fmla="*/ 3368911 w 3390735"/>
                <a:gd name="connsiteY4" fmla="*/ 2737485 h 2978467"/>
                <a:gd name="connsiteX5" fmla="*/ 1834433 w 3390735"/>
                <a:gd name="connsiteY5" fmla="*/ 80010 h 2978467"/>
                <a:gd name="connsiteX6" fmla="*/ 1556303 w 3390735"/>
                <a:gd name="connsiteY6" fmla="*/ 80010 h 297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0735" h="2978467">
                  <a:moveTo>
                    <a:pt x="1556303" y="80010"/>
                  </a:moveTo>
                  <a:lnTo>
                    <a:pt x="21825" y="2737485"/>
                  </a:lnTo>
                  <a:cubicBezTo>
                    <a:pt x="-40087" y="2845118"/>
                    <a:pt x="37065" y="2978468"/>
                    <a:pt x="160890" y="2978468"/>
                  </a:cubicBezTo>
                  <a:lnTo>
                    <a:pt x="3229845" y="2978468"/>
                  </a:lnTo>
                  <a:cubicBezTo>
                    <a:pt x="3353670" y="2978468"/>
                    <a:pt x="3430823" y="2844165"/>
                    <a:pt x="3368911" y="2737485"/>
                  </a:cubicBezTo>
                  <a:lnTo>
                    <a:pt x="1834433" y="80010"/>
                  </a:lnTo>
                  <a:cubicBezTo>
                    <a:pt x="1772520" y="-26670"/>
                    <a:pt x="1618215" y="-26670"/>
                    <a:pt x="1556303" y="80010"/>
                  </a:cubicBezTo>
                  <a:close/>
                </a:path>
              </a:pathLst>
            </a:custGeom>
            <a:solidFill>
              <a:srgbClr val="00A9F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ptos" panose="020B0004020202020204" pitchFamily="34" charset="0"/>
              </a:endParaRPr>
            </a:p>
          </p:txBody>
        </p:sp>
        <p:sp>
          <p:nvSpPr>
            <p:cNvPr id="19" name="Graphic 4">
              <a:extLst>
                <a:ext uri="{FF2B5EF4-FFF2-40B4-BE49-F238E27FC236}">
                  <a16:creationId xmlns:a16="http://schemas.microsoft.com/office/drawing/2014/main" id="{4A1BBD2D-0AF5-E334-700D-8558A4A28392}"/>
                </a:ext>
              </a:extLst>
            </p:cNvPr>
            <p:cNvSpPr/>
            <p:nvPr/>
          </p:nvSpPr>
          <p:spPr>
            <a:xfrm rot="14400000">
              <a:off x="6035961" y="2504981"/>
              <a:ext cx="1947414" cy="1710635"/>
            </a:xfrm>
            <a:custGeom>
              <a:avLst/>
              <a:gdLst>
                <a:gd name="connsiteX0" fmla="*/ 1556303 w 3390735"/>
                <a:gd name="connsiteY0" fmla="*/ 80010 h 2978467"/>
                <a:gd name="connsiteX1" fmla="*/ 21825 w 3390735"/>
                <a:gd name="connsiteY1" fmla="*/ 2737485 h 2978467"/>
                <a:gd name="connsiteX2" fmla="*/ 160890 w 3390735"/>
                <a:gd name="connsiteY2" fmla="*/ 2978468 h 2978467"/>
                <a:gd name="connsiteX3" fmla="*/ 3229845 w 3390735"/>
                <a:gd name="connsiteY3" fmla="*/ 2978468 h 2978467"/>
                <a:gd name="connsiteX4" fmla="*/ 3368911 w 3390735"/>
                <a:gd name="connsiteY4" fmla="*/ 2737485 h 2978467"/>
                <a:gd name="connsiteX5" fmla="*/ 1834433 w 3390735"/>
                <a:gd name="connsiteY5" fmla="*/ 80010 h 2978467"/>
                <a:gd name="connsiteX6" fmla="*/ 1556303 w 3390735"/>
                <a:gd name="connsiteY6" fmla="*/ 80010 h 297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0735" h="2978467">
                  <a:moveTo>
                    <a:pt x="1556303" y="80010"/>
                  </a:moveTo>
                  <a:lnTo>
                    <a:pt x="21825" y="2737485"/>
                  </a:lnTo>
                  <a:cubicBezTo>
                    <a:pt x="-40087" y="2845118"/>
                    <a:pt x="37065" y="2978468"/>
                    <a:pt x="160890" y="2978468"/>
                  </a:cubicBezTo>
                  <a:lnTo>
                    <a:pt x="3229845" y="2978468"/>
                  </a:lnTo>
                  <a:cubicBezTo>
                    <a:pt x="3353670" y="2978468"/>
                    <a:pt x="3430823" y="2844165"/>
                    <a:pt x="3368911" y="2737485"/>
                  </a:cubicBezTo>
                  <a:lnTo>
                    <a:pt x="1834433" y="80010"/>
                  </a:lnTo>
                  <a:cubicBezTo>
                    <a:pt x="1772520" y="-26670"/>
                    <a:pt x="1618215" y="-26670"/>
                    <a:pt x="1556303" y="80010"/>
                  </a:cubicBezTo>
                  <a:close/>
                </a:path>
              </a:pathLst>
            </a:custGeom>
            <a:solidFill>
              <a:srgbClr val="00A9F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ptos" panose="020B0004020202020204" pitchFamily="34" charset="0"/>
              </a:endParaRPr>
            </a:p>
          </p:txBody>
        </p:sp>
        <p:sp>
          <p:nvSpPr>
            <p:cNvPr id="20" name="Graphic 4">
              <a:extLst>
                <a:ext uri="{FF2B5EF4-FFF2-40B4-BE49-F238E27FC236}">
                  <a16:creationId xmlns:a16="http://schemas.microsoft.com/office/drawing/2014/main" id="{0A9E4355-9562-0055-7A9B-9F4AB63EA163}"/>
                </a:ext>
              </a:extLst>
            </p:cNvPr>
            <p:cNvSpPr/>
            <p:nvPr/>
          </p:nvSpPr>
          <p:spPr>
            <a:xfrm rot="7200000">
              <a:off x="4226286" y="2504980"/>
              <a:ext cx="1947414" cy="1710635"/>
            </a:xfrm>
            <a:custGeom>
              <a:avLst/>
              <a:gdLst>
                <a:gd name="connsiteX0" fmla="*/ 1556303 w 3390735"/>
                <a:gd name="connsiteY0" fmla="*/ 80010 h 2978467"/>
                <a:gd name="connsiteX1" fmla="*/ 21825 w 3390735"/>
                <a:gd name="connsiteY1" fmla="*/ 2737485 h 2978467"/>
                <a:gd name="connsiteX2" fmla="*/ 160890 w 3390735"/>
                <a:gd name="connsiteY2" fmla="*/ 2978468 h 2978467"/>
                <a:gd name="connsiteX3" fmla="*/ 3229845 w 3390735"/>
                <a:gd name="connsiteY3" fmla="*/ 2978468 h 2978467"/>
                <a:gd name="connsiteX4" fmla="*/ 3368911 w 3390735"/>
                <a:gd name="connsiteY4" fmla="*/ 2737485 h 2978467"/>
                <a:gd name="connsiteX5" fmla="*/ 1834433 w 3390735"/>
                <a:gd name="connsiteY5" fmla="*/ 80010 h 2978467"/>
                <a:gd name="connsiteX6" fmla="*/ 1556303 w 3390735"/>
                <a:gd name="connsiteY6" fmla="*/ 80010 h 297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0735" h="2978467">
                  <a:moveTo>
                    <a:pt x="1556303" y="80010"/>
                  </a:moveTo>
                  <a:lnTo>
                    <a:pt x="21825" y="2737485"/>
                  </a:lnTo>
                  <a:cubicBezTo>
                    <a:pt x="-40087" y="2845118"/>
                    <a:pt x="37065" y="2978468"/>
                    <a:pt x="160890" y="2978468"/>
                  </a:cubicBezTo>
                  <a:lnTo>
                    <a:pt x="3229845" y="2978468"/>
                  </a:lnTo>
                  <a:cubicBezTo>
                    <a:pt x="3353670" y="2978468"/>
                    <a:pt x="3430823" y="2844165"/>
                    <a:pt x="3368911" y="2737485"/>
                  </a:cubicBezTo>
                  <a:lnTo>
                    <a:pt x="1834433" y="80010"/>
                  </a:lnTo>
                  <a:cubicBezTo>
                    <a:pt x="1772520" y="-26670"/>
                    <a:pt x="1618215" y="-26670"/>
                    <a:pt x="1556303" y="80010"/>
                  </a:cubicBezTo>
                  <a:close/>
                </a:path>
              </a:pathLst>
            </a:custGeom>
            <a:solidFill>
              <a:srgbClr val="002060"/>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ptos" panose="020B0004020202020204" pitchFamily="34" charset="0"/>
              </a:endParaRPr>
            </a:p>
          </p:txBody>
        </p:sp>
        <p:sp>
          <p:nvSpPr>
            <p:cNvPr id="21" name="Graphic 4">
              <a:extLst>
                <a:ext uri="{FF2B5EF4-FFF2-40B4-BE49-F238E27FC236}">
                  <a16:creationId xmlns:a16="http://schemas.microsoft.com/office/drawing/2014/main" id="{16C56C5D-3B16-4F03-266F-4CB0A082E0B1}"/>
                </a:ext>
              </a:extLst>
            </p:cNvPr>
            <p:cNvSpPr/>
            <p:nvPr/>
          </p:nvSpPr>
          <p:spPr>
            <a:xfrm rot="18000000">
              <a:off x="6035961" y="3549797"/>
              <a:ext cx="1947414" cy="1710635"/>
            </a:xfrm>
            <a:custGeom>
              <a:avLst/>
              <a:gdLst>
                <a:gd name="connsiteX0" fmla="*/ 1556303 w 3390735"/>
                <a:gd name="connsiteY0" fmla="*/ 80010 h 2978467"/>
                <a:gd name="connsiteX1" fmla="*/ 21825 w 3390735"/>
                <a:gd name="connsiteY1" fmla="*/ 2737485 h 2978467"/>
                <a:gd name="connsiteX2" fmla="*/ 160890 w 3390735"/>
                <a:gd name="connsiteY2" fmla="*/ 2978468 h 2978467"/>
                <a:gd name="connsiteX3" fmla="*/ 3229845 w 3390735"/>
                <a:gd name="connsiteY3" fmla="*/ 2978468 h 2978467"/>
                <a:gd name="connsiteX4" fmla="*/ 3368911 w 3390735"/>
                <a:gd name="connsiteY4" fmla="*/ 2737485 h 2978467"/>
                <a:gd name="connsiteX5" fmla="*/ 1834433 w 3390735"/>
                <a:gd name="connsiteY5" fmla="*/ 80010 h 2978467"/>
                <a:gd name="connsiteX6" fmla="*/ 1556303 w 3390735"/>
                <a:gd name="connsiteY6" fmla="*/ 80010 h 297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0735" h="2978467">
                  <a:moveTo>
                    <a:pt x="1556303" y="80010"/>
                  </a:moveTo>
                  <a:lnTo>
                    <a:pt x="21825" y="2737485"/>
                  </a:lnTo>
                  <a:cubicBezTo>
                    <a:pt x="-40087" y="2845118"/>
                    <a:pt x="37065" y="2978468"/>
                    <a:pt x="160890" y="2978468"/>
                  </a:cubicBezTo>
                  <a:lnTo>
                    <a:pt x="3229845" y="2978468"/>
                  </a:lnTo>
                  <a:cubicBezTo>
                    <a:pt x="3353670" y="2978468"/>
                    <a:pt x="3430823" y="2844165"/>
                    <a:pt x="3368911" y="2737485"/>
                  </a:cubicBezTo>
                  <a:lnTo>
                    <a:pt x="1834433" y="80010"/>
                  </a:lnTo>
                  <a:cubicBezTo>
                    <a:pt x="1772520" y="-26670"/>
                    <a:pt x="1618215" y="-26670"/>
                    <a:pt x="1556303" y="80010"/>
                  </a:cubicBezTo>
                  <a:close/>
                </a:path>
              </a:pathLst>
            </a:custGeom>
            <a:solidFill>
              <a:srgbClr val="002060"/>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ptos" panose="020B0004020202020204" pitchFamily="34" charset="0"/>
              </a:endParaRPr>
            </a:p>
          </p:txBody>
        </p:sp>
        <p:sp>
          <p:nvSpPr>
            <p:cNvPr id="22" name="TextBox 21">
              <a:extLst>
                <a:ext uri="{FF2B5EF4-FFF2-40B4-BE49-F238E27FC236}">
                  <a16:creationId xmlns:a16="http://schemas.microsoft.com/office/drawing/2014/main" id="{54473023-C849-07CB-AA9E-3407E084E011}"/>
                </a:ext>
              </a:extLst>
            </p:cNvPr>
            <p:cNvSpPr txBox="1"/>
            <p:nvPr/>
          </p:nvSpPr>
          <p:spPr>
            <a:xfrm>
              <a:off x="4141392" y="3022263"/>
              <a:ext cx="1715401" cy="614396"/>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200" b="0" i="0" u="none" strike="noStrike" kern="0" cap="none" spc="0" normalizeH="0" baseline="0" noProof="0" dirty="0">
                  <a:ln>
                    <a:noFill/>
                  </a:ln>
                  <a:solidFill>
                    <a:srgbClr val="FFFFFF"/>
                  </a:solidFill>
                  <a:effectLst/>
                  <a:uLnTx/>
                  <a:uFillTx/>
                  <a:latin typeface="Aptos" panose="020B0004020202020204" pitchFamily="34" charset="0"/>
                  <a:cs typeface="Arial" pitchFamily="34" charset="0"/>
                </a:rPr>
                <a:t>Safer &amp; Lean Operations</a:t>
              </a:r>
            </a:p>
          </p:txBody>
        </p:sp>
        <p:sp>
          <p:nvSpPr>
            <p:cNvPr id="23" name="TextBox 22">
              <a:extLst>
                <a:ext uri="{FF2B5EF4-FFF2-40B4-BE49-F238E27FC236}">
                  <a16:creationId xmlns:a16="http://schemas.microsoft.com/office/drawing/2014/main" id="{333EA2AD-5677-360D-3B66-A2D8B47B308D}"/>
                </a:ext>
              </a:extLst>
            </p:cNvPr>
            <p:cNvSpPr txBox="1"/>
            <p:nvPr/>
          </p:nvSpPr>
          <p:spPr>
            <a:xfrm>
              <a:off x="5254216" y="2091247"/>
              <a:ext cx="1715401" cy="8601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200" b="0" i="0" u="none" strike="noStrike" kern="0" cap="none" spc="0" normalizeH="0" baseline="0" noProof="0" dirty="0">
                  <a:ln>
                    <a:noFill/>
                  </a:ln>
                  <a:solidFill>
                    <a:srgbClr val="FFFFFF"/>
                  </a:solidFill>
                  <a:effectLst/>
                  <a:uLnTx/>
                  <a:uFillTx/>
                  <a:latin typeface="Aptos" panose="020B0004020202020204" pitchFamily="34" charset="0"/>
                  <a:cs typeface="Arial" pitchFamily="34" charset="0"/>
                </a:rPr>
                <a:t>Efficient Heat/Mass transfer</a:t>
              </a:r>
            </a:p>
          </p:txBody>
        </p:sp>
        <p:sp>
          <p:nvSpPr>
            <p:cNvPr id="24" name="TextBox 23">
              <a:extLst>
                <a:ext uri="{FF2B5EF4-FFF2-40B4-BE49-F238E27FC236}">
                  <a16:creationId xmlns:a16="http://schemas.microsoft.com/office/drawing/2014/main" id="{375799F3-DE1D-22F3-3A86-87130704F701}"/>
                </a:ext>
              </a:extLst>
            </p:cNvPr>
            <p:cNvSpPr txBox="1"/>
            <p:nvPr/>
          </p:nvSpPr>
          <p:spPr>
            <a:xfrm>
              <a:off x="6437821" y="3130565"/>
              <a:ext cx="1617376" cy="614396"/>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200" b="0" i="0" u="none" strike="noStrike" kern="0" cap="none" spc="0" normalizeH="0" baseline="0" noProof="0" dirty="0">
                  <a:ln>
                    <a:noFill/>
                  </a:ln>
                  <a:solidFill>
                    <a:srgbClr val="FFFFFF"/>
                  </a:solidFill>
                  <a:effectLst/>
                  <a:uLnTx/>
                  <a:uFillTx/>
                  <a:latin typeface="Aptos" panose="020B0004020202020204" pitchFamily="34" charset="0"/>
                  <a:cs typeface="Arial" pitchFamily="34" charset="0"/>
                </a:rPr>
                <a:t>Better Control over Process</a:t>
              </a:r>
            </a:p>
          </p:txBody>
        </p:sp>
        <p:sp>
          <p:nvSpPr>
            <p:cNvPr id="25" name="TextBox 24">
              <a:extLst>
                <a:ext uri="{FF2B5EF4-FFF2-40B4-BE49-F238E27FC236}">
                  <a16:creationId xmlns:a16="http://schemas.microsoft.com/office/drawing/2014/main" id="{0C616554-10DE-A86C-D41C-D98EDBD52522}"/>
                </a:ext>
              </a:extLst>
            </p:cNvPr>
            <p:cNvSpPr txBox="1"/>
            <p:nvPr/>
          </p:nvSpPr>
          <p:spPr>
            <a:xfrm>
              <a:off x="4021370" y="4033851"/>
              <a:ext cx="1884781" cy="8601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200" b="0" i="0" u="none" strike="noStrike" kern="0" cap="none" spc="0" normalizeH="0" baseline="0" noProof="0" dirty="0">
                  <a:ln>
                    <a:noFill/>
                  </a:ln>
                  <a:solidFill>
                    <a:srgbClr val="FFFFFF"/>
                  </a:solidFill>
                  <a:effectLst/>
                  <a:uLnTx/>
                  <a:uFillTx/>
                  <a:latin typeface="Aptos" panose="020B0004020202020204" pitchFamily="34" charset="0"/>
                  <a:cs typeface="Arial" pitchFamily="34" charset="0"/>
                </a:rPr>
                <a:t>Capital Efficiency - Higher Asset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200" b="0" i="0" u="none" strike="noStrike" kern="0" cap="none" spc="0" normalizeH="0" baseline="0" noProof="0" dirty="0">
                  <a:ln>
                    <a:noFill/>
                  </a:ln>
                  <a:solidFill>
                    <a:srgbClr val="FFFFFF"/>
                  </a:solidFill>
                  <a:effectLst/>
                  <a:uLnTx/>
                  <a:uFillTx/>
                  <a:latin typeface="Aptos" panose="020B0004020202020204" pitchFamily="34" charset="0"/>
                  <a:cs typeface="Arial" pitchFamily="34" charset="0"/>
                </a:rPr>
                <a:t> Turn</a:t>
              </a:r>
            </a:p>
          </p:txBody>
        </p:sp>
        <p:sp>
          <p:nvSpPr>
            <p:cNvPr id="26" name="TextBox 25">
              <a:extLst>
                <a:ext uri="{FF2B5EF4-FFF2-40B4-BE49-F238E27FC236}">
                  <a16:creationId xmlns:a16="http://schemas.microsoft.com/office/drawing/2014/main" id="{16AF99AB-AD18-1235-EE9A-478BA68E3EAA}"/>
                </a:ext>
              </a:extLst>
            </p:cNvPr>
            <p:cNvSpPr txBox="1"/>
            <p:nvPr/>
          </p:nvSpPr>
          <p:spPr>
            <a:xfrm>
              <a:off x="6351255" y="3901662"/>
              <a:ext cx="1715401" cy="8601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200" b="0" i="0" u="none" strike="noStrike" kern="0" cap="none" spc="0" normalizeH="0" baseline="0" noProof="0" dirty="0">
                  <a:ln>
                    <a:noFill/>
                  </a:ln>
                  <a:solidFill>
                    <a:srgbClr val="FFFFFF"/>
                  </a:solidFill>
                  <a:effectLst/>
                  <a:uLnTx/>
                  <a:uFillTx/>
                  <a:latin typeface="Aptos" panose="020B0004020202020204" pitchFamily="34" charset="0"/>
                  <a:cs typeface="Arial" pitchFamily="34" charset="0"/>
                </a:rPr>
                <a:t>Faster Reactions &amp; Smaller Lead Time</a:t>
              </a:r>
            </a:p>
          </p:txBody>
        </p:sp>
        <p:sp>
          <p:nvSpPr>
            <p:cNvPr id="27" name="TextBox 26">
              <a:extLst>
                <a:ext uri="{FF2B5EF4-FFF2-40B4-BE49-F238E27FC236}">
                  <a16:creationId xmlns:a16="http://schemas.microsoft.com/office/drawing/2014/main" id="{FB9A75F0-E1D6-2A9E-A06B-324FC5B0F55C}"/>
                </a:ext>
              </a:extLst>
            </p:cNvPr>
            <p:cNvSpPr txBox="1"/>
            <p:nvPr/>
          </p:nvSpPr>
          <p:spPr>
            <a:xfrm>
              <a:off x="5324793" y="4957080"/>
              <a:ext cx="1574245" cy="8601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200" b="0" i="0" u="none" strike="noStrike" kern="0" cap="none" spc="0" normalizeH="0" baseline="0" noProof="0" dirty="0">
                  <a:ln>
                    <a:noFill/>
                  </a:ln>
                  <a:solidFill>
                    <a:srgbClr val="FFFFFF"/>
                  </a:solidFill>
                  <a:effectLst/>
                  <a:uLnTx/>
                  <a:uFillTx/>
                  <a:latin typeface="Aptos" panose="020B0004020202020204" pitchFamily="34" charset="0"/>
                  <a:cs typeface="Arial" pitchFamily="34" charset="0"/>
                </a:rPr>
                <a:t>Sustainable &amp; Lower Carbon Footprint</a:t>
              </a:r>
            </a:p>
          </p:txBody>
        </p:sp>
      </p:grpSp>
      <p:grpSp>
        <p:nvGrpSpPr>
          <p:cNvPr id="28" name="Group 27">
            <a:extLst>
              <a:ext uri="{FF2B5EF4-FFF2-40B4-BE49-F238E27FC236}">
                <a16:creationId xmlns:a16="http://schemas.microsoft.com/office/drawing/2014/main" id="{773F7FA7-1E22-B425-2328-1663111CB028}"/>
              </a:ext>
            </a:extLst>
          </p:cNvPr>
          <p:cNvGrpSpPr/>
          <p:nvPr/>
        </p:nvGrpSpPr>
        <p:grpSpPr>
          <a:xfrm>
            <a:off x="8246456" y="3115060"/>
            <a:ext cx="3178294" cy="3014549"/>
            <a:chOff x="8405253" y="3381884"/>
            <a:chExt cx="3178294" cy="3014549"/>
          </a:xfrm>
        </p:grpSpPr>
        <p:sp>
          <p:nvSpPr>
            <p:cNvPr id="29" name="Rectangle 28">
              <a:extLst>
                <a:ext uri="{FF2B5EF4-FFF2-40B4-BE49-F238E27FC236}">
                  <a16:creationId xmlns:a16="http://schemas.microsoft.com/office/drawing/2014/main" id="{97CCED28-0C44-A17C-6141-EDF7ADA6B7CC}"/>
                </a:ext>
              </a:extLst>
            </p:cNvPr>
            <p:cNvSpPr/>
            <p:nvPr/>
          </p:nvSpPr>
          <p:spPr>
            <a:xfrm>
              <a:off x="8405255" y="4740262"/>
              <a:ext cx="3164801" cy="1656171"/>
            </a:xfrm>
            <a:prstGeom prst="rect">
              <a:avLst/>
            </a:prstGeom>
            <a:solidFill>
              <a:srgbClr val="FFFFFF">
                <a:lumMod val="95000"/>
              </a:srgbClr>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IN" sz="1600" b="0" i="0" u="none" strike="noStrike" kern="0" cap="none" spc="0" normalizeH="0" baseline="0" noProof="0" dirty="0" err="1">
                <a:ln>
                  <a:noFill/>
                </a:ln>
                <a:solidFill>
                  <a:srgbClr val="FFFFFF"/>
                </a:solidFill>
                <a:effectLst/>
                <a:uLnTx/>
                <a:uFillTx/>
                <a:latin typeface="Aptos" panose="020B0004020202020204" pitchFamily="34" charset="0"/>
                <a:ea typeface="+mn-ea"/>
                <a:cs typeface="+mn-cs"/>
              </a:endParaRPr>
            </a:p>
          </p:txBody>
        </p:sp>
        <p:grpSp>
          <p:nvGrpSpPr>
            <p:cNvPr id="30" name="Group 29">
              <a:extLst>
                <a:ext uri="{FF2B5EF4-FFF2-40B4-BE49-F238E27FC236}">
                  <a16:creationId xmlns:a16="http://schemas.microsoft.com/office/drawing/2014/main" id="{388126EA-D1D7-6250-DFFF-414FA0A31B91}"/>
                </a:ext>
              </a:extLst>
            </p:cNvPr>
            <p:cNvGrpSpPr/>
            <p:nvPr/>
          </p:nvGrpSpPr>
          <p:grpSpPr>
            <a:xfrm>
              <a:off x="8418745" y="3381884"/>
              <a:ext cx="3164802" cy="1069793"/>
              <a:chOff x="8331199" y="2761829"/>
              <a:chExt cx="3039533" cy="1069793"/>
            </a:xfrm>
          </p:grpSpPr>
          <p:sp>
            <p:nvSpPr>
              <p:cNvPr id="39" name="Rectangle 38">
                <a:extLst>
                  <a:ext uri="{FF2B5EF4-FFF2-40B4-BE49-F238E27FC236}">
                    <a16:creationId xmlns:a16="http://schemas.microsoft.com/office/drawing/2014/main" id="{A46E919D-FC21-360E-DFA3-24B4F01CA2C9}"/>
                  </a:ext>
                </a:extLst>
              </p:cNvPr>
              <p:cNvSpPr/>
              <p:nvPr/>
            </p:nvSpPr>
            <p:spPr>
              <a:xfrm>
                <a:off x="8331199" y="2761829"/>
                <a:ext cx="3039533" cy="276999"/>
              </a:xfrm>
              <a:prstGeom prst="rect">
                <a:avLst/>
              </a:prstGeom>
              <a:solidFill>
                <a:srgbClr val="00B050"/>
              </a:solid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200" b="0" i="0" u="none" strike="noStrike" kern="0" cap="none" spc="0" normalizeH="0" baseline="0" noProof="0" dirty="0">
                    <a:ln>
                      <a:noFill/>
                    </a:ln>
                    <a:solidFill>
                      <a:srgbClr val="FFFFFF"/>
                    </a:solidFill>
                    <a:effectLst/>
                    <a:uLnTx/>
                    <a:uFillTx/>
                    <a:latin typeface="Aptos" panose="020B0004020202020204" pitchFamily="34" charset="0"/>
                  </a:rPr>
                  <a:t>Green Chemistry Matrix</a:t>
                </a:r>
              </a:p>
            </p:txBody>
          </p:sp>
          <p:sp>
            <p:nvSpPr>
              <p:cNvPr id="40" name="Rectangle 39">
                <a:extLst>
                  <a:ext uri="{FF2B5EF4-FFF2-40B4-BE49-F238E27FC236}">
                    <a16:creationId xmlns:a16="http://schemas.microsoft.com/office/drawing/2014/main" id="{517EBE1B-91A5-312F-E375-69FDB1D262CE}"/>
                  </a:ext>
                </a:extLst>
              </p:cNvPr>
              <p:cNvSpPr/>
              <p:nvPr/>
            </p:nvSpPr>
            <p:spPr>
              <a:xfrm>
                <a:off x="8331200" y="3031874"/>
                <a:ext cx="3039532" cy="799748"/>
              </a:xfrm>
              <a:prstGeom prst="rect">
                <a:avLst/>
              </a:prstGeom>
              <a:solidFill>
                <a:srgbClr val="FFFFFF">
                  <a:lumMod val="95000"/>
                </a:srgbClr>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IN" sz="1600" b="0" i="0" u="none" strike="noStrike" kern="0" cap="none" spc="0" normalizeH="0" baseline="0" noProof="0" dirty="0" err="1">
                  <a:ln>
                    <a:noFill/>
                  </a:ln>
                  <a:solidFill>
                    <a:srgbClr val="FFFFFF"/>
                  </a:solidFill>
                  <a:effectLst/>
                  <a:uLnTx/>
                  <a:uFillTx/>
                  <a:latin typeface="Aptos" panose="020B0004020202020204" pitchFamily="34" charset="0"/>
                  <a:ea typeface="+mn-ea"/>
                  <a:cs typeface="+mn-cs"/>
                </a:endParaRPr>
              </a:p>
            </p:txBody>
          </p:sp>
          <p:sp>
            <p:nvSpPr>
              <p:cNvPr id="41" name="Rectangle 40">
                <a:extLst>
                  <a:ext uri="{FF2B5EF4-FFF2-40B4-BE49-F238E27FC236}">
                    <a16:creationId xmlns:a16="http://schemas.microsoft.com/office/drawing/2014/main" id="{134A45CE-5848-184F-1520-E4D79FE4ACB4}"/>
                  </a:ext>
                </a:extLst>
              </p:cNvPr>
              <p:cNvSpPr/>
              <p:nvPr/>
            </p:nvSpPr>
            <p:spPr>
              <a:xfrm>
                <a:off x="8421459" y="3244808"/>
                <a:ext cx="864000" cy="400110"/>
              </a:xfrm>
              <a:prstGeom prst="rect">
                <a:avLst/>
              </a:prstGeom>
              <a:solidFill>
                <a:srgbClr val="00B0F0"/>
              </a:solidFill>
              <a:ln>
                <a:solidFill>
                  <a:srgbClr val="00B0F0"/>
                </a:solidFill>
              </a:ln>
            </p:spPr>
            <p:txBody>
              <a:bodyPr wrap="squar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dirty="0">
                    <a:ln>
                      <a:noFill/>
                    </a:ln>
                    <a:solidFill>
                      <a:srgbClr val="FFFFFF"/>
                    </a:solidFill>
                    <a:effectLst/>
                    <a:uLnTx/>
                    <a:uFillTx/>
                    <a:latin typeface="Aptos" panose="020B0004020202020204" pitchFamily="34" charset="0"/>
                  </a:rPr>
                  <a:t>Atom Economy</a:t>
                </a:r>
              </a:p>
            </p:txBody>
          </p:sp>
          <p:sp>
            <p:nvSpPr>
              <p:cNvPr id="42" name="Rectangle 41">
                <a:extLst>
                  <a:ext uri="{FF2B5EF4-FFF2-40B4-BE49-F238E27FC236}">
                    <a16:creationId xmlns:a16="http://schemas.microsoft.com/office/drawing/2014/main" id="{62281B49-B564-2BC9-EA6D-A563D04DD31B}"/>
                  </a:ext>
                </a:extLst>
              </p:cNvPr>
              <p:cNvSpPr/>
              <p:nvPr/>
            </p:nvSpPr>
            <p:spPr>
              <a:xfrm>
                <a:off x="9422450" y="3244808"/>
                <a:ext cx="864000" cy="400110"/>
              </a:xfrm>
              <a:prstGeom prst="rect">
                <a:avLst/>
              </a:prstGeom>
              <a:solidFill>
                <a:srgbClr val="0070C0"/>
              </a:solidFill>
            </p:spPr>
            <p:txBody>
              <a:bodyPr wrap="squar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Aptos" panose="020B0004020202020204" pitchFamily="34" charset="0"/>
                  </a:rPr>
                  <a:t>Atom efficiency</a:t>
                </a:r>
                <a:endParaRPr kumimoji="0" lang="en-IN" sz="1000" b="1" i="0" u="none" strike="noStrike" kern="0" cap="none" spc="0" normalizeH="0" baseline="0" noProof="0" dirty="0">
                  <a:ln>
                    <a:noFill/>
                  </a:ln>
                  <a:solidFill>
                    <a:srgbClr val="FFFFFF"/>
                  </a:solidFill>
                  <a:effectLst/>
                  <a:uLnTx/>
                  <a:uFillTx/>
                  <a:latin typeface="Aptos" panose="020B0004020202020204" pitchFamily="34" charset="0"/>
                </a:endParaRPr>
              </a:p>
            </p:txBody>
          </p:sp>
          <p:sp>
            <p:nvSpPr>
              <p:cNvPr id="43" name="Rectangle 42">
                <a:extLst>
                  <a:ext uri="{FF2B5EF4-FFF2-40B4-BE49-F238E27FC236}">
                    <a16:creationId xmlns:a16="http://schemas.microsoft.com/office/drawing/2014/main" id="{7CEFE6EB-FCCC-4709-2EA7-97B8F4D379AD}"/>
                  </a:ext>
                </a:extLst>
              </p:cNvPr>
              <p:cNvSpPr/>
              <p:nvPr/>
            </p:nvSpPr>
            <p:spPr>
              <a:xfrm>
                <a:off x="10423441" y="3321752"/>
                <a:ext cx="864000" cy="246221"/>
              </a:xfrm>
              <a:prstGeom prst="rect">
                <a:avLst/>
              </a:prstGeom>
              <a:solidFill>
                <a:srgbClr val="002060"/>
              </a:solidFill>
            </p:spPr>
            <p:txBody>
              <a:bodyPr wrap="squar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Aptos" panose="020B0004020202020204" pitchFamily="34" charset="0"/>
                  </a:rPr>
                  <a:t>E-factor</a:t>
                </a:r>
                <a:endParaRPr kumimoji="0" lang="en-IN" sz="1000" b="1" i="0" u="none" strike="noStrike" kern="0" cap="none" spc="0" normalizeH="0" baseline="0" noProof="0" dirty="0">
                  <a:ln>
                    <a:noFill/>
                  </a:ln>
                  <a:solidFill>
                    <a:srgbClr val="FFFFFF"/>
                  </a:solidFill>
                  <a:effectLst/>
                  <a:uLnTx/>
                  <a:uFillTx/>
                  <a:latin typeface="Aptos" panose="020B0004020202020204" pitchFamily="34" charset="0"/>
                </a:endParaRPr>
              </a:p>
            </p:txBody>
          </p:sp>
        </p:grpSp>
        <p:sp>
          <p:nvSpPr>
            <p:cNvPr id="31" name="Rectangle 30">
              <a:extLst>
                <a:ext uri="{FF2B5EF4-FFF2-40B4-BE49-F238E27FC236}">
                  <a16:creationId xmlns:a16="http://schemas.microsoft.com/office/drawing/2014/main" id="{64F33419-04A1-88FC-6991-CD641D7EE512}"/>
                </a:ext>
              </a:extLst>
            </p:cNvPr>
            <p:cNvSpPr/>
            <p:nvPr/>
          </p:nvSpPr>
          <p:spPr>
            <a:xfrm>
              <a:off x="8405254" y="4550453"/>
              <a:ext cx="3164802" cy="276999"/>
            </a:xfrm>
            <a:prstGeom prst="rect">
              <a:avLst/>
            </a:prstGeom>
            <a:solidFill>
              <a:srgbClr val="00B050"/>
            </a:solid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200" b="0" i="0" u="none" strike="noStrike" kern="0" cap="none" spc="0" normalizeH="0" baseline="0" noProof="0" dirty="0">
                  <a:ln>
                    <a:noFill/>
                  </a:ln>
                  <a:solidFill>
                    <a:srgbClr val="FFFFFF"/>
                  </a:solidFill>
                  <a:effectLst/>
                  <a:uLnTx/>
                  <a:uFillTx/>
                  <a:latin typeface="Aptos" panose="020B0004020202020204" pitchFamily="34" charset="0"/>
                </a:rPr>
                <a:t>Eco-Scale for process efficiency</a:t>
              </a:r>
            </a:p>
          </p:txBody>
        </p:sp>
        <p:sp>
          <p:nvSpPr>
            <p:cNvPr id="32" name="TextBox 31">
              <a:extLst>
                <a:ext uri="{FF2B5EF4-FFF2-40B4-BE49-F238E27FC236}">
                  <a16:creationId xmlns:a16="http://schemas.microsoft.com/office/drawing/2014/main" id="{96BBB93A-47B4-DCF5-D8C7-7C940E41F3E6}"/>
                </a:ext>
              </a:extLst>
            </p:cNvPr>
            <p:cNvSpPr txBox="1"/>
            <p:nvPr/>
          </p:nvSpPr>
          <p:spPr>
            <a:xfrm>
              <a:off x="8405253" y="4836248"/>
              <a:ext cx="3164031" cy="483875"/>
            </a:xfrm>
            <a:prstGeom prst="rect">
              <a:avLst/>
            </a:prstGeom>
            <a:noFill/>
            <a:ln w="6350">
              <a:noFill/>
              <a:miter lim="800000"/>
            </a:ln>
          </p:spPr>
          <p:txBody>
            <a:bodyPr wrap="square">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ptos" panose="020B0004020202020204" pitchFamily="34" charset="0"/>
                </a:rPr>
                <a:t>6 parameters &amp; 38 sub-parameters at every stage of the reaction</a:t>
              </a:r>
            </a:p>
          </p:txBody>
        </p:sp>
        <p:sp>
          <p:nvSpPr>
            <p:cNvPr id="33" name="Rectangle 32">
              <a:extLst>
                <a:ext uri="{FF2B5EF4-FFF2-40B4-BE49-F238E27FC236}">
                  <a16:creationId xmlns:a16="http://schemas.microsoft.com/office/drawing/2014/main" id="{033FAE8F-120E-C93C-024D-5248D974B2DD}"/>
                </a:ext>
              </a:extLst>
            </p:cNvPr>
            <p:cNvSpPr/>
            <p:nvPr/>
          </p:nvSpPr>
          <p:spPr>
            <a:xfrm>
              <a:off x="8454343" y="5445065"/>
              <a:ext cx="899608" cy="246221"/>
            </a:xfrm>
            <a:prstGeom prst="rect">
              <a:avLst/>
            </a:prstGeom>
            <a:solidFill>
              <a:srgbClr val="00B0F0"/>
            </a:solidFill>
            <a:ln>
              <a:solidFill>
                <a:srgbClr val="00B0F0"/>
              </a:solidFill>
            </a:ln>
          </p:spPr>
          <p:txBody>
            <a:bodyPr wrap="squar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dirty="0">
                  <a:ln>
                    <a:noFill/>
                  </a:ln>
                  <a:solidFill>
                    <a:srgbClr val="FFFFFF"/>
                  </a:solidFill>
                  <a:effectLst/>
                  <a:uLnTx/>
                  <a:uFillTx/>
                  <a:latin typeface="Aptos" panose="020B0004020202020204" pitchFamily="34" charset="0"/>
                </a:rPr>
                <a:t>Yield</a:t>
              </a:r>
            </a:p>
          </p:txBody>
        </p:sp>
        <p:sp>
          <p:nvSpPr>
            <p:cNvPr id="34" name="Rectangle 33">
              <a:extLst>
                <a:ext uri="{FF2B5EF4-FFF2-40B4-BE49-F238E27FC236}">
                  <a16:creationId xmlns:a16="http://schemas.microsoft.com/office/drawing/2014/main" id="{A18564F8-7A5C-EFC9-AEAF-B3EE43E26CD9}"/>
                </a:ext>
              </a:extLst>
            </p:cNvPr>
            <p:cNvSpPr/>
            <p:nvPr/>
          </p:nvSpPr>
          <p:spPr>
            <a:xfrm>
              <a:off x="9426542" y="5445065"/>
              <a:ext cx="899608" cy="246221"/>
            </a:xfrm>
            <a:prstGeom prst="rect">
              <a:avLst/>
            </a:prstGeom>
            <a:solidFill>
              <a:srgbClr val="00B0F0"/>
            </a:solidFill>
            <a:ln>
              <a:solidFill>
                <a:srgbClr val="00B0F0"/>
              </a:solidFill>
            </a:ln>
          </p:spPr>
          <p:txBody>
            <a:bodyPr wrap="squar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dirty="0">
                  <a:ln>
                    <a:noFill/>
                  </a:ln>
                  <a:solidFill>
                    <a:srgbClr val="FFFFFF"/>
                  </a:solidFill>
                  <a:effectLst/>
                  <a:uLnTx/>
                  <a:uFillTx/>
                  <a:latin typeface="Aptos" panose="020B0004020202020204" pitchFamily="34" charset="0"/>
                </a:rPr>
                <a:t>Safety</a:t>
              </a:r>
            </a:p>
          </p:txBody>
        </p:sp>
        <p:sp>
          <p:nvSpPr>
            <p:cNvPr id="35" name="Rectangle 34">
              <a:extLst>
                <a:ext uri="{FF2B5EF4-FFF2-40B4-BE49-F238E27FC236}">
                  <a16:creationId xmlns:a16="http://schemas.microsoft.com/office/drawing/2014/main" id="{0F71732A-BED8-C3DB-CBE9-C73573876F52}"/>
                </a:ext>
              </a:extLst>
            </p:cNvPr>
            <p:cNvSpPr/>
            <p:nvPr/>
          </p:nvSpPr>
          <p:spPr>
            <a:xfrm>
              <a:off x="10398741" y="5445065"/>
              <a:ext cx="1035326" cy="246221"/>
            </a:xfrm>
            <a:prstGeom prst="rect">
              <a:avLst/>
            </a:prstGeom>
            <a:solidFill>
              <a:srgbClr val="00B0F0"/>
            </a:solidFill>
            <a:ln>
              <a:solidFill>
                <a:srgbClr val="00B0F0"/>
              </a:solidFill>
            </a:ln>
          </p:spPr>
          <p:txBody>
            <a:bodyPr wrap="squar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dirty="0">
                  <a:ln>
                    <a:noFill/>
                  </a:ln>
                  <a:solidFill>
                    <a:srgbClr val="FFFFFF"/>
                  </a:solidFill>
                  <a:effectLst/>
                  <a:uLnTx/>
                  <a:uFillTx/>
                  <a:latin typeface="Aptos" panose="020B0004020202020204" pitchFamily="34" charset="0"/>
                </a:rPr>
                <a:t>Effluent</a:t>
              </a:r>
            </a:p>
          </p:txBody>
        </p:sp>
        <p:sp>
          <p:nvSpPr>
            <p:cNvPr id="36" name="Rectangle 35">
              <a:extLst>
                <a:ext uri="{FF2B5EF4-FFF2-40B4-BE49-F238E27FC236}">
                  <a16:creationId xmlns:a16="http://schemas.microsoft.com/office/drawing/2014/main" id="{4411E648-8776-8DDF-21B4-A6BB2D24A748}"/>
                </a:ext>
              </a:extLst>
            </p:cNvPr>
            <p:cNvSpPr/>
            <p:nvPr/>
          </p:nvSpPr>
          <p:spPr>
            <a:xfrm>
              <a:off x="8454343" y="5753231"/>
              <a:ext cx="813482" cy="400110"/>
            </a:xfrm>
            <a:prstGeom prst="rect">
              <a:avLst/>
            </a:prstGeom>
            <a:solidFill>
              <a:srgbClr val="00B0F0"/>
            </a:solidFill>
            <a:ln>
              <a:solidFill>
                <a:srgbClr val="00B0F0"/>
              </a:solidFill>
            </a:ln>
          </p:spPr>
          <p:txBody>
            <a:bodyPr wrap="squar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dirty="0">
                  <a:ln>
                    <a:noFill/>
                  </a:ln>
                  <a:solidFill>
                    <a:srgbClr val="FFFFFF"/>
                  </a:solidFill>
                  <a:effectLst/>
                  <a:uLnTx/>
                  <a:uFillTx/>
                  <a:latin typeface="Aptos" panose="020B0004020202020204" pitchFamily="34" charset="0"/>
                </a:rPr>
                <a:t>Input/ RM Cost</a:t>
              </a:r>
            </a:p>
          </p:txBody>
        </p:sp>
        <p:sp>
          <p:nvSpPr>
            <p:cNvPr id="37" name="Rectangle 36">
              <a:extLst>
                <a:ext uri="{FF2B5EF4-FFF2-40B4-BE49-F238E27FC236}">
                  <a16:creationId xmlns:a16="http://schemas.microsoft.com/office/drawing/2014/main" id="{60AC4FB9-D374-A823-F08D-D7A3135FCA8F}"/>
                </a:ext>
              </a:extLst>
            </p:cNvPr>
            <p:cNvSpPr/>
            <p:nvPr/>
          </p:nvSpPr>
          <p:spPr>
            <a:xfrm>
              <a:off x="9353951" y="5753231"/>
              <a:ext cx="899608" cy="400110"/>
            </a:xfrm>
            <a:prstGeom prst="rect">
              <a:avLst/>
            </a:prstGeom>
            <a:solidFill>
              <a:srgbClr val="00B0F0"/>
            </a:solidFill>
            <a:ln>
              <a:solidFill>
                <a:srgbClr val="00B0F0"/>
              </a:solidFill>
            </a:ln>
          </p:spPr>
          <p:txBody>
            <a:bodyPr wrap="squar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dirty="0">
                  <a:ln>
                    <a:noFill/>
                  </a:ln>
                  <a:solidFill>
                    <a:srgbClr val="FFFFFF"/>
                  </a:solidFill>
                  <a:effectLst/>
                  <a:uLnTx/>
                  <a:uFillTx/>
                  <a:latin typeface="Aptos" panose="020B0004020202020204" pitchFamily="34" charset="0"/>
                </a:rPr>
                <a:t>Operations Parameters</a:t>
              </a:r>
            </a:p>
          </p:txBody>
        </p:sp>
        <p:sp>
          <p:nvSpPr>
            <p:cNvPr id="38" name="Rectangle 37">
              <a:extLst>
                <a:ext uri="{FF2B5EF4-FFF2-40B4-BE49-F238E27FC236}">
                  <a16:creationId xmlns:a16="http://schemas.microsoft.com/office/drawing/2014/main" id="{DEFC9782-E976-E119-4D65-61903601DF5A}"/>
                </a:ext>
              </a:extLst>
            </p:cNvPr>
            <p:cNvSpPr/>
            <p:nvPr/>
          </p:nvSpPr>
          <p:spPr>
            <a:xfrm>
              <a:off x="10326150" y="5753231"/>
              <a:ext cx="1107917" cy="400110"/>
            </a:xfrm>
            <a:prstGeom prst="rect">
              <a:avLst/>
            </a:prstGeom>
            <a:solidFill>
              <a:srgbClr val="00B0F0"/>
            </a:solidFill>
            <a:ln>
              <a:solidFill>
                <a:srgbClr val="00B0F0"/>
              </a:solidFill>
            </a:ln>
          </p:spPr>
          <p:txBody>
            <a:bodyPr wrap="square"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dirty="0">
                  <a:ln>
                    <a:noFill/>
                  </a:ln>
                  <a:solidFill>
                    <a:srgbClr val="FFFFFF"/>
                  </a:solidFill>
                  <a:effectLst/>
                  <a:uLnTx/>
                  <a:uFillTx/>
                  <a:latin typeface="Aptos" panose="020B0004020202020204" pitchFamily="34" charset="0"/>
                </a:rPr>
                <a:t>Infrastructure considerations</a:t>
              </a:r>
            </a:p>
          </p:txBody>
        </p:sp>
      </p:grpSp>
      <p:sp>
        <p:nvSpPr>
          <p:cNvPr id="44" name="TextBox 43">
            <a:extLst>
              <a:ext uri="{FF2B5EF4-FFF2-40B4-BE49-F238E27FC236}">
                <a16:creationId xmlns:a16="http://schemas.microsoft.com/office/drawing/2014/main" id="{C3FE362C-B335-58FA-DE0B-D1A39E457D84}"/>
              </a:ext>
            </a:extLst>
          </p:cNvPr>
          <p:cNvSpPr txBox="1"/>
          <p:nvPr/>
        </p:nvSpPr>
        <p:spPr>
          <a:xfrm>
            <a:off x="509373" y="291277"/>
            <a:ext cx="10993491" cy="995785"/>
          </a:xfrm>
          <a:prstGeom prst="rect">
            <a:avLst/>
          </a:prstGeom>
          <a:noFill/>
        </p:spPr>
        <p:txBody>
          <a:bodyPr wrap="square" rtlCol="0">
            <a:sp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B0F0"/>
                </a:solidFill>
                <a:effectLst/>
                <a:uLnTx/>
                <a:uFillTx/>
                <a:latin typeface="Aptos" panose="020B0004020202020204" pitchFamily="34" charset="0"/>
                <a:ea typeface="+mn-ea"/>
                <a:cs typeface="Arial" panose="020B0604020202020204" pitchFamily="34" charset="0"/>
              </a:rPr>
              <a:t>R&amp;D </a:t>
            </a:r>
            <a:r>
              <a:rPr lang="en-US" sz="3600" b="1" dirty="0">
                <a:solidFill>
                  <a:srgbClr val="00B0F0"/>
                </a:solidFill>
                <a:latin typeface="Aptos" panose="020B0004020202020204" pitchFamily="34" charset="0"/>
                <a:cs typeface="Arial" panose="020B0604020202020204" pitchFamily="34" charset="0"/>
              </a:rPr>
              <a:t>and Innovation: </a:t>
            </a:r>
            <a:r>
              <a:rPr kumimoji="0" lang="en-US" sz="3600" b="1" i="0" u="none" strike="noStrike" kern="1200" cap="none" spc="0" normalizeH="0" baseline="0" noProof="0" dirty="0">
                <a:ln>
                  <a:noFill/>
                </a:ln>
                <a:solidFill>
                  <a:srgbClr val="002060"/>
                </a:solidFill>
                <a:effectLst/>
                <a:uLnTx/>
                <a:uFillTx/>
                <a:latin typeface="Aptos" panose="020B0004020202020204" pitchFamily="34" charset="0"/>
                <a:ea typeface="+mn-ea"/>
                <a:cs typeface="Arial" panose="020B0604020202020204" pitchFamily="34" charset="0"/>
              </a:rPr>
              <a:t>Becoming an innovation and science-led enterprise</a:t>
            </a:r>
          </a:p>
        </p:txBody>
      </p:sp>
    </p:spTree>
    <p:extLst>
      <p:ext uri="{BB962C8B-B14F-4D97-AF65-F5344CB8AC3E}">
        <p14:creationId xmlns:p14="http://schemas.microsoft.com/office/powerpoint/2010/main" val="2445370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8EEFC48-6286-2313-9CDB-7F0758BFD947}"/>
              </a:ext>
            </a:extLst>
          </p:cNvPr>
          <p:cNvSpPr txBox="1"/>
          <p:nvPr/>
        </p:nvSpPr>
        <p:spPr>
          <a:xfrm>
            <a:off x="509373" y="381217"/>
            <a:ext cx="10993491"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B0F0"/>
                </a:solidFill>
                <a:effectLst/>
                <a:uLnTx/>
                <a:uFillTx/>
                <a:latin typeface="Aptos" panose="020B0004020202020204" pitchFamily="34" charset="0"/>
                <a:ea typeface="+mn-ea"/>
                <a:cs typeface="Arial" panose="020B0604020202020204" pitchFamily="34" charset="0"/>
              </a:rPr>
              <a:t>Sustainability &amp; Response to Climate Change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2060"/>
                </a:solidFill>
                <a:effectLst/>
                <a:uLnTx/>
                <a:uFillTx/>
                <a:latin typeface="Aptos" panose="020B0004020202020204" pitchFamily="34" charset="0"/>
                <a:ea typeface="+mn-ea"/>
                <a:cs typeface="Arial" panose="020B0604020202020204" pitchFamily="34" charset="0"/>
              </a:rPr>
              <a:t>An area of emerging opportunities</a:t>
            </a:r>
          </a:p>
        </p:txBody>
      </p:sp>
      <p:pic>
        <p:nvPicPr>
          <p:cNvPr id="4" name="Picture 3">
            <a:extLst>
              <a:ext uri="{FF2B5EF4-FFF2-40B4-BE49-F238E27FC236}">
                <a16:creationId xmlns:a16="http://schemas.microsoft.com/office/drawing/2014/main" id="{6D2FD832-1821-B523-877F-153BA9CE0D4C}"/>
              </a:ext>
            </a:extLst>
          </p:cNvPr>
          <p:cNvPicPr>
            <a:picLocks noChangeAspect="1"/>
          </p:cNvPicPr>
          <p:nvPr/>
        </p:nvPicPr>
        <p:blipFill rotWithShape="1">
          <a:blip r:embed="rId2"/>
          <a:srcRect l="3251" t="10642" r="42474" b="16402"/>
          <a:stretch/>
        </p:blipFill>
        <p:spPr>
          <a:xfrm>
            <a:off x="2745946" y="2185170"/>
            <a:ext cx="5985677" cy="1782153"/>
          </a:xfrm>
          <a:prstGeom prst="rect">
            <a:avLst/>
          </a:prstGeom>
        </p:spPr>
      </p:pic>
      <p:sp>
        <p:nvSpPr>
          <p:cNvPr id="6" name="TextBox 5">
            <a:extLst>
              <a:ext uri="{FF2B5EF4-FFF2-40B4-BE49-F238E27FC236}">
                <a16:creationId xmlns:a16="http://schemas.microsoft.com/office/drawing/2014/main" id="{9A7320F0-4C4F-D33C-C0C8-002A7232C94E}"/>
              </a:ext>
            </a:extLst>
          </p:cNvPr>
          <p:cNvSpPr txBox="1"/>
          <p:nvPr/>
        </p:nvSpPr>
        <p:spPr>
          <a:xfrm>
            <a:off x="2745946" y="4570947"/>
            <a:ext cx="5985677" cy="1382784"/>
          </a:xfrm>
          <a:prstGeom prst="rect">
            <a:avLst/>
          </a:prstGeom>
          <a:solidFill>
            <a:schemeClr val="accent6">
              <a:lumMod val="50000"/>
            </a:schemeClr>
          </a:solidFill>
        </p:spPr>
        <p:txBody>
          <a:bodyPr wrap="square" anchor="ctr">
            <a:noAutofit/>
          </a:bodyPr>
          <a:lstStyle/>
          <a:p>
            <a:pPr algn="ctr"/>
            <a:r>
              <a:rPr lang="en-US" sz="2800" b="1" dirty="0">
                <a:solidFill>
                  <a:schemeClr val="bg1"/>
                </a:solidFill>
                <a:latin typeface="Aptos" panose="020B0004020202020204" pitchFamily="34" charset="0"/>
              </a:rPr>
              <a:t>From Vision to Action</a:t>
            </a:r>
          </a:p>
          <a:p>
            <a:pPr algn="ctr"/>
            <a:r>
              <a:rPr lang="en-US" sz="2400" dirty="0">
                <a:solidFill>
                  <a:schemeClr val="bg1"/>
                </a:solidFill>
                <a:latin typeface="Aptos" panose="020B0004020202020204" pitchFamily="34" charset="0"/>
              </a:rPr>
              <a:t>Industries need to Lead the Way in Sustainable Supply Chains and Green-Tech</a:t>
            </a:r>
          </a:p>
        </p:txBody>
      </p:sp>
    </p:spTree>
    <p:extLst>
      <p:ext uri="{BB962C8B-B14F-4D97-AF65-F5344CB8AC3E}">
        <p14:creationId xmlns:p14="http://schemas.microsoft.com/office/powerpoint/2010/main" val="762095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A17247-9A06-D5C1-7A1B-DB56A450D37C}"/>
              </a:ext>
            </a:extLst>
          </p:cNvPr>
          <p:cNvSpPr txBox="1"/>
          <p:nvPr/>
        </p:nvSpPr>
        <p:spPr>
          <a:xfrm>
            <a:off x="376549" y="230697"/>
            <a:ext cx="11391809" cy="646331"/>
          </a:xfrm>
          <a:prstGeom prst="rect">
            <a:avLst/>
          </a:prstGeom>
          <a:noFill/>
        </p:spPr>
        <p:txBody>
          <a:bodyPr wrap="square" rtlCol="0">
            <a:spAutoFit/>
          </a:bodyPr>
          <a:lstStyle/>
          <a:p>
            <a:r>
              <a:rPr lang="en-US" sz="3600" b="1" dirty="0">
                <a:solidFill>
                  <a:srgbClr val="00B0F0"/>
                </a:solidFill>
                <a:latin typeface="Aptos" panose="020B0004020202020204" pitchFamily="34" charset="0"/>
                <a:cs typeface="Arial" panose="020B0604020202020204" pitchFamily="34" charset="0"/>
              </a:rPr>
              <a:t>Sustainability Redefined: </a:t>
            </a:r>
            <a:r>
              <a:rPr kumimoji="0" lang="en-US" sz="3200" b="0" u="none" strike="noStrike" kern="1200" cap="none" spc="0" normalizeH="0" baseline="0" noProof="0" dirty="0">
                <a:ln>
                  <a:noFill/>
                </a:ln>
                <a:solidFill>
                  <a:srgbClr val="00B050"/>
                </a:solidFill>
                <a:effectLst/>
                <a:uLnTx/>
                <a:uFillTx/>
                <a:latin typeface="Aptos" panose="020B0004020202020204" pitchFamily="34" charset="0"/>
              </a:rPr>
              <a:t>Innovating for a Greener Future</a:t>
            </a:r>
            <a:endParaRPr lang="en-US" sz="3600" b="1" dirty="0">
              <a:solidFill>
                <a:srgbClr val="00B050"/>
              </a:solidFill>
              <a:latin typeface="Aptos" panose="020B00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E1DC9B2C-6C60-7F8C-2788-C6EA15292E5D}"/>
              </a:ext>
            </a:extLst>
          </p:cNvPr>
          <p:cNvSpPr txBox="1"/>
          <p:nvPr/>
        </p:nvSpPr>
        <p:spPr>
          <a:xfrm>
            <a:off x="376549" y="6365693"/>
            <a:ext cx="11649935" cy="261610"/>
          </a:xfrm>
          <a:prstGeom prst="rect">
            <a:avLst/>
          </a:prstGeom>
          <a:noFill/>
          <a:ln w="6350">
            <a:noFill/>
            <a:miter lim="800000"/>
          </a:ln>
        </p:spPr>
        <p:txBody>
          <a:bodyPr wrap="square">
            <a:spAutoFit/>
          </a:bodyPr>
          <a:lstStyle/>
          <a:p>
            <a:r>
              <a:rPr lang="en-US" sz="1050" i="1" dirty="0">
                <a:solidFill>
                  <a:schemeClr val="bg1">
                    <a:lumMod val="50000"/>
                  </a:schemeClr>
                </a:solidFill>
                <a:latin typeface="Aptos" panose="020B0004020202020204" pitchFamily="34" charset="0"/>
              </a:rPr>
              <a:t>* Granules CZRO is the wholly owned subsidiary of Granules</a:t>
            </a:r>
          </a:p>
        </p:txBody>
      </p:sp>
      <p:pic>
        <p:nvPicPr>
          <p:cNvPr id="15" name="Picture 14">
            <a:extLst>
              <a:ext uri="{FF2B5EF4-FFF2-40B4-BE49-F238E27FC236}">
                <a16:creationId xmlns:a16="http://schemas.microsoft.com/office/drawing/2014/main" id="{79637EBB-29EE-BF43-AE56-BCDBB7AF54C1}"/>
              </a:ext>
            </a:extLst>
          </p:cNvPr>
          <p:cNvPicPr>
            <a:picLocks noChangeAspect="1"/>
          </p:cNvPicPr>
          <p:nvPr/>
        </p:nvPicPr>
        <p:blipFill>
          <a:blip r:embed="rId2"/>
          <a:stretch>
            <a:fillRect/>
          </a:stretch>
        </p:blipFill>
        <p:spPr>
          <a:xfrm>
            <a:off x="1051123" y="1365645"/>
            <a:ext cx="10089754" cy="4511431"/>
          </a:xfrm>
          <a:prstGeom prst="rect">
            <a:avLst/>
          </a:prstGeom>
        </p:spPr>
      </p:pic>
      <p:sp>
        <p:nvSpPr>
          <p:cNvPr id="4" name="TextBox 3">
            <a:extLst>
              <a:ext uri="{FF2B5EF4-FFF2-40B4-BE49-F238E27FC236}">
                <a16:creationId xmlns:a16="http://schemas.microsoft.com/office/drawing/2014/main" id="{96802426-88BF-A908-038E-73DD8F881178}"/>
              </a:ext>
            </a:extLst>
          </p:cNvPr>
          <p:cNvSpPr txBox="1"/>
          <p:nvPr/>
        </p:nvSpPr>
        <p:spPr>
          <a:xfrm>
            <a:off x="9399984" y="1410775"/>
            <a:ext cx="1438557" cy="299476"/>
          </a:xfrm>
          <a:prstGeom prst="rect">
            <a:avLst/>
          </a:prstGeom>
          <a:solidFill>
            <a:schemeClr val="bg1"/>
          </a:solidFill>
        </p:spPr>
        <p:txBody>
          <a:bodyPr wrap="square" rtlCol="0">
            <a:spAutoFit/>
          </a:bodyPr>
          <a:lstStyle/>
          <a:p>
            <a:endParaRPr lang="en-IN" dirty="0"/>
          </a:p>
        </p:txBody>
      </p:sp>
      <p:sp>
        <p:nvSpPr>
          <p:cNvPr id="6" name="TextBox 5">
            <a:extLst>
              <a:ext uri="{FF2B5EF4-FFF2-40B4-BE49-F238E27FC236}">
                <a16:creationId xmlns:a16="http://schemas.microsoft.com/office/drawing/2014/main" id="{744B9363-4A90-3C96-90C8-848E17ECD2AB}"/>
              </a:ext>
            </a:extLst>
          </p:cNvPr>
          <p:cNvSpPr txBox="1"/>
          <p:nvPr/>
        </p:nvSpPr>
        <p:spPr>
          <a:xfrm>
            <a:off x="5620937" y="1410775"/>
            <a:ext cx="812028" cy="299476"/>
          </a:xfrm>
          <a:prstGeom prst="rect">
            <a:avLst/>
          </a:prstGeom>
          <a:solidFill>
            <a:schemeClr val="bg1"/>
          </a:solidFill>
        </p:spPr>
        <p:txBody>
          <a:bodyPr wrap="square" rtlCol="0">
            <a:spAutoFit/>
          </a:bodyPr>
          <a:lstStyle/>
          <a:p>
            <a:endParaRPr lang="en-IN" dirty="0"/>
          </a:p>
        </p:txBody>
      </p:sp>
      <p:pic>
        <p:nvPicPr>
          <p:cNvPr id="3" name="Picture 2">
            <a:extLst>
              <a:ext uri="{FF2B5EF4-FFF2-40B4-BE49-F238E27FC236}">
                <a16:creationId xmlns:a16="http://schemas.microsoft.com/office/drawing/2014/main" id="{727CA147-2DD0-F8A6-5B85-FBEDA88AB11C}"/>
              </a:ext>
            </a:extLst>
          </p:cNvPr>
          <p:cNvPicPr>
            <a:picLocks noChangeAspect="1"/>
          </p:cNvPicPr>
          <p:nvPr/>
        </p:nvPicPr>
        <p:blipFill rotWithShape="1">
          <a:blip r:embed="rId3"/>
          <a:srcRect t="81444" r="83032" b="998"/>
          <a:stretch/>
        </p:blipFill>
        <p:spPr>
          <a:xfrm>
            <a:off x="9855230" y="1404544"/>
            <a:ext cx="588022" cy="309377"/>
          </a:xfrm>
          <a:prstGeom prst="rect">
            <a:avLst/>
          </a:prstGeom>
        </p:spPr>
      </p:pic>
      <p:pic>
        <p:nvPicPr>
          <p:cNvPr id="8" name="Picture 7">
            <a:extLst>
              <a:ext uri="{FF2B5EF4-FFF2-40B4-BE49-F238E27FC236}">
                <a16:creationId xmlns:a16="http://schemas.microsoft.com/office/drawing/2014/main" id="{AFD6B72A-C3C8-9044-CF9A-E56DD540B892}"/>
              </a:ext>
            </a:extLst>
          </p:cNvPr>
          <p:cNvPicPr>
            <a:picLocks noChangeAspect="1"/>
          </p:cNvPicPr>
          <p:nvPr/>
        </p:nvPicPr>
        <p:blipFill rotWithShape="1">
          <a:blip r:embed="rId3"/>
          <a:srcRect t="81444" r="83032" b="998"/>
          <a:stretch/>
        </p:blipFill>
        <p:spPr>
          <a:xfrm>
            <a:off x="5673627" y="1404544"/>
            <a:ext cx="588022" cy="309377"/>
          </a:xfrm>
          <a:prstGeom prst="rect">
            <a:avLst/>
          </a:prstGeom>
        </p:spPr>
      </p:pic>
    </p:spTree>
    <p:extLst>
      <p:ext uri="{BB962C8B-B14F-4D97-AF65-F5344CB8AC3E}">
        <p14:creationId xmlns:p14="http://schemas.microsoft.com/office/powerpoint/2010/main" val="338552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7E8757-ACDD-1D97-BD29-A5AB98A6823C}"/>
              </a:ext>
            </a:extLst>
          </p:cNvPr>
          <p:cNvSpPr txBox="1"/>
          <p:nvPr/>
        </p:nvSpPr>
        <p:spPr>
          <a:xfrm>
            <a:off x="1034040" y="2372872"/>
            <a:ext cx="6549015" cy="646331"/>
          </a:xfrm>
          <a:prstGeom prst="rect">
            <a:avLst/>
          </a:prstGeom>
          <a:solidFill>
            <a:srgbClr val="00B0F0"/>
          </a:solidFill>
        </p:spPr>
        <p:txBody>
          <a:bodyPr wrap="square" rtlCol="0">
            <a:spAutoFit/>
          </a:bodyPr>
          <a:lstStyle/>
          <a:p>
            <a:r>
              <a:rPr lang="en-US" sz="3600" b="1" dirty="0">
                <a:solidFill>
                  <a:schemeClr val="bg1"/>
                </a:solidFill>
                <a:latin typeface="Aptos" panose="020B0004020202020204" pitchFamily="34" charset="0"/>
                <a:cs typeface="Arial" panose="020B0604020202020204" pitchFamily="34" charset="0"/>
              </a:rPr>
              <a:t>Financial information</a:t>
            </a:r>
          </a:p>
        </p:txBody>
      </p:sp>
    </p:spTree>
    <p:extLst>
      <p:ext uri="{BB962C8B-B14F-4D97-AF65-F5344CB8AC3E}">
        <p14:creationId xmlns:p14="http://schemas.microsoft.com/office/powerpoint/2010/main" val="1361917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DD96A38-94D8-4FD0-AF74-5B732B71D84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1" imgH="423" progId="TCLayout.ActiveDocument.1">
                  <p:embed/>
                </p:oleObj>
              </mc:Choice>
              <mc:Fallback>
                <p:oleObj name="think-cell Slide" r:id="rId3" imgW="421" imgH="423" progId="TCLayout.ActiveDocument.1">
                  <p:embed/>
                  <p:pic>
                    <p:nvPicPr>
                      <p:cNvPr id="5" name="Object 4" hidden="1">
                        <a:extLst>
                          <a:ext uri="{FF2B5EF4-FFF2-40B4-BE49-F238E27FC236}">
                            <a16:creationId xmlns:a16="http://schemas.microsoft.com/office/drawing/2014/main" id="{BDD96A38-94D8-4FD0-AF74-5B732B71D84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EA30E348-4D19-4B2E-9D24-04FD33B4B024}"/>
              </a:ext>
            </a:extLst>
          </p:cNvPr>
          <p:cNvSpPr>
            <a:spLocks noGrp="1"/>
          </p:cNvSpPr>
          <p:nvPr>
            <p:ph type="sldNum" sz="quarter" idx="4294967295"/>
          </p:nvPr>
        </p:nvSpPr>
        <p:spPr>
          <a:xfrm>
            <a:off x="9448800" y="6410325"/>
            <a:ext cx="2743200" cy="365125"/>
          </a:xfrm>
        </p:spPr>
        <p:txBody>
          <a:bodyPr/>
          <a:lstStyle/>
          <a:p>
            <a:fld id="{9FC3031A-744E-4491-9064-FD6EC4156FCE}" type="slidenum">
              <a:rPr lang="en-IN" smtClean="0"/>
              <a:pPr/>
              <a:t>19</a:t>
            </a:fld>
            <a:endParaRPr lang="en-IN" dirty="0"/>
          </a:p>
        </p:txBody>
      </p:sp>
      <p:sp>
        <p:nvSpPr>
          <p:cNvPr id="393" name="Rectangle: Rounded Corners 392">
            <a:extLst>
              <a:ext uri="{FF2B5EF4-FFF2-40B4-BE49-F238E27FC236}">
                <a16:creationId xmlns:a16="http://schemas.microsoft.com/office/drawing/2014/main" id="{9C29EF1A-DE3D-33E9-A221-9D178E9FF807}"/>
              </a:ext>
            </a:extLst>
          </p:cNvPr>
          <p:cNvSpPr/>
          <p:nvPr/>
        </p:nvSpPr>
        <p:spPr>
          <a:xfrm>
            <a:off x="2557809" y="1166565"/>
            <a:ext cx="1080000" cy="450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pPr algn="ctr"/>
            <a:r>
              <a:rPr lang="en-IN" sz="1600" kern="0" dirty="0">
                <a:solidFill>
                  <a:srgbClr val="FFFFFF"/>
                </a:solidFill>
                <a:latin typeface="Georgia"/>
              </a:rPr>
              <a:t>FY23</a:t>
            </a:r>
          </a:p>
        </p:txBody>
      </p:sp>
      <p:sp>
        <p:nvSpPr>
          <p:cNvPr id="394" name="Rectangle: Rounded Corners 393">
            <a:extLst>
              <a:ext uri="{FF2B5EF4-FFF2-40B4-BE49-F238E27FC236}">
                <a16:creationId xmlns:a16="http://schemas.microsoft.com/office/drawing/2014/main" id="{1EB06824-586D-E5FE-0E15-EA6D878B1C74}"/>
              </a:ext>
            </a:extLst>
          </p:cNvPr>
          <p:cNvSpPr/>
          <p:nvPr/>
        </p:nvSpPr>
        <p:spPr>
          <a:xfrm>
            <a:off x="3876846" y="1166565"/>
            <a:ext cx="1080000" cy="450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pPr algn="ctr"/>
            <a:r>
              <a:rPr lang="en-IN" sz="1600" kern="0" dirty="0">
                <a:solidFill>
                  <a:srgbClr val="FFFFFF"/>
                </a:solidFill>
                <a:latin typeface="Georgia"/>
              </a:rPr>
              <a:t>FY22</a:t>
            </a:r>
          </a:p>
        </p:txBody>
      </p:sp>
      <p:sp>
        <p:nvSpPr>
          <p:cNvPr id="395" name="Rectangle: Rounded Corners 394">
            <a:extLst>
              <a:ext uri="{FF2B5EF4-FFF2-40B4-BE49-F238E27FC236}">
                <a16:creationId xmlns:a16="http://schemas.microsoft.com/office/drawing/2014/main" id="{FABD5B00-8D9E-DAA4-4BFC-667C8CA2BB48}"/>
              </a:ext>
            </a:extLst>
          </p:cNvPr>
          <p:cNvSpPr/>
          <p:nvPr/>
        </p:nvSpPr>
        <p:spPr>
          <a:xfrm>
            <a:off x="5127453" y="1166565"/>
            <a:ext cx="1306800" cy="450000"/>
          </a:xfrm>
          <a:prstGeom prst="roundRect">
            <a:avLst/>
          </a:prstGeom>
          <a:noFill/>
          <a:ln w="9525" cap="flat" cmpd="sng" algn="ctr">
            <a:solidFill>
              <a:srgbClr val="00A9F4"/>
            </a:solid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IN" sz="1400" b="1" i="1" kern="0" dirty="0">
                <a:solidFill>
                  <a:srgbClr val="000000"/>
                </a:solidFill>
                <a:latin typeface="Georgia" panose="02040502050405020303" pitchFamily="18" charset="0"/>
              </a:rPr>
              <a:t>Y-o-Y Gr%</a:t>
            </a:r>
          </a:p>
        </p:txBody>
      </p:sp>
      <p:sp>
        <p:nvSpPr>
          <p:cNvPr id="398" name="Rectangle: Rounded Corners 397">
            <a:extLst>
              <a:ext uri="{FF2B5EF4-FFF2-40B4-BE49-F238E27FC236}">
                <a16:creationId xmlns:a16="http://schemas.microsoft.com/office/drawing/2014/main" id="{F8D10DD3-0C90-FEA4-3477-60AD314D500F}"/>
              </a:ext>
            </a:extLst>
          </p:cNvPr>
          <p:cNvSpPr/>
          <p:nvPr/>
        </p:nvSpPr>
        <p:spPr>
          <a:xfrm>
            <a:off x="2557809" y="1834887"/>
            <a:ext cx="1080000" cy="540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600" b="1" i="0" u="none" strike="noStrike" kern="0" cap="none" spc="0" normalizeH="0" baseline="0" noProof="0" dirty="0">
                <a:ln>
                  <a:noFill/>
                </a:ln>
                <a:solidFill>
                  <a:srgbClr val="000000"/>
                </a:solidFill>
                <a:effectLst/>
                <a:uLnTx/>
                <a:uFillTx/>
                <a:latin typeface="Arial"/>
                <a:ea typeface="+mn-ea"/>
                <a:cs typeface="+mn-cs"/>
              </a:rPr>
              <a:t>45,119</a:t>
            </a:r>
          </a:p>
        </p:txBody>
      </p:sp>
      <p:grpSp>
        <p:nvGrpSpPr>
          <p:cNvPr id="399" name="Group 398">
            <a:extLst>
              <a:ext uri="{FF2B5EF4-FFF2-40B4-BE49-F238E27FC236}">
                <a16:creationId xmlns:a16="http://schemas.microsoft.com/office/drawing/2014/main" id="{69AB2008-107E-6BEB-9AA3-0C37DEA57531}"/>
              </a:ext>
            </a:extLst>
          </p:cNvPr>
          <p:cNvGrpSpPr/>
          <p:nvPr/>
        </p:nvGrpSpPr>
        <p:grpSpPr>
          <a:xfrm>
            <a:off x="2557809" y="2630862"/>
            <a:ext cx="1080000" cy="899388"/>
            <a:chOff x="636496" y="2481438"/>
            <a:chExt cx="1635200" cy="1030511"/>
          </a:xfrm>
          <a:solidFill>
            <a:srgbClr val="FFFFFF">
              <a:lumMod val="95000"/>
            </a:srgbClr>
          </a:solidFill>
        </p:grpSpPr>
        <p:sp>
          <p:nvSpPr>
            <p:cNvPr id="400" name="Rectangle: Rounded Corners 399">
              <a:extLst>
                <a:ext uri="{FF2B5EF4-FFF2-40B4-BE49-F238E27FC236}">
                  <a16:creationId xmlns:a16="http://schemas.microsoft.com/office/drawing/2014/main" id="{F42F5084-991A-FDE5-64D9-22BA3BDFB3C5}"/>
                </a:ext>
              </a:extLst>
            </p:cNvPr>
            <p:cNvSpPr/>
            <p:nvPr/>
          </p:nvSpPr>
          <p:spPr>
            <a:xfrm>
              <a:off x="636496" y="2481438"/>
              <a:ext cx="1635200" cy="619428"/>
            </a:xfrm>
            <a:prstGeom prst="roundRect">
              <a:avLst/>
            </a:prstGeom>
            <a:grp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600" b="1" i="0" u="none" strike="noStrike" kern="0" cap="none" spc="0" normalizeH="0" baseline="0" noProof="0" dirty="0">
                  <a:ln>
                    <a:noFill/>
                  </a:ln>
                  <a:solidFill>
                    <a:srgbClr val="000000"/>
                  </a:solidFill>
                  <a:effectLst/>
                  <a:uLnTx/>
                  <a:uFillTx/>
                  <a:latin typeface="Arial"/>
                  <a:ea typeface="+mn-ea"/>
                  <a:cs typeface="+mn-cs"/>
                </a:rPr>
                <a:t>22,046</a:t>
              </a:r>
            </a:p>
          </p:txBody>
        </p:sp>
        <p:sp>
          <p:nvSpPr>
            <p:cNvPr id="401" name="Rectangle: Rounded Corners 400">
              <a:extLst>
                <a:ext uri="{FF2B5EF4-FFF2-40B4-BE49-F238E27FC236}">
                  <a16:creationId xmlns:a16="http://schemas.microsoft.com/office/drawing/2014/main" id="{54871866-C34F-1D4F-C287-E6B717CDE24E}"/>
                </a:ext>
              </a:extLst>
            </p:cNvPr>
            <p:cNvSpPr/>
            <p:nvPr/>
          </p:nvSpPr>
          <p:spPr>
            <a:xfrm>
              <a:off x="636496" y="3099464"/>
              <a:ext cx="1635200" cy="412485"/>
            </a:xfrm>
            <a:prstGeom prst="roundRect">
              <a:avLst/>
            </a:prstGeom>
            <a:noFill/>
            <a:ln w="10795" cap="flat" cmpd="sng" algn="ctr">
              <a:solidFill>
                <a:srgbClr val="000000"/>
              </a:solid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400" b="1" i="1" u="none" strike="noStrike" kern="0" cap="none" spc="0" normalizeH="0" baseline="0" noProof="0" dirty="0">
                  <a:ln>
                    <a:noFill/>
                  </a:ln>
                  <a:solidFill>
                    <a:srgbClr val="000000"/>
                  </a:solidFill>
                  <a:effectLst/>
                  <a:uLnTx/>
                  <a:uFillTx/>
                  <a:latin typeface="Arial"/>
                  <a:ea typeface="+mn-ea"/>
                  <a:cs typeface="+mn-cs"/>
                </a:rPr>
                <a:t>48.9%</a:t>
              </a:r>
            </a:p>
          </p:txBody>
        </p:sp>
      </p:grpSp>
      <p:sp>
        <p:nvSpPr>
          <p:cNvPr id="402" name="Rectangle: Rounded Corners 401">
            <a:extLst>
              <a:ext uri="{FF2B5EF4-FFF2-40B4-BE49-F238E27FC236}">
                <a16:creationId xmlns:a16="http://schemas.microsoft.com/office/drawing/2014/main" id="{C769B121-8EAE-14C2-B951-D34A05897444}"/>
              </a:ext>
            </a:extLst>
          </p:cNvPr>
          <p:cNvSpPr/>
          <p:nvPr/>
        </p:nvSpPr>
        <p:spPr>
          <a:xfrm>
            <a:off x="3876846" y="1834887"/>
            <a:ext cx="1080000" cy="540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lang="en-IN" sz="1600" b="1" kern="0" dirty="0">
                <a:solidFill>
                  <a:srgbClr val="000000"/>
                </a:solidFill>
                <a:latin typeface="Arial"/>
              </a:rPr>
              <a:t>37,649</a:t>
            </a:r>
            <a:endParaRPr kumimoji="0" lang="en-IN" sz="1600" b="1" i="0" u="none" strike="noStrike" kern="0" cap="none" spc="0" normalizeH="0" baseline="0" noProof="0" dirty="0">
              <a:ln>
                <a:noFill/>
              </a:ln>
              <a:solidFill>
                <a:srgbClr val="000000"/>
              </a:solidFill>
              <a:effectLst/>
              <a:uLnTx/>
              <a:uFillTx/>
              <a:latin typeface="Arial"/>
              <a:ea typeface="+mn-ea"/>
              <a:cs typeface="+mn-cs"/>
            </a:endParaRPr>
          </a:p>
        </p:txBody>
      </p:sp>
      <p:grpSp>
        <p:nvGrpSpPr>
          <p:cNvPr id="403" name="Group 402">
            <a:extLst>
              <a:ext uri="{FF2B5EF4-FFF2-40B4-BE49-F238E27FC236}">
                <a16:creationId xmlns:a16="http://schemas.microsoft.com/office/drawing/2014/main" id="{C679220B-0CCE-0C3B-4E5C-60FE9E108F50}"/>
              </a:ext>
            </a:extLst>
          </p:cNvPr>
          <p:cNvGrpSpPr/>
          <p:nvPr/>
        </p:nvGrpSpPr>
        <p:grpSpPr>
          <a:xfrm>
            <a:off x="3876846" y="2630862"/>
            <a:ext cx="1080000" cy="899388"/>
            <a:chOff x="636496" y="2481438"/>
            <a:chExt cx="1635200" cy="1030511"/>
          </a:xfrm>
          <a:solidFill>
            <a:srgbClr val="FFFFFF">
              <a:lumMod val="95000"/>
            </a:srgbClr>
          </a:solidFill>
        </p:grpSpPr>
        <p:sp>
          <p:nvSpPr>
            <p:cNvPr id="404" name="Rectangle: Rounded Corners 403">
              <a:extLst>
                <a:ext uri="{FF2B5EF4-FFF2-40B4-BE49-F238E27FC236}">
                  <a16:creationId xmlns:a16="http://schemas.microsoft.com/office/drawing/2014/main" id="{C06BF3EE-8390-A6A3-BBF8-A99B6F7DF91B}"/>
                </a:ext>
              </a:extLst>
            </p:cNvPr>
            <p:cNvSpPr/>
            <p:nvPr/>
          </p:nvSpPr>
          <p:spPr>
            <a:xfrm>
              <a:off x="636496" y="2481438"/>
              <a:ext cx="1635200" cy="619428"/>
            </a:xfrm>
            <a:prstGeom prst="roundRect">
              <a:avLst/>
            </a:prstGeom>
            <a:grp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lang="en-IN" sz="1600" b="1" kern="0" dirty="0">
                  <a:solidFill>
                    <a:srgbClr val="000000"/>
                  </a:solidFill>
                  <a:latin typeface="Arial"/>
                </a:rPr>
                <a:t>18,813</a:t>
              </a:r>
              <a:endParaRPr kumimoji="0" lang="en-IN" sz="1600" b="1" i="0" u="none" strike="noStrike" kern="0" cap="none" spc="0" normalizeH="0" baseline="0" noProof="0" dirty="0">
                <a:ln>
                  <a:noFill/>
                </a:ln>
                <a:solidFill>
                  <a:srgbClr val="000000"/>
                </a:solidFill>
                <a:effectLst/>
                <a:uLnTx/>
                <a:uFillTx/>
                <a:latin typeface="Arial"/>
                <a:ea typeface="+mn-ea"/>
                <a:cs typeface="+mn-cs"/>
              </a:endParaRPr>
            </a:p>
          </p:txBody>
        </p:sp>
        <p:sp>
          <p:nvSpPr>
            <p:cNvPr id="405" name="Rectangle: Rounded Corners 404">
              <a:extLst>
                <a:ext uri="{FF2B5EF4-FFF2-40B4-BE49-F238E27FC236}">
                  <a16:creationId xmlns:a16="http://schemas.microsoft.com/office/drawing/2014/main" id="{6994EA78-1033-442A-6EED-B11045F084B3}"/>
                </a:ext>
              </a:extLst>
            </p:cNvPr>
            <p:cNvSpPr/>
            <p:nvPr/>
          </p:nvSpPr>
          <p:spPr>
            <a:xfrm>
              <a:off x="636496" y="3099464"/>
              <a:ext cx="1635200" cy="412485"/>
            </a:xfrm>
            <a:prstGeom prst="roundRect">
              <a:avLst/>
            </a:prstGeom>
            <a:noFill/>
            <a:ln w="10795" cap="flat" cmpd="sng" algn="ctr">
              <a:solidFill>
                <a:srgbClr val="000000"/>
              </a:solid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400" b="1" i="1" u="none" strike="noStrike" kern="0" cap="none" spc="0" normalizeH="0" baseline="0" noProof="0" dirty="0">
                  <a:ln>
                    <a:noFill/>
                  </a:ln>
                  <a:solidFill>
                    <a:srgbClr val="000000"/>
                  </a:solidFill>
                  <a:effectLst/>
                  <a:uLnTx/>
                  <a:uFillTx/>
                  <a:latin typeface="Arial"/>
                  <a:ea typeface="+mn-ea"/>
                  <a:cs typeface="+mn-cs"/>
                </a:rPr>
                <a:t>50.0%</a:t>
              </a:r>
            </a:p>
          </p:txBody>
        </p:sp>
      </p:grpSp>
      <p:grpSp>
        <p:nvGrpSpPr>
          <p:cNvPr id="413" name="Group 412">
            <a:extLst>
              <a:ext uri="{FF2B5EF4-FFF2-40B4-BE49-F238E27FC236}">
                <a16:creationId xmlns:a16="http://schemas.microsoft.com/office/drawing/2014/main" id="{0DA29863-5158-E191-9B7B-CDD3936374C2}"/>
              </a:ext>
            </a:extLst>
          </p:cNvPr>
          <p:cNvGrpSpPr/>
          <p:nvPr/>
        </p:nvGrpSpPr>
        <p:grpSpPr>
          <a:xfrm>
            <a:off x="2557809" y="3771233"/>
            <a:ext cx="1080000" cy="899388"/>
            <a:chOff x="636496" y="2481438"/>
            <a:chExt cx="1635200" cy="1030511"/>
          </a:xfrm>
          <a:solidFill>
            <a:srgbClr val="FFFFFF">
              <a:lumMod val="95000"/>
            </a:srgbClr>
          </a:solidFill>
        </p:grpSpPr>
        <p:sp>
          <p:nvSpPr>
            <p:cNvPr id="414" name="Rectangle: Rounded Corners 413">
              <a:extLst>
                <a:ext uri="{FF2B5EF4-FFF2-40B4-BE49-F238E27FC236}">
                  <a16:creationId xmlns:a16="http://schemas.microsoft.com/office/drawing/2014/main" id="{A98805EE-4A08-0825-4A04-54071CC97944}"/>
                </a:ext>
              </a:extLst>
            </p:cNvPr>
            <p:cNvSpPr/>
            <p:nvPr/>
          </p:nvSpPr>
          <p:spPr>
            <a:xfrm>
              <a:off x="636496" y="2481438"/>
              <a:ext cx="1635200" cy="619428"/>
            </a:xfrm>
            <a:prstGeom prst="roundRect">
              <a:avLst/>
            </a:prstGeom>
            <a:grp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600" b="1" i="0" u="none" strike="noStrike" kern="0" cap="none" spc="0" normalizeH="0" baseline="0" noProof="0" dirty="0">
                  <a:ln>
                    <a:noFill/>
                  </a:ln>
                  <a:solidFill>
                    <a:srgbClr val="000000"/>
                  </a:solidFill>
                  <a:effectLst/>
                  <a:uLnTx/>
                  <a:uFillTx/>
                  <a:latin typeface="Arial"/>
                  <a:ea typeface="+mn-ea"/>
                  <a:cs typeface="+mn-cs"/>
                </a:rPr>
                <a:t>9,138</a:t>
              </a:r>
            </a:p>
          </p:txBody>
        </p:sp>
        <p:sp>
          <p:nvSpPr>
            <p:cNvPr id="415" name="Rectangle: Rounded Corners 414">
              <a:extLst>
                <a:ext uri="{FF2B5EF4-FFF2-40B4-BE49-F238E27FC236}">
                  <a16:creationId xmlns:a16="http://schemas.microsoft.com/office/drawing/2014/main" id="{5A7E7D69-3022-768D-802D-6C5B2C8035C3}"/>
                </a:ext>
              </a:extLst>
            </p:cNvPr>
            <p:cNvSpPr/>
            <p:nvPr/>
          </p:nvSpPr>
          <p:spPr>
            <a:xfrm>
              <a:off x="636496" y="3099464"/>
              <a:ext cx="1635200" cy="412485"/>
            </a:xfrm>
            <a:prstGeom prst="roundRect">
              <a:avLst/>
            </a:prstGeom>
            <a:noFill/>
            <a:ln w="10795" cap="flat" cmpd="sng" algn="ctr">
              <a:solidFill>
                <a:srgbClr val="000000"/>
              </a:solid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400" b="1" i="1" u="none" strike="noStrike" kern="0" cap="none" spc="0" normalizeH="0" baseline="0" noProof="0" dirty="0">
                  <a:ln>
                    <a:noFill/>
                  </a:ln>
                  <a:solidFill>
                    <a:srgbClr val="000000"/>
                  </a:solidFill>
                  <a:effectLst/>
                  <a:uLnTx/>
                  <a:uFillTx/>
                  <a:latin typeface="Arial"/>
                  <a:ea typeface="+mn-ea"/>
                  <a:cs typeface="+mn-cs"/>
                </a:rPr>
                <a:t>20.3%</a:t>
              </a:r>
            </a:p>
          </p:txBody>
        </p:sp>
      </p:grpSp>
      <p:grpSp>
        <p:nvGrpSpPr>
          <p:cNvPr id="416" name="Group 415">
            <a:extLst>
              <a:ext uri="{FF2B5EF4-FFF2-40B4-BE49-F238E27FC236}">
                <a16:creationId xmlns:a16="http://schemas.microsoft.com/office/drawing/2014/main" id="{7ABCE696-12F7-1E37-EA1C-00BEC6AC1A58}"/>
              </a:ext>
            </a:extLst>
          </p:cNvPr>
          <p:cNvGrpSpPr/>
          <p:nvPr/>
        </p:nvGrpSpPr>
        <p:grpSpPr>
          <a:xfrm>
            <a:off x="3876846" y="3771233"/>
            <a:ext cx="1080000" cy="899388"/>
            <a:chOff x="636496" y="2481438"/>
            <a:chExt cx="1635200" cy="1030511"/>
          </a:xfrm>
          <a:solidFill>
            <a:srgbClr val="FFFFFF">
              <a:lumMod val="95000"/>
            </a:srgbClr>
          </a:solidFill>
        </p:grpSpPr>
        <p:sp>
          <p:nvSpPr>
            <p:cNvPr id="417" name="Rectangle: Rounded Corners 416">
              <a:extLst>
                <a:ext uri="{FF2B5EF4-FFF2-40B4-BE49-F238E27FC236}">
                  <a16:creationId xmlns:a16="http://schemas.microsoft.com/office/drawing/2014/main" id="{1E58F3C0-B0CE-7466-7ED1-04CE8E654160}"/>
                </a:ext>
              </a:extLst>
            </p:cNvPr>
            <p:cNvSpPr/>
            <p:nvPr/>
          </p:nvSpPr>
          <p:spPr>
            <a:xfrm>
              <a:off x="636496" y="2481438"/>
              <a:ext cx="1635200" cy="619428"/>
            </a:xfrm>
            <a:prstGeom prst="roundRect">
              <a:avLst/>
            </a:prstGeom>
            <a:grp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lang="en-IN" sz="1600" b="1" kern="0" dirty="0">
                  <a:solidFill>
                    <a:srgbClr val="000000"/>
                  </a:solidFill>
                  <a:latin typeface="Arial"/>
                </a:rPr>
                <a:t>7,222</a:t>
              </a:r>
              <a:endParaRPr kumimoji="0" lang="en-IN" sz="1600" b="1" i="0" u="none" strike="noStrike" kern="0" cap="none" spc="0" normalizeH="0" baseline="0" noProof="0" dirty="0">
                <a:ln>
                  <a:noFill/>
                </a:ln>
                <a:solidFill>
                  <a:srgbClr val="000000"/>
                </a:solidFill>
                <a:effectLst/>
                <a:uLnTx/>
                <a:uFillTx/>
                <a:latin typeface="Arial"/>
                <a:ea typeface="+mn-ea"/>
                <a:cs typeface="+mn-cs"/>
              </a:endParaRPr>
            </a:p>
          </p:txBody>
        </p:sp>
        <p:sp>
          <p:nvSpPr>
            <p:cNvPr id="418" name="Rectangle: Rounded Corners 417">
              <a:extLst>
                <a:ext uri="{FF2B5EF4-FFF2-40B4-BE49-F238E27FC236}">
                  <a16:creationId xmlns:a16="http://schemas.microsoft.com/office/drawing/2014/main" id="{BC586B64-9905-FEF8-908F-6C39F9099238}"/>
                </a:ext>
              </a:extLst>
            </p:cNvPr>
            <p:cNvSpPr/>
            <p:nvPr/>
          </p:nvSpPr>
          <p:spPr>
            <a:xfrm>
              <a:off x="636496" y="3099464"/>
              <a:ext cx="1635200" cy="412485"/>
            </a:xfrm>
            <a:prstGeom prst="roundRect">
              <a:avLst/>
            </a:prstGeom>
            <a:noFill/>
            <a:ln w="10795" cap="flat" cmpd="sng" algn="ctr">
              <a:solidFill>
                <a:srgbClr val="000000"/>
              </a:solid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400" b="1" i="1" u="none" strike="noStrike" kern="0" cap="none" spc="0" normalizeH="0" baseline="0" noProof="0" dirty="0">
                  <a:ln>
                    <a:noFill/>
                  </a:ln>
                  <a:solidFill>
                    <a:srgbClr val="000000"/>
                  </a:solidFill>
                  <a:effectLst/>
                  <a:uLnTx/>
                  <a:uFillTx/>
                  <a:latin typeface="Arial"/>
                  <a:ea typeface="+mn-ea"/>
                  <a:cs typeface="+mn-cs"/>
                </a:rPr>
                <a:t>19.2%</a:t>
              </a:r>
            </a:p>
          </p:txBody>
        </p:sp>
      </p:grpSp>
      <p:grpSp>
        <p:nvGrpSpPr>
          <p:cNvPr id="425" name="Group 424">
            <a:extLst>
              <a:ext uri="{FF2B5EF4-FFF2-40B4-BE49-F238E27FC236}">
                <a16:creationId xmlns:a16="http://schemas.microsoft.com/office/drawing/2014/main" id="{C233704A-4877-E736-C99D-7C9015121A4D}"/>
              </a:ext>
            </a:extLst>
          </p:cNvPr>
          <p:cNvGrpSpPr/>
          <p:nvPr/>
        </p:nvGrpSpPr>
        <p:grpSpPr>
          <a:xfrm>
            <a:off x="2557809" y="4986553"/>
            <a:ext cx="1080000" cy="899388"/>
            <a:chOff x="636496" y="2481438"/>
            <a:chExt cx="1635200" cy="1030511"/>
          </a:xfrm>
          <a:solidFill>
            <a:srgbClr val="FFFFFF">
              <a:lumMod val="95000"/>
            </a:srgbClr>
          </a:solidFill>
        </p:grpSpPr>
        <p:sp>
          <p:nvSpPr>
            <p:cNvPr id="426" name="Rectangle: Rounded Corners 425">
              <a:extLst>
                <a:ext uri="{FF2B5EF4-FFF2-40B4-BE49-F238E27FC236}">
                  <a16:creationId xmlns:a16="http://schemas.microsoft.com/office/drawing/2014/main" id="{715DC447-E4E6-EAEF-42DA-39A44F51B6EE}"/>
                </a:ext>
              </a:extLst>
            </p:cNvPr>
            <p:cNvSpPr/>
            <p:nvPr/>
          </p:nvSpPr>
          <p:spPr>
            <a:xfrm>
              <a:off x="636496" y="2481438"/>
              <a:ext cx="1635200" cy="619428"/>
            </a:xfrm>
            <a:prstGeom prst="roundRect">
              <a:avLst/>
            </a:prstGeom>
            <a:grp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600" b="1" i="0" u="none" strike="noStrike" kern="0" cap="none" spc="0" normalizeH="0" baseline="0" noProof="0" dirty="0">
                  <a:ln>
                    <a:noFill/>
                  </a:ln>
                  <a:solidFill>
                    <a:srgbClr val="000000"/>
                  </a:solidFill>
                  <a:effectLst/>
                  <a:uLnTx/>
                  <a:uFillTx/>
                  <a:latin typeface="Arial"/>
                  <a:ea typeface="+mn-ea"/>
                  <a:cs typeface="+mn-cs"/>
                </a:rPr>
                <a:t>5,166</a:t>
              </a:r>
            </a:p>
          </p:txBody>
        </p:sp>
        <p:sp>
          <p:nvSpPr>
            <p:cNvPr id="427" name="Rectangle: Rounded Corners 426">
              <a:extLst>
                <a:ext uri="{FF2B5EF4-FFF2-40B4-BE49-F238E27FC236}">
                  <a16:creationId xmlns:a16="http://schemas.microsoft.com/office/drawing/2014/main" id="{A813604E-9F3B-1D65-E18C-A428537140CD}"/>
                </a:ext>
              </a:extLst>
            </p:cNvPr>
            <p:cNvSpPr/>
            <p:nvPr/>
          </p:nvSpPr>
          <p:spPr>
            <a:xfrm>
              <a:off x="636496" y="3099464"/>
              <a:ext cx="1635200" cy="412485"/>
            </a:xfrm>
            <a:prstGeom prst="roundRect">
              <a:avLst/>
            </a:prstGeom>
            <a:noFill/>
            <a:ln w="10795" cap="flat" cmpd="sng" algn="ctr">
              <a:solidFill>
                <a:srgbClr val="000000"/>
              </a:solid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400" b="1" i="1" u="none" strike="noStrike" kern="0" cap="none" spc="0" normalizeH="0" baseline="0" noProof="0" dirty="0">
                  <a:ln>
                    <a:noFill/>
                  </a:ln>
                  <a:solidFill>
                    <a:srgbClr val="000000"/>
                  </a:solidFill>
                  <a:effectLst/>
                  <a:uLnTx/>
                  <a:uFillTx/>
                  <a:latin typeface="Arial"/>
                  <a:ea typeface="+mn-ea"/>
                  <a:cs typeface="+mn-cs"/>
                </a:rPr>
                <a:t>11.4%</a:t>
              </a:r>
            </a:p>
          </p:txBody>
        </p:sp>
      </p:grpSp>
      <p:grpSp>
        <p:nvGrpSpPr>
          <p:cNvPr id="428" name="Group 427">
            <a:extLst>
              <a:ext uri="{FF2B5EF4-FFF2-40B4-BE49-F238E27FC236}">
                <a16:creationId xmlns:a16="http://schemas.microsoft.com/office/drawing/2014/main" id="{A82063DD-520C-EFC6-493E-F330415769E3}"/>
              </a:ext>
            </a:extLst>
          </p:cNvPr>
          <p:cNvGrpSpPr/>
          <p:nvPr/>
        </p:nvGrpSpPr>
        <p:grpSpPr>
          <a:xfrm>
            <a:off x="3876846" y="4986553"/>
            <a:ext cx="1080000" cy="899388"/>
            <a:chOff x="636496" y="2481438"/>
            <a:chExt cx="1635200" cy="1030511"/>
          </a:xfrm>
          <a:solidFill>
            <a:srgbClr val="FFFFFF">
              <a:lumMod val="95000"/>
            </a:srgbClr>
          </a:solidFill>
        </p:grpSpPr>
        <p:sp>
          <p:nvSpPr>
            <p:cNvPr id="429" name="Rectangle: Rounded Corners 428">
              <a:extLst>
                <a:ext uri="{FF2B5EF4-FFF2-40B4-BE49-F238E27FC236}">
                  <a16:creationId xmlns:a16="http://schemas.microsoft.com/office/drawing/2014/main" id="{B1AB06F5-1BF8-A555-F580-3B1FE6959889}"/>
                </a:ext>
              </a:extLst>
            </p:cNvPr>
            <p:cNvSpPr/>
            <p:nvPr/>
          </p:nvSpPr>
          <p:spPr>
            <a:xfrm>
              <a:off x="636496" y="2481438"/>
              <a:ext cx="1635200" cy="619428"/>
            </a:xfrm>
            <a:prstGeom prst="roundRect">
              <a:avLst/>
            </a:prstGeom>
            <a:grp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600" b="1" i="0" u="none" strike="noStrike" kern="0" cap="none" spc="0" normalizeH="0" baseline="0" noProof="0">
                  <a:ln>
                    <a:noFill/>
                  </a:ln>
                  <a:solidFill>
                    <a:srgbClr val="000000"/>
                  </a:solidFill>
                  <a:effectLst/>
                  <a:uLnTx/>
                  <a:uFillTx/>
                  <a:latin typeface="Arial"/>
                  <a:ea typeface="+mn-ea"/>
                  <a:cs typeface="+mn-cs"/>
                </a:rPr>
                <a:t>4,128</a:t>
              </a:r>
              <a:endParaRPr kumimoji="0" lang="en-IN" sz="1600" b="1" i="0" u="none" strike="noStrike" kern="0" cap="none" spc="0" normalizeH="0" baseline="0" noProof="0" dirty="0">
                <a:ln>
                  <a:noFill/>
                </a:ln>
                <a:solidFill>
                  <a:srgbClr val="000000"/>
                </a:solidFill>
                <a:effectLst/>
                <a:uLnTx/>
                <a:uFillTx/>
                <a:latin typeface="Arial"/>
                <a:ea typeface="+mn-ea"/>
                <a:cs typeface="+mn-cs"/>
              </a:endParaRPr>
            </a:p>
          </p:txBody>
        </p:sp>
        <p:sp>
          <p:nvSpPr>
            <p:cNvPr id="430" name="Rectangle: Rounded Corners 429">
              <a:extLst>
                <a:ext uri="{FF2B5EF4-FFF2-40B4-BE49-F238E27FC236}">
                  <a16:creationId xmlns:a16="http://schemas.microsoft.com/office/drawing/2014/main" id="{F477B326-61B8-5CC9-11C3-2CC05495007E}"/>
                </a:ext>
              </a:extLst>
            </p:cNvPr>
            <p:cNvSpPr/>
            <p:nvPr/>
          </p:nvSpPr>
          <p:spPr>
            <a:xfrm>
              <a:off x="636496" y="3099464"/>
              <a:ext cx="1635200" cy="412485"/>
            </a:xfrm>
            <a:prstGeom prst="roundRect">
              <a:avLst/>
            </a:prstGeom>
            <a:noFill/>
            <a:ln w="10795" cap="flat" cmpd="sng" algn="ctr">
              <a:solidFill>
                <a:srgbClr val="000000"/>
              </a:solid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400" b="1" i="1" u="none" strike="noStrike" kern="0" cap="none" spc="0" normalizeH="0" baseline="0" noProof="0" dirty="0">
                  <a:ln>
                    <a:noFill/>
                  </a:ln>
                  <a:solidFill>
                    <a:srgbClr val="000000"/>
                  </a:solidFill>
                  <a:effectLst/>
                  <a:uLnTx/>
                  <a:uFillTx/>
                  <a:latin typeface="Arial"/>
                  <a:ea typeface="+mn-ea"/>
                  <a:cs typeface="+mn-cs"/>
                </a:rPr>
                <a:t>11.0%</a:t>
              </a:r>
            </a:p>
          </p:txBody>
        </p:sp>
      </p:grpSp>
      <p:grpSp>
        <p:nvGrpSpPr>
          <p:cNvPr id="434" name="Group 433">
            <a:extLst>
              <a:ext uri="{FF2B5EF4-FFF2-40B4-BE49-F238E27FC236}">
                <a16:creationId xmlns:a16="http://schemas.microsoft.com/office/drawing/2014/main" id="{4B9F84EA-DD6C-9406-145E-D15733627356}"/>
              </a:ext>
            </a:extLst>
          </p:cNvPr>
          <p:cNvGrpSpPr/>
          <p:nvPr/>
        </p:nvGrpSpPr>
        <p:grpSpPr>
          <a:xfrm>
            <a:off x="5240853" y="1834887"/>
            <a:ext cx="1080000" cy="540000"/>
            <a:chOff x="4728517" y="1545448"/>
            <a:chExt cx="1080000" cy="540000"/>
          </a:xfrm>
        </p:grpSpPr>
        <p:sp>
          <p:nvSpPr>
            <p:cNvPr id="435" name="Oval 434">
              <a:extLst>
                <a:ext uri="{FF2B5EF4-FFF2-40B4-BE49-F238E27FC236}">
                  <a16:creationId xmlns:a16="http://schemas.microsoft.com/office/drawing/2014/main" id="{ABDD25B3-B3E4-9352-8999-D256E95A88A6}"/>
                </a:ext>
              </a:extLst>
            </p:cNvPr>
            <p:cNvSpPr/>
            <p:nvPr/>
          </p:nvSpPr>
          <p:spPr>
            <a:xfrm>
              <a:off x="4728517" y="1545448"/>
              <a:ext cx="1080000" cy="540000"/>
            </a:xfrm>
            <a:prstGeom prst="ellipse">
              <a:avLst/>
            </a:prstGeom>
            <a:noFill/>
            <a:ln w="10795" cap="flat" cmpd="sng" algn="ctr">
              <a:solidFill>
                <a:schemeClr val="bg2">
                  <a:lumMod val="10000"/>
                </a:schemeClr>
              </a:solid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600" b="1" i="0" u="none" strike="noStrike" kern="0" cap="none" spc="0" normalizeH="0" baseline="0" noProof="0" dirty="0">
                  <a:ln>
                    <a:noFill/>
                  </a:ln>
                  <a:solidFill>
                    <a:srgbClr val="000000"/>
                  </a:solidFill>
                  <a:effectLst/>
                  <a:uLnTx/>
                  <a:uFillTx/>
                  <a:latin typeface="Arial"/>
                  <a:ea typeface="+mn-ea"/>
                  <a:cs typeface="+mn-cs"/>
                </a:rPr>
                <a:t>20%</a:t>
              </a:r>
            </a:p>
          </p:txBody>
        </p:sp>
        <p:sp>
          <p:nvSpPr>
            <p:cNvPr id="436" name="Arrow: Up 435">
              <a:extLst>
                <a:ext uri="{FF2B5EF4-FFF2-40B4-BE49-F238E27FC236}">
                  <a16:creationId xmlns:a16="http://schemas.microsoft.com/office/drawing/2014/main" id="{A88141C8-2039-FD13-2580-2C5E8B57A8F7}"/>
                </a:ext>
              </a:extLst>
            </p:cNvPr>
            <p:cNvSpPr/>
            <p:nvPr/>
          </p:nvSpPr>
          <p:spPr>
            <a:xfrm>
              <a:off x="5495221" y="1703682"/>
              <a:ext cx="270474" cy="223532"/>
            </a:xfrm>
            <a:prstGeom prst="upArrow">
              <a:avLst/>
            </a:prstGeom>
            <a:solidFill>
              <a:srgbClr val="00B050"/>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IN" sz="1600" b="0" i="0" u="none" strike="noStrike" kern="0" cap="none" spc="0" normalizeH="0" baseline="0" noProof="0" dirty="0" err="1">
                <a:ln>
                  <a:noFill/>
                </a:ln>
                <a:solidFill>
                  <a:srgbClr val="FFFFFF"/>
                </a:solidFill>
                <a:effectLst/>
                <a:uLnTx/>
                <a:uFillTx/>
                <a:latin typeface="Arial"/>
                <a:ea typeface="+mn-ea"/>
                <a:cs typeface="+mn-cs"/>
              </a:endParaRPr>
            </a:p>
          </p:txBody>
        </p:sp>
      </p:grpSp>
      <p:grpSp>
        <p:nvGrpSpPr>
          <p:cNvPr id="437" name="Group 436">
            <a:extLst>
              <a:ext uri="{FF2B5EF4-FFF2-40B4-BE49-F238E27FC236}">
                <a16:creationId xmlns:a16="http://schemas.microsoft.com/office/drawing/2014/main" id="{0DBA7715-BC23-AA9B-D858-77FD94C5D748}"/>
              </a:ext>
            </a:extLst>
          </p:cNvPr>
          <p:cNvGrpSpPr/>
          <p:nvPr/>
        </p:nvGrpSpPr>
        <p:grpSpPr>
          <a:xfrm>
            <a:off x="5240853" y="2805651"/>
            <a:ext cx="1080000" cy="540612"/>
            <a:chOff x="4728517" y="2221503"/>
            <a:chExt cx="1080000" cy="540612"/>
          </a:xfrm>
        </p:grpSpPr>
        <p:sp>
          <p:nvSpPr>
            <p:cNvPr id="438" name="Oval 437">
              <a:extLst>
                <a:ext uri="{FF2B5EF4-FFF2-40B4-BE49-F238E27FC236}">
                  <a16:creationId xmlns:a16="http://schemas.microsoft.com/office/drawing/2014/main" id="{A9A83774-E6F0-7BEC-1EE6-661AC7C44AA8}"/>
                </a:ext>
              </a:extLst>
            </p:cNvPr>
            <p:cNvSpPr/>
            <p:nvPr/>
          </p:nvSpPr>
          <p:spPr>
            <a:xfrm>
              <a:off x="4728517" y="2221503"/>
              <a:ext cx="1080000" cy="540612"/>
            </a:xfrm>
            <a:prstGeom prst="ellipse">
              <a:avLst/>
            </a:prstGeom>
            <a:noFill/>
            <a:ln w="10795" cap="flat" cmpd="sng" algn="ctr">
              <a:solidFill>
                <a:schemeClr val="bg2">
                  <a:lumMod val="10000"/>
                </a:schemeClr>
              </a:solid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600" b="1" i="0" u="none" strike="noStrike" kern="0" cap="none" spc="0" normalizeH="0" baseline="0" noProof="0" dirty="0">
                  <a:ln>
                    <a:noFill/>
                  </a:ln>
                  <a:solidFill>
                    <a:srgbClr val="000000"/>
                  </a:solidFill>
                  <a:effectLst/>
                  <a:uLnTx/>
                  <a:uFillTx/>
                  <a:latin typeface="Arial"/>
                  <a:ea typeface="+mn-ea"/>
                  <a:cs typeface="+mn-cs"/>
                </a:rPr>
                <a:t>17%</a:t>
              </a:r>
            </a:p>
          </p:txBody>
        </p:sp>
        <p:sp>
          <p:nvSpPr>
            <p:cNvPr id="439" name="Arrow: Up 438">
              <a:extLst>
                <a:ext uri="{FF2B5EF4-FFF2-40B4-BE49-F238E27FC236}">
                  <a16:creationId xmlns:a16="http://schemas.microsoft.com/office/drawing/2014/main" id="{6A020AC4-AAFB-D6C5-C3FC-553F38AD9D29}"/>
                </a:ext>
              </a:extLst>
            </p:cNvPr>
            <p:cNvSpPr/>
            <p:nvPr/>
          </p:nvSpPr>
          <p:spPr>
            <a:xfrm>
              <a:off x="5495221" y="2378513"/>
              <a:ext cx="270474" cy="223532"/>
            </a:xfrm>
            <a:prstGeom prst="upArrow">
              <a:avLst/>
            </a:prstGeom>
            <a:solidFill>
              <a:srgbClr val="00B050"/>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IN" sz="1600" b="0" i="0" u="none" strike="noStrike" kern="0" cap="none" spc="0" normalizeH="0" baseline="0" noProof="0" dirty="0" err="1">
                <a:ln>
                  <a:noFill/>
                </a:ln>
                <a:solidFill>
                  <a:srgbClr val="FFFFFF"/>
                </a:solidFill>
                <a:effectLst/>
                <a:uLnTx/>
                <a:uFillTx/>
                <a:latin typeface="Arial"/>
                <a:ea typeface="+mn-ea"/>
                <a:cs typeface="+mn-cs"/>
              </a:endParaRPr>
            </a:p>
          </p:txBody>
        </p:sp>
      </p:grpSp>
      <p:grpSp>
        <p:nvGrpSpPr>
          <p:cNvPr id="440" name="Group 439">
            <a:extLst>
              <a:ext uri="{FF2B5EF4-FFF2-40B4-BE49-F238E27FC236}">
                <a16:creationId xmlns:a16="http://schemas.microsoft.com/office/drawing/2014/main" id="{592CF7FA-FFAB-F7A7-5B34-E0CCC31722B0}"/>
              </a:ext>
            </a:extLst>
          </p:cNvPr>
          <p:cNvGrpSpPr/>
          <p:nvPr/>
        </p:nvGrpSpPr>
        <p:grpSpPr>
          <a:xfrm>
            <a:off x="5240853" y="3946022"/>
            <a:ext cx="1080000" cy="540612"/>
            <a:chOff x="4728517" y="3286924"/>
            <a:chExt cx="1080000" cy="540612"/>
          </a:xfrm>
        </p:grpSpPr>
        <p:sp>
          <p:nvSpPr>
            <p:cNvPr id="441" name="Oval 440">
              <a:extLst>
                <a:ext uri="{FF2B5EF4-FFF2-40B4-BE49-F238E27FC236}">
                  <a16:creationId xmlns:a16="http://schemas.microsoft.com/office/drawing/2014/main" id="{63A0AC8B-E73E-E58F-7F35-EB7B7C7F335D}"/>
                </a:ext>
              </a:extLst>
            </p:cNvPr>
            <p:cNvSpPr/>
            <p:nvPr/>
          </p:nvSpPr>
          <p:spPr>
            <a:xfrm>
              <a:off x="4728517" y="3286924"/>
              <a:ext cx="1080000" cy="540612"/>
            </a:xfrm>
            <a:prstGeom prst="ellipse">
              <a:avLst/>
            </a:prstGeom>
            <a:noFill/>
            <a:ln w="10795" cap="flat" cmpd="sng" algn="ctr">
              <a:solidFill>
                <a:schemeClr val="bg2">
                  <a:lumMod val="10000"/>
                </a:schemeClr>
              </a:solid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600" b="1" i="0" u="none" strike="noStrike" kern="0" cap="none" spc="0" normalizeH="0" baseline="0" noProof="0" dirty="0">
                  <a:ln>
                    <a:noFill/>
                  </a:ln>
                  <a:solidFill>
                    <a:srgbClr val="000000"/>
                  </a:solidFill>
                  <a:effectLst/>
                  <a:uLnTx/>
                  <a:uFillTx/>
                  <a:latin typeface="Arial"/>
                  <a:ea typeface="+mn-ea"/>
                  <a:cs typeface="+mn-cs"/>
                </a:rPr>
                <a:t>27%</a:t>
              </a:r>
            </a:p>
          </p:txBody>
        </p:sp>
        <p:sp>
          <p:nvSpPr>
            <p:cNvPr id="442" name="Arrow: Up 441">
              <a:extLst>
                <a:ext uri="{FF2B5EF4-FFF2-40B4-BE49-F238E27FC236}">
                  <a16:creationId xmlns:a16="http://schemas.microsoft.com/office/drawing/2014/main" id="{AB96872A-F7A0-5000-12F0-94B7DD09C200}"/>
                </a:ext>
              </a:extLst>
            </p:cNvPr>
            <p:cNvSpPr/>
            <p:nvPr/>
          </p:nvSpPr>
          <p:spPr>
            <a:xfrm>
              <a:off x="5495221" y="3445464"/>
              <a:ext cx="270474" cy="223532"/>
            </a:xfrm>
            <a:prstGeom prst="upArrow">
              <a:avLst/>
            </a:prstGeom>
            <a:solidFill>
              <a:srgbClr val="00B050"/>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IN" sz="1600" b="0" i="0" u="none" strike="noStrike" kern="0" cap="none" spc="0" normalizeH="0" baseline="0" noProof="0" dirty="0" err="1">
                <a:ln>
                  <a:noFill/>
                </a:ln>
                <a:solidFill>
                  <a:srgbClr val="FFFFFF"/>
                </a:solidFill>
                <a:effectLst/>
                <a:uLnTx/>
                <a:uFillTx/>
                <a:latin typeface="Arial"/>
                <a:ea typeface="+mn-ea"/>
                <a:cs typeface="+mn-cs"/>
              </a:endParaRPr>
            </a:p>
          </p:txBody>
        </p:sp>
      </p:grpSp>
      <p:grpSp>
        <p:nvGrpSpPr>
          <p:cNvPr id="443" name="Group 442">
            <a:extLst>
              <a:ext uri="{FF2B5EF4-FFF2-40B4-BE49-F238E27FC236}">
                <a16:creationId xmlns:a16="http://schemas.microsoft.com/office/drawing/2014/main" id="{37557472-A4AF-E074-0295-8D3B99BDC60D}"/>
              </a:ext>
            </a:extLst>
          </p:cNvPr>
          <p:cNvGrpSpPr/>
          <p:nvPr/>
        </p:nvGrpSpPr>
        <p:grpSpPr>
          <a:xfrm>
            <a:off x="5240853" y="5161342"/>
            <a:ext cx="1080000" cy="540612"/>
            <a:chOff x="4728517" y="4352344"/>
            <a:chExt cx="1080000" cy="540612"/>
          </a:xfrm>
        </p:grpSpPr>
        <p:sp>
          <p:nvSpPr>
            <p:cNvPr id="444" name="Oval 443">
              <a:extLst>
                <a:ext uri="{FF2B5EF4-FFF2-40B4-BE49-F238E27FC236}">
                  <a16:creationId xmlns:a16="http://schemas.microsoft.com/office/drawing/2014/main" id="{F836ABDD-5B6E-926C-C33E-56C2838E1952}"/>
                </a:ext>
              </a:extLst>
            </p:cNvPr>
            <p:cNvSpPr/>
            <p:nvPr/>
          </p:nvSpPr>
          <p:spPr>
            <a:xfrm>
              <a:off x="4728517" y="4352344"/>
              <a:ext cx="1080000" cy="540612"/>
            </a:xfrm>
            <a:prstGeom prst="ellipse">
              <a:avLst/>
            </a:prstGeom>
            <a:noFill/>
            <a:ln w="10795" cap="flat" cmpd="sng" algn="ctr">
              <a:solidFill>
                <a:schemeClr val="bg2">
                  <a:lumMod val="10000"/>
                </a:schemeClr>
              </a:solid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600" b="1" i="0" u="none" strike="noStrike" kern="0" cap="none" spc="0" normalizeH="0" baseline="0" noProof="0">
                  <a:ln>
                    <a:noFill/>
                  </a:ln>
                  <a:solidFill>
                    <a:srgbClr val="000000"/>
                  </a:solidFill>
                  <a:effectLst/>
                  <a:uLnTx/>
                  <a:uFillTx/>
                  <a:latin typeface="Arial"/>
                  <a:ea typeface="+mn-ea"/>
                  <a:cs typeface="+mn-cs"/>
                </a:rPr>
                <a:t>25%</a:t>
              </a:r>
              <a:endParaRPr kumimoji="0" lang="en-IN" sz="1600" b="1" i="0" u="none" strike="noStrike" kern="0" cap="none" spc="0" normalizeH="0" baseline="0" noProof="0" dirty="0">
                <a:ln>
                  <a:noFill/>
                </a:ln>
                <a:solidFill>
                  <a:srgbClr val="000000"/>
                </a:solidFill>
                <a:effectLst/>
                <a:uLnTx/>
                <a:uFillTx/>
                <a:latin typeface="Arial"/>
                <a:ea typeface="+mn-ea"/>
                <a:cs typeface="+mn-cs"/>
              </a:endParaRPr>
            </a:p>
          </p:txBody>
        </p:sp>
        <p:sp>
          <p:nvSpPr>
            <p:cNvPr id="445" name="Arrow: Up 444">
              <a:extLst>
                <a:ext uri="{FF2B5EF4-FFF2-40B4-BE49-F238E27FC236}">
                  <a16:creationId xmlns:a16="http://schemas.microsoft.com/office/drawing/2014/main" id="{2EB61112-C0F1-1A9B-2A07-25D8502BC7BA}"/>
                </a:ext>
              </a:extLst>
            </p:cNvPr>
            <p:cNvSpPr/>
            <p:nvPr/>
          </p:nvSpPr>
          <p:spPr>
            <a:xfrm>
              <a:off x="5495221" y="4510884"/>
              <a:ext cx="270474" cy="223532"/>
            </a:xfrm>
            <a:prstGeom prst="upArrow">
              <a:avLst/>
            </a:prstGeom>
            <a:solidFill>
              <a:srgbClr val="00B050"/>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IN" sz="1600" b="0" i="0" u="none" strike="noStrike" kern="0" cap="none" spc="0" normalizeH="0" baseline="0" noProof="0" dirty="0" err="1">
                <a:ln>
                  <a:noFill/>
                </a:ln>
                <a:solidFill>
                  <a:srgbClr val="FFFFFF"/>
                </a:solidFill>
                <a:effectLst/>
                <a:uLnTx/>
                <a:uFillTx/>
                <a:latin typeface="Arial"/>
                <a:ea typeface="+mn-ea"/>
                <a:cs typeface="+mn-cs"/>
              </a:endParaRPr>
            </a:p>
          </p:txBody>
        </p:sp>
      </p:grpSp>
      <p:cxnSp>
        <p:nvCxnSpPr>
          <p:cNvPr id="483" name="Straight Connector 482">
            <a:extLst>
              <a:ext uri="{FF2B5EF4-FFF2-40B4-BE49-F238E27FC236}">
                <a16:creationId xmlns:a16="http://schemas.microsoft.com/office/drawing/2014/main" id="{66E1E2D2-CDC5-5905-D3C5-CF20D09CE851}"/>
              </a:ext>
            </a:extLst>
          </p:cNvPr>
          <p:cNvCxnSpPr>
            <a:cxnSpLocks/>
          </p:cNvCxnSpPr>
          <p:nvPr/>
        </p:nvCxnSpPr>
        <p:spPr>
          <a:xfrm>
            <a:off x="601594" y="2518350"/>
            <a:ext cx="594000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86" name="Straight Connector 485">
            <a:extLst>
              <a:ext uri="{FF2B5EF4-FFF2-40B4-BE49-F238E27FC236}">
                <a16:creationId xmlns:a16="http://schemas.microsoft.com/office/drawing/2014/main" id="{097ECE7F-C309-FC14-B6B4-C25061F6F24C}"/>
              </a:ext>
            </a:extLst>
          </p:cNvPr>
          <p:cNvCxnSpPr>
            <a:cxnSpLocks/>
          </p:cNvCxnSpPr>
          <p:nvPr/>
        </p:nvCxnSpPr>
        <p:spPr>
          <a:xfrm>
            <a:off x="601594" y="3653164"/>
            <a:ext cx="594000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87" name="Straight Connector 486">
            <a:extLst>
              <a:ext uri="{FF2B5EF4-FFF2-40B4-BE49-F238E27FC236}">
                <a16:creationId xmlns:a16="http://schemas.microsoft.com/office/drawing/2014/main" id="{3CB238BE-2BB2-93EB-FD15-57947714A53B}"/>
              </a:ext>
            </a:extLst>
          </p:cNvPr>
          <p:cNvCxnSpPr>
            <a:cxnSpLocks/>
          </p:cNvCxnSpPr>
          <p:nvPr/>
        </p:nvCxnSpPr>
        <p:spPr>
          <a:xfrm>
            <a:off x="601594" y="4843060"/>
            <a:ext cx="594000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88" name="Straight Connector 487">
            <a:extLst>
              <a:ext uri="{FF2B5EF4-FFF2-40B4-BE49-F238E27FC236}">
                <a16:creationId xmlns:a16="http://schemas.microsoft.com/office/drawing/2014/main" id="{07577EBB-8CFA-C37A-A1FF-017F9F05502E}"/>
              </a:ext>
            </a:extLst>
          </p:cNvPr>
          <p:cNvCxnSpPr>
            <a:cxnSpLocks/>
          </p:cNvCxnSpPr>
          <p:nvPr/>
        </p:nvCxnSpPr>
        <p:spPr>
          <a:xfrm>
            <a:off x="601594" y="1743802"/>
            <a:ext cx="594000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89" name="Straight Connector 488">
            <a:extLst>
              <a:ext uri="{FF2B5EF4-FFF2-40B4-BE49-F238E27FC236}">
                <a16:creationId xmlns:a16="http://schemas.microsoft.com/office/drawing/2014/main" id="{A59EC497-D563-FB5E-2124-0215144A8DED}"/>
              </a:ext>
            </a:extLst>
          </p:cNvPr>
          <p:cNvCxnSpPr>
            <a:cxnSpLocks/>
          </p:cNvCxnSpPr>
          <p:nvPr/>
        </p:nvCxnSpPr>
        <p:spPr>
          <a:xfrm>
            <a:off x="601594" y="6006049"/>
            <a:ext cx="594000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90" name="Rectangle: Rounded Corners 489">
            <a:extLst>
              <a:ext uri="{FF2B5EF4-FFF2-40B4-BE49-F238E27FC236}">
                <a16:creationId xmlns:a16="http://schemas.microsoft.com/office/drawing/2014/main" id="{86E0AD7A-C74C-345B-1413-0B84A8DC806F}"/>
              </a:ext>
            </a:extLst>
          </p:cNvPr>
          <p:cNvSpPr/>
          <p:nvPr/>
        </p:nvSpPr>
        <p:spPr>
          <a:xfrm>
            <a:off x="580788" y="1828889"/>
            <a:ext cx="1512000" cy="540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r>
              <a:rPr lang="en-IN" sz="1600" kern="0" dirty="0">
                <a:solidFill>
                  <a:srgbClr val="FFFFFF"/>
                </a:solidFill>
                <a:latin typeface="Georgia"/>
              </a:rPr>
              <a:t>Revenue</a:t>
            </a:r>
          </a:p>
        </p:txBody>
      </p:sp>
      <p:sp>
        <p:nvSpPr>
          <p:cNvPr id="492" name="Rectangle: Rounded Corners 491">
            <a:extLst>
              <a:ext uri="{FF2B5EF4-FFF2-40B4-BE49-F238E27FC236}">
                <a16:creationId xmlns:a16="http://schemas.microsoft.com/office/drawing/2014/main" id="{85C0B83D-9E6D-4807-384C-F96F0968884C}"/>
              </a:ext>
            </a:extLst>
          </p:cNvPr>
          <p:cNvSpPr/>
          <p:nvPr/>
        </p:nvSpPr>
        <p:spPr>
          <a:xfrm>
            <a:off x="580788" y="2648846"/>
            <a:ext cx="1512000" cy="540612"/>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r>
              <a:rPr lang="en-IN" sz="1600" kern="0" dirty="0">
                <a:solidFill>
                  <a:srgbClr val="FFFFFF"/>
                </a:solidFill>
                <a:latin typeface="Georgia"/>
              </a:rPr>
              <a:t>Value Added</a:t>
            </a:r>
          </a:p>
        </p:txBody>
      </p:sp>
      <p:sp>
        <p:nvSpPr>
          <p:cNvPr id="493" name="Rectangle: Rounded Corners 492">
            <a:extLst>
              <a:ext uri="{FF2B5EF4-FFF2-40B4-BE49-F238E27FC236}">
                <a16:creationId xmlns:a16="http://schemas.microsoft.com/office/drawing/2014/main" id="{20D75EC8-1386-1771-3AB2-B413881B21FB}"/>
              </a:ext>
            </a:extLst>
          </p:cNvPr>
          <p:cNvSpPr/>
          <p:nvPr/>
        </p:nvSpPr>
        <p:spPr>
          <a:xfrm>
            <a:off x="580788" y="3188234"/>
            <a:ext cx="1512000" cy="360000"/>
          </a:xfrm>
          <a:prstGeom prst="roundRect">
            <a:avLst/>
          </a:prstGeom>
          <a:noFill/>
          <a:ln w="9525" cap="flat" cmpd="sng" algn="ctr">
            <a:solidFill>
              <a:srgbClr val="00A9F4"/>
            </a:solid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IN" sz="1400" b="1" i="1" u="none" strike="noStrike" kern="0" cap="none" spc="0" normalizeH="0" baseline="0" noProof="0" dirty="0">
                <a:ln>
                  <a:noFill/>
                </a:ln>
                <a:solidFill>
                  <a:srgbClr val="000000"/>
                </a:solidFill>
                <a:effectLst/>
                <a:uLnTx/>
                <a:uFillTx/>
                <a:latin typeface="Arial"/>
                <a:ea typeface="+mn-ea"/>
                <a:cs typeface="+mn-cs"/>
              </a:rPr>
              <a:t>Value Added %</a:t>
            </a:r>
          </a:p>
        </p:txBody>
      </p:sp>
      <p:sp>
        <p:nvSpPr>
          <p:cNvPr id="495" name="Rectangle: Rounded Corners 494">
            <a:extLst>
              <a:ext uri="{FF2B5EF4-FFF2-40B4-BE49-F238E27FC236}">
                <a16:creationId xmlns:a16="http://schemas.microsoft.com/office/drawing/2014/main" id="{9770B282-8ADA-7BA1-63A4-4BE1438937DA}"/>
              </a:ext>
            </a:extLst>
          </p:cNvPr>
          <p:cNvSpPr/>
          <p:nvPr/>
        </p:nvSpPr>
        <p:spPr>
          <a:xfrm>
            <a:off x="580788" y="3783221"/>
            <a:ext cx="1512000" cy="540612"/>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r>
              <a:rPr lang="en-IN" sz="1600" kern="0" dirty="0">
                <a:solidFill>
                  <a:srgbClr val="FFFFFF"/>
                </a:solidFill>
                <a:latin typeface="Georgia"/>
              </a:rPr>
              <a:t>EBITDA</a:t>
            </a:r>
          </a:p>
        </p:txBody>
      </p:sp>
      <p:sp>
        <p:nvSpPr>
          <p:cNvPr id="496" name="Rectangle: Rounded Corners 495">
            <a:extLst>
              <a:ext uri="{FF2B5EF4-FFF2-40B4-BE49-F238E27FC236}">
                <a16:creationId xmlns:a16="http://schemas.microsoft.com/office/drawing/2014/main" id="{8F915A08-F15E-E96B-0D25-E66979DDB9B0}"/>
              </a:ext>
            </a:extLst>
          </p:cNvPr>
          <p:cNvSpPr/>
          <p:nvPr/>
        </p:nvSpPr>
        <p:spPr>
          <a:xfrm>
            <a:off x="580788" y="4322609"/>
            <a:ext cx="1512000" cy="360000"/>
          </a:xfrm>
          <a:prstGeom prst="roundRect">
            <a:avLst/>
          </a:prstGeom>
          <a:noFill/>
          <a:ln w="9525" cap="flat" cmpd="sng" algn="ctr">
            <a:solidFill>
              <a:srgbClr val="00A9F4"/>
            </a:solid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IN" sz="1400" b="1" i="1" u="none" strike="noStrike" kern="0" cap="none" spc="0" normalizeH="0" baseline="0" noProof="0" dirty="0">
                <a:ln>
                  <a:noFill/>
                </a:ln>
                <a:solidFill>
                  <a:srgbClr val="000000"/>
                </a:solidFill>
                <a:effectLst/>
                <a:uLnTx/>
                <a:uFillTx/>
                <a:latin typeface="Arial"/>
                <a:ea typeface="+mn-ea"/>
                <a:cs typeface="+mn-cs"/>
              </a:rPr>
              <a:t>EBITDA %</a:t>
            </a:r>
          </a:p>
        </p:txBody>
      </p:sp>
      <p:sp>
        <p:nvSpPr>
          <p:cNvPr id="498" name="Rectangle: Rounded Corners 497">
            <a:extLst>
              <a:ext uri="{FF2B5EF4-FFF2-40B4-BE49-F238E27FC236}">
                <a16:creationId xmlns:a16="http://schemas.microsoft.com/office/drawing/2014/main" id="{DC31B7FD-5CB6-53C2-C575-D80B337E60CD}"/>
              </a:ext>
            </a:extLst>
          </p:cNvPr>
          <p:cNvSpPr/>
          <p:nvPr/>
        </p:nvSpPr>
        <p:spPr>
          <a:xfrm>
            <a:off x="580788" y="4992546"/>
            <a:ext cx="1512000" cy="540612"/>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r>
              <a:rPr lang="en-IN" sz="1600" kern="0" dirty="0">
                <a:solidFill>
                  <a:srgbClr val="FFFFFF"/>
                </a:solidFill>
                <a:latin typeface="Georgia"/>
              </a:rPr>
              <a:t>PAT</a:t>
            </a:r>
          </a:p>
        </p:txBody>
      </p:sp>
      <p:sp>
        <p:nvSpPr>
          <p:cNvPr id="499" name="Rectangle: Rounded Corners 498">
            <a:extLst>
              <a:ext uri="{FF2B5EF4-FFF2-40B4-BE49-F238E27FC236}">
                <a16:creationId xmlns:a16="http://schemas.microsoft.com/office/drawing/2014/main" id="{AE2D3346-9A37-2744-5593-AF0E09E0DFF4}"/>
              </a:ext>
            </a:extLst>
          </p:cNvPr>
          <p:cNvSpPr/>
          <p:nvPr/>
        </p:nvSpPr>
        <p:spPr>
          <a:xfrm>
            <a:off x="580788" y="5531934"/>
            <a:ext cx="1512000" cy="360000"/>
          </a:xfrm>
          <a:prstGeom prst="roundRect">
            <a:avLst/>
          </a:prstGeom>
          <a:noFill/>
          <a:ln w="9525" cap="flat" cmpd="sng" algn="ctr">
            <a:solidFill>
              <a:srgbClr val="00A9F4"/>
            </a:solid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IN" sz="1400" b="1" i="1" u="none" strike="noStrike" kern="0" cap="none" spc="0" normalizeH="0" baseline="0" noProof="0" dirty="0">
                <a:ln>
                  <a:noFill/>
                </a:ln>
                <a:solidFill>
                  <a:srgbClr val="000000"/>
                </a:solidFill>
                <a:effectLst/>
                <a:uLnTx/>
                <a:uFillTx/>
                <a:latin typeface="Arial"/>
                <a:ea typeface="+mn-ea"/>
                <a:cs typeface="+mn-cs"/>
              </a:rPr>
              <a:t>PAT %</a:t>
            </a:r>
          </a:p>
        </p:txBody>
      </p:sp>
      <p:sp>
        <p:nvSpPr>
          <p:cNvPr id="8" name="TextBox 7">
            <a:extLst>
              <a:ext uri="{FF2B5EF4-FFF2-40B4-BE49-F238E27FC236}">
                <a16:creationId xmlns:a16="http://schemas.microsoft.com/office/drawing/2014/main" id="{A9133F92-A358-93D8-16AC-819AA024C732}"/>
              </a:ext>
            </a:extLst>
          </p:cNvPr>
          <p:cNvSpPr txBox="1"/>
          <p:nvPr/>
        </p:nvSpPr>
        <p:spPr>
          <a:xfrm>
            <a:off x="6553837" y="1227178"/>
            <a:ext cx="974213" cy="276999"/>
          </a:xfrm>
          <a:prstGeom prst="rect">
            <a:avLst/>
          </a:prstGeom>
          <a:noFill/>
        </p:spPr>
        <p:txBody>
          <a:bodyPr wrap="square" rtlCol="0">
            <a:spAutoFit/>
          </a:bodyPr>
          <a:lstStyle/>
          <a:p>
            <a:r>
              <a:rPr lang="en-IN" sz="1000" b="1" dirty="0">
                <a:solidFill>
                  <a:srgbClr val="000B14"/>
                </a:solidFill>
                <a:latin typeface="Arial" panose="020B0604020202020204" pitchFamily="34" charset="0"/>
                <a:cs typeface="Arial" panose="020B0604020202020204" pitchFamily="34" charset="0"/>
              </a:rPr>
              <a:t>(</a:t>
            </a:r>
            <a:r>
              <a:rPr lang="en-IN" sz="1200" b="1" dirty="0">
                <a:solidFill>
                  <a:srgbClr val="000B14"/>
                </a:solidFill>
                <a:latin typeface="Arial" panose="020B0604020202020204" pitchFamily="34" charset="0"/>
                <a:cs typeface="Arial" panose="020B0604020202020204" pitchFamily="34" charset="0"/>
              </a:rPr>
              <a:t>In ₹ Mn)</a:t>
            </a:r>
          </a:p>
        </p:txBody>
      </p:sp>
      <p:sp>
        <p:nvSpPr>
          <p:cNvPr id="3" name="TextBox 2">
            <a:extLst>
              <a:ext uri="{FF2B5EF4-FFF2-40B4-BE49-F238E27FC236}">
                <a16:creationId xmlns:a16="http://schemas.microsoft.com/office/drawing/2014/main" id="{06C9590E-885B-C57D-FE73-D98D259E019D}"/>
              </a:ext>
            </a:extLst>
          </p:cNvPr>
          <p:cNvSpPr txBox="1"/>
          <p:nvPr/>
        </p:nvSpPr>
        <p:spPr>
          <a:xfrm>
            <a:off x="117248" y="197891"/>
            <a:ext cx="11129499" cy="646331"/>
          </a:xfrm>
          <a:prstGeom prst="rect">
            <a:avLst/>
          </a:prstGeom>
          <a:noFill/>
        </p:spPr>
        <p:txBody>
          <a:bodyPr wrap="square" rtlCol="0">
            <a:spAutoFit/>
          </a:bodyPr>
          <a:lstStyle/>
          <a:p>
            <a:r>
              <a:rPr lang="en-US" sz="3600" b="1" dirty="0">
                <a:solidFill>
                  <a:srgbClr val="00B0F0"/>
                </a:solidFill>
                <a:latin typeface="Aptos" panose="020B0004020202020204" pitchFamily="34" charset="0"/>
                <a:cs typeface="Arial" panose="020B0604020202020204" pitchFamily="34" charset="0"/>
              </a:rPr>
              <a:t>Financial highlights: Revenue </a:t>
            </a:r>
            <a:r>
              <a:rPr lang="en-US" sz="3600" b="1">
                <a:solidFill>
                  <a:srgbClr val="00B0F0"/>
                </a:solidFill>
                <a:latin typeface="Aptos" panose="020B0004020202020204" pitchFamily="34" charset="0"/>
                <a:cs typeface="Arial" panose="020B0604020202020204" pitchFamily="34" charset="0"/>
              </a:rPr>
              <a:t>and profitability</a:t>
            </a:r>
            <a:endParaRPr lang="en-US" sz="3600" b="1" dirty="0">
              <a:solidFill>
                <a:srgbClr val="00B0F0"/>
              </a:solidFill>
              <a:latin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2436570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DD96A38-94D8-4FD0-AF74-5B732B71D84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1" imgH="423" progId="TCLayout.ActiveDocument.1">
                  <p:embed/>
                </p:oleObj>
              </mc:Choice>
              <mc:Fallback>
                <p:oleObj name="think-cell Slide" r:id="rId3" imgW="421" imgH="423" progId="TCLayout.ActiveDocument.1">
                  <p:embed/>
                  <p:pic>
                    <p:nvPicPr>
                      <p:cNvPr id="5" name="Object 4" hidden="1">
                        <a:extLst>
                          <a:ext uri="{FF2B5EF4-FFF2-40B4-BE49-F238E27FC236}">
                            <a16:creationId xmlns:a16="http://schemas.microsoft.com/office/drawing/2014/main" id="{BDD96A38-94D8-4FD0-AF74-5B732B71D84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EA30E348-4D19-4B2E-9D24-04FD33B4B024}"/>
              </a:ext>
            </a:extLst>
          </p:cNvPr>
          <p:cNvSpPr>
            <a:spLocks noGrp="1"/>
          </p:cNvSpPr>
          <p:nvPr>
            <p:ph type="sldNum" sz="quarter" idx="4294967295"/>
          </p:nvPr>
        </p:nvSpPr>
        <p:spPr>
          <a:xfrm>
            <a:off x="9448800" y="6410325"/>
            <a:ext cx="2743200" cy="365125"/>
          </a:xfrm>
        </p:spPr>
        <p:txBody>
          <a:bodyPr/>
          <a:lstStyle/>
          <a:p>
            <a:fld id="{9FC3031A-744E-4491-9064-FD6EC4156FCE}" type="slidenum">
              <a:rPr lang="en-IN" smtClean="0"/>
              <a:pPr/>
              <a:t>20</a:t>
            </a:fld>
            <a:endParaRPr lang="en-IN" dirty="0"/>
          </a:p>
        </p:txBody>
      </p:sp>
      <p:sp>
        <p:nvSpPr>
          <p:cNvPr id="393" name="Rectangle: Rounded Corners 392">
            <a:extLst>
              <a:ext uri="{FF2B5EF4-FFF2-40B4-BE49-F238E27FC236}">
                <a16:creationId xmlns:a16="http://schemas.microsoft.com/office/drawing/2014/main" id="{9C29EF1A-DE3D-33E9-A221-9D178E9FF807}"/>
              </a:ext>
            </a:extLst>
          </p:cNvPr>
          <p:cNvSpPr/>
          <p:nvPr/>
        </p:nvSpPr>
        <p:spPr>
          <a:xfrm>
            <a:off x="1818116" y="1166565"/>
            <a:ext cx="900000" cy="450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pPr algn="ctr"/>
            <a:r>
              <a:rPr lang="en-IN" sz="1600" kern="0" dirty="0">
                <a:solidFill>
                  <a:srgbClr val="FFFFFF"/>
                </a:solidFill>
                <a:latin typeface="Georgia"/>
              </a:rPr>
              <a:t>FY23</a:t>
            </a:r>
          </a:p>
        </p:txBody>
      </p:sp>
      <p:sp>
        <p:nvSpPr>
          <p:cNvPr id="394" name="Rectangle: Rounded Corners 393">
            <a:extLst>
              <a:ext uri="{FF2B5EF4-FFF2-40B4-BE49-F238E27FC236}">
                <a16:creationId xmlns:a16="http://schemas.microsoft.com/office/drawing/2014/main" id="{1EB06824-586D-E5FE-0E15-EA6D878B1C74}"/>
              </a:ext>
            </a:extLst>
          </p:cNvPr>
          <p:cNvSpPr/>
          <p:nvPr/>
        </p:nvSpPr>
        <p:spPr>
          <a:xfrm>
            <a:off x="2875444" y="1166565"/>
            <a:ext cx="900000" cy="450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pPr algn="ctr"/>
            <a:r>
              <a:rPr lang="en-IN" sz="1600" kern="0" dirty="0">
                <a:solidFill>
                  <a:srgbClr val="FFFFFF"/>
                </a:solidFill>
                <a:latin typeface="Georgia"/>
              </a:rPr>
              <a:t>FY22</a:t>
            </a:r>
          </a:p>
        </p:txBody>
      </p:sp>
      <p:sp>
        <p:nvSpPr>
          <p:cNvPr id="398" name="Rectangle: Rounded Corners 397">
            <a:extLst>
              <a:ext uri="{FF2B5EF4-FFF2-40B4-BE49-F238E27FC236}">
                <a16:creationId xmlns:a16="http://schemas.microsoft.com/office/drawing/2014/main" id="{F8D10DD3-0C90-FEA4-3477-60AD314D500F}"/>
              </a:ext>
            </a:extLst>
          </p:cNvPr>
          <p:cNvSpPr/>
          <p:nvPr/>
        </p:nvSpPr>
        <p:spPr>
          <a:xfrm>
            <a:off x="1818116" y="1759225"/>
            <a:ext cx="900000" cy="540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600" b="1" i="0" u="none" strike="noStrike" kern="0" cap="none" spc="0" normalizeH="0" baseline="0" noProof="0" dirty="0">
                <a:ln>
                  <a:noFill/>
                </a:ln>
                <a:solidFill>
                  <a:srgbClr val="000000"/>
                </a:solidFill>
                <a:effectLst/>
                <a:uLnTx/>
                <a:uFillTx/>
                <a:latin typeface="Arial"/>
                <a:ea typeface="+mn-ea"/>
                <a:cs typeface="+mn-cs"/>
              </a:rPr>
              <a:t>21.1%</a:t>
            </a:r>
          </a:p>
        </p:txBody>
      </p:sp>
      <p:sp>
        <p:nvSpPr>
          <p:cNvPr id="402" name="Rectangle: Rounded Corners 401">
            <a:extLst>
              <a:ext uri="{FF2B5EF4-FFF2-40B4-BE49-F238E27FC236}">
                <a16:creationId xmlns:a16="http://schemas.microsoft.com/office/drawing/2014/main" id="{C769B121-8EAE-14C2-B951-D34A05897444}"/>
              </a:ext>
            </a:extLst>
          </p:cNvPr>
          <p:cNvSpPr/>
          <p:nvPr/>
        </p:nvSpPr>
        <p:spPr>
          <a:xfrm>
            <a:off x="2875444" y="1759225"/>
            <a:ext cx="900000" cy="540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lang="en-IN" sz="1600" b="1" kern="0" dirty="0">
                <a:solidFill>
                  <a:srgbClr val="000000"/>
                </a:solidFill>
                <a:latin typeface="Arial"/>
              </a:rPr>
              <a:t>19.3%</a:t>
            </a:r>
            <a:endParaRPr kumimoji="0" lang="en-IN" sz="1600" b="1" i="0" u="none" strike="noStrike" kern="0" cap="none" spc="0" normalizeH="0" baseline="0" noProof="0" dirty="0">
              <a:ln>
                <a:noFill/>
              </a:ln>
              <a:solidFill>
                <a:srgbClr val="000000"/>
              </a:solidFill>
              <a:effectLst/>
              <a:uLnTx/>
              <a:uFillTx/>
              <a:latin typeface="Arial"/>
              <a:ea typeface="+mn-ea"/>
              <a:cs typeface="+mn-cs"/>
            </a:endParaRPr>
          </a:p>
        </p:txBody>
      </p:sp>
      <p:sp>
        <p:nvSpPr>
          <p:cNvPr id="490" name="Rectangle: Rounded Corners 489">
            <a:extLst>
              <a:ext uri="{FF2B5EF4-FFF2-40B4-BE49-F238E27FC236}">
                <a16:creationId xmlns:a16="http://schemas.microsoft.com/office/drawing/2014/main" id="{86E0AD7A-C74C-345B-1413-0B84A8DC806F}"/>
              </a:ext>
            </a:extLst>
          </p:cNvPr>
          <p:cNvSpPr/>
          <p:nvPr/>
        </p:nvSpPr>
        <p:spPr>
          <a:xfrm>
            <a:off x="580788" y="1753227"/>
            <a:ext cx="1080000" cy="540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r>
              <a:rPr lang="en-IN" sz="1400" kern="0" dirty="0">
                <a:solidFill>
                  <a:srgbClr val="FFFFFF"/>
                </a:solidFill>
                <a:latin typeface="Georgia"/>
              </a:rPr>
              <a:t>ROCE%</a:t>
            </a:r>
          </a:p>
        </p:txBody>
      </p:sp>
      <p:sp>
        <p:nvSpPr>
          <p:cNvPr id="17" name="Rectangle: Rounded Corners 16">
            <a:extLst>
              <a:ext uri="{FF2B5EF4-FFF2-40B4-BE49-F238E27FC236}">
                <a16:creationId xmlns:a16="http://schemas.microsoft.com/office/drawing/2014/main" id="{C917AD58-82D0-7BB8-448F-427AAB7E0818}"/>
              </a:ext>
            </a:extLst>
          </p:cNvPr>
          <p:cNvSpPr/>
          <p:nvPr/>
        </p:nvSpPr>
        <p:spPr>
          <a:xfrm>
            <a:off x="5520687" y="1166565"/>
            <a:ext cx="900000" cy="450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pPr algn="ctr"/>
            <a:r>
              <a:rPr lang="en-IN" sz="1600" kern="0" dirty="0">
                <a:solidFill>
                  <a:srgbClr val="FFFFFF"/>
                </a:solidFill>
                <a:latin typeface="Georgia"/>
              </a:rPr>
              <a:t>FY23</a:t>
            </a:r>
          </a:p>
        </p:txBody>
      </p:sp>
      <p:sp>
        <p:nvSpPr>
          <p:cNvPr id="18" name="Rectangle: Rounded Corners 17">
            <a:extLst>
              <a:ext uri="{FF2B5EF4-FFF2-40B4-BE49-F238E27FC236}">
                <a16:creationId xmlns:a16="http://schemas.microsoft.com/office/drawing/2014/main" id="{6D60125E-3961-BDBF-C677-81A8326AAF38}"/>
              </a:ext>
            </a:extLst>
          </p:cNvPr>
          <p:cNvSpPr/>
          <p:nvPr/>
        </p:nvSpPr>
        <p:spPr>
          <a:xfrm>
            <a:off x="6578015" y="1166565"/>
            <a:ext cx="900000" cy="450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pPr algn="ctr"/>
            <a:r>
              <a:rPr lang="en-IN" sz="1600" kern="0" dirty="0">
                <a:solidFill>
                  <a:srgbClr val="FFFFFF"/>
                </a:solidFill>
                <a:latin typeface="Georgia"/>
              </a:rPr>
              <a:t>FY22</a:t>
            </a:r>
          </a:p>
        </p:txBody>
      </p:sp>
      <p:sp>
        <p:nvSpPr>
          <p:cNvPr id="19" name="Rectangle: Rounded Corners 18">
            <a:extLst>
              <a:ext uri="{FF2B5EF4-FFF2-40B4-BE49-F238E27FC236}">
                <a16:creationId xmlns:a16="http://schemas.microsoft.com/office/drawing/2014/main" id="{E235F3D3-8644-3565-3C8D-942808964DE8}"/>
              </a:ext>
            </a:extLst>
          </p:cNvPr>
          <p:cNvSpPr/>
          <p:nvPr/>
        </p:nvSpPr>
        <p:spPr>
          <a:xfrm>
            <a:off x="5520687" y="1759225"/>
            <a:ext cx="900000" cy="540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600" b="1" i="0" u="none" strike="noStrike" kern="0" cap="none" spc="0" normalizeH="0" baseline="0" noProof="0" dirty="0">
                <a:ln>
                  <a:noFill/>
                </a:ln>
                <a:solidFill>
                  <a:srgbClr val="000000"/>
                </a:solidFill>
                <a:effectLst/>
                <a:uLnTx/>
                <a:uFillTx/>
                <a:latin typeface="Arial"/>
                <a:ea typeface="+mn-ea"/>
                <a:cs typeface="+mn-cs"/>
              </a:rPr>
              <a:t>2.06</a:t>
            </a:r>
          </a:p>
        </p:txBody>
      </p:sp>
      <p:sp>
        <p:nvSpPr>
          <p:cNvPr id="20" name="Rectangle: Rounded Corners 19">
            <a:extLst>
              <a:ext uri="{FF2B5EF4-FFF2-40B4-BE49-F238E27FC236}">
                <a16:creationId xmlns:a16="http://schemas.microsoft.com/office/drawing/2014/main" id="{2A34F0F6-87E3-D087-9C99-65E0CB5DF6D6}"/>
              </a:ext>
            </a:extLst>
          </p:cNvPr>
          <p:cNvSpPr/>
          <p:nvPr/>
        </p:nvSpPr>
        <p:spPr>
          <a:xfrm>
            <a:off x="6578015" y="1759225"/>
            <a:ext cx="900000" cy="540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lang="en-IN" sz="1600" b="1" kern="0" dirty="0">
                <a:solidFill>
                  <a:srgbClr val="000000"/>
                </a:solidFill>
                <a:latin typeface="Arial"/>
              </a:rPr>
              <a:t>2.02</a:t>
            </a:r>
            <a:endParaRPr kumimoji="0" lang="en-IN" sz="1600" b="1" i="0" u="none" strike="noStrike" kern="0" cap="none" spc="0" normalizeH="0" baseline="0" noProof="0" dirty="0">
              <a:ln>
                <a:noFill/>
              </a:ln>
              <a:solidFill>
                <a:srgbClr val="000000"/>
              </a:solidFill>
              <a:effectLst/>
              <a:uLnTx/>
              <a:uFillTx/>
              <a:latin typeface="Arial"/>
              <a:ea typeface="+mn-ea"/>
              <a:cs typeface="+mn-cs"/>
            </a:endParaRPr>
          </a:p>
        </p:txBody>
      </p:sp>
      <p:sp>
        <p:nvSpPr>
          <p:cNvPr id="21" name="Rectangle: Rounded Corners 20">
            <a:extLst>
              <a:ext uri="{FF2B5EF4-FFF2-40B4-BE49-F238E27FC236}">
                <a16:creationId xmlns:a16="http://schemas.microsoft.com/office/drawing/2014/main" id="{0143483C-709A-A062-6D7B-5564BDABA186}"/>
              </a:ext>
            </a:extLst>
          </p:cNvPr>
          <p:cNvSpPr/>
          <p:nvPr/>
        </p:nvSpPr>
        <p:spPr>
          <a:xfrm>
            <a:off x="4283359" y="1753227"/>
            <a:ext cx="1080000" cy="540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r>
              <a:rPr lang="en-IN" sz="1400" kern="0" dirty="0">
                <a:solidFill>
                  <a:srgbClr val="FFFFFF"/>
                </a:solidFill>
                <a:latin typeface="Georgia"/>
              </a:rPr>
              <a:t>Fixed asset turn</a:t>
            </a:r>
          </a:p>
        </p:txBody>
      </p:sp>
      <p:sp>
        <p:nvSpPr>
          <p:cNvPr id="23" name="Rectangle: Rounded Corners 22">
            <a:extLst>
              <a:ext uri="{FF2B5EF4-FFF2-40B4-BE49-F238E27FC236}">
                <a16:creationId xmlns:a16="http://schemas.microsoft.com/office/drawing/2014/main" id="{1EFBC257-364A-C846-8E70-456C1294940A}"/>
              </a:ext>
            </a:extLst>
          </p:cNvPr>
          <p:cNvSpPr/>
          <p:nvPr/>
        </p:nvSpPr>
        <p:spPr>
          <a:xfrm>
            <a:off x="9223258" y="1166565"/>
            <a:ext cx="900000" cy="450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pPr algn="ctr"/>
            <a:r>
              <a:rPr lang="en-IN" sz="1600" kern="0" dirty="0">
                <a:solidFill>
                  <a:srgbClr val="FFFFFF"/>
                </a:solidFill>
                <a:latin typeface="Georgia"/>
              </a:rPr>
              <a:t>FY23</a:t>
            </a:r>
          </a:p>
        </p:txBody>
      </p:sp>
      <p:sp>
        <p:nvSpPr>
          <p:cNvPr id="24" name="Rectangle: Rounded Corners 23">
            <a:extLst>
              <a:ext uri="{FF2B5EF4-FFF2-40B4-BE49-F238E27FC236}">
                <a16:creationId xmlns:a16="http://schemas.microsoft.com/office/drawing/2014/main" id="{0E24A8EB-797D-B5D9-2802-9975133363C8}"/>
              </a:ext>
            </a:extLst>
          </p:cNvPr>
          <p:cNvSpPr/>
          <p:nvPr/>
        </p:nvSpPr>
        <p:spPr>
          <a:xfrm>
            <a:off x="10280586" y="1166565"/>
            <a:ext cx="900000" cy="450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pPr algn="ctr"/>
            <a:r>
              <a:rPr lang="en-IN" sz="1600" kern="0" dirty="0">
                <a:solidFill>
                  <a:srgbClr val="FFFFFF"/>
                </a:solidFill>
                <a:latin typeface="Georgia"/>
              </a:rPr>
              <a:t>FY22</a:t>
            </a:r>
          </a:p>
        </p:txBody>
      </p:sp>
      <p:sp>
        <p:nvSpPr>
          <p:cNvPr id="25" name="Rectangle: Rounded Corners 24">
            <a:extLst>
              <a:ext uri="{FF2B5EF4-FFF2-40B4-BE49-F238E27FC236}">
                <a16:creationId xmlns:a16="http://schemas.microsoft.com/office/drawing/2014/main" id="{2AEFBE02-842D-DFFF-823C-EE58EBF525F5}"/>
              </a:ext>
            </a:extLst>
          </p:cNvPr>
          <p:cNvSpPr/>
          <p:nvPr/>
        </p:nvSpPr>
        <p:spPr>
          <a:xfrm>
            <a:off x="9223258" y="1759225"/>
            <a:ext cx="900000" cy="540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600" b="1" i="0" u="none" strike="noStrike" kern="0" cap="none" spc="0" normalizeH="0" baseline="0" noProof="0" dirty="0">
                <a:ln>
                  <a:noFill/>
                </a:ln>
                <a:solidFill>
                  <a:srgbClr val="000000"/>
                </a:solidFill>
                <a:effectLst/>
                <a:uLnTx/>
                <a:uFillTx/>
                <a:latin typeface="Arial"/>
                <a:ea typeface="+mn-ea"/>
                <a:cs typeface="+mn-cs"/>
              </a:rPr>
              <a:t>0.84x</a:t>
            </a:r>
          </a:p>
        </p:txBody>
      </p:sp>
      <p:sp>
        <p:nvSpPr>
          <p:cNvPr id="26" name="Rectangle: Rounded Corners 25">
            <a:extLst>
              <a:ext uri="{FF2B5EF4-FFF2-40B4-BE49-F238E27FC236}">
                <a16:creationId xmlns:a16="http://schemas.microsoft.com/office/drawing/2014/main" id="{7CCB803E-0BAB-3887-2C93-6CF517618149}"/>
              </a:ext>
            </a:extLst>
          </p:cNvPr>
          <p:cNvSpPr/>
          <p:nvPr/>
        </p:nvSpPr>
        <p:spPr>
          <a:xfrm>
            <a:off x="10280586" y="1759225"/>
            <a:ext cx="900000" cy="540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600" b="1" i="0" u="none" strike="noStrike" kern="0" cap="none" spc="0" normalizeH="0" baseline="0" noProof="0">
                <a:ln>
                  <a:noFill/>
                </a:ln>
                <a:solidFill>
                  <a:srgbClr val="000000"/>
                </a:solidFill>
                <a:effectLst/>
                <a:uLnTx/>
                <a:uFillTx/>
                <a:latin typeface="Arial"/>
                <a:ea typeface="+mn-ea"/>
                <a:cs typeface="+mn-cs"/>
              </a:rPr>
              <a:t>0.97x</a:t>
            </a:r>
            <a:endParaRPr kumimoji="0" lang="en-IN" sz="1600" b="1" i="0" u="none" strike="noStrike" kern="0" cap="none" spc="0" normalizeH="0" baseline="0" noProof="0" dirty="0">
              <a:ln>
                <a:noFill/>
              </a:ln>
              <a:solidFill>
                <a:srgbClr val="000000"/>
              </a:solidFill>
              <a:effectLst/>
              <a:uLnTx/>
              <a:uFillTx/>
              <a:latin typeface="Arial"/>
              <a:ea typeface="+mn-ea"/>
              <a:cs typeface="+mn-cs"/>
            </a:endParaRPr>
          </a:p>
        </p:txBody>
      </p:sp>
      <p:sp>
        <p:nvSpPr>
          <p:cNvPr id="27" name="Rectangle: Rounded Corners 26">
            <a:extLst>
              <a:ext uri="{FF2B5EF4-FFF2-40B4-BE49-F238E27FC236}">
                <a16:creationId xmlns:a16="http://schemas.microsoft.com/office/drawing/2014/main" id="{35CD0DE3-9CEC-6ABB-DF4C-37CDD9998056}"/>
              </a:ext>
            </a:extLst>
          </p:cNvPr>
          <p:cNvSpPr/>
          <p:nvPr/>
        </p:nvSpPr>
        <p:spPr>
          <a:xfrm>
            <a:off x="7985930" y="1753227"/>
            <a:ext cx="1080000" cy="540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r>
              <a:rPr lang="en-IN" sz="1400" kern="0" dirty="0">
                <a:solidFill>
                  <a:srgbClr val="FFFFFF"/>
                </a:solidFill>
                <a:latin typeface="Georgia"/>
              </a:rPr>
              <a:t>Net debt/ EBITDA</a:t>
            </a:r>
          </a:p>
        </p:txBody>
      </p:sp>
      <p:sp>
        <p:nvSpPr>
          <p:cNvPr id="29" name="Rectangle: Rounded Corners 28">
            <a:extLst>
              <a:ext uri="{FF2B5EF4-FFF2-40B4-BE49-F238E27FC236}">
                <a16:creationId xmlns:a16="http://schemas.microsoft.com/office/drawing/2014/main" id="{2B6B6988-F457-F58A-6793-A8FBB60AC2AB}"/>
              </a:ext>
            </a:extLst>
          </p:cNvPr>
          <p:cNvSpPr/>
          <p:nvPr/>
        </p:nvSpPr>
        <p:spPr>
          <a:xfrm>
            <a:off x="1818116" y="3813037"/>
            <a:ext cx="900000" cy="450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pPr algn="ctr"/>
            <a:r>
              <a:rPr lang="en-IN" sz="1600" kern="0" dirty="0">
                <a:solidFill>
                  <a:srgbClr val="FFFFFF"/>
                </a:solidFill>
                <a:latin typeface="Georgia"/>
              </a:rPr>
              <a:t>FY23</a:t>
            </a:r>
          </a:p>
        </p:txBody>
      </p:sp>
      <p:sp>
        <p:nvSpPr>
          <p:cNvPr id="30" name="Rectangle: Rounded Corners 29">
            <a:extLst>
              <a:ext uri="{FF2B5EF4-FFF2-40B4-BE49-F238E27FC236}">
                <a16:creationId xmlns:a16="http://schemas.microsoft.com/office/drawing/2014/main" id="{CAB12405-6D06-6788-8D25-F018EE478273}"/>
              </a:ext>
            </a:extLst>
          </p:cNvPr>
          <p:cNvSpPr/>
          <p:nvPr/>
        </p:nvSpPr>
        <p:spPr>
          <a:xfrm>
            <a:off x="2875444" y="3813037"/>
            <a:ext cx="900000" cy="450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pPr algn="ctr"/>
            <a:r>
              <a:rPr lang="en-IN" sz="1600" kern="0" dirty="0">
                <a:solidFill>
                  <a:srgbClr val="FFFFFF"/>
                </a:solidFill>
                <a:latin typeface="Georgia"/>
              </a:rPr>
              <a:t>FY22</a:t>
            </a:r>
          </a:p>
        </p:txBody>
      </p:sp>
      <p:sp>
        <p:nvSpPr>
          <p:cNvPr id="31" name="Rectangle: Rounded Corners 30">
            <a:extLst>
              <a:ext uri="{FF2B5EF4-FFF2-40B4-BE49-F238E27FC236}">
                <a16:creationId xmlns:a16="http://schemas.microsoft.com/office/drawing/2014/main" id="{16903653-BC26-125F-0E0C-7229D7DCDE51}"/>
              </a:ext>
            </a:extLst>
          </p:cNvPr>
          <p:cNvSpPr/>
          <p:nvPr/>
        </p:nvSpPr>
        <p:spPr>
          <a:xfrm>
            <a:off x="1818116" y="4405697"/>
            <a:ext cx="900000" cy="540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600" b="1" i="0" u="none" strike="noStrike" kern="0" cap="none" spc="0" normalizeH="0" baseline="0" noProof="0" dirty="0">
                <a:ln>
                  <a:noFill/>
                </a:ln>
                <a:solidFill>
                  <a:srgbClr val="000000"/>
                </a:solidFill>
                <a:effectLst/>
                <a:uLnTx/>
                <a:uFillTx/>
                <a:latin typeface="Arial"/>
                <a:ea typeface="+mn-ea"/>
                <a:cs typeface="+mn-cs"/>
              </a:rPr>
              <a:t>132</a:t>
            </a:r>
          </a:p>
        </p:txBody>
      </p:sp>
      <p:sp>
        <p:nvSpPr>
          <p:cNvPr id="32" name="Rectangle: Rounded Corners 31">
            <a:extLst>
              <a:ext uri="{FF2B5EF4-FFF2-40B4-BE49-F238E27FC236}">
                <a16:creationId xmlns:a16="http://schemas.microsoft.com/office/drawing/2014/main" id="{AE55F14B-E793-BE7B-4E4B-2AA169EEF90E}"/>
              </a:ext>
            </a:extLst>
          </p:cNvPr>
          <p:cNvSpPr/>
          <p:nvPr/>
        </p:nvSpPr>
        <p:spPr>
          <a:xfrm>
            <a:off x="2875444" y="4405697"/>
            <a:ext cx="900000" cy="540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lang="en-IN" sz="1600" b="1" kern="0">
                <a:solidFill>
                  <a:srgbClr val="000000"/>
                </a:solidFill>
                <a:latin typeface="Arial"/>
              </a:rPr>
              <a:t>138</a:t>
            </a:r>
            <a:endParaRPr kumimoji="0" lang="en-IN" sz="1600" b="1" i="0" u="none" strike="noStrike" kern="0" cap="none" spc="0" normalizeH="0" baseline="0" noProof="0" dirty="0">
              <a:ln>
                <a:noFill/>
              </a:ln>
              <a:solidFill>
                <a:srgbClr val="000000"/>
              </a:solidFill>
              <a:effectLst/>
              <a:uLnTx/>
              <a:uFillTx/>
              <a:latin typeface="Arial"/>
              <a:ea typeface="+mn-ea"/>
              <a:cs typeface="+mn-cs"/>
            </a:endParaRPr>
          </a:p>
        </p:txBody>
      </p:sp>
      <p:sp>
        <p:nvSpPr>
          <p:cNvPr id="33" name="Rectangle: Rounded Corners 32">
            <a:extLst>
              <a:ext uri="{FF2B5EF4-FFF2-40B4-BE49-F238E27FC236}">
                <a16:creationId xmlns:a16="http://schemas.microsoft.com/office/drawing/2014/main" id="{02E93B68-EBF3-38A0-1A16-BB64CCACF45D}"/>
              </a:ext>
            </a:extLst>
          </p:cNvPr>
          <p:cNvSpPr/>
          <p:nvPr/>
        </p:nvSpPr>
        <p:spPr>
          <a:xfrm>
            <a:off x="580788" y="4399699"/>
            <a:ext cx="1080000" cy="540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r>
              <a:rPr lang="en-IN" sz="1400" kern="0" dirty="0">
                <a:solidFill>
                  <a:srgbClr val="FFFFFF"/>
                </a:solidFill>
                <a:latin typeface="Georgia"/>
              </a:rPr>
              <a:t>CCC</a:t>
            </a:r>
          </a:p>
        </p:txBody>
      </p:sp>
      <p:sp>
        <p:nvSpPr>
          <p:cNvPr id="35" name="Rectangle: Rounded Corners 34">
            <a:extLst>
              <a:ext uri="{FF2B5EF4-FFF2-40B4-BE49-F238E27FC236}">
                <a16:creationId xmlns:a16="http://schemas.microsoft.com/office/drawing/2014/main" id="{67A3DEEC-BED8-72ED-3312-95934BDEA2EE}"/>
              </a:ext>
            </a:extLst>
          </p:cNvPr>
          <p:cNvSpPr/>
          <p:nvPr/>
        </p:nvSpPr>
        <p:spPr>
          <a:xfrm>
            <a:off x="5520687" y="3813037"/>
            <a:ext cx="900000" cy="450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pPr algn="ctr"/>
            <a:r>
              <a:rPr lang="en-IN" sz="1600" kern="0" dirty="0">
                <a:solidFill>
                  <a:srgbClr val="FFFFFF"/>
                </a:solidFill>
                <a:latin typeface="Georgia"/>
              </a:rPr>
              <a:t>FY23</a:t>
            </a:r>
          </a:p>
        </p:txBody>
      </p:sp>
      <p:sp>
        <p:nvSpPr>
          <p:cNvPr id="36" name="Rectangle: Rounded Corners 35">
            <a:extLst>
              <a:ext uri="{FF2B5EF4-FFF2-40B4-BE49-F238E27FC236}">
                <a16:creationId xmlns:a16="http://schemas.microsoft.com/office/drawing/2014/main" id="{E4C3EC41-655F-3FC9-7706-6F5019B6EAC8}"/>
              </a:ext>
            </a:extLst>
          </p:cNvPr>
          <p:cNvSpPr/>
          <p:nvPr/>
        </p:nvSpPr>
        <p:spPr>
          <a:xfrm>
            <a:off x="6578015" y="3813037"/>
            <a:ext cx="900000" cy="450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pPr algn="ctr"/>
            <a:r>
              <a:rPr lang="en-IN" sz="1600" kern="0" dirty="0">
                <a:solidFill>
                  <a:srgbClr val="FFFFFF"/>
                </a:solidFill>
                <a:latin typeface="Georgia"/>
              </a:rPr>
              <a:t>FY22</a:t>
            </a:r>
          </a:p>
        </p:txBody>
      </p:sp>
      <p:sp>
        <p:nvSpPr>
          <p:cNvPr id="37" name="Rectangle: Rounded Corners 36">
            <a:extLst>
              <a:ext uri="{FF2B5EF4-FFF2-40B4-BE49-F238E27FC236}">
                <a16:creationId xmlns:a16="http://schemas.microsoft.com/office/drawing/2014/main" id="{4E6C83BF-45C2-4CD3-19D5-23D0C573940E}"/>
              </a:ext>
            </a:extLst>
          </p:cNvPr>
          <p:cNvSpPr/>
          <p:nvPr/>
        </p:nvSpPr>
        <p:spPr>
          <a:xfrm>
            <a:off x="5520687" y="4405697"/>
            <a:ext cx="900000" cy="540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600" b="1" i="0" u="none" strike="noStrike" kern="0" cap="none" spc="0" normalizeH="0" baseline="0" noProof="0" dirty="0">
                <a:ln>
                  <a:noFill/>
                </a:ln>
                <a:solidFill>
                  <a:srgbClr val="000000"/>
                </a:solidFill>
                <a:effectLst/>
                <a:uLnTx/>
                <a:uFillTx/>
                <a:latin typeface="Arial"/>
                <a:ea typeface="+mn-ea"/>
                <a:cs typeface="+mn-cs"/>
              </a:rPr>
              <a:t>7,387</a:t>
            </a:r>
          </a:p>
        </p:txBody>
      </p:sp>
      <p:sp>
        <p:nvSpPr>
          <p:cNvPr id="38" name="Rectangle: Rounded Corners 37">
            <a:extLst>
              <a:ext uri="{FF2B5EF4-FFF2-40B4-BE49-F238E27FC236}">
                <a16:creationId xmlns:a16="http://schemas.microsoft.com/office/drawing/2014/main" id="{4BE9F555-F389-13FB-96E7-DD7B81ECC9B5}"/>
              </a:ext>
            </a:extLst>
          </p:cNvPr>
          <p:cNvSpPr/>
          <p:nvPr/>
        </p:nvSpPr>
        <p:spPr>
          <a:xfrm>
            <a:off x="6578015" y="4405697"/>
            <a:ext cx="900000" cy="540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lang="en-IN" sz="1600" b="1" kern="0">
                <a:solidFill>
                  <a:srgbClr val="000000"/>
                </a:solidFill>
                <a:latin typeface="Arial"/>
              </a:rPr>
              <a:t>3,321</a:t>
            </a:r>
            <a:endParaRPr kumimoji="0" lang="en-IN" sz="1600" b="1" i="0" u="none" strike="noStrike" kern="0" cap="none" spc="0" normalizeH="0" baseline="0" noProof="0" dirty="0">
              <a:ln>
                <a:noFill/>
              </a:ln>
              <a:solidFill>
                <a:srgbClr val="000000"/>
              </a:solidFill>
              <a:effectLst/>
              <a:uLnTx/>
              <a:uFillTx/>
              <a:latin typeface="Arial"/>
              <a:ea typeface="+mn-ea"/>
              <a:cs typeface="+mn-cs"/>
            </a:endParaRPr>
          </a:p>
        </p:txBody>
      </p:sp>
      <p:sp>
        <p:nvSpPr>
          <p:cNvPr id="39" name="Rectangle: Rounded Corners 38">
            <a:extLst>
              <a:ext uri="{FF2B5EF4-FFF2-40B4-BE49-F238E27FC236}">
                <a16:creationId xmlns:a16="http://schemas.microsoft.com/office/drawing/2014/main" id="{DFFAEED0-9988-742F-541C-BFA905A776F0}"/>
              </a:ext>
            </a:extLst>
          </p:cNvPr>
          <p:cNvSpPr/>
          <p:nvPr/>
        </p:nvSpPr>
        <p:spPr>
          <a:xfrm>
            <a:off x="4283359" y="4399699"/>
            <a:ext cx="1080000" cy="540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r>
              <a:rPr lang="en-IN" sz="1400" kern="0" dirty="0">
                <a:solidFill>
                  <a:srgbClr val="FFFFFF"/>
                </a:solidFill>
                <a:latin typeface="Georgia"/>
              </a:rPr>
              <a:t>Operating Cashflow</a:t>
            </a:r>
          </a:p>
        </p:txBody>
      </p:sp>
      <p:sp>
        <p:nvSpPr>
          <p:cNvPr id="41" name="Rectangle: Rounded Corners 40">
            <a:extLst>
              <a:ext uri="{FF2B5EF4-FFF2-40B4-BE49-F238E27FC236}">
                <a16:creationId xmlns:a16="http://schemas.microsoft.com/office/drawing/2014/main" id="{0635E37B-94EA-79A0-92A0-26815093383B}"/>
              </a:ext>
            </a:extLst>
          </p:cNvPr>
          <p:cNvSpPr/>
          <p:nvPr/>
        </p:nvSpPr>
        <p:spPr>
          <a:xfrm>
            <a:off x="9223258" y="3813037"/>
            <a:ext cx="900000" cy="450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pPr algn="ctr"/>
            <a:r>
              <a:rPr lang="en-IN" sz="1600" kern="0" dirty="0">
                <a:solidFill>
                  <a:srgbClr val="FFFFFF"/>
                </a:solidFill>
                <a:latin typeface="Georgia"/>
              </a:rPr>
              <a:t>FY23</a:t>
            </a:r>
          </a:p>
        </p:txBody>
      </p:sp>
      <p:sp>
        <p:nvSpPr>
          <p:cNvPr id="42" name="Rectangle: Rounded Corners 41">
            <a:extLst>
              <a:ext uri="{FF2B5EF4-FFF2-40B4-BE49-F238E27FC236}">
                <a16:creationId xmlns:a16="http://schemas.microsoft.com/office/drawing/2014/main" id="{C7B79194-D154-7402-6876-78B257288FF8}"/>
              </a:ext>
            </a:extLst>
          </p:cNvPr>
          <p:cNvSpPr/>
          <p:nvPr/>
        </p:nvSpPr>
        <p:spPr>
          <a:xfrm>
            <a:off x="10280586" y="3813037"/>
            <a:ext cx="900000" cy="450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pPr algn="ctr"/>
            <a:r>
              <a:rPr lang="en-IN" sz="1600" kern="0" dirty="0">
                <a:solidFill>
                  <a:srgbClr val="FFFFFF"/>
                </a:solidFill>
                <a:latin typeface="Georgia"/>
              </a:rPr>
              <a:t>FY22</a:t>
            </a:r>
          </a:p>
        </p:txBody>
      </p:sp>
      <p:sp>
        <p:nvSpPr>
          <p:cNvPr id="43" name="Rectangle: Rounded Corners 42">
            <a:extLst>
              <a:ext uri="{FF2B5EF4-FFF2-40B4-BE49-F238E27FC236}">
                <a16:creationId xmlns:a16="http://schemas.microsoft.com/office/drawing/2014/main" id="{CC330F7D-F1C4-4C39-8E4E-20EF95B5CF3E}"/>
              </a:ext>
            </a:extLst>
          </p:cNvPr>
          <p:cNvSpPr/>
          <p:nvPr/>
        </p:nvSpPr>
        <p:spPr>
          <a:xfrm>
            <a:off x="9223258" y="4405697"/>
            <a:ext cx="900000" cy="540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600" b="1" i="0" u="none" strike="noStrike" kern="0" cap="none" spc="0" normalizeH="0" baseline="0" noProof="0" dirty="0">
                <a:ln>
                  <a:noFill/>
                </a:ln>
                <a:solidFill>
                  <a:srgbClr val="000000"/>
                </a:solidFill>
                <a:effectLst/>
                <a:uLnTx/>
                <a:uFillTx/>
                <a:latin typeface="Arial"/>
                <a:ea typeface="+mn-ea"/>
                <a:cs typeface="+mn-cs"/>
              </a:rPr>
              <a:t>4,105</a:t>
            </a:r>
          </a:p>
        </p:txBody>
      </p:sp>
      <p:sp>
        <p:nvSpPr>
          <p:cNvPr id="44" name="Rectangle: Rounded Corners 43">
            <a:extLst>
              <a:ext uri="{FF2B5EF4-FFF2-40B4-BE49-F238E27FC236}">
                <a16:creationId xmlns:a16="http://schemas.microsoft.com/office/drawing/2014/main" id="{61D79E27-B1C1-E841-BB69-0F3F8C5E485E}"/>
              </a:ext>
            </a:extLst>
          </p:cNvPr>
          <p:cNvSpPr/>
          <p:nvPr/>
        </p:nvSpPr>
        <p:spPr>
          <a:xfrm>
            <a:off x="10280586" y="4405697"/>
            <a:ext cx="900000" cy="540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lang="en-IN" sz="1600" b="1" kern="0" dirty="0">
                <a:solidFill>
                  <a:srgbClr val="000000"/>
                </a:solidFill>
                <a:latin typeface="Arial"/>
              </a:rPr>
              <a:t>3,967</a:t>
            </a:r>
            <a:endParaRPr kumimoji="0" lang="en-IN" sz="1600" b="1" i="0" u="none" strike="noStrike" kern="0" cap="none" spc="0" normalizeH="0" baseline="0" noProof="0" dirty="0">
              <a:ln>
                <a:noFill/>
              </a:ln>
              <a:solidFill>
                <a:srgbClr val="000000"/>
              </a:solidFill>
              <a:effectLst/>
              <a:uLnTx/>
              <a:uFillTx/>
              <a:latin typeface="Arial"/>
              <a:ea typeface="+mn-ea"/>
              <a:cs typeface="+mn-cs"/>
            </a:endParaRPr>
          </a:p>
        </p:txBody>
      </p:sp>
      <p:sp>
        <p:nvSpPr>
          <p:cNvPr id="45" name="Rectangle: Rounded Corners 44">
            <a:extLst>
              <a:ext uri="{FF2B5EF4-FFF2-40B4-BE49-F238E27FC236}">
                <a16:creationId xmlns:a16="http://schemas.microsoft.com/office/drawing/2014/main" id="{B78700D3-F16F-0819-FEC6-57CE61BAAA3B}"/>
              </a:ext>
            </a:extLst>
          </p:cNvPr>
          <p:cNvSpPr/>
          <p:nvPr/>
        </p:nvSpPr>
        <p:spPr>
          <a:xfrm>
            <a:off x="7985930" y="4399699"/>
            <a:ext cx="1080000" cy="540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r>
              <a:rPr lang="en-IN" sz="1400" kern="0" dirty="0">
                <a:solidFill>
                  <a:srgbClr val="FFFFFF"/>
                </a:solidFill>
                <a:latin typeface="Georgia"/>
              </a:rPr>
              <a:t>Capex</a:t>
            </a:r>
          </a:p>
        </p:txBody>
      </p:sp>
      <p:cxnSp>
        <p:nvCxnSpPr>
          <p:cNvPr id="47" name="Straight Connector 46">
            <a:extLst>
              <a:ext uri="{FF2B5EF4-FFF2-40B4-BE49-F238E27FC236}">
                <a16:creationId xmlns:a16="http://schemas.microsoft.com/office/drawing/2014/main" id="{6335162B-C7FD-3410-CF23-71272480DD76}"/>
              </a:ext>
            </a:extLst>
          </p:cNvPr>
          <p:cNvCxnSpPr>
            <a:cxnSpLocks/>
          </p:cNvCxnSpPr>
          <p:nvPr/>
        </p:nvCxnSpPr>
        <p:spPr>
          <a:xfrm>
            <a:off x="4062083" y="880513"/>
            <a:ext cx="0" cy="5795054"/>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68B49A6-466C-3969-C896-7EEDC045C3B5}"/>
              </a:ext>
            </a:extLst>
          </p:cNvPr>
          <p:cNvCxnSpPr>
            <a:cxnSpLocks/>
          </p:cNvCxnSpPr>
          <p:nvPr/>
        </p:nvCxnSpPr>
        <p:spPr>
          <a:xfrm>
            <a:off x="7764654" y="880513"/>
            <a:ext cx="0" cy="5795054"/>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AC0B960C-22A5-80A1-5BB8-EEDF783436A7}"/>
              </a:ext>
            </a:extLst>
          </p:cNvPr>
          <p:cNvSpPr/>
          <p:nvPr/>
        </p:nvSpPr>
        <p:spPr>
          <a:xfrm>
            <a:off x="505756" y="2413837"/>
            <a:ext cx="3294715" cy="450000"/>
          </a:xfrm>
          <a:prstGeom prst="roundRect">
            <a:avLst/>
          </a:prstGeom>
          <a:noFill/>
          <a:ln w="10795" cap="flat" cmpd="sng" algn="ctr">
            <a:no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200"/>
              </a:spcBef>
              <a:spcAft>
                <a:spcPts val="200"/>
              </a:spcAft>
              <a:buClrTx/>
              <a:buSzTx/>
              <a:buFontTx/>
              <a:buNone/>
              <a:tabLst/>
              <a:defRPr/>
            </a:pPr>
            <a:r>
              <a:rPr kumimoji="0" lang="en-IN" sz="1000" i="0" u="none" strike="noStrike" kern="0" cap="none" spc="0" normalizeH="0" baseline="0" noProof="0" dirty="0">
                <a:ln>
                  <a:noFill/>
                </a:ln>
                <a:solidFill>
                  <a:srgbClr val="000000"/>
                </a:solidFill>
                <a:effectLst/>
                <a:uLnTx/>
                <a:uFillTx/>
                <a:latin typeface="Arial"/>
                <a:ea typeface="+mn-ea"/>
                <a:cs typeface="+mn-cs"/>
              </a:rPr>
              <a:t>ROCE = Annualised EBIT / Average capital employed Capital employed = Equity + Total Borrowings + LT liabilities - Cash</a:t>
            </a:r>
          </a:p>
        </p:txBody>
      </p:sp>
      <p:sp>
        <p:nvSpPr>
          <p:cNvPr id="6" name="Rectangle: Rounded Corners 5">
            <a:extLst>
              <a:ext uri="{FF2B5EF4-FFF2-40B4-BE49-F238E27FC236}">
                <a16:creationId xmlns:a16="http://schemas.microsoft.com/office/drawing/2014/main" id="{2F591059-6545-9206-61DB-98B4D3C06E1A}"/>
              </a:ext>
            </a:extLst>
          </p:cNvPr>
          <p:cNvSpPr/>
          <p:nvPr/>
        </p:nvSpPr>
        <p:spPr>
          <a:xfrm>
            <a:off x="4230827" y="2413837"/>
            <a:ext cx="3305124" cy="406421"/>
          </a:xfrm>
          <a:prstGeom prst="roundRect">
            <a:avLst/>
          </a:prstGeom>
          <a:noFill/>
          <a:ln w="10795" cap="flat" cmpd="sng" algn="ctr">
            <a:no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200"/>
              </a:spcBef>
              <a:spcAft>
                <a:spcPts val="200"/>
              </a:spcAft>
              <a:buClrTx/>
              <a:buSzTx/>
              <a:buFontTx/>
              <a:buNone/>
              <a:tabLst/>
              <a:defRPr/>
            </a:pPr>
            <a:r>
              <a:rPr kumimoji="0" lang="en-IN" sz="1000" i="0" u="none" strike="noStrike" kern="0" cap="none" spc="0" normalizeH="0" baseline="0" noProof="0" dirty="0">
                <a:ln>
                  <a:noFill/>
                </a:ln>
                <a:solidFill>
                  <a:srgbClr val="000000"/>
                </a:solidFill>
                <a:effectLst/>
                <a:uLnTx/>
                <a:uFillTx/>
                <a:latin typeface="Arial"/>
                <a:ea typeface="+mn-ea"/>
                <a:cs typeface="+mn-cs"/>
              </a:rPr>
              <a:t>Fixed asset turn = Annualised Sales / Average Tangible Gross block</a:t>
            </a:r>
          </a:p>
        </p:txBody>
      </p:sp>
      <p:sp>
        <p:nvSpPr>
          <p:cNvPr id="7" name="Rectangle: Rounded Corners 6">
            <a:extLst>
              <a:ext uri="{FF2B5EF4-FFF2-40B4-BE49-F238E27FC236}">
                <a16:creationId xmlns:a16="http://schemas.microsoft.com/office/drawing/2014/main" id="{67FF48E8-1305-38CF-AE86-8A7F834BF4A4}"/>
              </a:ext>
            </a:extLst>
          </p:cNvPr>
          <p:cNvSpPr/>
          <p:nvPr/>
        </p:nvSpPr>
        <p:spPr>
          <a:xfrm>
            <a:off x="7945990" y="2413837"/>
            <a:ext cx="3305124" cy="406421"/>
          </a:xfrm>
          <a:prstGeom prst="roundRect">
            <a:avLst/>
          </a:prstGeom>
          <a:noFill/>
          <a:ln w="10795" cap="flat" cmpd="sng" algn="ctr">
            <a:no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200"/>
              </a:spcBef>
              <a:spcAft>
                <a:spcPts val="200"/>
              </a:spcAft>
              <a:buClrTx/>
              <a:buSzTx/>
              <a:buFontTx/>
              <a:buNone/>
              <a:tabLst/>
              <a:defRPr/>
            </a:pPr>
            <a:r>
              <a:rPr kumimoji="0" lang="en-IN" sz="1000" i="0" u="none" strike="noStrike" kern="0" cap="none" spc="0" normalizeH="0" baseline="0" noProof="0" dirty="0">
                <a:ln>
                  <a:noFill/>
                </a:ln>
                <a:solidFill>
                  <a:srgbClr val="000000"/>
                </a:solidFill>
                <a:effectLst/>
                <a:uLnTx/>
                <a:uFillTx/>
                <a:latin typeface="Arial"/>
                <a:ea typeface="+mn-ea"/>
                <a:cs typeface="+mn-cs"/>
              </a:rPr>
              <a:t>Net debt = Gross debt – Cash and cash equivalents</a:t>
            </a:r>
          </a:p>
          <a:p>
            <a:pPr marL="0" marR="0" lvl="0" indent="0" defTabSz="914400" eaLnBrk="1" fontAlgn="auto" latinLnBrk="0" hangingPunct="1">
              <a:lnSpc>
                <a:spcPct val="100000"/>
              </a:lnSpc>
              <a:spcBef>
                <a:spcPts val="200"/>
              </a:spcBef>
              <a:spcAft>
                <a:spcPts val="200"/>
              </a:spcAft>
              <a:buClrTx/>
              <a:buSzTx/>
              <a:buFontTx/>
              <a:buNone/>
              <a:tabLst/>
              <a:defRPr/>
            </a:pPr>
            <a:endParaRPr kumimoji="0" lang="en-IN" sz="1000" i="0" u="none" strike="noStrike" kern="0" cap="none" spc="0" normalizeH="0" baseline="0" noProof="0" dirty="0">
              <a:ln>
                <a:noFill/>
              </a:ln>
              <a:solidFill>
                <a:srgbClr val="000000"/>
              </a:solidFill>
              <a:effectLst/>
              <a:uLnTx/>
              <a:uFillTx/>
              <a:latin typeface="Arial"/>
              <a:ea typeface="+mn-ea"/>
              <a:cs typeface="+mn-cs"/>
            </a:endParaRPr>
          </a:p>
        </p:txBody>
      </p:sp>
      <p:sp>
        <p:nvSpPr>
          <p:cNvPr id="10" name="TextBox 9">
            <a:extLst>
              <a:ext uri="{FF2B5EF4-FFF2-40B4-BE49-F238E27FC236}">
                <a16:creationId xmlns:a16="http://schemas.microsoft.com/office/drawing/2014/main" id="{74F302F4-129C-931E-7B77-3E94CE9B34B4}"/>
              </a:ext>
            </a:extLst>
          </p:cNvPr>
          <p:cNvSpPr txBox="1"/>
          <p:nvPr/>
        </p:nvSpPr>
        <p:spPr>
          <a:xfrm>
            <a:off x="11180586" y="670532"/>
            <a:ext cx="974213" cy="276999"/>
          </a:xfrm>
          <a:prstGeom prst="rect">
            <a:avLst/>
          </a:prstGeom>
          <a:noFill/>
        </p:spPr>
        <p:txBody>
          <a:bodyPr wrap="square" rtlCol="0">
            <a:spAutoFit/>
          </a:bodyPr>
          <a:lstStyle/>
          <a:p>
            <a:r>
              <a:rPr lang="en-IN" sz="1000" b="1" dirty="0">
                <a:solidFill>
                  <a:srgbClr val="000B14"/>
                </a:solidFill>
                <a:latin typeface="Arial" panose="020B0604020202020204" pitchFamily="34" charset="0"/>
                <a:cs typeface="Arial" panose="020B0604020202020204" pitchFamily="34" charset="0"/>
              </a:rPr>
              <a:t>(</a:t>
            </a:r>
            <a:r>
              <a:rPr lang="en-IN" sz="1200" b="1" dirty="0">
                <a:solidFill>
                  <a:srgbClr val="000B14"/>
                </a:solidFill>
                <a:latin typeface="Arial" panose="020B0604020202020204" pitchFamily="34" charset="0"/>
                <a:cs typeface="Arial" panose="020B0604020202020204" pitchFamily="34" charset="0"/>
              </a:rPr>
              <a:t>In ₹ Mn)</a:t>
            </a:r>
          </a:p>
        </p:txBody>
      </p:sp>
      <p:sp>
        <p:nvSpPr>
          <p:cNvPr id="11" name="Rectangle: Rounded Corners 10">
            <a:extLst>
              <a:ext uri="{FF2B5EF4-FFF2-40B4-BE49-F238E27FC236}">
                <a16:creationId xmlns:a16="http://schemas.microsoft.com/office/drawing/2014/main" id="{F57ACAD7-205D-CF37-6E45-A328668DD6A7}"/>
              </a:ext>
            </a:extLst>
          </p:cNvPr>
          <p:cNvSpPr/>
          <p:nvPr/>
        </p:nvSpPr>
        <p:spPr>
          <a:xfrm>
            <a:off x="505756" y="5110009"/>
            <a:ext cx="3305124" cy="540946"/>
          </a:xfrm>
          <a:prstGeom prst="roundRect">
            <a:avLst/>
          </a:prstGeom>
          <a:noFill/>
          <a:ln w="10795" cap="flat" cmpd="sng" algn="ctr">
            <a:no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200"/>
              </a:spcBef>
              <a:spcAft>
                <a:spcPts val="200"/>
              </a:spcAft>
              <a:buClrTx/>
              <a:buSzTx/>
              <a:buFontTx/>
              <a:buNone/>
              <a:tabLst/>
              <a:defRPr/>
            </a:pPr>
            <a:r>
              <a:rPr kumimoji="0" lang="en-IN" sz="1000" i="0" u="none" strike="noStrike" kern="0" cap="none" spc="0" normalizeH="0" baseline="0" noProof="0" dirty="0">
                <a:ln>
                  <a:noFill/>
                </a:ln>
                <a:solidFill>
                  <a:srgbClr val="000000"/>
                </a:solidFill>
                <a:effectLst/>
                <a:uLnTx/>
                <a:uFillTx/>
                <a:latin typeface="Arial"/>
                <a:ea typeface="+mn-ea"/>
                <a:cs typeface="+mn-cs"/>
              </a:rPr>
              <a:t>CCC = DIO + DSO - DPO</a:t>
            </a:r>
          </a:p>
          <a:p>
            <a:pPr marL="0" marR="0" lvl="0" indent="0" defTabSz="914400" eaLnBrk="1" fontAlgn="auto" latinLnBrk="0" hangingPunct="1">
              <a:lnSpc>
                <a:spcPct val="100000"/>
              </a:lnSpc>
              <a:spcBef>
                <a:spcPts val="200"/>
              </a:spcBef>
              <a:spcAft>
                <a:spcPts val="200"/>
              </a:spcAft>
              <a:buClrTx/>
              <a:buSzTx/>
              <a:buFontTx/>
              <a:buNone/>
              <a:tabLst/>
              <a:defRPr/>
            </a:pPr>
            <a:r>
              <a:rPr kumimoji="0" lang="en-IN" sz="1000" i="0" u="none" strike="noStrike" kern="0" cap="none" spc="0" normalizeH="0" baseline="0" noProof="0" dirty="0">
                <a:ln>
                  <a:noFill/>
                </a:ln>
                <a:solidFill>
                  <a:srgbClr val="000000"/>
                </a:solidFill>
                <a:effectLst/>
                <a:uLnTx/>
                <a:uFillTx/>
                <a:latin typeface="Arial"/>
                <a:ea typeface="+mn-ea"/>
                <a:cs typeface="+mn-cs"/>
              </a:rPr>
              <a:t>DIO and DPO are calculated using Material Cost consumed and DSO is calculated using</a:t>
            </a:r>
            <a:r>
              <a:rPr lang="en-IN" sz="1000" kern="0" dirty="0">
                <a:solidFill>
                  <a:srgbClr val="000000"/>
                </a:solidFill>
                <a:latin typeface="Arial"/>
              </a:rPr>
              <a:t> Sales</a:t>
            </a:r>
            <a:endParaRPr kumimoji="0" lang="en-IN" sz="1000" i="0" u="none" strike="noStrike" kern="0" cap="none" spc="0" normalizeH="0" baseline="0" noProof="0" dirty="0">
              <a:ln>
                <a:noFill/>
              </a:ln>
              <a:solidFill>
                <a:srgbClr val="000000"/>
              </a:solidFill>
              <a:effectLst/>
              <a:uLnTx/>
              <a:uFillTx/>
              <a:latin typeface="Arial"/>
              <a:ea typeface="+mn-ea"/>
              <a:cs typeface="+mn-cs"/>
            </a:endParaRPr>
          </a:p>
        </p:txBody>
      </p:sp>
      <p:cxnSp>
        <p:nvCxnSpPr>
          <p:cNvPr id="12" name="Straight Connector 11">
            <a:extLst>
              <a:ext uri="{FF2B5EF4-FFF2-40B4-BE49-F238E27FC236}">
                <a16:creationId xmlns:a16="http://schemas.microsoft.com/office/drawing/2014/main" id="{1E693EB9-34A4-64A1-B83D-8F8BAC92CAF9}"/>
              </a:ext>
            </a:extLst>
          </p:cNvPr>
          <p:cNvCxnSpPr>
            <a:cxnSpLocks/>
          </p:cNvCxnSpPr>
          <p:nvPr/>
        </p:nvCxnSpPr>
        <p:spPr>
          <a:xfrm flipH="1">
            <a:off x="576206" y="3477713"/>
            <a:ext cx="10831309"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488FB50-6D8D-1B27-6617-61242C3DC49F}"/>
              </a:ext>
            </a:extLst>
          </p:cNvPr>
          <p:cNvSpPr txBox="1"/>
          <p:nvPr/>
        </p:nvSpPr>
        <p:spPr>
          <a:xfrm>
            <a:off x="117248" y="197891"/>
            <a:ext cx="11129499" cy="646331"/>
          </a:xfrm>
          <a:prstGeom prst="rect">
            <a:avLst/>
          </a:prstGeom>
          <a:noFill/>
        </p:spPr>
        <p:txBody>
          <a:bodyPr wrap="square" rtlCol="0">
            <a:spAutoFit/>
          </a:bodyPr>
          <a:lstStyle/>
          <a:p>
            <a:r>
              <a:rPr lang="en-US" sz="3600" b="1" dirty="0">
                <a:solidFill>
                  <a:srgbClr val="00B0F0"/>
                </a:solidFill>
                <a:latin typeface="Aptos" panose="020B0004020202020204" pitchFamily="34" charset="0"/>
                <a:cs typeface="Arial" panose="020B0604020202020204" pitchFamily="34" charset="0"/>
              </a:rPr>
              <a:t>Financial highlights: Cashflow and ratios</a:t>
            </a:r>
          </a:p>
        </p:txBody>
      </p:sp>
    </p:spTree>
    <p:extLst>
      <p:ext uri="{BB962C8B-B14F-4D97-AF65-F5344CB8AC3E}">
        <p14:creationId xmlns:p14="http://schemas.microsoft.com/office/powerpoint/2010/main" val="42845551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AE18DB1-EDD5-4F0F-8817-FABC51FD3D4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1" imgH="423" progId="TCLayout.ActiveDocument.1">
                  <p:embed/>
                </p:oleObj>
              </mc:Choice>
              <mc:Fallback>
                <p:oleObj name="think-cell Slide" r:id="rId4" imgW="421" imgH="423" progId="TCLayout.ActiveDocument.1">
                  <p:embed/>
                  <p:pic>
                    <p:nvPicPr>
                      <p:cNvPr id="6" name="Object 5" hidden="1">
                        <a:extLst>
                          <a:ext uri="{FF2B5EF4-FFF2-40B4-BE49-F238E27FC236}">
                            <a16:creationId xmlns:a16="http://schemas.microsoft.com/office/drawing/2014/main" id="{FAE18DB1-EDD5-4F0F-8817-FABC51FD3D4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E0335977-F333-47C3-8246-AA197A3DEA7A}"/>
              </a:ext>
            </a:extLst>
          </p:cNvPr>
          <p:cNvSpPr>
            <a:spLocks noGrp="1"/>
          </p:cNvSpPr>
          <p:nvPr>
            <p:ph type="sldNum" sz="quarter" idx="4294967295"/>
          </p:nvPr>
        </p:nvSpPr>
        <p:spPr>
          <a:xfrm>
            <a:off x="9448800" y="6410325"/>
            <a:ext cx="2743200" cy="365125"/>
          </a:xfrm>
        </p:spPr>
        <p:txBody>
          <a:bodyPr/>
          <a:lstStyle/>
          <a:p>
            <a:fld id="{9FC3031A-744E-4491-9064-FD6EC4156FCE}" type="slidenum">
              <a:rPr lang="en-IN" smtClean="0"/>
              <a:pPr/>
              <a:t>21</a:t>
            </a:fld>
            <a:endParaRPr lang="en-IN" dirty="0"/>
          </a:p>
        </p:txBody>
      </p:sp>
      <p:sp>
        <p:nvSpPr>
          <p:cNvPr id="254" name="Rectangle 253">
            <a:extLst>
              <a:ext uri="{FF2B5EF4-FFF2-40B4-BE49-F238E27FC236}">
                <a16:creationId xmlns:a16="http://schemas.microsoft.com/office/drawing/2014/main" id="{C5EE9ADB-E1C4-435B-8F0A-830759D22653}"/>
              </a:ext>
            </a:extLst>
          </p:cNvPr>
          <p:cNvSpPr/>
          <p:nvPr/>
        </p:nvSpPr>
        <p:spPr>
          <a:xfrm>
            <a:off x="679590" y="909665"/>
            <a:ext cx="4572000" cy="360000"/>
          </a:xfrm>
          <a:prstGeom prst="rect">
            <a:avLst/>
          </a:prstGeom>
          <a:solidFill>
            <a:srgbClr val="002060"/>
          </a:solidFill>
          <a:ln w="571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Region wise share</a:t>
            </a:r>
            <a:endParaRPr kumimoji="0" lang="en-IN" sz="1400" b="1" i="0" u="none" strike="noStrike" kern="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4B106D7F-AD62-5CCC-0702-80176D6F6137}"/>
              </a:ext>
            </a:extLst>
          </p:cNvPr>
          <p:cNvSpPr txBox="1"/>
          <p:nvPr/>
        </p:nvSpPr>
        <p:spPr>
          <a:xfrm>
            <a:off x="10841016" y="897395"/>
            <a:ext cx="974213" cy="276999"/>
          </a:xfrm>
          <a:prstGeom prst="rect">
            <a:avLst/>
          </a:prstGeom>
          <a:noFill/>
        </p:spPr>
        <p:txBody>
          <a:bodyPr wrap="square" rtlCol="0">
            <a:spAutoFit/>
          </a:bodyPr>
          <a:lstStyle/>
          <a:p>
            <a:r>
              <a:rPr lang="en-IN" sz="1000" b="1" dirty="0">
                <a:solidFill>
                  <a:srgbClr val="000B14"/>
                </a:solidFill>
                <a:latin typeface="Arial" panose="020B0604020202020204" pitchFamily="34" charset="0"/>
                <a:cs typeface="Arial" panose="020B0604020202020204" pitchFamily="34" charset="0"/>
              </a:rPr>
              <a:t>(</a:t>
            </a:r>
            <a:r>
              <a:rPr lang="en-IN" sz="1200" b="1" dirty="0">
                <a:solidFill>
                  <a:srgbClr val="000B14"/>
                </a:solidFill>
                <a:latin typeface="Arial" panose="020B0604020202020204" pitchFamily="34" charset="0"/>
                <a:cs typeface="Arial" panose="020B0604020202020204" pitchFamily="34" charset="0"/>
              </a:rPr>
              <a:t>In ₹ Mn)</a:t>
            </a:r>
          </a:p>
        </p:txBody>
      </p:sp>
      <p:sp>
        <p:nvSpPr>
          <p:cNvPr id="7" name="Rectangle: Rounded Corners 6">
            <a:extLst>
              <a:ext uri="{FF2B5EF4-FFF2-40B4-BE49-F238E27FC236}">
                <a16:creationId xmlns:a16="http://schemas.microsoft.com/office/drawing/2014/main" id="{88E7321E-F0FB-B4AA-D35A-D94587C54DC0}"/>
              </a:ext>
            </a:extLst>
          </p:cNvPr>
          <p:cNvSpPr/>
          <p:nvPr/>
        </p:nvSpPr>
        <p:spPr>
          <a:xfrm>
            <a:off x="2087338" y="3999710"/>
            <a:ext cx="1080000" cy="288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pPr algn="ctr"/>
            <a:r>
              <a:rPr lang="en-IN" sz="1200" kern="0" dirty="0">
                <a:solidFill>
                  <a:srgbClr val="FFFFFF"/>
                </a:solidFill>
                <a:latin typeface="Georgia"/>
              </a:rPr>
              <a:t>FY23</a:t>
            </a:r>
          </a:p>
        </p:txBody>
      </p:sp>
      <p:sp>
        <p:nvSpPr>
          <p:cNvPr id="8" name="Rectangle: Rounded Corners 7">
            <a:extLst>
              <a:ext uri="{FF2B5EF4-FFF2-40B4-BE49-F238E27FC236}">
                <a16:creationId xmlns:a16="http://schemas.microsoft.com/office/drawing/2014/main" id="{DD7B419D-D0C2-E1FA-D28F-5A6002252485}"/>
              </a:ext>
            </a:extLst>
          </p:cNvPr>
          <p:cNvSpPr/>
          <p:nvPr/>
        </p:nvSpPr>
        <p:spPr>
          <a:xfrm>
            <a:off x="3298442" y="3999710"/>
            <a:ext cx="1080000" cy="288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pPr algn="ctr"/>
            <a:r>
              <a:rPr lang="en-IN" sz="1200" kern="0" dirty="0">
                <a:solidFill>
                  <a:srgbClr val="FFFFFF"/>
                </a:solidFill>
                <a:latin typeface="Georgia"/>
              </a:rPr>
              <a:t>FY22</a:t>
            </a:r>
          </a:p>
        </p:txBody>
      </p:sp>
      <p:sp>
        <p:nvSpPr>
          <p:cNvPr id="10" name="Rectangle: Rounded Corners 9">
            <a:extLst>
              <a:ext uri="{FF2B5EF4-FFF2-40B4-BE49-F238E27FC236}">
                <a16:creationId xmlns:a16="http://schemas.microsoft.com/office/drawing/2014/main" id="{F9D6FF90-5978-B6DA-210D-CB950AF086F2}"/>
              </a:ext>
            </a:extLst>
          </p:cNvPr>
          <p:cNvSpPr/>
          <p:nvPr/>
        </p:nvSpPr>
        <p:spPr>
          <a:xfrm>
            <a:off x="2087338" y="4391939"/>
            <a:ext cx="1080000" cy="288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200" b="1" i="0" u="none" strike="noStrike" kern="0" cap="none" spc="0" normalizeH="0" baseline="0" noProof="0" dirty="0">
                <a:ln>
                  <a:noFill/>
                </a:ln>
                <a:solidFill>
                  <a:srgbClr val="000000"/>
                </a:solidFill>
                <a:effectLst/>
                <a:uLnTx/>
                <a:uFillTx/>
                <a:latin typeface="Arial"/>
                <a:ea typeface="+mn-ea"/>
                <a:cs typeface="+mn-cs"/>
              </a:rPr>
              <a:t>23,780</a:t>
            </a:r>
          </a:p>
        </p:txBody>
      </p:sp>
      <p:sp>
        <p:nvSpPr>
          <p:cNvPr id="14" name="Rectangle: Rounded Corners 13">
            <a:extLst>
              <a:ext uri="{FF2B5EF4-FFF2-40B4-BE49-F238E27FC236}">
                <a16:creationId xmlns:a16="http://schemas.microsoft.com/office/drawing/2014/main" id="{13357859-10A2-F090-D7FF-511D80775EAC}"/>
              </a:ext>
            </a:extLst>
          </p:cNvPr>
          <p:cNvSpPr/>
          <p:nvPr/>
        </p:nvSpPr>
        <p:spPr>
          <a:xfrm>
            <a:off x="3298442" y="4391939"/>
            <a:ext cx="1080000" cy="288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lang="en-IN" sz="1200" b="1" kern="0" dirty="0">
                <a:solidFill>
                  <a:srgbClr val="000000"/>
                </a:solidFill>
                <a:latin typeface="Arial"/>
              </a:rPr>
              <a:t>18,251</a:t>
            </a:r>
            <a:endParaRPr kumimoji="0" lang="en-IN" sz="1200" b="1" i="0" u="none" strike="noStrike" kern="0" cap="none" spc="0" normalizeH="0" baseline="0" noProof="0" dirty="0">
              <a:ln>
                <a:noFill/>
              </a:ln>
              <a:solidFill>
                <a:srgbClr val="000000"/>
              </a:solidFill>
              <a:effectLst/>
              <a:uLnTx/>
              <a:uFillTx/>
              <a:latin typeface="Arial"/>
              <a:ea typeface="+mn-ea"/>
              <a:cs typeface="+mn-cs"/>
            </a:endParaRPr>
          </a:p>
        </p:txBody>
      </p:sp>
      <p:sp>
        <p:nvSpPr>
          <p:cNvPr id="16" name="Rectangle: Rounded Corners 15">
            <a:extLst>
              <a:ext uri="{FF2B5EF4-FFF2-40B4-BE49-F238E27FC236}">
                <a16:creationId xmlns:a16="http://schemas.microsoft.com/office/drawing/2014/main" id="{4448A162-4D18-A031-F490-824F7A3C59D8}"/>
              </a:ext>
            </a:extLst>
          </p:cNvPr>
          <p:cNvSpPr/>
          <p:nvPr/>
        </p:nvSpPr>
        <p:spPr>
          <a:xfrm>
            <a:off x="514700" y="4390939"/>
            <a:ext cx="1440000" cy="288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r>
              <a:rPr lang="en-IN" sz="1200" kern="0" dirty="0">
                <a:solidFill>
                  <a:srgbClr val="FFFFFF"/>
                </a:solidFill>
                <a:latin typeface="Georgia"/>
              </a:rPr>
              <a:t>USA</a:t>
            </a:r>
          </a:p>
        </p:txBody>
      </p:sp>
      <p:sp>
        <p:nvSpPr>
          <p:cNvPr id="18" name="Rectangle: Rounded Corners 17">
            <a:extLst>
              <a:ext uri="{FF2B5EF4-FFF2-40B4-BE49-F238E27FC236}">
                <a16:creationId xmlns:a16="http://schemas.microsoft.com/office/drawing/2014/main" id="{88F3A10D-AA9C-9E38-E5B6-F27BA07F1C42}"/>
              </a:ext>
            </a:extLst>
          </p:cNvPr>
          <p:cNvSpPr/>
          <p:nvPr/>
        </p:nvSpPr>
        <p:spPr>
          <a:xfrm>
            <a:off x="2087338" y="4784168"/>
            <a:ext cx="1080000" cy="288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200" b="1" i="0" u="none" strike="noStrike" kern="0" cap="none" spc="0" normalizeH="0" baseline="0" noProof="0">
                <a:ln>
                  <a:noFill/>
                </a:ln>
                <a:solidFill>
                  <a:srgbClr val="000000"/>
                </a:solidFill>
                <a:effectLst/>
                <a:uLnTx/>
                <a:uFillTx/>
                <a:latin typeface="Arial"/>
                <a:ea typeface="+mn-ea"/>
                <a:cs typeface="+mn-cs"/>
              </a:rPr>
              <a:t>2,099</a:t>
            </a:r>
            <a:endParaRPr kumimoji="0" lang="en-IN" sz="1200" b="1" i="0" u="none" strike="noStrike" kern="0" cap="none" spc="0" normalizeH="0" baseline="0" noProof="0" dirty="0">
              <a:ln>
                <a:noFill/>
              </a:ln>
              <a:solidFill>
                <a:srgbClr val="000000"/>
              </a:solidFill>
              <a:effectLst/>
              <a:uLnTx/>
              <a:uFillTx/>
              <a:latin typeface="Arial"/>
              <a:ea typeface="+mn-ea"/>
              <a:cs typeface="+mn-cs"/>
            </a:endParaRPr>
          </a:p>
        </p:txBody>
      </p:sp>
      <p:sp>
        <p:nvSpPr>
          <p:cNvPr id="19" name="Rectangle: Rounded Corners 18">
            <a:extLst>
              <a:ext uri="{FF2B5EF4-FFF2-40B4-BE49-F238E27FC236}">
                <a16:creationId xmlns:a16="http://schemas.microsoft.com/office/drawing/2014/main" id="{22E3EDAD-59AD-AF6A-BF37-C1A2B3CF49F6}"/>
              </a:ext>
            </a:extLst>
          </p:cNvPr>
          <p:cNvSpPr/>
          <p:nvPr/>
        </p:nvSpPr>
        <p:spPr>
          <a:xfrm>
            <a:off x="3298442" y="4784168"/>
            <a:ext cx="1080000" cy="288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lang="en-IN" sz="1200" b="1" kern="0" dirty="0">
                <a:solidFill>
                  <a:srgbClr val="000000"/>
                </a:solidFill>
                <a:latin typeface="Arial"/>
              </a:rPr>
              <a:t>1,290</a:t>
            </a:r>
            <a:endParaRPr kumimoji="0" lang="en-IN" sz="1200" b="1" i="0" u="none" strike="noStrike" kern="0" cap="none" spc="0" normalizeH="0" baseline="0" noProof="0" dirty="0">
              <a:ln>
                <a:noFill/>
              </a:ln>
              <a:solidFill>
                <a:srgbClr val="000000"/>
              </a:solidFill>
              <a:effectLst/>
              <a:uLnTx/>
              <a:uFillTx/>
              <a:latin typeface="Arial"/>
              <a:ea typeface="+mn-ea"/>
              <a:cs typeface="+mn-cs"/>
            </a:endParaRPr>
          </a:p>
        </p:txBody>
      </p:sp>
      <p:sp>
        <p:nvSpPr>
          <p:cNvPr id="20" name="Rectangle: Rounded Corners 19">
            <a:extLst>
              <a:ext uri="{FF2B5EF4-FFF2-40B4-BE49-F238E27FC236}">
                <a16:creationId xmlns:a16="http://schemas.microsoft.com/office/drawing/2014/main" id="{D0AF9ABC-DD57-FF97-59CC-F8224EF4B2B1}"/>
              </a:ext>
            </a:extLst>
          </p:cNvPr>
          <p:cNvSpPr/>
          <p:nvPr/>
        </p:nvSpPr>
        <p:spPr>
          <a:xfrm>
            <a:off x="514700" y="4782168"/>
            <a:ext cx="1440000" cy="288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r>
              <a:rPr lang="en-IN" sz="1200" kern="0" dirty="0">
                <a:solidFill>
                  <a:srgbClr val="FFFFFF"/>
                </a:solidFill>
                <a:latin typeface="Georgia"/>
              </a:rPr>
              <a:t>Canada</a:t>
            </a:r>
          </a:p>
        </p:txBody>
      </p:sp>
      <p:sp>
        <p:nvSpPr>
          <p:cNvPr id="21" name="Rectangle: Rounded Corners 20">
            <a:extLst>
              <a:ext uri="{FF2B5EF4-FFF2-40B4-BE49-F238E27FC236}">
                <a16:creationId xmlns:a16="http://schemas.microsoft.com/office/drawing/2014/main" id="{8F052A8D-107D-E82B-B125-D0E414B189B1}"/>
              </a:ext>
            </a:extLst>
          </p:cNvPr>
          <p:cNvSpPr/>
          <p:nvPr/>
        </p:nvSpPr>
        <p:spPr>
          <a:xfrm>
            <a:off x="2087338" y="5176397"/>
            <a:ext cx="1080000" cy="288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200" b="1" i="0" u="none" strike="noStrike" kern="0" cap="none" spc="0" normalizeH="0" baseline="0" noProof="0" dirty="0">
                <a:ln>
                  <a:noFill/>
                </a:ln>
                <a:solidFill>
                  <a:srgbClr val="000000"/>
                </a:solidFill>
                <a:effectLst/>
                <a:uLnTx/>
                <a:uFillTx/>
                <a:latin typeface="Arial"/>
                <a:ea typeface="+mn-ea"/>
                <a:cs typeface="+mn-cs"/>
              </a:rPr>
              <a:t>10,210</a:t>
            </a:r>
          </a:p>
        </p:txBody>
      </p:sp>
      <p:sp>
        <p:nvSpPr>
          <p:cNvPr id="22" name="Rectangle: Rounded Corners 21">
            <a:extLst>
              <a:ext uri="{FF2B5EF4-FFF2-40B4-BE49-F238E27FC236}">
                <a16:creationId xmlns:a16="http://schemas.microsoft.com/office/drawing/2014/main" id="{E2CE4BE6-3E9B-D8E6-539F-3FFB081C63FA}"/>
              </a:ext>
            </a:extLst>
          </p:cNvPr>
          <p:cNvSpPr/>
          <p:nvPr/>
        </p:nvSpPr>
        <p:spPr>
          <a:xfrm>
            <a:off x="3298442" y="5176397"/>
            <a:ext cx="1080000" cy="288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lang="en-IN" sz="1200" b="1" kern="0" dirty="0">
                <a:solidFill>
                  <a:srgbClr val="000000"/>
                </a:solidFill>
                <a:latin typeface="Arial"/>
              </a:rPr>
              <a:t>7,902</a:t>
            </a:r>
            <a:endParaRPr kumimoji="0" lang="en-IN" sz="1200" b="1" i="0" u="none" strike="noStrike" kern="0" cap="none" spc="0" normalizeH="0" baseline="0" noProof="0" dirty="0">
              <a:ln>
                <a:noFill/>
              </a:ln>
              <a:solidFill>
                <a:srgbClr val="000000"/>
              </a:solidFill>
              <a:effectLst/>
              <a:uLnTx/>
              <a:uFillTx/>
              <a:latin typeface="Arial"/>
              <a:ea typeface="+mn-ea"/>
              <a:cs typeface="+mn-cs"/>
            </a:endParaRPr>
          </a:p>
        </p:txBody>
      </p:sp>
      <p:sp>
        <p:nvSpPr>
          <p:cNvPr id="23" name="Rectangle: Rounded Corners 22">
            <a:extLst>
              <a:ext uri="{FF2B5EF4-FFF2-40B4-BE49-F238E27FC236}">
                <a16:creationId xmlns:a16="http://schemas.microsoft.com/office/drawing/2014/main" id="{2047FE09-F56F-D4C5-1CA2-EFDB2A97A0E1}"/>
              </a:ext>
            </a:extLst>
          </p:cNvPr>
          <p:cNvSpPr/>
          <p:nvPr/>
        </p:nvSpPr>
        <p:spPr>
          <a:xfrm>
            <a:off x="514700" y="5173397"/>
            <a:ext cx="1440000" cy="288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r>
              <a:rPr lang="en-IN" sz="1200" kern="0" dirty="0">
                <a:solidFill>
                  <a:srgbClr val="FFFFFF"/>
                </a:solidFill>
                <a:latin typeface="Georgia"/>
              </a:rPr>
              <a:t>Europe</a:t>
            </a:r>
          </a:p>
        </p:txBody>
      </p:sp>
      <p:sp>
        <p:nvSpPr>
          <p:cNvPr id="24" name="Rectangle: Rounded Corners 23">
            <a:extLst>
              <a:ext uri="{FF2B5EF4-FFF2-40B4-BE49-F238E27FC236}">
                <a16:creationId xmlns:a16="http://schemas.microsoft.com/office/drawing/2014/main" id="{79D8CFE6-684B-40E9-85FA-862C11DFCF92}"/>
              </a:ext>
            </a:extLst>
          </p:cNvPr>
          <p:cNvSpPr/>
          <p:nvPr/>
        </p:nvSpPr>
        <p:spPr>
          <a:xfrm>
            <a:off x="2087338" y="5568626"/>
            <a:ext cx="1080000" cy="288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200" b="1" i="0" u="none" strike="noStrike" kern="0" cap="none" spc="0" normalizeH="0" baseline="0" noProof="0" dirty="0">
                <a:ln>
                  <a:noFill/>
                </a:ln>
                <a:solidFill>
                  <a:srgbClr val="000000"/>
                </a:solidFill>
                <a:effectLst/>
                <a:uLnTx/>
                <a:uFillTx/>
                <a:latin typeface="Arial"/>
                <a:ea typeface="+mn-ea"/>
                <a:cs typeface="+mn-cs"/>
              </a:rPr>
              <a:t>3,443</a:t>
            </a:r>
          </a:p>
        </p:txBody>
      </p:sp>
      <p:sp>
        <p:nvSpPr>
          <p:cNvPr id="25" name="Rectangle: Rounded Corners 24">
            <a:extLst>
              <a:ext uri="{FF2B5EF4-FFF2-40B4-BE49-F238E27FC236}">
                <a16:creationId xmlns:a16="http://schemas.microsoft.com/office/drawing/2014/main" id="{20ABBD6B-3217-0434-0958-CF8E844F3648}"/>
              </a:ext>
            </a:extLst>
          </p:cNvPr>
          <p:cNvSpPr/>
          <p:nvPr/>
        </p:nvSpPr>
        <p:spPr>
          <a:xfrm>
            <a:off x="3298442" y="5568626"/>
            <a:ext cx="1080000" cy="288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lang="en-IN" sz="1200" b="1" kern="0" dirty="0">
                <a:solidFill>
                  <a:srgbClr val="000000"/>
                </a:solidFill>
                <a:latin typeface="Arial"/>
              </a:rPr>
              <a:t>3,811</a:t>
            </a:r>
            <a:endParaRPr kumimoji="0" lang="en-IN" sz="1200" b="1" i="0" u="none" strike="noStrike" kern="0" cap="none" spc="0" normalizeH="0" baseline="0" noProof="0" dirty="0">
              <a:ln>
                <a:noFill/>
              </a:ln>
              <a:solidFill>
                <a:srgbClr val="000000"/>
              </a:solidFill>
              <a:effectLst/>
              <a:uLnTx/>
              <a:uFillTx/>
              <a:latin typeface="Arial"/>
              <a:ea typeface="+mn-ea"/>
              <a:cs typeface="+mn-cs"/>
            </a:endParaRPr>
          </a:p>
        </p:txBody>
      </p:sp>
      <p:sp>
        <p:nvSpPr>
          <p:cNvPr id="26" name="Rectangle: Rounded Corners 25">
            <a:extLst>
              <a:ext uri="{FF2B5EF4-FFF2-40B4-BE49-F238E27FC236}">
                <a16:creationId xmlns:a16="http://schemas.microsoft.com/office/drawing/2014/main" id="{9CE0B3AB-803B-3AFD-4242-6103E9B309A6}"/>
              </a:ext>
            </a:extLst>
          </p:cNvPr>
          <p:cNvSpPr/>
          <p:nvPr/>
        </p:nvSpPr>
        <p:spPr>
          <a:xfrm>
            <a:off x="514700" y="5564626"/>
            <a:ext cx="1440000" cy="288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r>
              <a:rPr lang="en-IN" sz="1200" kern="0" dirty="0">
                <a:solidFill>
                  <a:srgbClr val="FFFFFF"/>
                </a:solidFill>
                <a:latin typeface="Georgia"/>
              </a:rPr>
              <a:t>LATAM</a:t>
            </a:r>
          </a:p>
        </p:txBody>
      </p:sp>
      <p:sp>
        <p:nvSpPr>
          <p:cNvPr id="27" name="Rectangle: Rounded Corners 26">
            <a:extLst>
              <a:ext uri="{FF2B5EF4-FFF2-40B4-BE49-F238E27FC236}">
                <a16:creationId xmlns:a16="http://schemas.microsoft.com/office/drawing/2014/main" id="{C7E0DC03-A513-FDB7-24B9-10976A321024}"/>
              </a:ext>
            </a:extLst>
          </p:cNvPr>
          <p:cNvSpPr/>
          <p:nvPr/>
        </p:nvSpPr>
        <p:spPr>
          <a:xfrm>
            <a:off x="2087338" y="6353084"/>
            <a:ext cx="1080000" cy="288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200" b="1" i="0" u="none" strike="noStrike" kern="0" cap="none" spc="0" normalizeH="0" baseline="0" noProof="0" dirty="0">
                <a:ln>
                  <a:noFill/>
                </a:ln>
                <a:solidFill>
                  <a:srgbClr val="000000"/>
                </a:solidFill>
                <a:effectLst/>
                <a:uLnTx/>
                <a:uFillTx/>
                <a:latin typeface="Arial"/>
                <a:ea typeface="+mn-ea"/>
                <a:cs typeface="+mn-cs"/>
              </a:rPr>
              <a:t>2,691</a:t>
            </a:r>
          </a:p>
        </p:txBody>
      </p:sp>
      <p:sp>
        <p:nvSpPr>
          <p:cNvPr id="28" name="Rectangle: Rounded Corners 27">
            <a:extLst>
              <a:ext uri="{FF2B5EF4-FFF2-40B4-BE49-F238E27FC236}">
                <a16:creationId xmlns:a16="http://schemas.microsoft.com/office/drawing/2014/main" id="{7E9415D9-E76E-D6EC-4FA2-0A8E55BC4D36}"/>
              </a:ext>
            </a:extLst>
          </p:cNvPr>
          <p:cNvSpPr/>
          <p:nvPr/>
        </p:nvSpPr>
        <p:spPr>
          <a:xfrm>
            <a:off x="3298442" y="6353084"/>
            <a:ext cx="1080000" cy="288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lang="en-IN" sz="1200" b="1" kern="0" dirty="0">
                <a:solidFill>
                  <a:srgbClr val="000000"/>
                </a:solidFill>
                <a:latin typeface="Arial"/>
              </a:rPr>
              <a:t>1,979</a:t>
            </a:r>
            <a:endParaRPr kumimoji="0" lang="en-IN" sz="1200" b="1" i="0" u="none" strike="noStrike" kern="0" cap="none" spc="0" normalizeH="0" baseline="0" noProof="0" dirty="0">
              <a:ln>
                <a:noFill/>
              </a:ln>
              <a:solidFill>
                <a:srgbClr val="000000"/>
              </a:solidFill>
              <a:effectLst/>
              <a:uLnTx/>
              <a:uFillTx/>
              <a:latin typeface="Arial"/>
              <a:ea typeface="+mn-ea"/>
              <a:cs typeface="+mn-cs"/>
            </a:endParaRPr>
          </a:p>
        </p:txBody>
      </p:sp>
      <p:sp>
        <p:nvSpPr>
          <p:cNvPr id="29" name="Rectangle: Rounded Corners 28">
            <a:extLst>
              <a:ext uri="{FF2B5EF4-FFF2-40B4-BE49-F238E27FC236}">
                <a16:creationId xmlns:a16="http://schemas.microsoft.com/office/drawing/2014/main" id="{9370FB79-1747-9B21-97B9-155977C3AD70}"/>
              </a:ext>
            </a:extLst>
          </p:cNvPr>
          <p:cNvSpPr/>
          <p:nvPr/>
        </p:nvSpPr>
        <p:spPr>
          <a:xfrm>
            <a:off x="514700" y="6347086"/>
            <a:ext cx="1440000" cy="288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r>
              <a:rPr lang="en-IN" sz="1200" kern="0" dirty="0">
                <a:solidFill>
                  <a:srgbClr val="FFFFFF"/>
                </a:solidFill>
                <a:latin typeface="Georgia"/>
              </a:rPr>
              <a:t>ROW</a:t>
            </a:r>
          </a:p>
        </p:txBody>
      </p:sp>
      <p:sp>
        <p:nvSpPr>
          <p:cNvPr id="30" name="Rectangle: Rounded Corners 29">
            <a:extLst>
              <a:ext uri="{FF2B5EF4-FFF2-40B4-BE49-F238E27FC236}">
                <a16:creationId xmlns:a16="http://schemas.microsoft.com/office/drawing/2014/main" id="{1E1EB931-2EBE-068F-ED6D-E8B186659550}"/>
              </a:ext>
            </a:extLst>
          </p:cNvPr>
          <p:cNvSpPr/>
          <p:nvPr/>
        </p:nvSpPr>
        <p:spPr>
          <a:xfrm>
            <a:off x="2087338" y="5960855"/>
            <a:ext cx="1080000" cy="288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200" b="1" i="0" u="none" strike="noStrike" kern="0" cap="none" spc="0" normalizeH="0" baseline="0" noProof="0" dirty="0">
                <a:ln>
                  <a:noFill/>
                </a:ln>
                <a:solidFill>
                  <a:srgbClr val="000000"/>
                </a:solidFill>
                <a:effectLst/>
                <a:uLnTx/>
                <a:uFillTx/>
                <a:latin typeface="Arial"/>
                <a:ea typeface="+mn-ea"/>
                <a:cs typeface="+mn-cs"/>
              </a:rPr>
              <a:t>2,895</a:t>
            </a:r>
          </a:p>
        </p:txBody>
      </p:sp>
      <p:sp>
        <p:nvSpPr>
          <p:cNvPr id="31" name="Rectangle: Rounded Corners 30">
            <a:extLst>
              <a:ext uri="{FF2B5EF4-FFF2-40B4-BE49-F238E27FC236}">
                <a16:creationId xmlns:a16="http://schemas.microsoft.com/office/drawing/2014/main" id="{7D5B3A97-CD1A-A1F3-FF8B-9109539329EB}"/>
              </a:ext>
            </a:extLst>
          </p:cNvPr>
          <p:cNvSpPr/>
          <p:nvPr/>
        </p:nvSpPr>
        <p:spPr>
          <a:xfrm>
            <a:off x="3298442" y="5960855"/>
            <a:ext cx="1080000" cy="288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lang="en-IN" sz="1200" b="1" kern="0" dirty="0">
                <a:solidFill>
                  <a:srgbClr val="000000"/>
                </a:solidFill>
                <a:latin typeface="Arial"/>
              </a:rPr>
              <a:t>4,415</a:t>
            </a:r>
            <a:endParaRPr kumimoji="0" lang="en-IN" sz="1200" b="1" i="0" u="none" strike="noStrike" kern="0" cap="none" spc="0" normalizeH="0" baseline="0" noProof="0" dirty="0">
              <a:ln>
                <a:noFill/>
              </a:ln>
              <a:solidFill>
                <a:srgbClr val="000000"/>
              </a:solidFill>
              <a:effectLst/>
              <a:uLnTx/>
              <a:uFillTx/>
              <a:latin typeface="Arial"/>
              <a:ea typeface="+mn-ea"/>
              <a:cs typeface="+mn-cs"/>
            </a:endParaRPr>
          </a:p>
        </p:txBody>
      </p:sp>
      <p:sp>
        <p:nvSpPr>
          <p:cNvPr id="32" name="Rectangle: Rounded Corners 31">
            <a:extLst>
              <a:ext uri="{FF2B5EF4-FFF2-40B4-BE49-F238E27FC236}">
                <a16:creationId xmlns:a16="http://schemas.microsoft.com/office/drawing/2014/main" id="{214F922F-7652-5754-FFAC-CD3FCA68DCC7}"/>
              </a:ext>
            </a:extLst>
          </p:cNvPr>
          <p:cNvSpPr/>
          <p:nvPr/>
        </p:nvSpPr>
        <p:spPr>
          <a:xfrm>
            <a:off x="514700" y="5955855"/>
            <a:ext cx="1440000" cy="288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r>
              <a:rPr lang="en-IN" sz="1200" kern="0" dirty="0">
                <a:solidFill>
                  <a:srgbClr val="FFFFFF"/>
                </a:solidFill>
                <a:latin typeface="Georgia"/>
              </a:rPr>
              <a:t>India</a:t>
            </a:r>
          </a:p>
        </p:txBody>
      </p:sp>
      <p:sp>
        <p:nvSpPr>
          <p:cNvPr id="33" name="Rectangle 32">
            <a:extLst>
              <a:ext uri="{FF2B5EF4-FFF2-40B4-BE49-F238E27FC236}">
                <a16:creationId xmlns:a16="http://schemas.microsoft.com/office/drawing/2014/main" id="{A626A692-1EA1-2188-79F0-0B071AF231CC}"/>
              </a:ext>
            </a:extLst>
          </p:cNvPr>
          <p:cNvSpPr/>
          <p:nvPr/>
        </p:nvSpPr>
        <p:spPr>
          <a:xfrm>
            <a:off x="6255248" y="909665"/>
            <a:ext cx="4572000" cy="360000"/>
          </a:xfrm>
          <a:prstGeom prst="rect">
            <a:avLst/>
          </a:prstGeom>
          <a:solidFill>
            <a:srgbClr val="002060"/>
          </a:solidFill>
          <a:ln w="571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Division wise share</a:t>
            </a:r>
            <a:endParaRPr kumimoji="0" lang="en-IN" sz="1400" b="1" i="0" u="none" strike="noStrike" kern="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cxnSp>
        <p:nvCxnSpPr>
          <p:cNvPr id="59" name="Straight Connector 58">
            <a:extLst>
              <a:ext uri="{FF2B5EF4-FFF2-40B4-BE49-F238E27FC236}">
                <a16:creationId xmlns:a16="http://schemas.microsoft.com/office/drawing/2014/main" id="{18DAB108-8F9C-D61F-76EC-87BE32A70A76}"/>
              </a:ext>
            </a:extLst>
          </p:cNvPr>
          <p:cNvCxnSpPr>
            <a:cxnSpLocks/>
          </p:cNvCxnSpPr>
          <p:nvPr/>
        </p:nvCxnSpPr>
        <p:spPr>
          <a:xfrm>
            <a:off x="5755970" y="880513"/>
            <a:ext cx="0" cy="5795054"/>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61" name="Rectangle: Rounded Corners 60">
            <a:extLst>
              <a:ext uri="{FF2B5EF4-FFF2-40B4-BE49-F238E27FC236}">
                <a16:creationId xmlns:a16="http://schemas.microsoft.com/office/drawing/2014/main" id="{8125BF21-9861-3419-7AE5-F98F40C8546D}"/>
              </a:ext>
            </a:extLst>
          </p:cNvPr>
          <p:cNvSpPr/>
          <p:nvPr/>
        </p:nvSpPr>
        <p:spPr>
          <a:xfrm>
            <a:off x="4511080" y="3999710"/>
            <a:ext cx="1080000" cy="288000"/>
          </a:xfrm>
          <a:prstGeom prst="roundRect">
            <a:avLst/>
          </a:prstGeom>
          <a:noFill/>
          <a:ln w="9525" cap="flat" cmpd="sng" algn="ctr">
            <a:solidFill>
              <a:srgbClr val="00A9F4"/>
            </a:solid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IN" sz="1200" b="1" i="1" kern="0" dirty="0">
                <a:solidFill>
                  <a:srgbClr val="000000"/>
                </a:solidFill>
                <a:latin typeface="Georgia" panose="02040502050405020303" pitchFamily="18" charset="0"/>
              </a:rPr>
              <a:t>Y-o-Y Gr%</a:t>
            </a:r>
          </a:p>
        </p:txBody>
      </p:sp>
      <p:sp>
        <p:nvSpPr>
          <p:cNvPr id="63" name="Oval 62">
            <a:extLst>
              <a:ext uri="{FF2B5EF4-FFF2-40B4-BE49-F238E27FC236}">
                <a16:creationId xmlns:a16="http://schemas.microsoft.com/office/drawing/2014/main" id="{BBD9BDD8-5EFC-885C-BCF2-F1E2ECD7EC09}"/>
              </a:ext>
            </a:extLst>
          </p:cNvPr>
          <p:cNvSpPr/>
          <p:nvPr/>
        </p:nvSpPr>
        <p:spPr>
          <a:xfrm>
            <a:off x="4601080" y="4391939"/>
            <a:ext cx="900000" cy="288000"/>
          </a:xfrm>
          <a:prstGeom prst="ellipse">
            <a:avLst/>
          </a:prstGeom>
          <a:noFill/>
          <a:ln w="10795" cap="flat" cmpd="sng" algn="ctr">
            <a:solidFill>
              <a:schemeClr val="bg2">
                <a:lumMod val="10000"/>
              </a:schemeClr>
            </a:solid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200" b="1" i="0" u="none" strike="noStrike" kern="0" cap="none" spc="0" normalizeH="0" baseline="0" noProof="0" dirty="0">
                <a:ln>
                  <a:noFill/>
                </a:ln>
                <a:solidFill>
                  <a:srgbClr val="000000"/>
                </a:solidFill>
                <a:effectLst/>
                <a:uLnTx/>
                <a:uFillTx/>
                <a:latin typeface="Arial"/>
                <a:ea typeface="+mn-ea"/>
                <a:cs typeface="+mn-cs"/>
              </a:rPr>
              <a:t>30%</a:t>
            </a:r>
          </a:p>
        </p:txBody>
      </p:sp>
      <p:sp>
        <p:nvSpPr>
          <p:cNvPr id="449" name="Oval 448">
            <a:extLst>
              <a:ext uri="{FF2B5EF4-FFF2-40B4-BE49-F238E27FC236}">
                <a16:creationId xmlns:a16="http://schemas.microsoft.com/office/drawing/2014/main" id="{1814BFAD-5B7B-03CE-7575-274E7BCE3F9E}"/>
              </a:ext>
            </a:extLst>
          </p:cNvPr>
          <p:cNvSpPr/>
          <p:nvPr/>
        </p:nvSpPr>
        <p:spPr>
          <a:xfrm>
            <a:off x="4601080" y="4784168"/>
            <a:ext cx="900000" cy="288000"/>
          </a:xfrm>
          <a:prstGeom prst="ellipse">
            <a:avLst/>
          </a:prstGeom>
          <a:noFill/>
          <a:ln w="10795" cap="flat" cmpd="sng" algn="ctr">
            <a:solidFill>
              <a:schemeClr val="bg2">
                <a:lumMod val="10000"/>
              </a:schemeClr>
            </a:solid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200" b="1" i="0" u="none" strike="noStrike" kern="0" cap="none" spc="0" normalizeH="0" baseline="0" noProof="0">
                <a:ln>
                  <a:noFill/>
                </a:ln>
                <a:solidFill>
                  <a:srgbClr val="000000"/>
                </a:solidFill>
                <a:effectLst/>
                <a:uLnTx/>
                <a:uFillTx/>
                <a:latin typeface="Arial"/>
                <a:ea typeface="+mn-ea"/>
                <a:cs typeface="+mn-cs"/>
              </a:rPr>
              <a:t>63%</a:t>
            </a:r>
            <a:endParaRPr kumimoji="0" lang="en-IN" sz="1200" b="1" i="0" u="none" strike="noStrike" kern="0" cap="none" spc="0" normalizeH="0" baseline="0" noProof="0" dirty="0">
              <a:ln>
                <a:noFill/>
              </a:ln>
              <a:solidFill>
                <a:srgbClr val="000000"/>
              </a:solidFill>
              <a:effectLst/>
              <a:uLnTx/>
              <a:uFillTx/>
              <a:latin typeface="Arial"/>
              <a:ea typeface="+mn-ea"/>
              <a:cs typeface="+mn-cs"/>
            </a:endParaRPr>
          </a:p>
        </p:txBody>
      </p:sp>
      <p:sp>
        <p:nvSpPr>
          <p:cNvPr id="450" name="Oval 449">
            <a:extLst>
              <a:ext uri="{FF2B5EF4-FFF2-40B4-BE49-F238E27FC236}">
                <a16:creationId xmlns:a16="http://schemas.microsoft.com/office/drawing/2014/main" id="{A7FF390C-CB66-0F8B-4C0E-0D3C3D276CB3}"/>
              </a:ext>
            </a:extLst>
          </p:cNvPr>
          <p:cNvSpPr/>
          <p:nvPr/>
        </p:nvSpPr>
        <p:spPr>
          <a:xfrm>
            <a:off x="4601080" y="5176397"/>
            <a:ext cx="900000" cy="288000"/>
          </a:xfrm>
          <a:prstGeom prst="ellipse">
            <a:avLst/>
          </a:prstGeom>
          <a:noFill/>
          <a:ln w="10795" cap="flat" cmpd="sng" algn="ctr">
            <a:solidFill>
              <a:schemeClr val="bg2">
                <a:lumMod val="10000"/>
              </a:schemeClr>
            </a:solid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200" b="1" i="0" u="none" strike="noStrike" kern="0" cap="none" spc="0" normalizeH="0" baseline="0" noProof="0">
                <a:ln>
                  <a:noFill/>
                </a:ln>
                <a:solidFill>
                  <a:srgbClr val="000000"/>
                </a:solidFill>
                <a:effectLst/>
                <a:uLnTx/>
                <a:uFillTx/>
                <a:latin typeface="Arial"/>
                <a:ea typeface="+mn-ea"/>
                <a:cs typeface="+mn-cs"/>
              </a:rPr>
              <a:t>29%</a:t>
            </a:r>
            <a:endParaRPr kumimoji="0" lang="en-IN" sz="1200" b="1" i="0" u="none" strike="noStrike" kern="0" cap="none" spc="0" normalizeH="0" baseline="0" noProof="0" dirty="0">
              <a:ln>
                <a:noFill/>
              </a:ln>
              <a:solidFill>
                <a:srgbClr val="000000"/>
              </a:solidFill>
              <a:effectLst/>
              <a:uLnTx/>
              <a:uFillTx/>
              <a:latin typeface="Arial"/>
              <a:ea typeface="+mn-ea"/>
              <a:cs typeface="+mn-cs"/>
            </a:endParaRPr>
          </a:p>
        </p:txBody>
      </p:sp>
      <p:sp>
        <p:nvSpPr>
          <p:cNvPr id="451" name="Oval 450">
            <a:extLst>
              <a:ext uri="{FF2B5EF4-FFF2-40B4-BE49-F238E27FC236}">
                <a16:creationId xmlns:a16="http://schemas.microsoft.com/office/drawing/2014/main" id="{3B7B785E-C342-7302-ADFC-BB39D6EE715A}"/>
              </a:ext>
            </a:extLst>
          </p:cNvPr>
          <p:cNvSpPr/>
          <p:nvPr/>
        </p:nvSpPr>
        <p:spPr>
          <a:xfrm>
            <a:off x="4601080" y="5568626"/>
            <a:ext cx="900000" cy="288000"/>
          </a:xfrm>
          <a:prstGeom prst="ellipse">
            <a:avLst/>
          </a:prstGeom>
          <a:noFill/>
          <a:ln w="10795" cap="flat" cmpd="sng" algn="ctr">
            <a:solidFill>
              <a:schemeClr val="bg2">
                <a:lumMod val="10000"/>
              </a:schemeClr>
            </a:solid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200" b="1" i="0" u="none" strike="noStrike" kern="0" cap="none" spc="0" normalizeH="0" baseline="0" noProof="0">
                <a:ln>
                  <a:noFill/>
                </a:ln>
                <a:solidFill>
                  <a:srgbClr val="000000"/>
                </a:solidFill>
                <a:effectLst/>
                <a:uLnTx/>
                <a:uFillTx/>
                <a:latin typeface="Arial"/>
                <a:ea typeface="+mn-ea"/>
                <a:cs typeface="+mn-cs"/>
              </a:rPr>
              <a:t>(10%)</a:t>
            </a:r>
            <a:endParaRPr kumimoji="0" lang="en-IN" sz="1200" b="1" i="0" u="none" strike="noStrike" kern="0" cap="none" spc="0" normalizeH="0" baseline="0" noProof="0" dirty="0">
              <a:ln>
                <a:noFill/>
              </a:ln>
              <a:solidFill>
                <a:srgbClr val="000000"/>
              </a:solidFill>
              <a:effectLst/>
              <a:uLnTx/>
              <a:uFillTx/>
              <a:latin typeface="Arial"/>
              <a:ea typeface="+mn-ea"/>
              <a:cs typeface="+mn-cs"/>
            </a:endParaRPr>
          </a:p>
        </p:txBody>
      </p:sp>
      <p:sp>
        <p:nvSpPr>
          <p:cNvPr id="452" name="Oval 451">
            <a:extLst>
              <a:ext uri="{FF2B5EF4-FFF2-40B4-BE49-F238E27FC236}">
                <a16:creationId xmlns:a16="http://schemas.microsoft.com/office/drawing/2014/main" id="{97E18E95-F368-A632-35C7-0009D3EB22CB}"/>
              </a:ext>
            </a:extLst>
          </p:cNvPr>
          <p:cNvSpPr/>
          <p:nvPr/>
        </p:nvSpPr>
        <p:spPr>
          <a:xfrm>
            <a:off x="4601080" y="5960855"/>
            <a:ext cx="900000" cy="288000"/>
          </a:xfrm>
          <a:prstGeom prst="ellipse">
            <a:avLst/>
          </a:prstGeom>
          <a:noFill/>
          <a:ln w="10795" cap="flat" cmpd="sng" algn="ctr">
            <a:solidFill>
              <a:schemeClr val="bg2">
                <a:lumMod val="10000"/>
              </a:schemeClr>
            </a:solid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200" b="1" i="0" u="none" strike="noStrike" kern="0" cap="none" spc="0" normalizeH="0" baseline="0" noProof="0" dirty="0">
                <a:ln>
                  <a:noFill/>
                </a:ln>
                <a:solidFill>
                  <a:srgbClr val="000000"/>
                </a:solidFill>
                <a:effectLst/>
                <a:uLnTx/>
                <a:uFillTx/>
                <a:latin typeface="Arial"/>
                <a:ea typeface="+mn-ea"/>
                <a:cs typeface="+mn-cs"/>
              </a:rPr>
              <a:t>(34%)</a:t>
            </a:r>
          </a:p>
        </p:txBody>
      </p:sp>
      <p:sp>
        <p:nvSpPr>
          <p:cNvPr id="453" name="Oval 452">
            <a:extLst>
              <a:ext uri="{FF2B5EF4-FFF2-40B4-BE49-F238E27FC236}">
                <a16:creationId xmlns:a16="http://schemas.microsoft.com/office/drawing/2014/main" id="{2562E5DB-011C-991F-C086-3DFD88AD1039}"/>
              </a:ext>
            </a:extLst>
          </p:cNvPr>
          <p:cNvSpPr/>
          <p:nvPr/>
        </p:nvSpPr>
        <p:spPr>
          <a:xfrm>
            <a:off x="4601080" y="6353084"/>
            <a:ext cx="900000" cy="288000"/>
          </a:xfrm>
          <a:prstGeom prst="ellipse">
            <a:avLst/>
          </a:prstGeom>
          <a:noFill/>
          <a:ln w="10795" cap="flat" cmpd="sng" algn="ctr">
            <a:solidFill>
              <a:schemeClr val="bg2">
                <a:lumMod val="10000"/>
              </a:schemeClr>
            </a:solid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200" b="1" i="0" u="none" strike="noStrike" kern="0" cap="none" spc="0" normalizeH="0" baseline="0" noProof="0">
                <a:ln>
                  <a:noFill/>
                </a:ln>
                <a:solidFill>
                  <a:srgbClr val="000000"/>
                </a:solidFill>
                <a:effectLst/>
                <a:uLnTx/>
                <a:uFillTx/>
                <a:latin typeface="Arial"/>
                <a:ea typeface="+mn-ea"/>
                <a:cs typeface="+mn-cs"/>
              </a:rPr>
              <a:t>36</a:t>
            </a:r>
            <a:r>
              <a:rPr kumimoji="0" lang="en-IN" sz="1200" b="1" i="0" u="none" strike="noStrike" kern="0" cap="none" spc="0" normalizeH="0" baseline="0" noProof="0" dirty="0">
                <a:ln>
                  <a:noFill/>
                </a:ln>
                <a:solidFill>
                  <a:srgbClr val="000000"/>
                </a:solidFill>
                <a:effectLst/>
                <a:uLnTx/>
                <a:uFillTx/>
                <a:latin typeface="Arial"/>
                <a:ea typeface="+mn-ea"/>
                <a:cs typeface="+mn-cs"/>
              </a:rPr>
              <a:t>%</a:t>
            </a:r>
          </a:p>
        </p:txBody>
      </p:sp>
      <p:sp>
        <p:nvSpPr>
          <p:cNvPr id="454" name="Rectangle: Rounded Corners 453">
            <a:extLst>
              <a:ext uri="{FF2B5EF4-FFF2-40B4-BE49-F238E27FC236}">
                <a16:creationId xmlns:a16="http://schemas.microsoft.com/office/drawing/2014/main" id="{26F91482-F90D-9EB5-B9F9-7B7773EF33CA}"/>
              </a:ext>
            </a:extLst>
          </p:cNvPr>
          <p:cNvSpPr/>
          <p:nvPr/>
        </p:nvSpPr>
        <p:spPr>
          <a:xfrm>
            <a:off x="7668098" y="3999710"/>
            <a:ext cx="1080000" cy="288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pPr algn="ctr"/>
            <a:r>
              <a:rPr lang="en-IN" sz="1200" kern="0" dirty="0">
                <a:solidFill>
                  <a:srgbClr val="FFFFFF"/>
                </a:solidFill>
                <a:latin typeface="Georgia"/>
              </a:rPr>
              <a:t>FY23</a:t>
            </a:r>
          </a:p>
        </p:txBody>
      </p:sp>
      <p:sp>
        <p:nvSpPr>
          <p:cNvPr id="455" name="Rectangle: Rounded Corners 454">
            <a:extLst>
              <a:ext uri="{FF2B5EF4-FFF2-40B4-BE49-F238E27FC236}">
                <a16:creationId xmlns:a16="http://schemas.microsoft.com/office/drawing/2014/main" id="{9A654799-F16D-C16F-1474-AF31879F6F91}"/>
              </a:ext>
            </a:extLst>
          </p:cNvPr>
          <p:cNvSpPr/>
          <p:nvPr/>
        </p:nvSpPr>
        <p:spPr>
          <a:xfrm>
            <a:off x="8879202" y="3999710"/>
            <a:ext cx="1080000" cy="288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pPr algn="ctr"/>
            <a:r>
              <a:rPr lang="en-IN" sz="1200" kern="0" dirty="0">
                <a:solidFill>
                  <a:srgbClr val="FFFFFF"/>
                </a:solidFill>
                <a:latin typeface="Georgia"/>
              </a:rPr>
              <a:t>FY22</a:t>
            </a:r>
          </a:p>
        </p:txBody>
      </p:sp>
      <p:sp>
        <p:nvSpPr>
          <p:cNvPr id="456" name="Rectangle: Rounded Corners 455">
            <a:extLst>
              <a:ext uri="{FF2B5EF4-FFF2-40B4-BE49-F238E27FC236}">
                <a16:creationId xmlns:a16="http://schemas.microsoft.com/office/drawing/2014/main" id="{B1BC6BF3-61D1-CB46-D0B8-33DA10C9E4C4}"/>
              </a:ext>
            </a:extLst>
          </p:cNvPr>
          <p:cNvSpPr/>
          <p:nvPr/>
        </p:nvSpPr>
        <p:spPr>
          <a:xfrm>
            <a:off x="7668098" y="4391939"/>
            <a:ext cx="1080000" cy="288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200" b="1" i="0" u="none" strike="noStrike" kern="0" cap="none" spc="0" normalizeH="0" baseline="0" noProof="0" dirty="0">
                <a:ln>
                  <a:noFill/>
                </a:ln>
                <a:solidFill>
                  <a:srgbClr val="000000"/>
                </a:solidFill>
                <a:effectLst/>
                <a:uLnTx/>
                <a:uFillTx/>
                <a:latin typeface="Arial"/>
                <a:ea typeface="+mn-ea"/>
                <a:cs typeface="+mn-cs"/>
              </a:rPr>
              <a:t>13,414</a:t>
            </a:r>
          </a:p>
        </p:txBody>
      </p:sp>
      <p:sp>
        <p:nvSpPr>
          <p:cNvPr id="457" name="Rectangle: Rounded Corners 456">
            <a:extLst>
              <a:ext uri="{FF2B5EF4-FFF2-40B4-BE49-F238E27FC236}">
                <a16:creationId xmlns:a16="http://schemas.microsoft.com/office/drawing/2014/main" id="{2D98BFA3-283E-BBAA-3193-DB3061455C82}"/>
              </a:ext>
            </a:extLst>
          </p:cNvPr>
          <p:cNvSpPr/>
          <p:nvPr/>
        </p:nvSpPr>
        <p:spPr>
          <a:xfrm>
            <a:off x="8879202" y="4391939"/>
            <a:ext cx="1080000" cy="288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lang="en-IN" sz="1200" b="1" kern="0" dirty="0">
                <a:solidFill>
                  <a:srgbClr val="000000"/>
                </a:solidFill>
                <a:latin typeface="Arial"/>
              </a:rPr>
              <a:t>9,751</a:t>
            </a:r>
            <a:endParaRPr kumimoji="0" lang="en-IN" sz="1200" b="1" i="0" u="none" strike="noStrike" kern="0" cap="none" spc="0" normalizeH="0" baseline="0" noProof="0" dirty="0">
              <a:ln>
                <a:noFill/>
              </a:ln>
              <a:solidFill>
                <a:srgbClr val="000000"/>
              </a:solidFill>
              <a:effectLst/>
              <a:uLnTx/>
              <a:uFillTx/>
              <a:latin typeface="Arial"/>
              <a:ea typeface="+mn-ea"/>
              <a:cs typeface="+mn-cs"/>
            </a:endParaRPr>
          </a:p>
        </p:txBody>
      </p:sp>
      <p:sp>
        <p:nvSpPr>
          <p:cNvPr id="458" name="Rectangle: Rounded Corners 457">
            <a:extLst>
              <a:ext uri="{FF2B5EF4-FFF2-40B4-BE49-F238E27FC236}">
                <a16:creationId xmlns:a16="http://schemas.microsoft.com/office/drawing/2014/main" id="{A86CFAE6-D3DD-6BB8-0493-E42B4F7B238A}"/>
              </a:ext>
            </a:extLst>
          </p:cNvPr>
          <p:cNvSpPr/>
          <p:nvPr/>
        </p:nvSpPr>
        <p:spPr>
          <a:xfrm>
            <a:off x="6095460" y="4390939"/>
            <a:ext cx="1440000" cy="288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r>
              <a:rPr lang="en-IN" sz="1200" kern="0" dirty="0">
                <a:solidFill>
                  <a:srgbClr val="FFFFFF"/>
                </a:solidFill>
                <a:latin typeface="Georgia"/>
              </a:rPr>
              <a:t>API</a:t>
            </a:r>
          </a:p>
        </p:txBody>
      </p:sp>
      <p:sp>
        <p:nvSpPr>
          <p:cNvPr id="460" name="Rectangle: Rounded Corners 459">
            <a:extLst>
              <a:ext uri="{FF2B5EF4-FFF2-40B4-BE49-F238E27FC236}">
                <a16:creationId xmlns:a16="http://schemas.microsoft.com/office/drawing/2014/main" id="{AB4F7FBE-12FB-8E79-C607-623E8D0D4D94}"/>
              </a:ext>
            </a:extLst>
          </p:cNvPr>
          <p:cNvSpPr/>
          <p:nvPr/>
        </p:nvSpPr>
        <p:spPr>
          <a:xfrm>
            <a:off x="7668098" y="4784168"/>
            <a:ext cx="1080000" cy="288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lang="en-IN" sz="1200" b="1" kern="0" dirty="0">
                <a:solidFill>
                  <a:srgbClr val="000000"/>
                </a:solidFill>
                <a:latin typeface="Arial"/>
              </a:rPr>
              <a:t>9,021</a:t>
            </a:r>
            <a:endParaRPr kumimoji="0" lang="en-IN" sz="1200" b="1" i="0" u="none" strike="noStrike" kern="0" cap="none" spc="0" normalizeH="0" baseline="0" noProof="0" dirty="0">
              <a:ln>
                <a:noFill/>
              </a:ln>
              <a:solidFill>
                <a:srgbClr val="000000"/>
              </a:solidFill>
              <a:effectLst/>
              <a:uLnTx/>
              <a:uFillTx/>
              <a:latin typeface="Arial"/>
              <a:ea typeface="+mn-ea"/>
              <a:cs typeface="+mn-cs"/>
            </a:endParaRPr>
          </a:p>
        </p:txBody>
      </p:sp>
      <p:sp>
        <p:nvSpPr>
          <p:cNvPr id="461" name="Rectangle: Rounded Corners 460">
            <a:extLst>
              <a:ext uri="{FF2B5EF4-FFF2-40B4-BE49-F238E27FC236}">
                <a16:creationId xmlns:a16="http://schemas.microsoft.com/office/drawing/2014/main" id="{6CDF7905-3196-BE10-6AB5-ADC24835DB34}"/>
              </a:ext>
            </a:extLst>
          </p:cNvPr>
          <p:cNvSpPr/>
          <p:nvPr/>
        </p:nvSpPr>
        <p:spPr>
          <a:xfrm>
            <a:off x="8879202" y="4784168"/>
            <a:ext cx="1080000" cy="288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lang="en-IN" sz="1200" b="1" kern="0">
                <a:solidFill>
                  <a:srgbClr val="000000"/>
                </a:solidFill>
                <a:latin typeface="Arial"/>
              </a:rPr>
              <a:t>8,456</a:t>
            </a:r>
            <a:endParaRPr kumimoji="0" lang="en-IN" sz="1200" b="1" i="0" u="none" strike="noStrike" kern="0" cap="none" spc="0" normalizeH="0" baseline="0" noProof="0" dirty="0">
              <a:ln>
                <a:noFill/>
              </a:ln>
              <a:solidFill>
                <a:srgbClr val="000000"/>
              </a:solidFill>
              <a:effectLst/>
              <a:uLnTx/>
              <a:uFillTx/>
              <a:latin typeface="Arial"/>
              <a:ea typeface="+mn-ea"/>
              <a:cs typeface="+mn-cs"/>
            </a:endParaRPr>
          </a:p>
        </p:txBody>
      </p:sp>
      <p:sp>
        <p:nvSpPr>
          <p:cNvPr id="462" name="Rectangle: Rounded Corners 461">
            <a:extLst>
              <a:ext uri="{FF2B5EF4-FFF2-40B4-BE49-F238E27FC236}">
                <a16:creationId xmlns:a16="http://schemas.microsoft.com/office/drawing/2014/main" id="{D3DECBC1-6C1C-C0A1-3CE0-13E1C0FE7059}"/>
              </a:ext>
            </a:extLst>
          </p:cNvPr>
          <p:cNvSpPr/>
          <p:nvPr/>
        </p:nvSpPr>
        <p:spPr>
          <a:xfrm>
            <a:off x="6095460" y="4782168"/>
            <a:ext cx="1440000" cy="288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r>
              <a:rPr lang="en-IN" sz="1200" kern="0" dirty="0">
                <a:solidFill>
                  <a:srgbClr val="FFFFFF"/>
                </a:solidFill>
                <a:latin typeface="Georgia"/>
              </a:rPr>
              <a:t>PFI</a:t>
            </a:r>
          </a:p>
        </p:txBody>
      </p:sp>
      <p:sp>
        <p:nvSpPr>
          <p:cNvPr id="463" name="Rectangle: Rounded Corners 462">
            <a:extLst>
              <a:ext uri="{FF2B5EF4-FFF2-40B4-BE49-F238E27FC236}">
                <a16:creationId xmlns:a16="http://schemas.microsoft.com/office/drawing/2014/main" id="{0FDBDA75-EAE6-CBAD-CADE-CD6ECBD9319E}"/>
              </a:ext>
            </a:extLst>
          </p:cNvPr>
          <p:cNvSpPr/>
          <p:nvPr/>
        </p:nvSpPr>
        <p:spPr>
          <a:xfrm>
            <a:off x="7668098" y="5176397"/>
            <a:ext cx="1080000" cy="288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200" b="1" i="0" u="none" strike="noStrike" kern="0" cap="none" spc="0" normalizeH="0" baseline="0" noProof="0" dirty="0">
                <a:ln>
                  <a:noFill/>
                </a:ln>
                <a:solidFill>
                  <a:srgbClr val="000000"/>
                </a:solidFill>
                <a:effectLst/>
                <a:uLnTx/>
                <a:uFillTx/>
                <a:latin typeface="Arial"/>
                <a:ea typeface="+mn-ea"/>
                <a:cs typeface="+mn-cs"/>
              </a:rPr>
              <a:t>22,684</a:t>
            </a:r>
          </a:p>
        </p:txBody>
      </p:sp>
      <p:sp>
        <p:nvSpPr>
          <p:cNvPr id="464" name="Rectangle: Rounded Corners 463">
            <a:extLst>
              <a:ext uri="{FF2B5EF4-FFF2-40B4-BE49-F238E27FC236}">
                <a16:creationId xmlns:a16="http://schemas.microsoft.com/office/drawing/2014/main" id="{01F84FDA-C409-BFBE-36C3-405A3EF666DD}"/>
              </a:ext>
            </a:extLst>
          </p:cNvPr>
          <p:cNvSpPr/>
          <p:nvPr/>
        </p:nvSpPr>
        <p:spPr>
          <a:xfrm>
            <a:off x="8879202" y="5176397"/>
            <a:ext cx="1080000" cy="288000"/>
          </a:xfrm>
          <a:prstGeom prst="roundRect">
            <a:avLst/>
          </a:prstGeom>
          <a:solidFill>
            <a:srgbClr val="FFFFFF">
              <a:lumMod val="95000"/>
            </a:srgbClr>
          </a:solidFill>
          <a:ln w="10795"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lang="en-IN" sz="1200" b="1" kern="0" dirty="0">
                <a:solidFill>
                  <a:srgbClr val="000000"/>
                </a:solidFill>
                <a:latin typeface="Arial"/>
              </a:rPr>
              <a:t>19,442</a:t>
            </a:r>
            <a:endParaRPr kumimoji="0" lang="en-IN" sz="1200" b="1" i="0" u="none" strike="noStrike" kern="0" cap="none" spc="0" normalizeH="0" baseline="0" noProof="0" dirty="0">
              <a:ln>
                <a:noFill/>
              </a:ln>
              <a:solidFill>
                <a:srgbClr val="000000"/>
              </a:solidFill>
              <a:effectLst/>
              <a:uLnTx/>
              <a:uFillTx/>
              <a:latin typeface="Arial"/>
              <a:ea typeface="+mn-ea"/>
              <a:cs typeface="+mn-cs"/>
            </a:endParaRPr>
          </a:p>
        </p:txBody>
      </p:sp>
      <p:sp>
        <p:nvSpPr>
          <p:cNvPr id="465" name="Rectangle: Rounded Corners 464">
            <a:extLst>
              <a:ext uri="{FF2B5EF4-FFF2-40B4-BE49-F238E27FC236}">
                <a16:creationId xmlns:a16="http://schemas.microsoft.com/office/drawing/2014/main" id="{F4C1B169-7908-2230-9064-B65C54BDCF19}"/>
              </a:ext>
            </a:extLst>
          </p:cNvPr>
          <p:cNvSpPr/>
          <p:nvPr/>
        </p:nvSpPr>
        <p:spPr>
          <a:xfrm>
            <a:off x="6095460" y="5173397"/>
            <a:ext cx="1440000" cy="288000"/>
          </a:xfrm>
          <a:prstGeom prst="roundRect">
            <a:avLst/>
          </a:prstGeom>
          <a:gradFill>
            <a:gsLst>
              <a:gs pos="0">
                <a:srgbClr val="002060"/>
              </a:gs>
              <a:gs pos="74000">
                <a:srgbClr val="051C2C">
                  <a:lumMod val="45000"/>
                  <a:lumOff val="55000"/>
                </a:srgbClr>
              </a:gs>
              <a:gs pos="83000">
                <a:srgbClr val="051C2C">
                  <a:lumMod val="45000"/>
                  <a:lumOff val="55000"/>
                </a:srgbClr>
              </a:gs>
              <a:gs pos="100000">
                <a:srgbClr val="051C2C">
                  <a:lumMod val="30000"/>
                  <a:lumOff val="70000"/>
                </a:srgbClr>
              </a:gs>
            </a:gsLst>
            <a:lin ang="0" scaled="0"/>
          </a:gradFill>
          <a:ln w="6350">
            <a:noFill/>
            <a:miter lim="800000"/>
          </a:ln>
        </p:spPr>
        <p:txBody>
          <a:bodyPr wrap="square" anchor="ctr">
            <a:noAutofit/>
          </a:bodyPr>
          <a:lstStyle/>
          <a:p>
            <a:r>
              <a:rPr lang="en-IN" sz="1200" kern="0" dirty="0">
                <a:solidFill>
                  <a:srgbClr val="FFFFFF"/>
                </a:solidFill>
                <a:latin typeface="Georgia"/>
              </a:rPr>
              <a:t>FD</a:t>
            </a:r>
          </a:p>
        </p:txBody>
      </p:sp>
      <p:sp>
        <p:nvSpPr>
          <p:cNvPr id="477" name="Rectangle: Rounded Corners 476">
            <a:extLst>
              <a:ext uri="{FF2B5EF4-FFF2-40B4-BE49-F238E27FC236}">
                <a16:creationId xmlns:a16="http://schemas.microsoft.com/office/drawing/2014/main" id="{F7158005-D5BA-B394-7AB4-ADDA5BAF1A9B}"/>
              </a:ext>
            </a:extLst>
          </p:cNvPr>
          <p:cNvSpPr/>
          <p:nvPr/>
        </p:nvSpPr>
        <p:spPr>
          <a:xfrm>
            <a:off x="10091840" y="3999710"/>
            <a:ext cx="1080000" cy="288000"/>
          </a:xfrm>
          <a:prstGeom prst="roundRect">
            <a:avLst/>
          </a:prstGeom>
          <a:noFill/>
          <a:ln w="9525" cap="flat" cmpd="sng" algn="ctr">
            <a:solidFill>
              <a:srgbClr val="00A9F4"/>
            </a:solid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IN" sz="1200" b="1" i="1" kern="0" dirty="0">
                <a:solidFill>
                  <a:srgbClr val="000000"/>
                </a:solidFill>
                <a:latin typeface="Georgia" panose="02040502050405020303" pitchFamily="18" charset="0"/>
              </a:rPr>
              <a:t>Y-o-Y Gr%</a:t>
            </a:r>
          </a:p>
        </p:txBody>
      </p:sp>
      <p:sp>
        <p:nvSpPr>
          <p:cNvPr id="478" name="Oval 477">
            <a:extLst>
              <a:ext uri="{FF2B5EF4-FFF2-40B4-BE49-F238E27FC236}">
                <a16:creationId xmlns:a16="http://schemas.microsoft.com/office/drawing/2014/main" id="{4D0A033C-BAA0-B9CD-010E-E11D02086247}"/>
              </a:ext>
            </a:extLst>
          </p:cNvPr>
          <p:cNvSpPr/>
          <p:nvPr/>
        </p:nvSpPr>
        <p:spPr>
          <a:xfrm>
            <a:off x="10181840" y="4391939"/>
            <a:ext cx="900000" cy="288000"/>
          </a:xfrm>
          <a:prstGeom prst="ellipse">
            <a:avLst/>
          </a:prstGeom>
          <a:noFill/>
          <a:ln w="10795" cap="flat" cmpd="sng" algn="ctr">
            <a:solidFill>
              <a:schemeClr val="bg2">
                <a:lumMod val="10000"/>
              </a:schemeClr>
            </a:solid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200" b="1" i="0" u="none" strike="noStrike" kern="0" cap="none" spc="0" normalizeH="0" baseline="0" noProof="0" dirty="0">
                <a:ln>
                  <a:noFill/>
                </a:ln>
                <a:solidFill>
                  <a:srgbClr val="000000"/>
                </a:solidFill>
                <a:effectLst/>
                <a:uLnTx/>
                <a:uFillTx/>
                <a:latin typeface="Arial"/>
                <a:ea typeface="+mn-ea"/>
                <a:cs typeface="+mn-cs"/>
              </a:rPr>
              <a:t>38%</a:t>
            </a:r>
          </a:p>
        </p:txBody>
      </p:sp>
      <p:sp>
        <p:nvSpPr>
          <p:cNvPr id="479" name="Oval 478">
            <a:extLst>
              <a:ext uri="{FF2B5EF4-FFF2-40B4-BE49-F238E27FC236}">
                <a16:creationId xmlns:a16="http://schemas.microsoft.com/office/drawing/2014/main" id="{EE1CDE86-D69D-3F4E-2DEF-6BB28C7BCD53}"/>
              </a:ext>
            </a:extLst>
          </p:cNvPr>
          <p:cNvSpPr/>
          <p:nvPr/>
        </p:nvSpPr>
        <p:spPr>
          <a:xfrm>
            <a:off x="10181840" y="4784168"/>
            <a:ext cx="900000" cy="288000"/>
          </a:xfrm>
          <a:prstGeom prst="ellipse">
            <a:avLst/>
          </a:prstGeom>
          <a:noFill/>
          <a:ln w="10795" cap="flat" cmpd="sng" algn="ctr">
            <a:solidFill>
              <a:schemeClr val="bg2">
                <a:lumMod val="10000"/>
              </a:schemeClr>
            </a:solid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200" b="1" i="0" u="none" strike="noStrike" kern="0" cap="none" spc="0" normalizeH="0" baseline="0" noProof="0">
                <a:ln>
                  <a:noFill/>
                </a:ln>
                <a:solidFill>
                  <a:srgbClr val="000000"/>
                </a:solidFill>
                <a:effectLst/>
                <a:uLnTx/>
                <a:uFillTx/>
                <a:latin typeface="Arial"/>
                <a:ea typeface="+mn-ea"/>
                <a:cs typeface="+mn-cs"/>
              </a:rPr>
              <a:t>7%</a:t>
            </a:r>
            <a:endParaRPr kumimoji="0" lang="en-IN" sz="1200" b="1" i="0" u="none" strike="noStrike" kern="0" cap="none" spc="0" normalizeH="0" baseline="0" noProof="0" dirty="0">
              <a:ln>
                <a:noFill/>
              </a:ln>
              <a:solidFill>
                <a:srgbClr val="000000"/>
              </a:solidFill>
              <a:effectLst/>
              <a:uLnTx/>
              <a:uFillTx/>
              <a:latin typeface="Arial"/>
              <a:ea typeface="+mn-ea"/>
              <a:cs typeface="+mn-cs"/>
            </a:endParaRPr>
          </a:p>
        </p:txBody>
      </p:sp>
      <p:sp>
        <p:nvSpPr>
          <p:cNvPr id="480" name="Oval 479">
            <a:extLst>
              <a:ext uri="{FF2B5EF4-FFF2-40B4-BE49-F238E27FC236}">
                <a16:creationId xmlns:a16="http://schemas.microsoft.com/office/drawing/2014/main" id="{4B4DCE8B-2174-2FF9-22D6-6ACEF3DAA1EE}"/>
              </a:ext>
            </a:extLst>
          </p:cNvPr>
          <p:cNvSpPr/>
          <p:nvPr/>
        </p:nvSpPr>
        <p:spPr>
          <a:xfrm>
            <a:off x="10181840" y="5176397"/>
            <a:ext cx="900000" cy="288000"/>
          </a:xfrm>
          <a:prstGeom prst="ellipse">
            <a:avLst/>
          </a:prstGeom>
          <a:noFill/>
          <a:ln w="10795" cap="flat" cmpd="sng" algn="ctr">
            <a:solidFill>
              <a:schemeClr val="bg2">
                <a:lumMod val="10000"/>
              </a:schemeClr>
            </a:solidFill>
            <a:prstDash val="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IN" sz="1200" b="1" i="0" u="none" strike="noStrike" kern="0" cap="none" spc="0" normalizeH="0" baseline="0" noProof="0">
                <a:ln>
                  <a:noFill/>
                </a:ln>
                <a:solidFill>
                  <a:srgbClr val="000000"/>
                </a:solidFill>
                <a:effectLst/>
                <a:uLnTx/>
                <a:uFillTx/>
                <a:latin typeface="Arial"/>
                <a:ea typeface="+mn-ea"/>
                <a:cs typeface="+mn-cs"/>
              </a:rPr>
              <a:t>17%</a:t>
            </a:r>
            <a:endParaRPr kumimoji="0" lang="en-IN" sz="1200" b="1" i="0" u="none" strike="noStrike" kern="0" cap="none" spc="0" normalizeH="0" baseline="0" noProof="0" dirty="0">
              <a:ln>
                <a:noFill/>
              </a:ln>
              <a:solidFill>
                <a:srgbClr val="000000"/>
              </a:solidFill>
              <a:effectLst/>
              <a:uLnTx/>
              <a:uFillTx/>
              <a:latin typeface="Arial"/>
              <a:ea typeface="+mn-ea"/>
              <a:cs typeface="+mn-cs"/>
            </a:endParaRPr>
          </a:p>
        </p:txBody>
      </p:sp>
      <p:graphicFrame>
        <p:nvGraphicFramePr>
          <p:cNvPr id="9" name="Chart 8">
            <a:extLst>
              <a:ext uri="{FF2B5EF4-FFF2-40B4-BE49-F238E27FC236}">
                <a16:creationId xmlns:a16="http://schemas.microsoft.com/office/drawing/2014/main" id="{6A3CF254-CA6F-44D6-AD72-7CC1A8C66701}"/>
              </a:ext>
            </a:extLst>
          </p:cNvPr>
          <p:cNvGraphicFramePr>
            <a:graphicFrameLocks/>
          </p:cNvGraphicFramePr>
          <p:nvPr/>
        </p:nvGraphicFramePr>
        <p:xfrm>
          <a:off x="679590" y="1294223"/>
          <a:ext cx="4572000" cy="27432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1" name="Chart 10">
            <a:extLst>
              <a:ext uri="{FF2B5EF4-FFF2-40B4-BE49-F238E27FC236}">
                <a16:creationId xmlns:a16="http://schemas.microsoft.com/office/drawing/2014/main" id="{913536D6-5F81-49FE-A215-9E818A8DC470}"/>
              </a:ext>
            </a:extLst>
          </p:cNvPr>
          <p:cNvGraphicFramePr>
            <a:graphicFrameLocks/>
          </p:cNvGraphicFramePr>
          <p:nvPr/>
        </p:nvGraphicFramePr>
        <p:xfrm>
          <a:off x="6255248" y="1294223"/>
          <a:ext cx="4572000" cy="2743200"/>
        </p:xfrm>
        <a:graphic>
          <a:graphicData uri="http://schemas.openxmlformats.org/drawingml/2006/chart">
            <c:chart xmlns:c="http://schemas.openxmlformats.org/drawingml/2006/chart" xmlns:r="http://schemas.openxmlformats.org/officeDocument/2006/relationships" r:id="rId7"/>
          </a:graphicData>
        </a:graphic>
      </p:graphicFrame>
      <p:sp>
        <p:nvSpPr>
          <p:cNvPr id="3" name="TextBox 2">
            <a:extLst>
              <a:ext uri="{FF2B5EF4-FFF2-40B4-BE49-F238E27FC236}">
                <a16:creationId xmlns:a16="http://schemas.microsoft.com/office/drawing/2014/main" id="{008ACCDD-E6C5-EE0F-7099-8CC3F1537D9C}"/>
              </a:ext>
            </a:extLst>
          </p:cNvPr>
          <p:cNvSpPr txBox="1"/>
          <p:nvPr/>
        </p:nvSpPr>
        <p:spPr>
          <a:xfrm>
            <a:off x="117248" y="197891"/>
            <a:ext cx="11129499" cy="646331"/>
          </a:xfrm>
          <a:prstGeom prst="rect">
            <a:avLst/>
          </a:prstGeom>
          <a:noFill/>
        </p:spPr>
        <p:txBody>
          <a:bodyPr wrap="square" rtlCol="0">
            <a:spAutoFit/>
          </a:bodyPr>
          <a:lstStyle/>
          <a:p>
            <a:r>
              <a:rPr lang="en-US" sz="3600" b="1" dirty="0">
                <a:solidFill>
                  <a:srgbClr val="00B0F0"/>
                </a:solidFill>
                <a:latin typeface="Aptos" panose="020B0004020202020204" pitchFamily="34" charset="0"/>
                <a:cs typeface="Arial" panose="020B0604020202020204" pitchFamily="34" charset="0"/>
              </a:rPr>
              <a:t>Financial highlights: Revenue split</a:t>
            </a:r>
          </a:p>
        </p:txBody>
      </p:sp>
    </p:spTree>
    <p:extLst>
      <p:ext uri="{BB962C8B-B14F-4D97-AF65-F5344CB8AC3E}">
        <p14:creationId xmlns:p14="http://schemas.microsoft.com/office/powerpoint/2010/main" val="22972550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DD96A38-94D8-4FD0-AF74-5B732B71D84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1" imgH="423" progId="TCLayout.ActiveDocument.1">
                  <p:embed/>
                </p:oleObj>
              </mc:Choice>
              <mc:Fallback>
                <p:oleObj name="think-cell Slide" r:id="rId3" imgW="421" imgH="423" progId="TCLayout.ActiveDocument.1">
                  <p:embed/>
                  <p:pic>
                    <p:nvPicPr>
                      <p:cNvPr id="5" name="Object 4" hidden="1">
                        <a:extLst>
                          <a:ext uri="{FF2B5EF4-FFF2-40B4-BE49-F238E27FC236}">
                            <a16:creationId xmlns:a16="http://schemas.microsoft.com/office/drawing/2014/main" id="{BDD96A38-94D8-4FD0-AF74-5B732B71D84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68ED6110-8898-8A67-7BF3-4F8975BDDDD4}"/>
              </a:ext>
            </a:extLst>
          </p:cNvPr>
          <p:cNvSpPr/>
          <p:nvPr/>
        </p:nvSpPr>
        <p:spPr>
          <a:xfrm>
            <a:off x="679590" y="909665"/>
            <a:ext cx="4572000" cy="360000"/>
          </a:xfrm>
          <a:prstGeom prst="rect">
            <a:avLst/>
          </a:prstGeom>
          <a:solidFill>
            <a:srgbClr val="002060"/>
          </a:solidFill>
          <a:ln w="571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Aptos" panose="020B0004020202020204" pitchFamily="34" charset="0"/>
                <a:cs typeface="Arial" panose="020B0604020202020204" pitchFamily="34" charset="0"/>
              </a:rPr>
              <a:t>Sales: 5yr CAGR: 22%</a:t>
            </a:r>
            <a:endParaRPr kumimoji="0" lang="en-IN" sz="1400" b="1" i="0" u="none" strike="noStrike" kern="0" cap="none" spc="0" normalizeH="0" baseline="0" noProof="0" dirty="0">
              <a:ln>
                <a:noFill/>
              </a:ln>
              <a:solidFill>
                <a:prstClr val="white"/>
              </a:solidFill>
              <a:effectLst/>
              <a:uLnTx/>
              <a:uFillTx/>
              <a:latin typeface="Aptos" panose="020B00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936883FF-E94E-48D7-B75B-A4D9C9B363D9}"/>
              </a:ext>
            </a:extLst>
          </p:cNvPr>
          <p:cNvSpPr/>
          <p:nvPr/>
        </p:nvSpPr>
        <p:spPr>
          <a:xfrm>
            <a:off x="6255248" y="909665"/>
            <a:ext cx="4572000" cy="360000"/>
          </a:xfrm>
          <a:prstGeom prst="rect">
            <a:avLst/>
          </a:prstGeom>
          <a:solidFill>
            <a:srgbClr val="002060"/>
          </a:solidFill>
          <a:ln w="571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Aptos" panose="020B0004020202020204" pitchFamily="34" charset="0"/>
                <a:cs typeface="Arial" panose="020B0604020202020204" pitchFamily="34" charset="0"/>
              </a:rPr>
              <a:t>VA and VA%: 5yr CAGR: 23%</a:t>
            </a:r>
            <a:endParaRPr kumimoji="0" lang="en-IN" sz="1400" b="1" i="0" u="none" strike="noStrike" kern="0" cap="none" spc="0" normalizeH="0" baseline="0" noProof="0" dirty="0">
              <a:ln>
                <a:noFill/>
              </a:ln>
              <a:solidFill>
                <a:prstClr val="white"/>
              </a:solidFill>
              <a:effectLst/>
              <a:uLnTx/>
              <a:uFillTx/>
              <a:latin typeface="Aptos" panose="020B0004020202020204" pitchFamily="34" charset="0"/>
              <a:cs typeface="Arial" panose="020B0604020202020204" pitchFamily="34" charset="0"/>
            </a:endParaRPr>
          </a:p>
        </p:txBody>
      </p:sp>
      <p:cxnSp>
        <p:nvCxnSpPr>
          <p:cNvPr id="15" name="Straight Connector 14">
            <a:extLst>
              <a:ext uri="{FF2B5EF4-FFF2-40B4-BE49-F238E27FC236}">
                <a16:creationId xmlns:a16="http://schemas.microsoft.com/office/drawing/2014/main" id="{C6213DD0-E89C-DABF-6C0F-09EB23F97DCE}"/>
              </a:ext>
            </a:extLst>
          </p:cNvPr>
          <p:cNvCxnSpPr>
            <a:cxnSpLocks/>
          </p:cNvCxnSpPr>
          <p:nvPr/>
        </p:nvCxnSpPr>
        <p:spPr>
          <a:xfrm>
            <a:off x="5755970" y="880513"/>
            <a:ext cx="0" cy="5795054"/>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20C774AF-90D6-2317-2C99-835171E26C37}"/>
              </a:ext>
            </a:extLst>
          </p:cNvPr>
          <p:cNvSpPr/>
          <p:nvPr/>
        </p:nvSpPr>
        <p:spPr>
          <a:xfrm>
            <a:off x="679590" y="3883185"/>
            <a:ext cx="4572000" cy="360000"/>
          </a:xfrm>
          <a:prstGeom prst="rect">
            <a:avLst/>
          </a:prstGeom>
          <a:solidFill>
            <a:srgbClr val="002060"/>
          </a:solidFill>
          <a:ln w="571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b="1" kern="0" dirty="0">
                <a:solidFill>
                  <a:prstClr val="white"/>
                </a:solidFill>
                <a:latin typeface="Aptos" panose="020B0004020202020204" pitchFamily="34" charset="0"/>
                <a:cs typeface="Arial" panose="020B0604020202020204" pitchFamily="34" charset="0"/>
              </a:rPr>
              <a:t>EBITDA and EBITDA%</a:t>
            </a:r>
            <a:r>
              <a:rPr kumimoji="0" lang="en-US" sz="1400" b="1" i="0" u="none" strike="noStrike" kern="0" cap="none" spc="0" normalizeH="0" baseline="0" noProof="0" dirty="0">
                <a:ln>
                  <a:noFill/>
                </a:ln>
                <a:solidFill>
                  <a:prstClr val="white"/>
                </a:solidFill>
                <a:effectLst/>
                <a:uLnTx/>
                <a:uFillTx/>
                <a:latin typeface="Aptos" panose="020B0004020202020204" pitchFamily="34" charset="0"/>
                <a:cs typeface="Arial" panose="020B0604020202020204" pitchFamily="34" charset="0"/>
              </a:rPr>
              <a:t>: 5yr CAGR: 27%</a:t>
            </a:r>
            <a:endParaRPr kumimoji="0" lang="en-IN" sz="1400" b="1" i="0" u="none" strike="noStrike" kern="0" cap="none" spc="0" normalizeH="0" baseline="0" noProof="0" dirty="0">
              <a:ln>
                <a:noFill/>
              </a:ln>
              <a:solidFill>
                <a:prstClr val="white"/>
              </a:solidFill>
              <a:effectLst/>
              <a:uLnTx/>
              <a:uFillTx/>
              <a:latin typeface="Aptos" panose="020B00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ED21942B-6BA4-0D7E-1570-15F9A7569F07}"/>
              </a:ext>
            </a:extLst>
          </p:cNvPr>
          <p:cNvSpPr/>
          <p:nvPr/>
        </p:nvSpPr>
        <p:spPr>
          <a:xfrm>
            <a:off x="6255248" y="3883185"/>
            <a:ext cx="4572000" cy="360000"/>
          </a:xfrm>
          <a:prstGeom prst="rect">
            <a:avLst/>
          </a:prstGeom>
          <a:solidFill>
            <a:srgbClr val="002060"/>
          </a:solidFill>
          <a:ln w="571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Aptos" panose="020B0004020202020204" pitchFamily="34" charset="0"/>
                <a:cs typeface="Arial" panose="020B0604020202020204" pitchFamily="34" charset="0"/>
              </a:rPr>
              <a:t>PAT and PAT%: 5yr CAGR: 31%</a:t>
            </a:r>
            <a:endParaRPr kumimoji="0" lang="en-IN" sz="1400" b="1" i="0" u="none" strike="noStrike" kern="0" cap="none" spc="0" normalizeH="0" baseline="0" noProof="0" dirty="0">
              <a:ln>
                <a:noFill/>
              </a:ln>
              <a:solidFill>
                <a:prstClr val="white"/>
              </a:solidFill>
              <a:effectLst/>
              <a:uLnTx/>
              <a:uFillTx/>
              <a:latin typeface="Aptos" panose="020B00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E4B9AEC6-8555-075B-D04D-F395A1E14F8D}"/>
              </a:ext>
            </a:extLst>
          </p:cNvPr>
          <p:cNvSpPr txBox="1"/>
          <p:nvPr/>
        </p:nvSpPr>
        <p:spPr>
          <a:xfrm>
            <a:off x="11182381" y="518791"/>
            <a:ext cx="974213" cy="276999"/>
          </a:xfrm>
          <a:prstGeom prst="rect">
            <a:avLst/>
          </a:prstGeom>
          <a:noFill/>
        </p:spPr>
        <p:txBody>
          <a:bodyPr wrap="square" rtlCol="0">
            <a:spAutoFit/>
          </a:bodyPr>
          <a:lstStyle/>
          <a:p>
            <a:r>
              <a:rPr lang="en-IN" sz="1000" b="1" dirty="0">
                <a:solidFill>
                  <a:srgbClr val="000B14"/>
                </a:solidFill>
                <a:latin typeface="Aptos" panose="020B0004020202020204" pitchFamily="34" charset="0"/>
                <a:cs typeface="Arial" panose="020B0604020202020204" pitchFamily="34" charset="0"/>
              </a:rPr>
              <a:t>(</a:t>
            </a:r>
            <a:r>
              <a:rPr lang="en-IN" sz="1200" b="1" dirty="0">
                <a:solidFill>
                  <a:srgbClr val="000B14"/>
                </a:solidFill>
                <a:latin typeface="Aptos" panose="020B0004020202020204" pitchFamily="34" charset="0"/>
                <a:cs typeface="Arial" panose="020B0604020202020204" pitchFamily="34" charset="0"/>
              </a:rPr>
              <a:t>In ₹ Mn)</a:t>
            </a:r>
          </a:p>
        </p:txBody>
      </p:sp>
      <p:graphicFrame>
        <p:nvGraphicFramePr>
          <p:cNvPr id="10" name="Chart 9">
            <a:extLst>
              <a:ext uri="{FF2B5EF4-FFF2-40B4-BE49-F238E27FC236}">
                <a16:creationId xmlns:a16="http://schemas.microsoft.com/office/drawing/2014/main" id="{BE6D402A-AC5E-417A-86AB-5FCD2F6AB2C5}"/>
              </a:ext>
            </a:extLst>
          </p:cNvPr>
          <p:cNvGraphicFramePr>
            <a:graphicFrameLocks/>
          </p:cNvGraphicFramePr>
          <p:nvPr>
            <p:extLst>
              <p:ext uri="{D42A27DB-BD31-4B8C-83A1-F6EECF244321}">
                <p14:modId xmlns:p14="http://schemas.microsoft.com/office/powerpoint/2010/main" val="11493974"/>
              </p:ext>
            </p:extLst>
          </p:nvPr>
        </p:nvGraphicFramePr>
        <p:xfrm>
          <a:off x="679590" y="1329237"/>
          <a:ext cx="4572000" cy="2520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 name="Chart 1">
            <a:extLst>
              <a:ext uri="{FF2B5EF4-FFF2-40B4-BE49-F238E27FC236}">
                <a16:creationId xmlns:a16="http://schemas.microsoft.com/office/drawing/2014/main" id="{1EDC60F9-E9BB-4805-B86C-BB547036A36B}"/>
              </a:ext>
            </a:extLst>
          </p:cNvPr>
          <p:cNvGraphicFramePr>
            <a:graphicFrameLocks/>
          </p:cNvGraphicFramePr>
          <p:nvPr>
            <p:extLst>
              <p:ext uri="{D42A27DB-BD31-4B8C-83A1-F6EECF244321}">
                <p14:modId xmlns:p14="http://schemas.microsoft.com/office/powerpoint/2010/main" val="1540910571"/>
              </p:ext>
            </p:extLst>
          </p:nvPr>
        </p:nvGraphicFramePr>
        <p:xfrm>
          <a:off x="6436031" y="1269665"/>
          <a:ext cx="4572000" cy="243745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 name="Chart 2">
            <a:extLst>
              <a:ext uri="{FF2B5EF4-FFF2-40B4-BE49-F238E27FC236}">
                <a16:creationId xmlns:a16="http://schemas.microsoft.com/office/drawing/2014/main" id="{1EE57770-51E5-40EE-85AE-B48DF5268BDE}"/>
              </a:ext>
            </a:extLst>
          </p:cNvPr>
          <p:cNvGraphicFramePr>
            <a:graphicFrameLocks/>
          </p:cNvGraphicFramePr>
          <p:nvPr>
            <p:extLst>
              <p:ext uri="{D42A27DB-BD31-4B8C-83A1-F6EECF244321}">
                <p14:modId xmlns:p14="http://schemas.microsoft.com/office/powerpoint/2010/main" val="3294520025"/>
              </p:ext>
            </p:extLst>
          </p:nvPr>
        </p:nvGraphicFramePr>
        <p:xfrm>
          <a:off x="581025" y="4309206"/>
          <a:ext cx="4572000" cy="243745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6" name="Chart 5">
            <a:extLst>
              <a:ext uri="{FF2B5EF4-FFF2-40B4-BE49-F238E27FC236}">
                <a16:creationId xmlns:a16="http://schemas.microsoft.com/office/drawing/2014/main" id="{F518E5CB-4991-4BFF-BB61-A43232D4F041}"/>
              </a:ext>
            </a:extLst>
          </p:cNvPr>
          <p:cNvGraphicFramePr>
            <a:graphicFrameLocks/>
          </p:cNvGraphicFramePr>
          <p:nvPr>
            <p:extLst>
              <p:ext uri="{D42A27DB-BD31-4B8C-83A1-F6EECF244321}">
                <p14:modId xmlns:p14="http://schemas.microsoft.com/office/powerpoint/2010/main" val="3246411264"/>
              </p:ext>
            </p:extLst>
          </p:nvPr>
        </p:nvGraphicFramePr>
        <p:xfrm>
          <a:off x="6436031" y="4309206"/>
          <a:ext cx="4572000" cy="2437450"/>
        </p:xfrm>
        <a:graphic>
          <a:graphicData uri="http://schemas.openxmlformats.org/drawingml/2006/chart">
            <c:chart xmlns:c="http://schemas.openxmlformats.org/drawingml/2006/chart" xmlns:r="http://schemas.openxmlformats.org/officeDocument/2006/relationships" r:id="rId8"/>
          </a:graphicData>
        </a:graphic>
      </p:graphicFrame>
      <p:sp>
        <p:nvSpPr>
          <p:cNvPr id="7" name="TextBox 6">
            <a:extLst>
              <a:ext uri="{FF2B5EF4-FFF2-40B4-BE49-F238E27FC236}">
                <a16:creationId xmlns:a16="http://schemas.microsoft.com/office/drawing/2014/main" id="{998E3E6C-E8CC-EFF2-F24E-C7EC99DCA5D0}"/>
              </a:ext>
            </a:extLst>
          </p:cNvPr>
          <p:cNvSpPr txBox="1"/>
          <p:nvPr/>
        </p:nvSpPr>
        <p:spPr>
          <a:xfrm>
            <a:off x="522512" y="158480"/>
            <a:ext cx="10791670" cy="552587"/>
          </a:xfrm>
          <a:prstGeom prst="rect">
            <a:avLst/>
          </a:prstGeom>
          <a:noFill/>
        </p:spPr>
        <p:txBody>
          <a:bodyPr wrap="square" rtlCol="0">
            <a:spAutoFit/>
          </a:bodyPr>
          <a:lstStyle/>
          <a:p>
            <a:pPr>
              <a:lnSpc>
                <a:spcPct val="80000"/>
              </a:lnSpc>
              <a:defRPr/>
            </a:pPr>
            <a:r>
              <a:rPr lang="en-US" sz="3600" b="1" dirty="0">
                <a:solidFill>
                  <a:srgbClr val="00B0F0"/>
                </a:solidFill>
                <a:latin typeface="Aptos" panose="020B0004020202020204" pitchFamily="34" charset="0"/>
                <a:cs typeface="Arial" panose="020B0604020202020204" pitchFamily="34" charset="0"/>
              </a:rPr>
              <a:t>Last 5 years performance: </a:t>
            </a:r>
            <a:r>
              <a:rPr kumimoji="0" lang="en-US" sz="3600" b="1" i="0" u="none" strike="noStrike" kern="1200" cap="none" spc="0" normalizeH="0" baseline="0" noProof="0" dirty="0">
                <a:ln>
                  <a:noFill/>
                </a:ln>
                <a:solidFill>
                  <a:srgbClr val="002060"/>
                </a:solidFill>
                <a:effectLst/>
                <a:uLnTx/>
                <a:uFillTx/>
                <a:latin typeface="Aptos" panose="020B0004020202020204" pitchFamily="34" charset="0"/>
                <a:cs typeface="Arial" panose="020B0604020202020204" pitchFamily="34" charset="0"/>
              </a:rPr>
              <a:t>Sales and profitability</a:t>
            </a:r>
          </a:p>
        </p:txBody>
      </p:sp>
    </p:spTree>
    <p:extLst>
      <p:ext uri="{BB962C8B-B14F-4D97-AF65-F5344CB8AC3E}">
        <p14:creationId xmlns:p14="http://schemas.microsoft.com/office/powerpoint/2010/main" val="25265563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DD96A38-94D8-4FD0-AF74-5B732B71D84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1" imgH="423" progId="TCLayout.ActiveDocument.1">
                  <p:embed/>
                </p:oleObj>
              </mc:Choice>
              <mc:Fallback>
                <p:oleObj name="think-cell Slide" r:id="rId3" imgW="421" imgH="423" progId="TCLayout.ActiveDocument.1">
                  <p:embed/>
                  <p:pic>
                    <p:nvPicPr>
                      <p:cNvPr id="5" name="Object 4" hidden="1">
                        <a:extLst>
                          <a:ext uri="{FF2B5EF4-FFF2-40B4-BE49-F238E27FC236}">
                            <a16:creationId xmlns:a16="http://schemas.microsoft.com/office/drawing/2014/main" id="{BDD96A38-94D8-4FD0-AF74-5B732B71D84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68ED6110-8898-8A67-7BF3-4F8975BDDDD4}"/>
              </a:ext>
            </a:extLst>
          </p:cNvPr>
          <p:cNvSpPr/>
          <p:nvPr/>
        </p:nvSpPr>
        <p:spPr>
          <a:xfrm>
            <a:off x="679590" y="909665"/>
            <a:ext cx="3240000" cy="360000"/>
          </a:xfrm>
          <a:prstGeom prst="rect">
            <a:avLst/>
          </a:prstGeom>
          <a:solidFill>
            <a:srgbClr val="002060"/>
          </a:solidFill>
          <a:ln w="571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Aptos" panose="020B0004020202020204" pitchFamily="34" charset="0"/>
                <a:cs typeface="Arial" panose="020B0604020202020204" pitchFamily="34" charset="0"/>
              </a:rPr>
              <a:t>ROCE%</a:t>
            </a:r>
            <a:endParaRPr kumimoji="0" lang="en-IN" sz="1400" b="1" i="0" u="none" strike="noStrike" kern="0" cap="none" spc="0" normalizeH="0" baseline="0" noProof="0" dirty="0">
              <a:ln>
                <a:noFill/>
              </a:ln>
              <a:solidFill>
                <a:prstClr val="white"/>
              </a:solidFill>
              <a:effectLst/>
              <a:uLnTx/>
              <a:uFillTx/>
              <a:latin typeface="Aptos" panose="020B00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936883FF-E94E-48D7-B75B-A4D9C9B363D9}"/>
              </a:ext>
            </a:extLst>
          </p:cNvPr>
          <p:cNvSpPr/>
          <p:nvPr/>
        </p:nvSpPr>
        <p:spPr>
          <a:xfrm>
            <a:off x="8203965" y="909665"/>
            <a:ext cx="3240000" cy="360000"/>
          </a:xfrm>
          <a:prstGeom prst="rect">
            <a:avLst/>
          </a:prstGeom>
          <a:solidFill>
            <a:srgbClr val="002060"/>
          </a:solidFill>
          <a:ln w="571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Aptos" panose="020B0004020202020204" pitchFamily="34" charset="0"/>
                <a:cs typeface="Arial" panose="020B0604020202020204" pitchFamily="34" charset="0"/>
              </a:rPr>
              <a:t>Net debt and Net debt/EBITDA</a:t>
            </a:r>
            <a:endParaRPr kumimoji="0" lang="en-IN" sz="1400" b="1" i="0" u="none" strike="noStrike" kern="0" cap="none" spc="0" normalizeH="0" baseline="0" noProof="0" dirty="0">
              <a:ln>
                <a:noFill/>
              </a:ln>
              <a:solidFill>
                <a:prstClr val="white"/>
              </a:solidFill>
              <a:effectLst/>
              <a:uLnTx/>
              <a:uFillTx/>
              <a:latin typeface="Aptos" panose="020B0004020202020204" pitchFamily="34" charset="0"/>
              <a:cs typeface="Arial" panose="020B0604020202020204" pitchFamily="34" charset="0"/>
            </a:endParaRPr>
          </a:p>
        </p:txBody>
      </p:sp>
      <p:cxnSp>
        <p:nvCxnSpPr>
          <p:cNvPr id="15" name="Straight Connector 14">
            <a:extLst>
              <a:ext uri="{FF2B5EF4-FFF2-40B4-BE49-F238E27FC236}">
                <a16:creationId xmlns:a16="http://schemas.microsoft.com/office/drawing/2014/main" id="{C6213DD0-E89C-DABF-6C0F-09EB23F97DCE}"/>
              </a:ext>
            </a:extLst>
          </p:cNvPr>
          <p:cNvCxnSpPr>
            <a:cxnSpLocks/>
          </p:cNvCxnSpPr>
          <p:nvPr/>
        </p:nvCxnSpPr>
        <p:spPr>
          <a:xfrm>
            <a:off x="4167013" y="880513"/>
            <a:ext cx="0" cy="5795054"/>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20C774AF-90D6-2317-2C99-835171E26C37}"/>
              </a:ext>
            </a:extLst>
          </p:cNvPr>
          <p:cNvSpPr/>
          <p:nvPr/>
        </p:nvSpPr>
        <p:spPr>
          <a:xfrm>
            <a:off x="679590" y="3883185"/>
            <a:ext cx="3240000" cy="360000"/>
          </a:xfrm>
          <a:prstGeom prst="rect">
            <a:avLst/>
          </a:prstGeom>
          <a:solidFill>
            <a:srgbClr val="002060"/>
          </a:solidFill>
          <a:ln w="571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Aptos" panose="020B0004020202020204" pitchFamily="34" charset="0"/>
                <a:cs typeface="Arial" panose="020B0604020202020204" pitchFamily="34" charset="0"/>
              </a:rPr>
              <a:t>Cash to Cash cycle</a:t>
            </a:r>
            <a:endParaRPr kumimoji="0" lang="en-IN" sz="1400" b="1" i="0" u="none" strike="noStrike" kern="0" cap="none" spc="0" normalizeH="0" baseline="0" noProof="0" dirty="0">
              <a:ln>
                <a:noFill/>
              </a:ln>
              <a:solidFill>
                <a:prstClr val="white"/>
              </a:solidFill>
              <a:effectLst/>
              <a:uLnTx/>
              <a:uFillTx/>
              <a:latin typeface="Aptos" panose="020B00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ED21942B-6BA4-0D7E-1570-15F9A7569F07}"/>
              </a:ext>
            </a:extLst>
          </p:cNvPr>
          <p:cNvSpPr/>
          <p:nvPr/>
        </p:nvSpPr>
        <p:spPr>
          <a:xfrm>
            <a:off x="8203965" y="3883185"/>
            <a:ext cx="3240000" cy="360000"/>
          </a:xfrm>
          <a:prstGeom prst="rect">
            <a:avLst/>
          </a:prstGeom>
          <a:solidFill>
            <a:srgbClr val="002060"/>
          </a:solidFill>
          <a:ln w="571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Aptos" panose="020B0004020202020204" pitchFamily="34" charset="0"/>
                <a:cs typeface="Arial" panose="020B0604020202020204" pitchFamily="34" charset="0"/>
              </a:rPr>
              <a:t>Capex</a:t>
            </a:r>
            <a:endParaRPr kumimoji="0" lang="en-IN" sz="1400" b="1" i="0" u="none" strike="noStrike" kern="0" cap="none" spc="0" normalizeH="0" baseline="0" noProof="0" dirty="0">
              <a:ln>
                <a:noFill/>
              </a:ln>
              <a:solidFill>
                <a:prstClr val="white"/>
              </a:solidFill>
              <a:effectLst/>
              <a:uLnTx/>
              <a:uFillTx/>
              <a:latin typeface="Aptos" panose="020B00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E187CABC-DF1D-9356-C899-BA396B4CC699}"/>
              </a:ext>
            </a:extLst>
          </p:cNvPr>
          <p:cNvSpPr/>
          <p:nvPr/>
        </p:nvSpPr>
        <p:spPr>
          <a:xfrm>
            <a:off x="4441778" y="909665"/>
            <a:ext cx="3240000" cy="360000"/>
          </a:xfrm>
          <a:prstGeom prst="rect">
            <a:avLst/>
          </a:prstGeom>
          <a:solidFill>
            <a:srgbClr val="002060"/>
          </a:solidFill>
          <a:ln w="571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Aptos" panose="020B0004020202020204" pitchFamily="34" charset="0"/>
                <a:cs typeface="Arial" panose="020B0604020202020204" pitchFamily="34" charset="0"/>
              </a:rPr>
              <a:t>Asset turns</a:t>
            </a:r>
            <a:endParaRPr kumimoji="0" lang="en-IN" sz="1400" b="1" i="0" u="none" strike="noStrike" kern="0" cap="none" spc="0" normalizeH="0" baseline="0" noProof="0" dirty="0">
              <a:ln>
                <a:noFill/>
              </a:ln>
              <a:solidFill>
                <a:prstClr val="white"/>
              </a:solidFill>
              <a:effectLst/>
              <a:uLnTx/>
              <a:uFillTx/>
              <a:latin typeface="Aptos" panose="020B00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83F906B3-800F-1D12-AC17-3ADC65268304}"/>
              </a:ext>
            </a:extLst>
          </p:cNvPr>
          <p:cNvSpPr/>
          <p:nvPr/>
        </p:nvSpPr>
        <p:spPr>
          <a:xfrm>
            <a:off x="4441778" y="3883185"/>
            <a:ext cx="3240000" cy="360000"/>
          </a:xfrm>
          <a:prstGeom prst="rect">
            <a:avLst/>
          </a:prstGeom>
          <a:solidFill>
            <a:srgbClr val="002060"/>
          </a:solidFill>
          <a:ln w="571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b="1" kern="0" dirty="0">
                <a:solidFill>
                  <a:prstClr val="white"/>
                </a:solidFill>
                <a:latin typeface="Aptos" panose="020B0004020202020204" pitchFamily="34" charset="0"/>
                <a:cs typeface="Arial" panose="020B0604020202020204" pitchFamily="34" charset="0"/>
              </a:rPr>
              <a:t>Operating Cash flow</a:t>
            </a:r>
            <a:endParaRPr kumimoji="0" lang="en-IN" sz="1400" b="1" i="0" u="none" strike="noStrike" kern="0" cap="none" spc="0" normalizeH="0" baseline="0" noProof="0" dirty="0">
              <a:ln>
                <a:noFill/>
              </a:ln>
              <a:solidFill>
                <a:prstClr val="white"/>
              </a:solidFill>
              <a:effectLst/>
              <a:uLnTx/>
              <a:uFillTx/>
              <a:latin typeface="Aptos" panose="020B0004020202020204" pitchFamily="34"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851110C-ECA5-3EAA-4205-9ECB36BDE660}"/>
              </a:ext>
            </a:extLst>
          </p:cNvPr>
          <p:cNvCxnSpPr>
            <a:cxnSpLocks/>
          </p:cNvCxnSpPr>
          <p:nvPr/>
        </p:nvCxnSpPr>
        <p:spPr>
          <a:xfrm>
            <a:off x="7929545" y="880513"/>
            <a:ext cx="0" cy="5795054"/>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0D2C25D-80CE-48A0-58EB-9EADEB9355BC}"/>
              </a:ext>
            </a:extLst>
          </p:cNvPr>
          <p:cNvSpPr txBox="1"/>
          <p:nvPr/>
        </p:nvSpPr>
        <p:spPr>
          <a:xfrm>
            <a:off x="11087811" y="522060"/>
            <a:ext cx="974213" cy="276999"/>
          </a:xfrm>
          <a:prstGeom prst="rect">
            <a:avLst/>
          </a:prstGeom>
          <a:noFill/>
        </p:spPr>
        <p:txBody>
          <a:bodyPr wrap="square" rtlCol="0">
            <a:spAutoFit/>
          </a:bodyPr>
          <a:lstStyle/>
          <a:p>
            <a:r>
              <a:rPr lang="en-IN" sz="1000" b="1" dirty="0">
                <a:solidFill>
                  <a:srgbClr val="000B14"/>
                </a:solidFill>
                <a:latin typeface="Aptos" panose="020B0004020202020204" pitchFamily="34" charset="0"/>
                <a:cs typeface="Arial" panose="020B0604020202020204" pitchFamily="34" charset="0"/>
              </a:rPr>
              <a:t>(</a:t>
            </a:r>
            <a:r>
              <a:rPr lang="en-IN" sz="1200" b="1" dirty="0">
                <a:solidFill>
                  <a:srgbClr val="000B14"/>
                </a:solidFill>
                <a:latin typeface="Aptos" panose="020B0004020202020204" pitchFamily="34" charset="0"/>
                <a:cs typeface="Arial" panose="020B0604020202020204" pitchFamily="34" charset="0"/>
              </a:rPr>
              <a:t>In ₹ Mn)</a:t>
            </a:r>
          </a:p>
        </p:txBody>
      </p:sp>
      <p:graphicFrame>
        <p:nvGraphicFramePr>
          <p:cNvPr id="23" name="Chart 22">
            <a:extLst>
              <a:ext uri="{FF2B5EF4-FFF2-40B4-BE49-F238E27FC236}">
                <a16:creationId xmlns:a16="http://schemas.microsoft.com/office/drawing/2014/main" id="{05155C19-2BE1-468A-810A-C11C7FD045FF}"/>
              </a:ext>
            </a:extLst>
          </p:cNvPr>
          <p:cNvGraphicFramePr>
            <a:graphicFrameLocks/>
          </p:cNvGraphicFramePr>
          <p:nvPr>
            <p:extLst>
              <p:ext uri="{D42A27DB-BD31-4B8C-83A1-F6EECF244321}">
                <p14:modId xmlns:p14="http://schemas.microsoft.com/office/powerpoint/2010/main" val="3642594567"/>
              </p:ext>
            </p:extLst>
          </p:nvPr>
        </p:nvGraphicFramePr>
        <p:xfrm>
          <a:off x="679590" y="4312084"/>
          <a:ext cx="3240000" cy="2160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 name="Chart 2">
            <a:extLst>
              <a:ext uri="{FF2B5EF4-FFF2-40B4-BE49-F238E27FC236}">
                <a16:creationId xmlns:a16="http://schemas.microsoft.com/office/drawing/2014/main" id="{EA72E651-3F6C-43E1-B3A4-2C3B9DCEFE69}"/>
              </a:ext>
            </a:extLst>
          </p:cNvPr>
          <p:cNvGraphicFramePr>
            <a:graphicFrameLocks/>
          </p:cNvGraphicFramePr>
          <p:nvPr>
            <p:extLst>
              <p:ext uri="{D42A27DB-BD31-4B8C-83A1-F6EECF244321}">
                <p14:modId xmlns:p14="http://schemas.microsoft.com/office/powerpoint/2010/main" val="2740243567"/>
              </p:ext>
            </p:extLst>
          </p:nvPr>
        </p:nvGraphicFramePr>
        <p:xfrm>
          <a:off x="679590" y="1550042"/>
          <a:ext cx="3240000" cy="209015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 name="Chart 5">
            <a:extLst>
              <a:ext uri="{FF2B5EF4-FFF2-40B4-BE49-F238E27FC236}">
                <a16:creationId xmlns:a16="http://schemas.microsoft.com/office/drawing/2014/main" id="{8638661D-F63E-483A-A7A4-C9DA08B4769A}"/>
              </a:ext>
            </a:extLst>
          </p:cNvPr>
          <p:cNvGraphicFramePr>
            <a:graphicFrameLocks/>
          </p:cNvGraphicFramePr>
          <p:nvPr>
            <p:extLst>
              <p:ext uri="{D42A27DB-BD31-4B8C-83A1-F6EECF244321}">
                <p14:modId xmlns:p14="http://schemas.microsoft.com/office/powerpoint/2010/main" val="2956536100"/>
              </p:ext>
            </p:extLst>
          </p:nvPr>
        </p:nvGraphicFramePr>
        <p:xfrm>
          <a:off x="4476000" y="1550042"/>
          <a:ext cx="3240000" cy="209015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 name="Chart 6">
            <a:extLst>
              <a:ext uri="{FF2B5EF4-FFF2-40B4-BE49-F238E27FC236}">
                <a16:creationId xmlns:a16="http://schemas.microsoft.com/office/drawing/2014/main" id="{D0DC100C-2CB8-4BCF-8FA5-2499957CEB75}"/>
              </a:ext>
            </a:extLst>
          </p:cNvPr>
          <p:cNvGraphicFramePr>
            <a:graphicFrameLocks/>
          </p:cNvGraphicFramePr>
          <p:nvPr>
            <p:extLst>
              <p:ext uri="{D42A27DB-BD31-4B8C-83A1-F6EECF244321}">
                <p14:modId xmlns:p14="http://schemas.microsoft.com/office/powerpoint/2010/main" val="1205219809"/>
              </p:ext>
            </p:extLst>
          </p:nvPr>
        </p:nvGraphicFramePr>
        <p:xfrm>
          <a:off x="8289948" y="1550042"/>
          <a:ext cx="3240000" cy="209015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9" name="Chart 18">
            <a:extLst>
              <a:ext uri="{FF2B5EF4-FFF2-40B4-BE49-F238E27FC236}">
                <a16:creationId xmlns:a16="http://schemas.microsoft.com/office/drawing/2014/main" id="{E82C4ABE-3B65-405D-935F-9C0E4601298F}"/>
              </a:ext>
            </a:extLst>
          </p:cNvPr>
          <p:cNvGraphicFramePr>
            <a:graphicFrameLocks/>
          </p:cNvGraphicFramePr>
          <p:nvPr>
            <p:extLst>
              <p:ext uri="{D42A27DB-BD31-4B8C-83A1-F6EECF244321}">
                <p14:modId xmlns:p14="http://schemas.microsoft.com/office/powerpoint/2010/main" val="3284034582"/>
              </p:ext>
            </p:extLst>
          </p:nvPr>
        </p:nvGraphicFramePr>
        <p:xfrm>
          <a:off x="4476000" y="4347009"/>
          <a:ext cx="3240000" cy="2090150"/>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20" name="Chart 19">
            <a:extLst>
              <a:ext uri="{FF2B5EF4-FFF2-40B4-BE49-F238E27FC236}">
                <a16:creationId xmlns:a16="http://schemas.microsoft.com/office/drawing/2014/main" id="{C496D8BE-EFAA-4261-98C7-FBAF316DA7BF}"/>
              </a:ext>
            </a:extLst>
          </p:cNvPr>
          <p:cNvGraphicFramePr>
            <a:graphicFrameLocks/>
          </p:cNvGraphicFramePr>
          <p:nvPr>
            <p:extLst>
              <p:ext uri="{D42A27DB-BD31-4B8C-83A1-F6EECF244321}">
                <p14:modId xmlns:p14="http://schemas.microsoft.com/office/powerpoint/2010/main" val="3080091904"/>
              </p:ext>
            </p:extLst>
          </p:nvPr>
        </p:nvGraphicFramePr>
        <p:xfrm>
          <a:off x="8203965" y="4323811"/>
          <a:ext cx="3240000" cy="2090150"/>
        </p:xfrm>
        <a:graphic>
          <a:graphicData uri="http://schemas.openxmlformats.org/drawingml/2006/chart">
            <c:chart xmlns:c="http://schemas.openxmlformats.org/drawingml/2006/chart" xmlns:r="http://schemas.openxmlformats.org/officeDocument/2006/relationships" r:id="rId10"/>
          </a:graphicData>
        </a:graphic>
      </p:graphicFrame>
      <p:sp>
        <p:nvSpPr>
          <p:cNvPr id="2" name="TextBox 1">
            <a:extLst>
              <a:ext uri="{FF2B5EF4-FFF2-40B4-BE49-F238E27FC236}">
                <a16:creationId xmlns:a16="http://schemas.microsoft.com/office/drawing/2014/main" id="{C7DD04B6-2582-FC67-8B2A-5348C54FF793}"/>
              </a:ext>
            </a:extLst>
          </p:cNvPr>
          <p:cNvSpPr txBox="1"/>
          <p:nvPr/>
        </p:nvSpPr>
        <p:spPr>
          <a:xfrm>
            <a:off x="522512" y="158480"/>
            <a:ext cx="10791670" cy="552587"/>
          </a:xfrm>
          <a:prstGeom prst="rect">
            <a:avLst/>
          </a:prstGeom>
          <a:noFill/>
        </p:spPr>
        <p:txBody>
          <a:bodyPr wrap="square" rtlCol="0">
            <a:spAutoFit/>
          </a:bodyPr>
          <a:lstStyle/>
          <a:p>
            <a:pPr>
              <a:lnSpc>
                <a:spcPct val="80000"/>
              </a:lnSpc>
              <a:defRPr/>
            </a:pPr>
            <a:r>
              <a:rPr lang="en-US" sz="3600" b="1" dirty="0">
                <a:solidFill>
                  <a:srgbClr val="00B0F0"/>
                </a:solidFill>
                <a:latin typeface="Aptos" panose="020B0004020202020204" pitchFamily="34" charset="0"/>
                <a:cs typeface="Arial" panose="020B0604020202020204" pitchFamily="34" charset="0"/>
              </a:rPr>
              <a:t>Last 5 years performance: </a:t>
            </a:r>
            <a:r>
              <a:rPr kumimoji="0" lang="en-US" sz="3600" b="1" i="0" u="none" strike="noStrike" kern="1200" cap="none" spc="0" normalizeH="0" baseline="0" noProof="0" dirty="0">
                <a:ln>
                  <a:noFill/>
                </a:ln>
                <a:solidFill>
                  <a:srgbClr val="002060"/>
                </a:solidFill>
                <a:effectLst/>
                <a:uLnTx/>
                <a:uFillTx/>
                <a:latin typeface="Aptos" panose="020B0004020202020204" pitchFamily="34" charset="0"/>
                <a:cs typeface="Arial" panose="020B0604020202020204" pitchFamily="34" charset="0"/>
              </a:rPr>
              <a:t>Cashflow and ratios</a:t>
            </a:r>
          </a:p>
        </p:txBody>
      </p:sp>
    </p:spTree>
    <p:extLst>
      <p:ext uri="{BB962C8B-B14F-4D97-AF65-F5344CB8AC3E}">
        <p14:creationId xmlns:p14="http://schemas.microsoft.com/office/powerpoint/2010/main" val="937795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A805C5C-5318-4D1C-969D-FDFD02184AF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1" imgH="423" progId="TCLayout.ActiveDocument.1">
                  <p:embed/>
                </p:oleObj>
              </mc:Choice>
              <mc:Fallback>
                <p:oleObj name="think-cell Slide" r:id="rId3" imgW="421" imgH="423" progId="TCLayout.ActiveDocument.1">
                  <p:embed/>
                  <p:pic>
                    <p:nvPicPr>
                      <p:cNvPr id="10" name="Object 9" hidden="1">
                        <a:extLst>
                          <a:ext uri="{FF2B5EF4-FFF2-40B4-BE49-F238E27FC236}">
                            <a16:creationId xmlns:a16="http://schemas.microsoft.com/office/drawing/2014/main" id="{8A805C5C-5318-4D1C-969D-FDFD02184AF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8" name="Table 4">
            <a:extLst>
              <a:ext uri="{FF2B5EF4-FFF2-40B4-BE49-F238E27FC236}">
                <a16:creationId xmlns:a16="http://schemas.microsoft.com/office/drawing/2014/main" id="{C944F52C-6DF5-4D8E-9FE4-D5F3B8A34D7F}"/>
              </a:ext>
            </a:extLst>
          </p:cNvPr>
          <p:cNvGraphicFramePr>
            <a:graphicFrameLocks noGrp="1"/>
          </p:cNvGraphicFramePr>
          <p:nvPr>
            <p:extLst>
              <p:ext uri="{D42A27DB-BD31-4B8C-83A1-F6EECF244321}">
                <p14:modId xmlns:p14="http://schemas.microsoft.com/office/powerpoint/2010/main" val="2674423423"/>
              </p:ext>
            </p:extLst>
          </p:nvPr>
        </p:nvGraphicFramePr>
        <p:xfrm>
          <a:off x="425665" y="918490"/>
          <a:ext cx="11278260" cy="2069708"/>
        </p:xfrm>
        <a:graphic>
          <a:graphicData uri="http://schemas.openxmlformats.org/drawingml/2006/table">
            <a:tbl>
              <a:tblPr firstRow="1" bandRow="1">
                <a:tableStyleId>{5940675A-B579-460E-94D1-54222C63F5DA}</a:tableStyleId>
              </a:tblPr>
              <a:tblGrid>
                <a:gridCol w="2360604">
                  <a:extLst>
                    <a:ext uri="{9D8B030D-6E8A-4147-A177-3AD203B41FA5}">
                      <a16:colId xmlns:a16="http://schemas.microsoft.com/office/drawing/2014/main" val="3705856690"/>
                    </a:ext>
                  </a:extLst>
                </a:gridCol>
                <a:gridCol w="1114707">
                  <a:extLst>
                    <a:ext uri="{9D8B030D-6E8A-4147-A177-3AD203B41FA5}">
                      <a16:colId xmlns:a16="http://schemas.microsoft.com/office/drawing/2014/main" val="1237700630"/>
                    </a:ext>
                  </a:extLst>
                </a:gridCol>
                <a:gridCol w="1114707">
                  <a:extLst>
                    <a:ext uri="{9D8B030D-6E8A-4147-A177-3AD203B41FA5}">
                      <a16:colId xmlns:a16="http://schemas.microsoft.com/office/drawing/2014/main" val="1059079614"/>
                    </a:ext>
                  </a:extLst>
                </a:gridCol>
                <a:gridCol w="1114707">
                  <a:extLst>
                    <a:ext uri="{9D8B030D-6E8A-4147-A177-3AD203B41FA5}">
                      <a16:colId xmlns:a16="http://schemas.microsoft.com/office/drawing/2014/main" val="3761220500"/>
                    </a:ext>
                  </a:extLst>
                </a:gridCol>
                <a:gridCol w="1114707">
                  <a:extLst>
                    <a:ext uri="{9D8B030D-6E8A-4147-A177-3AD203B41FA5}">
                      <a16:colId xmlns:a16="http://schemas.microsoft.com/office/drawing/2014/main" val="2004995504"/>
                    </a:ext>
                  </a:extLst>
                </a:gridCol>
                <a:gridCol w="1114707">
                  <a:extLst>
                    <a:ext uri="{9D8B030D-6E8A-4147-A177-3AD203B41FA5}">
                      <a16:colId xmlns:a16="http://schemas.microsoft.com/office/drawing/2014/main" val="119082834"/>
                    </a:ext>
                  </a:extLst>
                </a:gridCol>
                <a:gridCol w="1114707">
                  <a:extLst>
                    <a:ext uri="{9D8B030D-6E8A-4147-A177-3AD203B41FA5}">
                      <a16:colId xmlns:a16="http://schemas.microsoft.com/office/drawing/2014/main" val="51451576"/>
                    </a:ext>
                  </a:extLst>
                </a:gridCol>
                <a:gridCol w="1114707">
                  <a:extLst>
                    <a:ext uri="{9D8B030D-6E8A-4147-A177-3AD203B41FA5}">
                      <a16:colId xmlns:a16="http://schemas.microsoft.com/office/drawing/2014/main" val="3536630168"/>
                    </a:ext>
                  </a:extLst>
                </a:gridCol>
                <a:gridCol w="1114707">
                  <a:extLst>
                    <a:ext uri="{9D8B030D-6E8A-4147-A177-3AD203B41FA5}">
                      <a16:colId xmlns:a16="http://schemas.microsoft.com/office/drawing/2014/main" val="2554217972"/>
                    </a:ext>
                  </a:extLst>
                </a:gridCol>
              </a:tblGrid>
              <a:tr h="302641">
                <a:tc rowSpan="2">
                  <a:txBody>
                    <a:bodyPr/>
                    <a:lstStyle/>
                    <a:p>
                      <a:pPr algn="l"/>
                      <a:r>
                        <a:rPr lang="en-IN" sz="1400" b="1" dirty="0">
                          <a:solidFill>
                            <a:schemeClr val="tx2"/>
                          </a:solidFill>
                          <a:latin typeface="Arial" panose="020B0604020202020204" pitchFamily="34" charset="0"/>
                          <a:cs typeface="Arial" panose="020B0604020202020204" pitchFamily="34" charset="0"/>
                        </a:rPr>
                        <a:t>Filing Status</a:t>
                      </a:r>
                    </a:p>
                  </a:txBody>
                  <a:tcPr anchor="ctr">
                    <a:solidFill>
                      <a:schemeClr val="bg2">
                        <a:lumMod val="90000"/>
                      </a:schemeClr>
                    </a:solidFill>
                  </a:tcPr>
                </a:tc>
                <a:tc>
                  <a:txBody>
                    <a:bodyPr/>
                    <a:lstStyle/>
                    <a:p>
                      <a:pPr algn="ctr"/>
                      <a:r>
                        <a:rPr lang="en-IN" sz="1400" b="1" dirty="0">
                          <a:solidFill>
                            <a:schemeClr val="tx2"/>
                          </a:solidFill>
                          <a:latin typeface="Arial" panose="020B0604020202020204" pitchFamily="34" charset="0"/>
                          <a:cs typeface="Arial" panose="020B0604020202020204" pitchFamily="34" charset="0"/>
                        </a:rPr>
                        <a:t>GPI IP</a:t>
                      </a:r>
                    </a:p>
                  </a:txBody>
                  <a:tcPr anchor="ctr">
                    <a:solidFill>
                      <a:schemeClr val="accent5">
                        <a:lumMod val="20000"/>
                        <a:lumOff val="80000"/>
                      </a:schemeClr>
                    </a:solidFill>
                  </a:tcPr>
                </a:tc>
                <a:tc gridSpan="6">
                  <a:txBody>
                    <a:bodyPr/>
                    <a:lstStyle/>
                    <a:p>
                      <a:pPr algn="ctr"/>
                      <a:r>
                        <a:rPr lang="en-US" sz="1400" b="1" dirty="0">
                          <a:solidFill>
                            <a:schemeClr val="tx2"/>
                          </a:solidFill>
                          <a:latin typeface="Arial" panose="020B0604020202020204" pitchFamily="34" charset="0"/>
                          <a:cs typeface="Arial" panose="020B0604020202020204" pitchFamily="34" charset="0"/>
                        </a:rPr>
                        <a:t>G</a:t>
                      </a:r>
                      <a:r>
                        <a:rPr lang="en-IN" sz="1400" b="1" dirty="0">
                          <a:solidFill>
                            <a:schemeClr val="tx2"/>
                          </a:solidFill>
                          <a:latin typeface="Arial" panose="020B0604020202020204" pitchFamily="34" charset="0"/>
                          <a:cs typeface="Arial" panose="020B0604020202020204" pitchFamily="34" charset="0"/>
                        </a:rPr>
                        <a:t>IL IP</a:t>
                      </a:r>
                    </a:p>
                  </a:txBody>
                  <a:tcPr anchor="ctr">
                    <a:solidFill>
                      <a:schemeClr val="accent6">
                        <a:lumMod val="20000"/>
                        <a:lumOff val="80000"/>
                      </a:schemeClr>
                    </a:solidFill>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pPr algn="ctr"/>
                      <a:endParaRPr lang="en-IN" sz="1400" b="1" dirty="0">
                        <a:solidFill>
                          <a:schemeClr val="bg1"/>
                        </a:solidFill>
                        <a:latin typeface="Arial" panose="020B0604020202020204" pitchFamily="34" charset="0"/>
                        <a:cs typeface="Arial" panose="020B0604020202020204" pitchFamily="34" charset="0"/>
                      </a:endParaRPr>
                    </a:p>
                  </a:txBody>
                  <a:tcPr anchor="ctr">
                    <a:solidFill>
                      <a:srgbClr val="00B0F0"/>
                    </a:solidFill>
                  </a:tcPr>
                </a:tc>
                <a:tc rowSpan="2">
                  <a:txBody>
                    <a:bodyPr/>
                    <a:lstStyle/>
                    <a:p>
                      <a:pPr algn="ctr"/>
                      <a:r>
                        <a:rPr lang="en-IN" sz="1400" b="1" dirty="0">
                          <a:solidFill>
                            <a:schemeClr val="tx2"/>
                          </a:solidFill>
                          <a:latin typeface="Arial" panose="020B0604020202020204" pitchFamily="34" charset="0"/>
                          <a:cs typeface="Arial" panose="020B0604020202020204" pitchFamily="34" charset="0"/>
                        </a:rPr>
                        <a:t>Total</a:t>
                      </a:r>
                    </a:p>
                  </a:txBody>
                  <a:tcPr anchor="ctr">
                    <a:solidFill>
                      <a:schemeClr val="bg2">
                        <a:lumMod val="90000"/>
                      </a:schemeClr>
                    </a:solidFill>
                  </a:tcPr>
                </a:tc>
                <a:extLst>
                  <a:ext uri="{0D108BD9-81ED-4DB2-BD59-A6C34878D82A}">
                    <a16:rowId xmlns:a16="http://schemas.microsoft.com/office/drawing/2014/main" val="110869290"/>
                  </a:ext>
                </a:extLst>
              </a:tr>
              <a:tr h="302641">
                <a:tc vMerge="1">
                  <a:txBody>
                    <a:bodyPr/>
                    <a:lstStyle/>
                    <a:p>
                      <a:endParaRPr lang="en-IN" dirty="0"/>
                    </a:p>
                  </a:txBody>
                  <a:tcPr/>
                </a:tc>
                <a:tc>
                  <a:txBody>
                    <a:bodyPr/>
                    <a:lstStyle/>
                    <a:p>
                      <a:pPr algn="ctr"/>
                      <a:r>
                        <a:rPr lang="en-IN" sz="1400" b="1" dirty="0">
                          <a:solidFill>
                            <a:schemeClr val="tx2"/>
                          </a:solidFill>
                          <a:latin typeface="Arial" panose="020B0604020202020204" pitchFamily="34" charset="0"/>
                          <a:cs typeface="Arial" panose="020B0604020202020204" pitchFamily="34" charset="0"/>
                        </a:rPr>
                        <a:t>USA</a:t>
                      </a:r>
                    </a:p>
                  </a:txBody>
                  <a:tcPr anchor="ctr">
                    <a:solidFill>
                      <a:schemeClr val="accent5">
                        <a:lumMod val="20000"/>
                        <a:lumOff val="80000"/>
                      </a:schemeClr>
                    </a:solidFill>
                  </a:tcPr>
                </a:tc>
                <a:tc>
                  <a:txBody>
                    <a:bodyPr/>
                    <a:lstStyle/>
                    <a:p>
                      <a:pPr algn="ctr"/>
                      <a:r>
                        <a:rPr lang="en-IN" sz="1400" b="1" dirty="0">
                          <a:solidFill>
                            <a:schemeClr val="tx2"/>
                          </a:solidFill>
                          <a:latin typeface="Arial" panose="020B0604020202020204" pitchFamily="34" charset="0"/>
                          <a:cs typeface="Arial" panose="020B0604020202020204" pitchFamily="34" charset="0"/>
                        </a:rPr>
                        <a:t>USA</a:t>
                      </a:r>
                    </a:p>
                  </a:txBody>
                  <a:tcPr anchor="ctr">
                    <a:solidFill>
                      <a:schemeClr val="accent6">
                        <a:lumMod val="20000"/>
                        <a:lumOff val="80000"/>
                      </a:schemeClr>
                    </a:solidFill>
                  </a:tcPr>
                </a:tc>
                <a:tc>
                  <a:txBody>
                    <a:bodyPr/>
                    <a:lstStyle/>
                    <a:p>
                      <a:pPr algn="ctr"/>
                      <a:r>
                        <a:rPr lang="en-IN" sz="1400" b="1" dirty="0">
                          <a:solidFill>
                            <a:schemeClr val="tx2"/>
                          </a:solidFill>
                          <a:latin typeface="Arial" panose="020B0604020202020204" pitchFamily="34" charset="0"/>
                          <a:cs typeface="Arial" panose="020B0604020202020204" pitchFamily="34" charset="0"/>
                        </a:rPr>
                        <a:t>Europe</a:t>
                      </a:r>
                    </a:p>
                  </a:txBody>
                  <a:tcPr anchor="ctr">
                    <a:solidFill>
                      <a:schemeClr val="accent6">
                        <a:lumMod val="20000"/>
                        <a:lumOff val="80000"/>
                      </a:schemeClr>
                    </a:solidFill>
                  </a:tcPr>
                </a:tc>
                <a:tc>
                  <a:txBody>
                    <a:bodyPr/>
                    <a:lstStyle/>
                    <a:p>
                      <a:pPr algn="ctr"/>
                      <a:r>
                        <a:rPr lang="en-IN" sz="1400" b="1" dirty="0">
                          <a:solidFill>
                            <a:schemeClr val="tx2"/>
                          </a:solidFill>
                          <a:latin typeface="Arial" panose="020B0604020202020204" pitchFamily="34" charset="0"/>
                          <a:cs typeface="Arial" panose="020B0604020202020204" pitchFamily="34" charset="0"/>
                        </a:rPr>
                        <a:t>Canada</a:t>
                      </a:r>
                    </a:p>
                  </a:txBody>
                  <a:tcPr anchor="ctr">
                    <a:solidFill>
                      <a:schemeClr val="accent6">
                        <a:lumMod val="20000"/>
                        <a:lumOff val="80000"/>
                      </a:schemeClr>
                    </a:solidFill>
                  </a:tcPr>
                </a:tc>
                <a:tc>
                  <a:txBody>
                    <a:bodyPr/>
                    <a:lstStyle/>
                    <a:p>
                      <a:pPr algn="ctr"/>
                      <a:r>
                        <a:rPr lang="en-IN" sz="1400" b="1" dirty="0">
                          <a:solidFill>
                            <a:schemeClr val="tx2"/>
                          </a:solidFill>
                          <a:latin typeface="Arial" panose="020B0604020202020204" pitchFamily="34" charset="0"/>
                          <a:cs typeface="Arial" panose="020B0604020202020204" pitchFamily="34" charset="0"/>
                        </a:rPr>
                        <a:t>South Africa</a:t>
                      </a:r>
                    </a:p>
                  </a:txBody>
                  <a:tcPr anchor="ctr">
                    <a:solidFill>
                      <a:schemeClr val="accent6">
                        <a:lumMod val="20000"/>
                        <a:lumOff val="80000"/>
                      </a:schemeClr>
                    </a:solidFill>
                  </a:tcPr>
                </a:tc>
                <a:tc>
                  <a:txBody>
                    <a:bodyPr/>
                    <a:lstStyle/>
                    <a:p>
                      <a:pPr algn="ctr"/>
                      <a:r>
                        <a:rPr lang="en-IN" sz="1400" b="1" dirty="0">
                          <a:solidFill>
                            <a:schemeClr val="tx2"/>
                          </a:solidFill>
                          <a:latin typeface="Arial" panose="020B0604020202020204" pitchFamily="34" charset="0"/>
                          <a:cs typeface="Arial" panose="020B0604020202020204" pitchFamily="34" charset="0"/>
                        </a:rPr>
                        <a:t>UK</a:t>
                      </a:r>
                    </a:p>
                  </a:txBody>
                  <a:tcPr anchor="ctr">
                    <a:solidFill>
                      <a:schemeClr val="accent6">
                        <a:lumMod val="20000"/>
                        <a:lumOff val="80000"/>
                      </a:schemeClr>
                    </a:solidFill>
                  </a:tcPr>
                </a:tc>
                <a:tc>
                  <a:txBody>
                    <a:bodyPr/>
                    <a:lstStyle/>
                    <a:p>
                      <a:pPr algn="ctr"/>
                      <a:r>
                        <a:rPr lang="en-IN" sz="1400" b="1" dirty="0">
                          <a:solidFill>
                            <a:schemeClr val="tx2"/>
                          </a:solidFill>
                          <a:latin typeface="Arial" panose="020B0604020202020204" pitchFamily="34" charset="0"/>
                          <a:cs typeface="Arial" panose="020B0604020202020204" pitchFamily="34" charset="0"/>
                        </a:rPr>
                        <a:t>Others</a:t>
                      </a:r>
                    </a:p>
                  </a:txBody>
                  <a:tcPr anchor="ctr">
                    <a:solidFill>
                      <a:schemeClr val="accent6">
                        <a:lumMod val="20000"/>
                        <a:lumOff val="80000"/>
                      </a:schemeClr>
                    </a:solidFill>
                  </a:tcPr>
                </a:tc>
                <a:tc vMerge="1">
                  <a:txBody>
                    <a:bodyPr/>
                    <a:lstStyle/>
                    <a:p>
                      <a:r>
                        <a:rPr lang="en-IN" dirty="0"/>
                        <a:t>Total</a:t>
                      </a:r>
                    </a:p>
                  </a:txBody>
                  <a:tcPr/>
                </a:tc>
                <a:extLst>
                  <a:ext uri="{0D108BD9-81ED-4DB2-BD59-A6C34878D82A}">
                    <a16:rowId xmlns:a16="http://schemas.microsoft.com/office/drawing/2014/main" val="1399177962"/>
                  </a:ext>
                </a:extLst>
              </a:tr>
              <a:tr h="332348">
                <a:tc>
                  <a:txBody>
                    <a:bodyPr/>
                    <a:lstStyle/>
                    <a:p>
                      <a:r>
                        <a:rPr lang="en-IN" sz="1400" dirty="0">
                          <a:latin typeface="Arial" panose="020B0604020202020204" pitchFamily="34" charset="0"/>
                          <a:cs typeface="Arial" panose="020B0604020202020204" pitchFamily="34" charset="0"/>
                        </a:rPr>
                        <a:t>Approved</a:t>
                      </a:r>
                    </a:p>
                  </a:txBody>
                  <a:tcPr/>
                </a:tc>
                <a:tc>
                  <a:txBody>
                    <a:bodyPr/>
                    <a:lstStyle/>
                    <a:p>
                      <a:pPr algn="ctr"/>
                      <a:r>
                        <a:rPr lang="en-US" sz="1400" dirty="0">
                          <a:latin typeface="Arial" panose="020B0604020202020204" pitchFamily="34" charset="0"/>
                          <a:cs typeface="Arial" panose="020B0604020202020204" pitchFamily="34" charset="0"/>
                        </a:rPr>
                        <a:t>2</a:t>
                      </a:r>
                      <a:r>
                        <a:rPr lang="en-IN" sz="1400" dirty="0">
                          <a:latin typeface="Arial" panose="020B0604020202020204" pitchFamily="34" charset="0"/>
                          <a:cs typeface="Arial" panose="020B0604020202020204" pitchFamily="34" charset="0"/>
                        </a:rPr>
                        <a:t>4</a:t>
                      </a:r>
                    </a:p>
                  </a:txBody>
                  <a:tcPr anchor="ctr"/>
                </a:tc>
                <a:tc>
                  <a:txBody>
                    <a:bodyPr/>
                    <a:lstStyle/>
                    <a:p>
                      <a:pPr algn="ctr" rtl="0" fontAlgn="ctr"/>
                      <a:r>
                        <a:rPr lang="en-IN" sz="1400" b="0" i="0" u="none" strike="noStrike">
                          <a:solidFill>
                            <a:srgbClr val="000000"/>
                          </a:solidFill>
                          <a:effectLst/>
                          <a:latin typeface="Arial" panose="020B0604020202020204" pitchFamily="34" charset="0"/>
                        </a:rPr>
                        <a:t>57</a:t>
                      </a:r>
                    </a:p>
                  </a:txBody>
                  <a:tcPr marL="6350" marR="6350" marT="6350" marB="0" anchor="ctr"/>
                </a:tc>
                <a:tc>
                  <a:txBody>
                    <a:bodyPr/>
                    <a:lstStyle/>
                    <a:p>
                      <a:pPr algn="ctr" rtl="0" fontAlgn="ctr"/>
                      <a:r>
                        <a:rPr lang="en-IN" sz="1400" b="0" i="0" u="none" strike="noStrike">
                          <a:solidFill>
                            <a:srgbClr val="000000"/>
                          </a:solidFill>
                          <a:effectLst/>
                          <a:latin typeface="Arial" panose="020B0604020202020204" pitchFamily="34" charset="0"/>
                        </a:rPr>
                        <a:t>5</a:t>
                      </a:r>
                    </a:p>
                  </a:txBody>
                  <a:tcPr marL="6350" marR="6350" marT="6350" marB="0" anchor="ctr"/>
                </a:tc>
                <a:tc>
                  <a:txBody>
                    <a:bodyPr/>
                    <a:lstStyle/>
                    <a:p>
                      <a:pPr algn="ctr" rtl="0" fontAlgn="ctr"/>
                      <a:r>
                        <a:rPr lang="en-IN" sz="1400" b="0" i="0" u="none" strike="noStrike">
                          <a:solidFill>
                            <a:srgbClr val="000000"/>
                          </a:solidFill>
                          <a:effectLst/>
                          <a:latin typeface="Arial" panose="020B0604020202020204" pitchFamily="34" charset="0"/>
                        </a:rPr>
                        <a:t>6</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a:t>
                      </a:r>
                    </a:p>
                  </a:txBody>
                  <a:tcPr marL="6350" marR="6350" marT="6350" marB="0" anchor="ctr"/>
                </a:tc>
                <a:tc>
                  <a:txBody>
                    <a:bodyPr/>
                    <a:lstStyle/>
                    <a:p>
                      <a:pPr algn="ctr" rtl="0" fontAlgn="ctr"/>
                      <a:r>
                        <a:rPr lang="en-IN" sz="1400" b="0" i="0" u="none" strike="noStrike">
                          <a:solidFill>
                            <a:srgbClr val="000000"/>
                          </a:solidFill>
                          <a:effectLst/>
                          <a:latin typeface="Arial" panose="020B0604020202020204" pitchFamily="34" charset="0"/>
                        </a:rPr>
                        <a:t>3</a:t>
                      </a:r>
                    </a:p>
                  </a:txBody>
                  <a:tcPr marL="6350" marR="6350" marT="6350" marB="0" anchor="ctr"/>
                </a:tc>
                <a:tc>
                  <a:txBody>
                    <a:bodyPr/>
                    <a:lstStyle/>
                    <a:p>
                      <a:pPr algn="ctr" rtl="0" fontAlgn="ctr"/>
                      <a:r>
                        <a:rPr lang="en-IN" sz="1400" b="0" i="0" u="none" strike="noStrike">
                          <a:solidFill>
                            <a:srgbClr val="000000"/>
                          </a:solidFill>
                          <a:effectLst/>
                          <a:latin typeface="Arial" panose="020B0604020202020204" pitchFamily="34" charset="0"/>
                        </a:rPr>
                        <a:t>1</a:t>
                      </a:r>
                    </a:p>
                  </a:txBody>
                  <a:tcPr marL="6350" marR="6350" marT="6350" marB="0" anchor="ctr"/>
                </a:tc>
                <a:tc>
                  <a:txBody>
                    <a:bodyPr/>
                    <a:lstStyle/>
                    <a:p>
                      <a:pPr algn="ctr" rtl="0" fontAlgn="ctr"/>
                      <a:r>
                        <a:rPr lang="en-IN" sz="1400" b="0" i="0" u="none" strike="noStrike">
                          <a:solidFill>
                            <a:srgbClr val="000000"/>
                          </a:solidFill>
                          <a:effectLst/>
                          <a:latin typeface="Arial" panose="020B0604020202020204" pitchFamily="34" charset="0"/>
                        </a:rPr>
                        <a:t>72</a:t>
                      </a:r>
                    </a:p>
                  </a:txBody>
                  <a:tcPr marL="6350" marR="6350" marT="6350" marB="0" anchor="ctr"/>
                </a:tc>
                <a:extLst>
                  <a:ext uri="{0D108BD9-81ED-4DB2-BD59-A6C34878D82A}">
                    <a16:rowId xmlns:a16="http://schemas.microsoft.com/office/drawing/2014/main" val="2104073510"/>
                  </a:ext>
                </a:extLst>
              </a:tr>
              <a:tr h="302641">
                <a:tc>
                  <a:txBody>
                    <a:bodyPr/>
                    <a:lstStyle/>
                    <a:p>
                      <a:r>
                        <a:rPr lang="en-IN" sz="1400" dirty="0">
                          <a:latin typeface="Arial" panose="020B0604020202020204" pitchFamily="34" charset="0"/>
                          <a:cs typeface="Arial" panose="020B0604020202020204" pitchFamily="34" charset="0"/>
                        </a:rPr>
                        <a:t>Tentatively Approved</a:t>
                      </a:r>
                    </a:p>
                  </a:txBody>
                  <a:tcPr/>
                </a:tc>
                <a:tc>
                  <a:txBody>
                    <a:bodyPr/>
                    <a:lstStyle/>
                    <a:p>
                      <a:pPr algn="ctr"/>
                      <a:r>
                        <a:rPr lang="en-IN" sz="1400" dirty="0">
                          <a:latin typeface="Arial" panose="020B0604020202020204" pitchFamily="34" charset="0"/>
                          <a:cs typeface="Arial" panose="020B0604020202020204" pitchFamily="34" charset="0"/>
                        </a:rPr>
                        <a:t>1</a:t>
                      </a:r>
                    </a:p>
                  </a:txBody>
                  <a:tcPr anchor="ctr"/>
                </a:tc>
                <a:tc>
                  <a:txBody>
                    <a:bodyPr/>
                    <a:lstStyle/>
                    <a:p>
                      <a:pPr algn="ctr" rtl="0" fontAlgn="ctr"/>
                      <a:r>
                        <a:rPr lang="en-IN" sz="1400" b="0" i="0" u="none" strike="noStrike">
                          <a:solidFill>
                            <a:srgbClr val="000000"/>
                          </a:solidFill>
                          <a:effectLst/>
                          <a:latin typeface="Arial" panose="020B0604020202020204" pitchFamily="34" charset="0"/>
                        </a:rPr>
                        <a:t>2</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a:t>
                      </a:r>
                    </a:p>
                  </a:txBody>
                  <a:tcPr marL="6350" marR="6350" marT="6350" marB="0" anchor="ctr"/>
                </a:tc>
                <a:tc>
                  <a:txBody>
                    <a:bodyPr/>
                    <a:lstStyle/>
                    <a:p>
                      <a:pPr algn="ctr" rtl="0" fontAlgn="ctr"/>
                      <a:r>
                        <a:rPr lang="en-IN" sz="1400" b="0" i="0" u="none" strike="noStrike">
                          <a:solidFill>
                            <a:srgbClr val="000000"/>
                          </a:solidFill>
                          <a:effectLst/>
                          <a:latin typeface="Arial" panose="020B0604020202020204" pitchFamily="34" charset="0"/>
                        </a:rPr>
                        <a:t>2</a:t>
                      </a:r>
                    </a:p>
                  </a:txBody>
                  <a:tcPr marL="6350" marR="6350" marT="6350" marB="0" anchor="ctr"/>
                </a:tc>
                <a:extLst>
                  <a:ext uri="{0D108BD9-81ED-4DB2-BD59-A6C34878D82A}">
                    <a16:rowId xmlns:a16="http://schemas.microsoft.com/office/drawing/2014/main" val="4002279390"/>
                  </a:ext>
                </a:extLst>
              </a:tr>
              <a:tr h="302641">
                <a:tc>
                  <a:txBody>
                    <a:bodyPr/>
                    <a:lstStyle/>
                    <a:p>
                      <a:r>
                        <a:rPr lang="en-IN" sz="1400" dirty="0">
                          <a:latin typeface="Arial" panose="020B0604020202020204" pitchFamily="34" charset="0"/>
                          <a:cs typeface="Arial" panose="020B0604020202020204" pitchFamily="34" charset="0"/>
                        </a:rPr>
                        <a:t>To be approved</a:t>
                      </a:r>
                    </a:p>
                  </a:txBody>
                  <a:tcPr/>
                </a:tc>
                <a:tc>
                  <a:txBody>
                    <a:bodyPr/>
                    <a:lstStyle/>
                    <a:p>
                      <a:pPr algn="ctr"/>
                      <a:r>
                        <a:rPr lang="en-US" sz="1400" dirty="0">
                          <a:latin typeface="Arial" panose="020B0604020202020204" pitchFamily="34" charset="0"/>
                          <a:cs typeface="Arial" panose="020B0604020202020204" pitchFamily="34" charset="0"/>
                        </a:rPr>
                        <a:t>5</a:t>
                      </a:r>
                      <a:endParaRPr lang="en-IN" sz="1400" dirty="0">
                        <a:latin typeface="Arial" panose="020B0604020202020204" pitchFamily="34" charset="0"/>
                        <a:cs typeface="Arial" panose="020B0604020202020204" pitchFamily="34" charset="0"/>
                      </a:endParaRPr>
                    </a:p>
                  </a:txBody>
                  <a:tcPr anchor="ctr"/>
                </a:tc>
                <a:tc>
                  <a:txBody>
                    <a:bodyPr/>
                    <a:lstStyle/>
                    <a:p>
                      <a:pPr algn="ctr" rtl="0" fontAlgn="ctr"/>
                      <a:r>
                        <a:rPr lang="en-IN" sz="1400" b="0" i="0" u="none" strike="noStrike">
                          <a:solidFill>
                            <a:srgbClr val="000000"/>
                          </a:solidFill>
                          <a:effectLst/>
                          <a:latin typeface="Arial" panose="020B0604020202020204" pitchFamily="34" charset="0"/>
                        </a:rPr>
                        <a:t>12</a:t>
                      </a:r>
                    </a:p>
                  </a:txBody>
                  <a:tcPr marL="6350" marR="6350" marT="6350" marB="0" anchor="ctr"/>
                </a:tc>
                <a:tc>
                  <a:txBody>
                    <a:bodyPr/>
                    <a:lstStyle/>
                    <a:p>
                      <a:pPr algn="ctr" rtl="0" fontAlgn="ctr"/>
                      <a:r>
                        <a:rPr lang="en-IN" sz="1400" b="0" i="0" u="none" strike="noStrike">
                          <a:solidFill>
                            <a:srgbClr val="000000"/>
                          </a:solidFill>
                          <a:effectLst/>
                          <a:latin typeface="Arial" panose="020B0604020202020204" pitchFamily="34" charset="0"/>
                        </a:rPr>
                        <a:t>3</a:t>
                      </a:r>
                    </a:p>
                  </a:txBody>
                  <a:tcPr marL="6350" marR="6350" marT="6350" marB="0" anchor="ctr"/>
                </a:tc>
                <a:tc>
                  <a:txBody>
                    <a:bodyPr/>
                    <a:lstStyle/>
                    <a:p>
                      <a:pPr algn="ctr" rtl="0" fontAlgn="ctr"/>
                      <a:r>
                        <a:rPr lang="en-IN" sz="1400" b="0" i="0" u="none" strike="noStrike">
                          <a:solidFill>
                            <a:srgbClr val="000000"/>
                          </a:solidFill>
                          <a:effectLst/>
                          <a:latin typeface="Arial" panose="020B0604020202020204" pitchFamily="34" charset="0"/>
                        </a:rPr>
                        <a:t>1</a:t>
                      </a:r>
                    </a:p>
                  </a:txBody>
                  <a:tcPr marL="6350" marR="6350" marT="6350" marB="0" anchor="ctr"/>
                </a:tc>
                <a:tc>
                  <a:txBody>
                    <a:bodyPr/>
                    <a:lstStyle/>
                    <a:p>
                      <a:pPr algn="ctr" rtl="0" fontAlgn="ctr"/>
                      <a:r>
                        <a:rPr lang="en-IN" sz="1400" b="0" i="0" u="none" strike="noStrike">
                          <a:solidFill>
                            <a:srgbClr val="000000"/>
                          </a:solidFill>
                          <a:effectLst/>
                          <a:latin typeface="Arial" panose="020B0604020202020204" pitchFamily="34" charset="0"/>
                        </a:rPr>
                        <a:t>6</a:t>
                      </a:r>
                    </a:p>
                  </a:txBody>
                  <a:tcPr marL="6350" marR="6350" marT="6350" marB="0" anchor="ctr"/>
                </a:tc>
                <a:tc>
                  <a:txBody>
                    <a:bodyPr/>
                    <a:lstStyle/>
                    <a:p>
                      <a:pPr algn="ctr" fontAlgn="ctr"/>
                      <a:r>
                        <a:rPr lang="en-IN" sz="1800" b="0" i="0" u="none" strike="noStrike">
                          <a:solidFill>
                            <a:srgbClr val="000000"/>
                          </a:solidFill>
                          <a:effectLst/>
                          <a:latin typeface="Arial" panose="020B0604020202020204" pitchFamily="34" charset="0"/>
                        </a:rPr>
                        <a:t>-</a:t>
                      </a:r>
                    </a:p>
                  </a:txBody>
                  <a:tcPr marL="6350" marR="6350" marT="6350" marB="0" anchor="ctr"/>
                </a:tc>
                <a:tc>
                  <a:txBody>
                    <a:bodyPr/>
                    <a:lstStyle/>
                    <a:p>
                      <a:pPr algn="ctr" rtl="0" fontAlgn="ctr"/>
                      <a:r>
                        <a:rPr lang="en-IN" sz="1400" b="0" i="0" u="none" strike="noStrike">
                          <a:solidFill>
                            <a:srgbClr val="000000"/>
                          </a:solidFill>
                          <a:effectLst/>
                          <a:latin typeface="Arial" panose="020B0604020202020204" pitchFamily="34" charset="0"/>
                        </a:rPr>
                        <a:t>3</a:t>
                      </a:r>
                    </a:p>
                  </a:txBody>
                  <a:tcPr marL="6350" marR="6350" marT="6350" marB="0" anchor="ctr"/>
                </a:tc>
                <a:tc>
                  <a:txBody>
                    <a:bodyPr/>
                    <a:lstStyle/>
                    <a:p>
                      <a:pPr algn="ctr" rtl="0" fontAlgn="ctr"/>
                      <a:r>
                        <a:rPr lang="en-IN" sz="1400" b="0" i="0" u="none" strike="noStrike">
                          <a:solidFill>
                            <a:srgbClr val="000000"/>
                          </a:solidFill>
                          <a:effectLst/>
                          <a:latin typeface="Arial" panose="020B0604020202020204" pitchFamily="34" charset="0"/>
                        </a:rPr>
                        <a:t>25</a:t>
                      </a:r>
                    </a:p>
                  </a:txBody>
                  <a:tcPr marL="6350" marR="6350" marT="6350" marB="0" anchor="ctr"/>
                </a:tc>
                <a:extLst>
                  <a:ext uri="{0D108BD9-81ED-4DB2-BD59-A6C34878D82A}">
                    <a16:rowId xmlns:a16="http://schemas.microsoft.com/office/drawing/2014/main" val="4218107651"/>
                  </a:ext>
                </a:extLst>
              </a:tr>
              <a:tr h="302641">
                <a:tc>
                  <a:txBody>
                    <a:bodyPr/>
                    <a:lstStyle/>
                    <a:p>
                      <a:r>
                        <a:rPr lang="en-IN" sz="1400" b="1" dirty="0">
                          <a:solidFill>
                            <a:schemeClr val="tx2"/>
                          </a:solidFill>
                          <a:latin typeface="Arial" panose="020B0604020202020204" pitchFamily="34" charset="0"/>
                          <a:cs typeface="Arial" panose="020B0604020202020204" pitchFamily="34" charset="0"/>
                        </a:rPr>
                        <a:t>Total Products</a:t>
                      </a:r>
                    </a:p>
                  </a:txBody>
                  <a:tcPr>
                    <a:solidFill>
                      <a:schemeClr val="bg2">
                        <a:lumMod val="90000"/>
                      </a:schemeClr>
                    </a:solidFill>
                  </a:tcPr>
                </a:tc>
                <a:tc>
                  <a:txBody>
                    <a:bodyPr/>
                    <a:lstStyle/>
                    <a:p>
                      <a:pPr algn="ctr"/>
                      <a:r>
                        <a:rPr lang="en-IN" sz="1400" b="1" dirty="0">
                          <a:solidFill>
                            <a:schemeClr val="tx2"/>
                          </a:solidFill>
                          <a:latin typeface="Arial" panose="020B0604020202020204" pitchFamily="34" charset="0"/>
                          <a:cs typeface="Arial" panose="020B0604020202020204" pitchFamily="34" charset="0"/>
                        </a:rPr>
                        <a:t>30</a:t>
                      </a:r>
                    </a:p>
                  </a:txBody>
                  <a:tcPr anchor="ctr">
                    <a:solidFill>
                      <a:schemeClr val="accent5">
                        <a:lumMod val="20000"/>
                        <a:lumOff val="80000"/>
                      </a:schemeClr>
                    </a:solidFill>
                  </a:tcPr>
                </a:tc>
                <a:tc>
                  <a:txBody>
                    <a:bodyPr/>
                    <a:lstStyle/>
                    <a:p>
                      <a:pPr algn="ctr" rtl="0" fontAlgn="ctr"/>
                      <a:r>
                        <a:rPr lang="en-IN" sz="1400" b="1" i="0" u="none" strike="noStrike" dirty="0">
                          <a:solidFill>
                            <a:schemeClr val="tx2"/>
                          </a:solidFill>
                          <a:effectLst/>
                          <a:latin typeface="Arial" panose="020B0604020202020204" pitchFamily="34" charset="0"/>
                        </a:rPr>
                        <a:t>71</a:t>
                      </a:r>
                    </a:p>
                  </a:txBody>
                  <a:tcPr marL="6350" marR="6350" marT="6350" marB="0" anchor="ctr">
                    <a:solidFill>
                      <a:schemeClr val="accent6">
                        <a:lumMod val="20000"/>
                        <a:lumOff val="80000"/>
                      </a:schemeClr>
                    </a:solidFill>
                  </a:tcPr>
                </a:tc>
                <a:tc>
                  <a:txBody>
                    <a:bodyPr/>
                    <a:lstStyle/>
                    <a:p>
                      <a:pPr algn="ctr" rtl="0" fontAlgn="ctr"/>
                      <a:r>
                        <a:rPr lang="en-IN" sz="1400" b="1" i="0" u="none" strike="noStrike" dirty="0">
                          <a:solidFill>
                            <a:schemeClr val="tx2"/>
                          </a:solidFill>
                          <a:effectLst/>
                          <a:latin typeface="Arial" panose="020B0604020202020204" pitchFamily="34" charset="0"/>
                        </a:rPr>
                        <a:t>8</a:t>
                      </a:r>
                    </a:p>
                  </a:txBody>
                  <a:tcPr marL="6350" marR="6350" marT="6350" marB="0" anchor="ctr">
                    <a:solidFill>
                      <a:schemeClr val="accent6">
                        <a:lumMod val="20000"/>
                        <a:lumOff val="80000"/>
                      </a:schemeClr>
                    </a:solidFill>
                  </a:tcPr>
                </a:tc>
                <a:tc>
                  <a:txBody>
                    <a:bodyPr/>
                    <a:lstStyle/>
                    <a:p>
                      <a:pPr algn="ctr" rtl="0" fontAlgn="ctr"/>
                      <a:r>
                        <a:rPr lang="en-IN" sz="1400" b="1" i="0" u="none" strike="noStrike" dirty="0">
                          <a:solidFill>
                            <a:schemeClr val="tx2"/>
                          </a:solidFill>
                          <a:effectLst/>
                          <a:latin typeface="Arial" panose="020B0604020202020204" pitchFamily="34" charset="0"/>
                        </a:rPr>
                        <a:t>7</a:t>
                      </a:r>
                    </a:p>
                  </a:txBody>
                  <a:tcPr marL="6350" marR="6350" marT="6350" marB="0" anchor="ctr">
                    <a:solidFill>
                      <a:schemeClr val="accent6">
                        <a:lumMod val="20000"/>
                        <a:lumOff val="80000"/>
                      </a:schemeClr>
                    </a:solidFill>
                  </a:tcPr>
                </a:tc>
                <a:tc>
                  <a:txBody>
                    <a:bodyPr/>
                    <a:lstStyle/>
                    <a:p>
                      <a:pPr algn="ctr" rtl="0" fontAlgn="ctr"/>
                      <a:r>
                        <a:rPr lang="en-IN" sz="1400" b="1" i="0" u="none" strike="noStrike" dirty="0">
                          <a:solidFill>
                            <a:schemeClr val="tx2"/>
                          </a:solidFill>
                          <a:effectLst/>
                          <a:latin typeface="Arial" panose="020B0604020202020204" pitchFamily="34" charset="0"/>
                        </a:rPr>
                        <a:t>6</a:t>
                      </a:r>
                    </a:p>
                  </a:txBody>
                  <a:tcPr marL="6350" marR="6350" marT="6350" marB="0" anchor="ctr">
                    <a:solidFill>
                      <a:schemeClr val="accent6">
                        <a:lumMod val="20000"/>
                        <a:lumOff val="80000"/>
                      </a:schemeClr>
                    </a:solidFill>
                  </a:tcPr>
                </a:tc>
                <a:tc>
                  <a:txBody>
                    <a:bodyPr/>
                    <a:lstStyle/>
                    <a:p>
                      <a:pPr algn="ctr" rtl="0" fontAlgn="ctr"/>
                      <a:r>
                        <a:rPr lang="en-IN" sz="1400" b="1" i="0" u="none" strike="noStrike" dirty="0">
                          <a:solidFill>
                            <a:schemeClr val="tx2"/>
                          </a:solidFill>
                          <a:effectLst/>
                          <a:latin typeface="Arial" panose="020B0604020202020204" pitchFamily="34" charset="0"/>
                        </a:rPr>
                        <a:t>3</a:t>
                      </a:r>
                    </a:p>
                  </a:txBody>
                  <a:tcPr marL="6350" marR="6350" marT="6350" marB="0" anchor="ctr">
                    <a:solidFill>
                      <a:schemeClr val="accent6">
                        <a:lumMod val="20000"/>
                        <a:lumOff val="80000"/>
                      </a:schemeClr>
                    </a:solidFill>
                  </a:tcPr>
                </a:tc>
                <a:tc>
                  <a:txBody>
                    <a:bodyPr/>
                    <a:lstStyle/>
                    <a:p>
                      <a:pPr algn="ctr" rtl="0" fontAlgn="ctr"/>
                      <a:r>
                        <a:rPr lang="en-IN" sz="1400" b="1" i="0" u="none" strike="noStrike" dirty="0">
                          <a:solidFill>
                            <a:schemeClr val="tx2"/>
                          </a:solidFill>
                          <a:effectLst/>
                          <a:latin typeface="Arial" panose="020B0604020202020204" pitchFamily="34" charset="0"/>
                        </a:rPr>
                        <a:t>4</a:t>
                      </a:r>
                    </a:p>
                  </a:txBody>
                  <a:tcPr marL="6350" marR="6350" marT="6350" marB="0" anchor="ctr">
                    <a:solidFill>
                      <a:schemeClr val="accent6">
                        <a:lumMod val="20000"/>
                        <a:lumOff val="80000"/>
                      </a:schemeClr>
                    </a:solidFill>
                  </a:tcPr>
                </a:tc>
                <a:tc>
                  <a:txBody>
                    <a:bodyPr/>
                    <a:lstStyle/>
                    <a:p>
                      <a:pPr algn="ctr" rtl="0" fontAlgn="ctr"/>
                      <a:r>
                        <a:rPr lang="en-IN" sz="1400" b="1" i="0" u="none" strike="noStrike" dirty="0">
                          <a:solidFill>
                            <a:schemeClr val="tx2"/>
                          </a:solidFill>
                          <a:effectLst/>
                          <a:latin typeface="Arial" panose="020B0604020202020204" pitchFamily="34" charset="0"/>
                        </a:rPr>
                        <a:t>99</a:t>
                      </a:r>
                    </a:p>
                  </a:txBody>
                  <a:tcPr marL="6350" marR="6350" marT="6350" marB="0" anchor="ctr">
                    <a:solidFill>
                      <a:schemeClr val="bg2">
                        <a:lumMod val="90000"/>
                      </a:schemeClr>
                    </a:solidFill>
                  </a:tcPr>
                </a:tc>
                <a:extLst>
                  <a:ext uri="{0D108BD9-81ED-4DB2-BD59-A6C34878D82A}">
                    <a16:rowId xmlns:a16="http://schemas.microsoft.com/office/drawing/2014/main" val="534771277"/>
                  </a:ext>
                </a:extLst>
              </a:tr>
            </a:tbl>
          </a:graphicData>
        </a:graphic>
      </p:graphicFrame>
      <p:graphicFrame>
        <p:nvGraphicFramePr>
          <p:cNvPr id="2" name="Chart 1">
            <a:extLst>
              <a:ext uri="{FF2B5EF4-FFF2-40B4-BE49-F238E27FC236}">
                <a16:creationId xmlns:a16="http://schemas.microsoft.com/office/drawing/2014/main" id="{8D1822F9-F841-4A05-AF8D-39F7877D90D9}"/>
              </a:ext>
            </a:extLst>
          </p:cNvPr>
          <p:cNvGraphicFramePr>
            <a:graphicFrameLocks/>
          </p:cNvGraphicFramePr>
          <p:nvPr>
            <p:extLst>
              <p:ext uri="{D42A27DB-BD31-4B8C-83A1-F6EECF244321}">
                <p14:modId xmlns:p14="http://schemas.microsoft.com/office/powerpoint/2010/main" val="3625984844"/>
              </p:ext>
            </p:extLst>
          </p:nvPr>
        </p:nvGraphicFramePr>
        <p:xfrm>
          <a:off x="-217590" y="3418342"/>
          <a:ext cx="11995150" cy="3175000"/>
        </p:xfrm>
        <a:graphic>
          <a:graphicData uri="http://schemas.openxmlformats.org/drawingml/2006/chart">
            <c:chart xmlns:c="http://schemas.openxmlformats.org/drawingml/2006/chart" xmlns:r="http://schemas.openxmlformats.org/officeDocument/2006/relationships" r:id="rId5"/>
          </a:graphicData>
        </a:graphic>
      </p:graphicFrame>
      <p:sp>
        <p:nvSpPr>
          <p:cNvPr id="3" name="TextBox 2">
            <a:extLst>
              <a:ext uri="{FF2B5EF4-FFF2-40B4-BE49-F238E27FC236}">
                <a16:creationId xmlns:a16="http://schemas.microsoft.com/office/drawing/2014/main" id="{7F0B08EE-2B88-58F8-C169-D6A32389998C}"/>
              </a:ext>
            </a:extLst>
          </p:cNvPr>
          <p:cNvSpPr txBox="1"/>
          <p:nvPr/>
        </p:nvSpPr>
        <p:spPr>
          <a:xfrm>
            <a:off x="312649" y="264658"/>
            <a:ext cx="10791670" cy="552587"/>
          </a:xfrm>
          <a:prstGeom prst="rect">
            <a:avLst/>
          </a:prstGeom>
          <a:noFill/>
        </p:spPr>
        <p:txBody>
          <a:bodyPr wrap="square" rtlCol="0">
            <a:spAutoFit/>
          </a:bodyPr>
          <a:lstStyle/>
          <a:p>
            <a:pPr>
              <a:lnSpc>
                <a:spcPct val="80000"/>
              </a:lnSpc>
              <a:defRPr/>
            </a:pPr>
            <a:r>
              <a:rPr lang="en-US" sz="3600" b="1" dirty="0">
                <a:solidFill>
                  <a:srgbClr val="00B0F0"/>
                </a:solidFill>
                <a:latin typeface="Aptos" panose="020B0004020202020204" pitchFamily="34" charset="0"/>
                <a:cs typeface="Arial" panose="020B0604020202020204" pitchFamily="34" charset="0"/>
              </a:rPr>
              <a:t>ANDA and Dossier Filing status</a:t>
            </a:r>
            <a:endParaRPr kumimoji="0" lang="en-US" sz="3600" b="1" i="0" u="none" strike="noStrike" kern="1200" cap="none" spc="0" normalizeH="0" baseline="0" noProof="0" dirty="0">
              <a:ln>
                <a:noFill/>
              </a:ln>
              <a:solidFill>
                <a:srgbClr val="002060"/>
              </a:solidFill>
              <a:effectLst/>
              <a:uLnTx/>
              <a:uFillTx/>
              <a:latin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36836040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148C88DA-D6E6-4E68-B4E9-BC8199F4783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1" imgH="423" progId="TCLayout.ActiveDocument.1">
                  <p:embed/>
                </p:oleObj>
              </mc:Choice>
              <mc:Fallback>
                <p:oleObj name="think-cell Slide" r:id="rId3" imgW="421" imgH="423" progId="TCLayout.ActiveDocument.1">
                  <p:embed/>
                  <p:pic>
                    <p:nvPicPr>
                      <p:cNvPr id="2" name="Object 1" hidden="1">
                        <a:extLst>
                          <a:ext uri="{FF2B5EF4-FFF2-40B4-BE49-F238E27FC236}">
                            <a16:creationId xmlns:a16="http://schemas.microsoft.com/office/drawing/2014/main" id="{148C88DA-D6E6-4E68-B4E9-BC8199F478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5" name="Rectangle 34">
            <a:extLst>
              <a:ext uri="{FF2B5EF4-FFF2-40B4-BE49-F238E27FC236}">
                <a16:creationId xmlns:a16="http://schemas.microsoft.com/office/drawing/2014/main" id="{4917EE7A-B0D0-4491-806A-BA9020107B83}"/>
              </a:ext>
            </a:extLst>
          </p:cNvPr>
          <p:cNvSpPr/>
          <p:nvPr/>
        </p:nvSpPr>
        <p:spPr>
          <a:xfrm>
            <a:off x="0" y="4964033"/>
            <a:ext cx="12192000" cy="1893967"/>
          </a:xfrm>
          <a:prstGeom prst="rect">
            <a:avLst/>
          </a:prstGeom>
          <a:solidFill>
            <a:srgbClr val="00AD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prstClr val="white"/>
                </a:solidFill>
                <a:effectLst/>
                <a:uLnTx/>
                <a:uFillTx/>
                <a:latin typeface="Aptos" panose="020B0004020202020204" pitchFamily="34" charset="0"/>
                <a:ea typeface="Calibri" panose="020F0502020204030204" pitchFamily="34" charset="0"/>
                <a:cs typeface="Arial" panose="020B0604020202020204" pitchFamily="34" charset="0"/>
              </a:rPr>
              <a:t>Corporate address: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1" i="0" u="none" strike="noStrike" kern="1200" cap="none" spc="0" normalizeH="0" baseline="0" noProof="0" dirty="0">
              <a:ln>
                <a:noFill/>
              </a:ln>
              <a:solidFill>
                <a:prstClr val="white"/>
              </a:solidFill>
              <a:effectLst/>
              <a:uLnTx/>
              <a:uFillTx/>
              <a:latin typeface="Aptos" panose="020B000402020202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white"/>
                </a:solidFill>
                <a:effectLst/>
                <a:uLnTx/>
                <a:uFillTx/>
                <a:latin typeface="Aptos" panose="020B0004020202020204" pitchFamily="34" charset="0"/>
                <a:ea typeface="Calibri" panose="020F0502020204030204" pitchFamily="34" charset="0"/>
                <a:cs typeface="Arial" panose="020B0604020202020204" pitchFamily="34" charset="0"/>
              </a:rPr>
              <a:t>Floor 2   Block 3   My Home Hub   Madhapur   Hyderabad 500081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white"/>
                </a:solidFill>
                <a:effectLst/>
                <a:uLnTx/>
                <a:uFillTx/>
                <a:latin typeface="Aptos" panose="020B0004020202020204" pitchFamily="34" charset="0"/>
                <a:ea typeface="Calibri" panose="020F0502020204030204" pitchFamily="34" charset="0"/>
                <a:cs typeface="Arial" panose="020B0604020202020204" pitchFamily="34" charset="0"/>
              </a:rPr>
              <a:t>CIN: L24110TG1991PLC012471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1" i="0" u="none" strike="noStrike" kern="1200" cap="none" spc="0" normalizeH="0" baseline="0" noProof="0" dirty="0">
              <a:ln>
                <a:noFill/>
              </a:ln>
              <a:solidFill>
                <a:prstClr val="white"/>
              </a:solidFill>
              <a:effectLst/>
              <a:uLnTx/>
              <a:uFillTx/>
              <a:latin typeface="Aptos" panose="020B000402020202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white"/>
                </a:solidFill>
                <a:effectLst/>
                <a:uLnTx/>
                <a:uFillTx/>
                <a:latin typeface="Aptos" panose="020B0004020202020204" pitchFamily="34" charset="0"/>
                <a:ea typeface="Calibri" panose="020F0502020204030204" pitchFamily="34" charset="0"/>
                <a:cs typeface="Arial" panose="020B0604020202020204" pitchFamily="34" charset="0"/>
              </a:rPr>
              <a:t>Voice:  +91 40 </a:t>
            </a:r>
            <a:r>
              <a:rPr kumimoji="0" lang="en-IN" sz="1400" b="1" i="0" u="none" strike="noStrike" kern="1200" cap="none" spc="0" normalizeH="0" baseline="0" noProof="0">
                <a:ln>
                  <a:noFill/>
                </a:ln>
                <a:solidFill>
                  <a:prstClr val="white"/>
                </a:solidFill>
                <a:effectLst/>
                <a:uLnTx/>
                <a:uFillTx/>
                <a:latin typeface="Aptos" panose="020B0004020202020204" pitchFamily="34" charset="0"/>
                <a:ea typeface="Calibri" panose="020F0502020204030204" pitchFamily="34" charset="0"/>
                <a:cs typeface="Arial" panose="020B0604020202020204" pitchFamily="34" charset="0"/>
              </a:rPr>
              <a:t>69043600 </a:t>
            </a:r>
            <a:endParaRPr kumimoji="0" lang="en-IN" sz="1000" b="1" i="0" u="sng" strike="noStrike" kern="1200" cap="none" spc="0" normalizeH="0" baseline="0" noProof="0" dirty="0">
              <a:ln>
                <a:noFill/>
              </a:ln>
              <a:solidFill>
                <a:prstClr val="white"/>
              </a:solidFill>
              <a:effectLst/>
              <a:uLnTx/>
              <a:uFillTx/>
              <a:latin typeface="Aptos" panose="020B0004020202020204" pitchFamily="34" charset="0"/>
              <a:ea typeface="Calibri" panose="020F0502020204030204" pitchFamily="34" charset="0"/>
              <a:cs typeface="Arial" panose="020B0604020202020204" pitchFamily="34" charset="0"/>
              <a:hlinkClick r:id="rId5">
                <a:extLst>
                  <a:ext uri="{A12FA001-AC4F-418D-AE19-62706E023703}">
                    <ahyp:hlinkClr xmlns:ahyp="http://schemas.microsoft.com/office/drawing/2018/hyperlinkcolor" val="tx"/>
                  </a:ext>
                </a:extLst>
              </a:hlinkClick>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sng" strike="noStrike" kern="1200" cap="none" spc="0" normalizeH="0" baseline="0" noProof="0" dirty="0">
                <a:ln>
                  <a:noFill/>
                </a:ln>
                <a:solidFill>
                  <a:prstClr val="white"/>
                </a:solidFill>
                <a:effectLst/>
                <a:uLnTx/>
                <a:uFillTx/>
                <a:latin typeface="Aptos" panose="020B0004020202020204" pitchFamily="34" charset="0"/>
                <a:ea typeface="Calibri" panose="020F050202020403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www.granulesindia.com</a:t>
            </a:r>
            <a:r>
              <a:rPr kumimoji="0" lang="en-IN" sz="1400" b="1" i="0" u="none" strike="noStrike" kern="1200" cap="none" spc="0" normalizeH="0" baseline="0" noProof="0" dirty="0">
                <a:ln>
                  <a:noFill/>
                </a:ln>
                <a:solidFill>
                  <a:prstClr val="white"/>
                </a:solidFill>
                <a:effectLst/>
                <a:uLnTx/>
                <a:uFillTx/>
                <a:latin typeface="Aptos" panose="020B0004020202020204" pitchFamily="34" charset="0"/>
                <a:ea typeface="Calibri" panose="020F0502020204030204" pitchFamily="34" charset="0"/>
                <a:cs typeface="Arial" panose="020B0604020202020204" pitchFamily="34" charset="0"/>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Aptos" panose="020B00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67CBC3A0-A777-4A32-BD29-F93991D4FADB}"/>
              </a:ext>
            </a:extLst>
          </p:cNvPr>
          <p:cNvSpPr/>
          <p:nvPr/>
        </p:nvSpPr>
        <p:spPr>
          <a:xfrm>
            <a:off x="2093193" y="577502"/>
            <a:ext cx="4755540" cy="18939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0B0004020202020204" pitchFamily="34" charset="0"/>
            </a:endParaRPr>
          </a:p>
        </p:txBody>
      </p:sp>
      <p:sp>
        <p:nvSpPr>
          <p:cNvPr id="18" name="Rectangle 17">
            <a:extLst>
              <a:ext uri="{FF2B5EF4-FFF2-40B4-BE49-F238E27FC236}">
                <a16:creationId xmlns:a16="http://schemas.microsoft.com/office/drawing/2014/main" id="{2AE5CCEA-0584-41A4-B38E-D5629179237D}"/>
              </a:ext>
            </a:extLst>
          </p:cNvPr>
          <p:cNvSpPr/>
          <p:nvPr/>
        </p:nvSpPr>
        <p:spPr>
          <a:xfrm>
            <a:off x="7678503" y="2577838"/>
            <a:ext cx="4107976" cy="3766782"/>
          </a:xfrm>
          <a:prstGeom prst="rect">
            <a:avLst/>
          </a:prstGeom>
          <a:solidFill>
            <a:schemeClr val="bg1"/>
          </a:solidFill>
          <a:ln>
            <a:solidFill>
              <a:srgbClr val="00AD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0B0004020202020204" pitchFamily="34" charset="0"/>
            </a:endParaRPr>
          </a:p>
        </p:txBody>
      </p:sp>
      <p:pic>
        <p:nvPicPr>
          <p:cNvPr id="20" name="Picture 2" descr="Granules India | IBM">
            <a:extLst>
              <a:ext uri="{FF2B5EF4-FFF2-40B4-BE49-F238E27FC236}">
                <a16:creationId xmlns:a16="http://schemas.microsoft.com/office/drawing/2014/main" id="{5A6F5F92-BE12-444A-A533-E0571CC56ED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33131" y="2828010"/>
            <a:ext cx="2538486" cy="737664"/>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a:extLst>
              <a:ext uri="{FF2B5EF4-FFF2-40B4-BE49-F238E27FC236}">
                <a16:creationId xmlns:a16="http://schemas.microsoft.com/office/drawing/2014/main" id="{62691B65-7F18-497B-B578-0C34D598D3D5}"/>
              </a:ext>
            </a:extLst>
          </p:cNvPr>
          <p:cNvSpPr/>
          <p:nvPr/>
        </p:nvSpPr>
        <p:spPr>
          <a:xfrm>
            <a:off x="8790597" y="4204593"/>
            <a:ext cx="2205516" cy="457200"/>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lIns="10972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prstClr val="black">
                    <a:lumMod val="65000"/>
                    <a:lumOff val="35000"/>
                  </a:prstClr>
                </a:solidFill>
                <a:effectLst/>
                <a:uLnTx/>
                <a:uFillTx/>
                <a:latin typeface="Aptos" panose="020B0004020202020204" pitchFamily="34" charset="0"/>
                <a:cs typeface="Arial" panose="020B0604020202020204" pitchFamily="34" charset="0"/>
              </a:rPr>
              <a:t>532482</a:t>
            </a:r>
          </a:p>
        </p:txBody>
      </p:sp>
      <p:sp>
        <p:nvSpPr>
          <p:cNvPr id="22" name="Rectangle 21">
            <a:extLst>
              <a:ext uri="{FF2B5EF4-FFF2-40B4-BE49-F238E27FC236}">
                <a16:creationId xmlns:a16="http://schemas.microsoft.com/office/drawing/2014/main" id="{9F43DA2A-3138-4CC9-ABED-7841A109D15E}"/>
              </a:ext>
            </a:extLst>
          </p:cNvPr>
          <p:cNvSpPr/>
          <p:nvPr/>
        </p:nvSpPr>
        <p:spPr>
          <a:xfrm>
            <a:off x="8772107" y="4646608"/>
            <a:ext cx="2269792" cy="457200"/>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lIns="10972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prstClr val="black">
                    <a:lumMod val="65000"/>
                    <a:lumOff val="35000"/>
                  </a:prstClr>
                </a:solidFill>
                <a:effectLst/>
                <a:uLnTx/>
                <a:uFillTx/>
                <a:latin typeface="Aptos" panose="020B0004020202020204" pitchFamily="34" charset="0"/>
                <a:cs typeface="Arial" panose="020B0604020202020204" pitchFamily="34" charset="0"/>
              </a:rPr>
              <a:t>GRANULES</a:t>
            </a:r>
          </a:p>
        </p:txBody>
      </p:sp>
      <p:sp>
        <p:nvSpPr>
          <p:cNvPr id="23" name="Rectangle 22">
            <a:extLst>
              <a:ext uri="{FF2B5EF4-FFF2-40B4-BE49-F238E27FC236}">
                <a16:creationId xmlns:a16="http://schemas.microsoft.com/office/drawing/2014/main" id="{A6592157-DB78-4873-B7ED-C03A7A2D2BD0}"/>
              </a:ext>
            </a:extLst>
          </p:cNvPr>
          <p:cNvSpPr/>
          <p:nvPr/>
        </p:nvSpPr>
        <p:spPr>
          <a:xfrm>
            <a:off x="8790597" y="5118705"/>
            <a:ext cx="2124839" cy="457200"/>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lIns="10972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prstClr val="black">
                    <a:lumMod val="65000"/>
                    <a:lumOff val="35000"/>
                  </a:prstClr>
                </a:solidFill>
                <a:effectLst/>
                <a:uLnTx/>
                <a:uFillTx/>
                <a:latin typeface="Aptos" panose="020B0004020202020204" pitchFamily="34" charset="0"/>
                <a:cs typeface="Arial" panose="020B0604020202020204" pitchFamily="34" charset="0"/>
              </a:rPr>
              <a:t>GRAN:IN</a:t>
            </a:r>
          </a:p>
        </p:txBody>
      </p:sp>
      <p:sp>
        <p:nvSpPr>
          <p:cNvPr id="24" name="Rectangle 23">
            <a:extLst>
              <a:ext uri="{FF2B5EF4-FFF2-40B4-BE49-F238E27FC236}">
                <a16:creationId xmlns:a16="http://schemas.microsoft.com/office/drawing/2014/main" id="{DC3120F0-3A4F-4FC9-90F9-0187B057BB00}"/>
              </a:ext>
            </a:extLst>
          </p:cNvPr>
          <p:cNvSpPr/>
          <p:nvPr/>
        </p:nvSpPr>
        <p:spPr>
          <a:xfrm>
            <a:off x="8774301" y="5599655"/>
            <a:ext cx="2124839" cy="457200"/>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lIns="10972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prstClr val="black">
                    <a:lumMod val="65000"/>
                    <a:lumOff val="35000"/>
                  </a:prstClr>
                </a:solidFill>
                <a:effectLst/>
                <a:uLnTx/>
                <a:uFillTx/>
                <a:latin typeface="Aptos" panose="020B0004020202020204" pitchFamily="34" charset="0"/>
                <a:cs typeface="Arial" panose="020B0604020202020204" pitchFamily="34" charset="0"/>
              </a:rPr>
              <a:t>GRAN:NS</a:t>
            </a:r>
          </a:p>
        </p:txBody>
      </p:sp>
      <p:pic>
        <p:nvPicPr>
          <p:cNvPr id="25" name="Picture 24">
            <a:extLst>
              <a:ext uri="{FF2B5EF4-FFF2-40B4-BE49-F238E27FC236}">
                <a16:creationId xmlns:a16="http://schemas.microsoft.com/office/drawing/2014/main" id="{4225EA6C-18EB-4162-88C6-1565EF4A381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935832" y="4333165"/>
            <a:ext cx="581558" cy="200056"/>
          </a:xfrm>
          <a:prstGeom prst="rect">
            <a:avLst/>
          </a:prstGeom>
          <a:ln>
            <a:noFill/>
          </a:ln>
          <a:effectLst/>
        </p:spPr>
      </p:pic>
      <p:pic>
        <p:nvPicPr>
          <p:cNvPr id="26" name="Picture 25">
            <a:extLst>
              <a:ext uri="{FF2B5EF4-FFF2-40B4-BE49-F238E27FC236}">
                <a16:creationId xmlns:a16="http://schemas.microsoft.com/office/drawing/2014/main" id="{EC53B2DC-A4E9-477F-8AD0-FFCD6EF9440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895598" y="4770112"/>
            <a:ext cx="621792" cy="213482"/>
          </a:xfrm>
          <a:prstGeom prst="rect">
            <a:avLst/>
          </a:prstGeom>
          <a:ln>
            <a:noFill/>
          </a:ln>
          <a:effectLst/>
        </p:spPr>
      </p:pic>
      <p:pic>
        <p:nvPicPr>
          <p:cNvPr id="27" name="Picture 26">
            <a:extLst>
              <a:ext uri="{FF2B5EF4-FFF2-40B4-BE49-F238E27FC236}">
                <a16:creationId xmlns:a16="http://schemas.microsoft.com/office/drawing/2014/main" id="{8DF5DD64-CB84-4658-ADFF-A410B9327F7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656651" y="5254608"/>
            <a:ext cx="1045723" cy="209144"/>
          </a:xfrm>
          <a:prstGeom prst="rect">
            <a:avLst/>
          </a:prstGeom>
          <a:ln>
            <a:noFill/>
          </a:ln>
          <a:effectLst/>
        </p:spPr>
      </p:pic>
      <p:pic>
        <p:nvPicPr>
          <p:cNvPr id="28" name="Picture 27">
            <a:extLst>
              <a:ext uri="{FF2B5EF4-FFF2-40B4-BE49-F238E27FC236}">
                <a16:creationId xmlns:a16="http://schemas.microsoft.com/office/drawing/2014/main" id="{4883ADE8-8A83-483B-B479-9B5C7BEFF617}"/>
              </a:ext>
            </a:extLst>
          </p:cNvPr>
          <p:cNvPicPr>
            <a:picLocks noChangeAspect="1"/>
          </p:cNvPicPr>
          <p:nvPr/>
        </p:nvPicPr>
        <p:blipFill>
          <a:blip r:embed="rId10" cstate="print">
            <a:lum bright="-30000" contrast="20000"/>
            <a:extLst>
              <a:ext uri="{28A0092B-C50C-407E-A947-70E740481C1C}">
                <a14:useLocalDpi xmlns:a14="http://schemas.microsoft.com/office/drawing/2010/main" val="0"/>
              </a:ext>
            </a:extLst>
          </a:blip>
          <a:stretch>
            <a:fillRect/>
          </a:stretch>
        </p:blipFill>
        <p:spPr>
          <a:xfrm>
            <a:off x="8433131" y="5679702"/>
            <a:ext cx="1276048" cy="342902"/>
          </a:xfrm>
          <a:prstGeom prst="rect">
            <a:avLst/>
          </a:prstGeom>
          <a:ln>
            <a:noFill/>
          </a:ln>
          <a:effectLst/>
        </p:spPr>
      </p:pic>
      <p:pic>
        <p:nvPicPr>
          <p:cNvPr id="29" name="Picture 2" descr="250+ Thank You Pictures, Images, Photos - Page 3">
            <a:extLst>
              <a:ext uri="{FF2B5EF4-FFF2-40B4-BE49-F238E27FC236}">
                <a16:creationId xmlns:a16="http://schemas.microsoft.com/office/drawing/2014/main" id="{C296CD30-61B5-4797-8D72-8E2A9E5CF8D6}"/>
              </a:ext>
            </a:extLst>
          </p:cNvPr>
          <p:cNvPicPr>
            <a:picLocks noChangeAspect="1" noChangeArrowheads="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401533" y="1042577"/>
            <a:ext cx="2497607" cy="1313258"/>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Granules India | IBM">
            <a:extLst>
              <a:ext uri="{FF2B5EF4-FFF2-40B4-BE49-F238E27FC236}">
                <a16:creationId xmlns:a16="http://schemas.microsoft.com/office/drawing/2014/main" id="{ABAF98BA-526A-4AD1-9910-4E56F8A8907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8092" y="1042577"/>
            <a:ext cx="1656699" cy="481423"/>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4D183AF0-28DE-40AC-BFC1-F27DD043475C}"/>
              </a:ext>
            </a:extLst>
          </p:cNvPr>
          <p:cNvSpPr txBox="1"/>
          <p:nvPr/>
        </p:nvSpPr>
        <p:spPr>
          <a:xfrm>
            <a:off x="2093191" y="616059"/>
            <a:ext cx="4755539" cy="181588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rPr>
              <a:t>Mr. Puneet Varshney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rPr>
              <a:t>GM Business Finance and Head Investor Relations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rPr>
              <a:t>Email: </a:t>
            </a:r>
            <a:r>
              <a:rPr kumimoji="0" lang="en-IN" sz="1400" b="0" i="0" u="none" strike="noStrike" kern="1200" cap="none" spc="0" normalizeH="0" baseline="0" noProof="0" dirty="0">
                <a:ln>
                  <a:noFill/>
                </a:ln>
                <a:solidFill>
                  <a:prstClr val="black">
                    <a:lumMod val="65000"/>
                    <a:lumOff val="35000"/>
                  </a:prstClr>
                </a:solidFill>
                <a:effectLst/>
                <a:uLnTx/>
                <a:uFillTx/>
                <a:latin typeface="Aptos" panose="020B0004020202020204" pitchFamily="34" charset="0"/>
                <a:cs typeface="Arial" panose="020B0604020202020204" pitchFamily="34" charset="0"/>
                <a:hlinkClick r:id="rId12"/>
              </a:rPr>
              <a:t>puneet.varshney@granulesindia.com</a:t>
            </a:r>
            <a:endParaRPr kumimoji="0" lang="en-IN" sz="1400" b="0" i="0" u="none" strike="noStrike" kern="1200" cap="none" spc="0" normalizeH="0" baseline="0" noProof="0" dirty="0">
              <a:ln>
                <a:noFill/>
              </a:ln>
              <a:solidFill>
                <a:prstClr val="black">
                  <a:lumMod val="65000"/>
                  <a:lumOff val="35000"/>
                </a:prstClr>
              </a:solidFill>
              <a:effectLst/>
              <a:uLnTx/>
              <a:uFillTx/>
              <a:latin typeface="Aptos" panose="020B00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prstClr val="black">
                  <a:lumMod val="65000"/>
                  <a:lumOff val="35000"/>
                </a:prstClr>
              </a:solidFill>
              <a:effectLst/>
              <a:uLnTx/>
              <a:uFillTx/>
              <a:latin typeface="Aptos" panose="020B00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hlinkClick r:id="rId5"/>
              </a:rPr>
              <a:t>www.granulesindia.com</a:t>
            </a:r>
            <a:r>
              <a:rPr kumimoji="0" lang="en-US" sz="1400" b="0"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hlinkClick r:id="" action="ppaction://noaction"/>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hlinkClick r:id="" action="ppaction://noactio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hlinkClick r:id="" action="ppaction://noaction"/>
            </a:endParaRPr>
          </a:p>
        </p:txBody>
      </p:sp>
      <p:pic>
        <p:nvPicPr>
          <p:cNvPr id="32" name="Picture 31">
            <a:extLst>
              <a:ext uri="{FF2B5EF4-FFF2-40B4-BE49-F238E27FC236}">
                <a16:creationId xmlns:a16="http://schemas.microsoft.com/office/drawing/2014/main" id="{01399EF1-2100-42D4-BFE9-856B63019A02}"/>
              </a:ext>
            </a:extLst>
          </p:cNvPr>
          <p:cNvPicPr>
            <a:picLocks noChangeAspect="1" noChangeArrowheads="1"/>
          </p:cNvPicPr>
          <p:nvPr/>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2585" y="3228343"/>
            <a:ext cx="933044" cy="674662"/>
          </a:xfrm>
          <a:prstGeom prst="rect">
            <a:avLst/>
          </a:prstGeom>
          <a:noFill/>
          <a:extLst>
            <a:ext uri="{909E8E84-426E-40DD-AFC4-6F175D3DCCD1}">
              <a14:hiddenFill xmlns:a14="http://schemas.microsoft.com/office/drawing/2010/main">
                <a:solidFill>
                  <a:srgbClr val="FFFFFF"/>
                </a:solidFill>
              </a14:hiddenFill>
            </a:ext>
          </a:extLst>
        </p:spPr>
      </p:pic>
      <p:sp>
        <p:nvSpPr>
          <p:cNvPr id="33" name="Rectangle 32">
            <a:extLst>
              <a:ext uri="{FF2B5EF4-FFF2-40B4-BE49-F238E27FC236}">
                <a16:creationId xmlns:a16="http://schemas.microsoft.com/office/drawing/2014/main" id="{25C23405-F634-466F-9DA9-64235A628B97}"/>
              </a:ext>
            </a:extLst>
          </p:cNvPr>
          <p:cNvSpPr/>
          <p:nvPr/>
        </p:nvSpPr>
        <p:spPr>
          <a:xfrm>
            <a:off x="2093193" y="2639254"/>
            <a:ext cx="4755540" cy="20073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0B0004020202020204" pitchFamily="34" charset="0"/>
            </a:endParaRPr>
          </a:p>
        </p:txBody>
      </p:sp>
      <p:sp>
        <p:nvSpPr>
          <p:cNvPr id="34" name="TextBox 33">
            <a:extLst>
              <a:ext uri="{FF2B5EF4-FFF2-40B4-BE49-F238E27FC236}">
                <a16:creationId xmlns:a16="http://schemas.microsoft.com/office/drawing/2014/main" id="{0DC66FC9-5C6B-4C4C-9162-0F01C7FBF4B0}"/>
              </a:ext>
            </a:extLst>
          </p:cNvPr>
          <p:cNvSpPr txBox="1"/>
          <p:nvPr/>
        </p:nvSpPr>
        <p:spPr>
          <a:xfrm>
            <a:off x="2108102" y="2698871"/>
            <a:ext cx="4755539" cy="1815882"/>
          </a:xfrm>
          <a:prstGeom prst="rect">
            <a:avLst/>
          </a:prstGeom>
          <a:noFill/>
        </p:spPr>
        <p:txBody>
          <a:bodyPr wrap="square">
            <a:spAutoFit/>
          </a:bodyPr>
          <a:lstStyle/>
          <a:p>
            <a:pPr marL="0" marR="0" lvl="0" indent="182563" algn="l" defTabSz="914377"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rPr>
              <a:t>Ms. Payal Dave</a:t>
            </a:r>
            <a:endParaRPr kumimoji="0" lang="en-US" sz="1400" b="1"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endParaRPr>
          </a:p>
          <a:p>
            <a:pPr marL="0" marR="0" lvl="0" indent="182563" algn="l" defTabSz="91437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hlinkClick r:id="rId14"/>
              </a:rPr>
              <a:t>payal.dave@linkintime.co.in</a:t>
            </a:r>
            <a:r>
              <a:rPr kumimoji="0" lang="en-US" sz="1400" b="0"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rPr>
              <a:t> </a:t>
            </a:r>
            <a:endParaRPr kumimoji="0" lang="en-IN" sz="1400" b="0"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endParaRPr>
          </a:p>
          <a:p>
            <a:pPr marL="0" marR="0" lvl="0" indent="182563" algn="l" defTabSz="914377"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rPr>
              <a:t> </a:t>
            </a:r>
          </a:p>
          <a:p>
            <a:pPr marL="0" marR="0" lvl="0" indent="182563" algn="l" defTabSz="914377"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rPr>
              <a:t>Mr. Irfan Raeen</a:t>
            </a:r>
          </a:p>
          <a:p>
            <a:pPr marL="0" marR="0" lvl="0" indent="182563" algn="l" defTabSz="91437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rPr>
              <a:t>+91 97737 78669</a:t>
            </a:r>
            <a:endParaRPr kumimoji="0" lang="en-US" sz="1400" b="1"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hlinkClick r:id="" action="ppaction://noaction"/>
            </a:endParaRPr>
          </a:p>
          <a:p>
            <a:pPr marL="0" marR="0" lvl="0" indent="182563"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hlinkClick r:id="" action="ppaction://noaction"/>
              </a:rPr>
              <a:t>Irfan.raeen@linkintime.co.in</a:t>
            </a:r>
          </a:p>
          <a:p>
            <a:pPr marL="0" marR="0" lvl="0" indent="182563"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hlinkClick r:id="" action="ppaction://noaction"/>
            </a:endParaRPr>
          </a:p>
          <a:p>
            <a:pPr marL="0" marR="0" lvl="0" indent="182563"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hlinkClick r:id="rId15"/>
              </a:rPr>
              <a:t>www.orientcap.com</a:t>
            </a:r>
            <a:r>
              <a:rPr kumimoji="0" lang="en-US" sz="1400" b="0"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rPr>
              <a:t>  </a:t>
            </a:r>
            <a:endParaRPr kumimoji="0" lang="en-IN" sz="1400" b="0" i="0" u="none" strike="noStrike" kern="1200" cap="none" spc="0" normalizeH="0" baseline="0" noProof="0" dirty="0">
              <a:ln>
                <a:noFill/>
              </a:ln>
              <a:solidFill>
                <a:prstClr val="black"/>
              </a:solidFill>
              <a:effectLst/>
              <a:uLnTx/>
              <a:uFillTx/>
              <a:latin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4314586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xml><?xml version="1.0" encoding="utf-8"?>
<p:tagLst xmlns:a="http://schemas.openxmlformats.org/drawingml/2006/main" xmlns:r="http://schemas.openxmlformats.org/officeDocument/2006/relationships" xmlns:p="http://schemas.openxmlformats.org/presentationml/2006/main">
  <p:tag name="SHAPENAME" val="5. Sourc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INLINETEXTSHAPEGUID" val="b00c17bc-c085-4d3f-b38b-0d6e71647614"/>
</p:tagLst>
</file>

<file path=ppt/tags/tag5.xml><?xml version="1.0" encoding="utf-8"?>
<p:tagLst xmlns:a="http://schemas.openxmlformats.org/drawingml/2006/main" xmlns:r="http://schemas.openxmlformats.org/officeDocument/2006/relationships" xmlns:p="http://schemas.openxmlformats.org/presentationml/2006/main">
  <p:tag name="INLINETEXTSHAPEGUID" val="b00c17bc-c085-4d3f-b38b-0d6e71647614"/>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INLINETEXTSHAPEGUID" val="841321ca-92ac-414d-a16e-34812eabacb1"/>
</p:tagLst>
</file>

<file path=ppt/tags/tag8.xml><?xml version="1.0" encoding="utf-8"?>
<p:tagLst xmlns:a="http://schemas.openxmlformats.org/drawingml/2006/main" xmlns:r="http://schemas.openxmlformats.org/officeDocument/2006/relationships" xmlns:p="http://schemas.openxmlformats.org/presentationml/2006/main">
  <p:tag name="INLINETEXTSHAPEGUID" val="01f904f0-6463-4110-9918-7dbf9ee26847"/>
</p:tagLst>
</file>

<file path=ppt/tags/tag9.xml><?xml version="1.0" encoding="utf-8"?>
<p:tagLst xmlns:a="http://schemas.openxmlformats.org/drawingml/2006/main" xmlns:r="http://schemas.openxmlformats.org/officeDocument/2006/relationships" xmlns:p="http://schemas.openxmlformats.org/presentationml/2006/main">
  <p:tag name="INLINETEXTSHAPEGUID" val="01f904f0-6463-4110-9918-7dbf9ee26847"/>
</p:tagLst>
</file>

<file path=ppt/tags/tag10.xml><?xml version="1.0" encoding="utf-8"?>
<p:tagLst xmlns:a="http://schemas.openxmlformats.org/drawingml/2006/main" xmlns:r="http://schemas.openxmlformats.org/officeDocument/2006/relationships" xmlns:p="http://schemas.openxmlformats.org/presentationml/2006/main">
  <p:tag name="INLINETEXTSHAPEGUID" val="01f904f0-6463-4110-9918-7dbf9ee26847"/>
</p:tagLst>
</file>

<file path=ppt/tags/tag11.xml><?xml version="1.0" encoding="utf-8"?>
<p:tagLst xmlns:a="http://schemas.openxmlformats.org/drawingml/2006/main" xmlns:r="http://schemas.openxmlformats.org/officeDocument/2006/relationships" xmlns:p="http://schemas.openxmlformats.org/presentationml/2006/main">
  <p:tag name="INLINETEXTSHAPEGUID" val="01f904f0-6463-4110-9918-7dbf9ee26847"/>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827</TotalTime>
  <Words>1907</Words>
  <Application>Microsoft Office PowerPoint</Application>
  <PresentationFormat>Widescreen</PresentationFormat>
  <Paragraphs>439</Paragraphs>
  <Slides>25</Slides>
  <Notes>1</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6" baseType="lpstr">
      <vt:lpstr>Abadi</vt:lpstr>
      <vt:lpstr>Aptos</vt:lpstr>
      <vt:lpstr>Arial</vt:lpstr>
      <vt:lpstr>Calibri</vt:lpstr>
      <vt:lpstr>Calibri Light</vt:lpstr>
      <vt:lpstr>Cambria</vt:lpstr>
      <vt:lpstr>Georgia</vt:lpstr>
      <vt:lpstr>Segoe UI</vt:lpstr>
      <vt:lpstr>Wingdings</vt:lpstr>
      <vt:lpstr>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Sanjay Kumar</dc:creator>
  <cp:lastModifiedBy>Puneet Varshney</cp:lastModifiedBy>
  <cp:revision>70</cp:revision>
  <dcterms:created xsi:type="dcterms:W3CDTF">2023-08-04T04:15:44Z</dcterms:created>
  <dcterms:modified xsi:type="dcterms:W3CDTF">2023-08-10T10:27:26Z</dcterms:modified>
</cp:coreProperties>
</file>